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1874519"/>
            <a:ext cx="10515600" cy="914400"/>
          </a:xfrm>
          <a:prstGeom prst="rect">
            <a:avLst/>
          </a:prstGeom>
          <a:noFill/>
        </p:spPr>
        <p:txBody>
          <a:bodyPr wrap="square" lIns="0" rIns="0" tIns="0" bIns="0">
            <a:spAutoFit/>
          </a:bodyPr>
          <a:lstStyle/>
          <a:p>
            <a:pPr algn="l">
              <a:lnSpc>
                <a:spcPct val="125000"/>
              </a:lnSpc>
              <a:spcAft>
                <a:spcPts val="600"/>
              </a:spcAft>
            </a:pPr>
            <a:r>
              <a:rPr sz="5800" b="1">
                <a:solidFill>
                  <a:srgbClr val="16181A"/>
                </a:solidFill>
                <a:latin typeface="Arial"/>
              </a:rPr>
              <a:t>PARITY</a:t>
            </a:r>
          </a:p>
        </p:txBody>
      </p:sp>
      <p:sp>
        <p:nvSpPr>
          <p:cNvPr id="4" name="TextBox 3"/>
          <p:cNvSpPr txBox="1"/>
          <p:nvPr/>
        </p:nvSpPr>
        <p:spPr>
          <a:xfrm>
            <a:off x="868680" y="2880360"/>
            <a:ext cx="10058400" cy="822960"/>
          </a:xfrm>
          <a:prstGeom prst="rect">
            <a:avLst/>
          </a:prstGeom>
          <a:noFill/>
        </p:spPr>
        <p:txBody>
          <a:bodyPr wrap="square" lIns="0" rIns="0" tIns="0" bIns="0">
            <a:spAutoFit/>
          </a:bodyPr>
          <a:lstStyle/>
          <a:p>
            <a:pPr algn="l">
              <a:lnSpc>
                <a:spcPct val="135000"/>
              </a:lnSpc>
              <a:spcAft>
                <a:spcPts val="600"/>
              </a:spcAft>
            </a:pPr>
            <a:r>
              <a:rPr sz="2100" b="0">
                <a:solidFill>
                  <a:srgbClr val="6B7178"/>
                </a:solidFill>
                <a:latin typeface="Arial"/>
              </a:rPr>
              <a:t>An Adaptive Horror Game Driven by</a:t>
            </a:r>
          </a:p>
          <a:p>
            <a:pPr algn="l">
              <a:lnSpc>
                <a:spcPct val="135000"/>
              </a:lnSpc>
              <a:spcAft>
                <a:spcPts val="600"/>
              </a:spcAft>
            </a:pPr>
            <a:r>
              <a:rPr sz="2100" b="0">
                <a:solidFill>
                  <a:srgbClr val="6B7178"/>
                </a:solidFill>
                <a:latin typeface="Arial"/>
              </a:rPr>
              <a:t>Online Player-Trajectory Prediction</a:t>
            </a:r>
          </a:p>
        </p:txBody>
      </p:sp>
      <p:sp>
        <p:nvSpPr>
          <p:cNvPr id="5" name="Rectangle 4"/>
          <p:cNvSpPr/>
          <p:nvPr/>
        </p:nvSpPr>
        <p:spPr>
          <a:xfrm>
            <a:off x="896112" y="3977639"/>
            <a:ext cx="219456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261104"/>
            <a:ext cx="10058400" cy="822960"/>
          </a:xfrm>
          <a:prstGeom prst="rect">
            <a:avLst/>
          </a:prstGeom>
          <a:noFill/>
        </p:spPr>
        <p:txBody>
          <a:bodyPr wrap="square" lIns="0" rIns="0" tIns="0" bIns="0">
            <a:spAutoFit/>
          </a:bodyPr>
          <a:lstStyle/>
          <a:p>
            <a:pPr algn="l">
              <a:lnSpc>
                <a:spcPct val="150000"/>
              </a:lnSpc>
              <a:spcAft>
                <a:spcPts val="600"/>
              </a:spcAft>
            </a:pPr>
            <a:r>
              <a:rPr sz="1300" b="0">
                <a:solidFill>
                  <a:srgbClr val="6B7178"/>
                </a:solidFill>
                <a:latin typeface="Arial"/>
              </a:rPr>
              <a:t>Shivam Kumar</a:t>
            </a:r>
          </a:p>
          <a:p>
            <a:pPr algn="l">
              <a:lnSpc>
                <a:spcPct val="150000"/>
              </a:lnSpc>
              <a:spcAft>
                <a:spcPts val="600"/>
              </a:spcAft>
            </a:pPr>
            <a:r>
              <a:rPr sz="1300" b="0">
                <a:solidFill>
                  <a:srgbClr val="6B7178"/>
                </a:solidFill>
                <a:latin typeface="Arial"/>
              </a:rPr>
              <a:t>Vellore Institute of Technology  ·  Project Review  ·  18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WHAT THIS REVIEW COVERS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Mapped to the marking rubric</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3931920"/>
                <a:gridCol w="3657600"/>
                <a:gridCol w="3291840"/>
              </a:tblGrid>
              <a:tr h="384048">
                <a:tc>
                  <a:txBody>
                    <a:bodyPr/>
                    <a:lstStyle/>
                    <a:p>
                      <a:pPr>
                        <a:lnSpc>
                          <a:spcPct val="115000"/>
                        </a:lnSpc>
                      </a:pPr>
                      <a:r>
                        <a:rPr sz="950" b="1">
                          <a:solidFill>
                            <a:srgbClr val="6B7178"/>
                          </a:solidFill>
                          <a:latin typeface="Arial"/>
                        </a:rPr>
                        <a:t>Rubric</a:t>
                      </a:r>
                    </a:p>
                  </a:txBody>
                  <a:tcPr marL="73152" marR="73152" marT="36576" marB="36576">
                    <a:solidFill>
                      <a:srgbClr val="F4F6F8"/>
                    </a:solidFill>
                  </a:tcPr>
                </a:tc>
                <a:tc>
                  <a:txBody>
                    <a:bodyPr/>
                    <a:lstStyle/>
                    <a:p>
                      <a:pPr>
                        <a:lnSpc>
                          <a:spcPct val="115000"/>
                        </a:lnSpc>
                      </a:pPr>
                      <a:r>
                        <a:rPr sz="950" b="1">
                          <a:solidFill>
                            <a:srgbClr val="6B7178"/>
                          </a:solidFill>
                          <a:latin typeface="Arial"/>
                        </a:rPr>
                        <a:t>Where it is answered</a:t>
                      </a:r>
                    </a:p>
                  </a:txBody>
                  <a:tcPr marL="73152" marR="73152" marT="36576" marB="36576">
                    <a:solidFill>
                      <a:srgbClr val="F4F6F8"/>
                    </a:solidFill>
                  </a:tcPr>
                </a:tc>
                <a:tc>
                  <a:txBody>
                    <a:bodyPr/>
                    <a:lstStyle/>
                    <a:p>
                      <a:pPr>
                        <a:lnSpc>
                          <a:spcPct val="115000"/>
                        </a:lnSpc>
                      </a:pPr>
                      <a:r>
                        <a:rPr sz="950" b="1">
                          <a:solidFill>
                            <a:srgbClr val="6B7178"/>
                          </a:solidFill>
                          <a:latin typeface="Arial"/>
                        </a:rPr>
                        <a:t>Evidence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Knowledge on domain / problem statement</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1–3 of this deck</a:t>
                      </a:r>
                    </a:p>
                  </a:txBody>
                  <a:tcPr marL="73152" marR="73152" marT="36576" marB="36576">
                    <a:solidFill>
                      <a:srgbClr val="FCFCFB"/>
                    </a:solidFill>
                  </a:tcPr>
                </a:tc>
                <a:tc>
                  <a:txBody>
                    <a:bodyPr/>
                    <a:lstStyle/>
                    <a:p>
                      <a:pPr>
                        <a:lnSpc>
                          <a:spcPct val="115000"/>
                        </a:lnSpc>
                      </a:pPr>
                      <a:r>
                        <a:rPr sz="1250" b="0">
                          <a:solidFill>
                            <a:srgbClr val="16181A"/>
                          </a:solidFill>
                          <a:latin typeface="Arial"/>
                        </a:rPr>
                        <a:t>Gap analysis over 22 works</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Literature review (min. 15 recent papers)</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4–7</a:t>
                      </a:r>
                    </a:p>
                  </a:txBody>
                  <a:tcPr marL="73152" marR="73152" marT="36576" marB="36576">
                    <a:solidFill>
                      <a:srgbClr val="FCFCFB"/>
                    </a:solidFill>
                  </a:tcPr>
                </a:tc>
                <a:tc>
                  <a:txBody>
                    <a:bodyPr/>
                    <a:lstStyle/>
                    <a:p>
                      <a:pPr>
                        <a:lnSpc>
                          <a:spcPct val="115000"/>
                        </a:lnSpc>
                      </a:pPr>
                      <a:r>
                        <a:rPr sz="1250" b="0">
                          <a:solidFill>
                            <a:srgbClr val="16181A"/>
                          </a:solidFill>
                          <a:latin typeface="Arial"/>
                        </a:rPr>
                        <a:t>22 works, 20 from 2023 or later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Design of proposed methodology</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8–11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 model + evaluation protocol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Module description / system design</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12–13</a:t>
                      </a:r>
                    </a:p>
                  </a:txBody>
                  <a:tcPr marL="73152" marR="73152" marT="36576" marB="36576">
                    <a:solidFill>
                      <a:srgbClr val="FCFCFB"/>
                    </a:solidFill>
                  </a:tcPr>
                </a:tc>
                <a:tc>
                  <a:txBody>
                    <a:bodyPr/>
                    <a:lstStyle/>
                    <a:p>
                      <a:pPr>
                        <a:lnSpc>
                          <a:spcPct val="115000"/>
                        </a:lnSpc>
                      </a:pPr>
                      <a:r>
                        <a:rPr sz="1250" b="0">
                          <a:solidFill>
                            <a:srgbClr val="16181A"/>
                          </a:solidFill>
                          <a:latin typeface="Arial"/>
                        </a:rPr>
                        <a:t>8 modules, implemented and tested</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Beyond the rubric</a:t>
                      </a:r>
                    </a:p>
                  </a:txBody>
                  <a:tcPr marL="73152" marR="73152" marT="36576" marB="36576">
                    <a:solidFill>
                      <a:srgbClr val="FCFCFB"/>
                    </a:solidFill>
                  </a:tcPr>
                </a:tc>
                <a:tc>
                  <a:txBody>
                    <a:bodyPr/>
                    <a:lstStyle/>
                    <a:p>
                      <a:pPr>
                        <a:lnSpc>
                          <a:spcPct val="115000"/>
                        </a:lnSpc>
                      </a:pPr>
                      <a:r>
                        <a:rPr sz="1250" b="0">
                          <a:solidFill>
                            <a:srgbClr val="16181A"/>
                          </a:solidFill>
                          <a:latin typeface="Arial"/>
                        </a:rPr>
                        <a:t>Sections 14–17</a:t>
                      </a:r>
                    </a:p>
                  </a:txBody>
                  <a:tcPr marL="73152" marR="73152" marT="36576" marB="36576">
                    <a:solidFill>
                      <a:srgbClr val="FCFCFB"/>
                    </a:solidFill>
                  </a:tcPr>
                </a:tc>
                <a:tc>
                  <a:txBody>
                    <a:bodyPr/>
                    <a:lstStyle/>
                    <a:p>
                      <a:pPr>
                        <a:lnSpc>
                          <a:spcPct val="115000"/>
                        </a:lnSpc>
                      </a:pPr>
                      <a:r>
                        <a:rPr sz="1250" b="0">
                          <a:solidFill>
                            <a:srgbClr val="16181A"/>
                          </a:solidFill>
                          <a:latin typeface="Arial"/>
                        </a:rPr>
                        <a:t>Working results and a live demo</a:t>
                      </a:r>
                    </a:p>
                  </a:txBody>
                  <a:tcPr marL="73152" marR="73152" marT="36576" marB="36576">
                    <a:solidFill>
                      <a:srgbClr val="FCFCFB"/>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 · DOMAIN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Game AI has optimised for competence, not adaptation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Player modelling —  </a:t>
            </a:r>
            <a:r>
              <a:rPr sz="1500">
                <a:solidFill>
                  <a:srgbClr val="6B7178"/>
                </a:solidFill>
                <a:latin typeface="Arial"/>
              </a:rPr>
              <a:t>inferring player intent and state from behavioural telemetry.</a:t>
            </a:r>
          </a:p>
          <a:p>
            <a:pPr>
              <a:lnSpc>
                <a:spcPct val="130000"/>
              </a:lnSpc>
              <a:spcAft>
                <a:spcPts val="1300"/>
              </a:spcAft>
            </a:pPr>
            <a:r>
              <a:rPr sz="1500" b="1">
                <a:solidFill>
                  <a:srgbClr val="16181A"/>
                </a:solidFill>
                <a:latin typeface="Arial"/>
              </a:rPr>
              <a:t>Adaptive AI and DDA —  </a:t>
            </a:r>
            <a:r>
              <a:rPr sz="1500">
                <a:solidFill>
                  <a:srgbClr val="6B7178"/>
                </a:solidFill>
                <a:latin typeface="Arial"/>
              </a:rPr>
              <a:t>acting on that inference to reshape the experience.</a:t>
            </a:r>
          </a:p>
          <a:p>
            <a:pPr>
              <a:lnSpc>
                <a:spcPct val="130000"/>
              </a:lnSpc>
              <a:spcAft>
                <a:spcPts val="1300"/>
              </a:spcAft>
            </a:pPr>
            <a:r>
              <a:rPr sz="1500" b="1">
                <a:solidFill>
                  <a:srgbClr val="16181A"/>
                </a:solidFill>
                <a:latin typeface="Arial"/>
              </a:rPr>
              <a:t>Procedural generation —  </a:t>
            </a:r>
            <a:r>
              <a:rPr sz="1500">
                <a:solidFill>
                  <a:srgbClr val="6B7178"/>
                </a:solidFill>
                <a:latin typeface="Arial"/>
              </a:rPr>
              <a:t>changing the world itself, not only the agents in it.</a:t>
            </a:r>
          </a:p>
          <a:p>
            <a:pPr>
              <a:lnSpc>
                <a:spcPct val="130000"/>
              </a:lnSpc>
              <a:spcAft>
                <a:spcPts val="1300"/>
              </a:spcAft>
            </a:pPr>
            <a:r>
              <a:rPr sz="1500">
                <a:solidFill>
                  <a:srgbClr val="16181A"/>
                </a:solidFill>
                <a:latin typeface="Arial"/>
              </a:rPr>
              <a:t/>
            </a:r>
          </a:p>
          <a:p>
            <a:pPr>
              <a:lnSpc>
                <a:spcPct val="130000"/>
              </a:lnSpc>
              <a:spcAft>
                <a:spcPts val="1300"/>
              </a:spcAft>
            </a:pPr>
            <a:r>
              <a:rPr sz="1500" b="1">
                <a:solidFill>
                  <a:srgbClr val="16181A"/>
                </a:solidFill>
                <a:latin typeface="Arial"/>
              </a:rPr>
              <a:t>Horror is where this matters most, and is least explored.  </a:t>
            </a:r>
            <a:r>
              <a:rPr sz="1500">
                <a:solidFill>
                  <a:srgbClr val="6B7178"/>
                </a:solidFill>
                <a:latin typeface="Arial"/>
              </a:rPr>
              <a:t/>
            </a:r>
          </a:p>
          <a:p>
            <a:pPr>
              <a:lnSpc>
                <a:spcPct val="130000"/>
              </a:lnSpc>
              <a:spcAft>
                <a:spcPts val="1300"/>
              </a:spcAft>
            </a:pPr>
            <a:r>
              <a:rPr sz="1500">
                <a:solidFill>
                  <a:srgbClr val="16181A"/>
                </a:solidFill>
                <a:latin typeface="Arial"/>
              </a:rPr>
              <a:t>Horror depends on uncertainty. Every horror game degrades as the player learns it: routes get memorised, spawns get learned, the monster becomes a timing puzzle.</a:t>
            </a:r>
          </a:p>
          <a:p>
            <a:pPr>
              <a:lnSpc>
                <a:spcPct val="130000"/>
              </a:lnSpc>
              <a:spcAft>
                <a:spcPts val="1300"/>
              </a:spcAft>
            </a:pPr>
            <a:r>
              <a:rPr sz="1500">
                <a:solidFill>
                  <a:srgbClr val="16181A"/>
                </a:solidFill>
                <a:latin typeface="Arial"/>
              </a:rPr>
              <a:t>The genre's central failure mode is that mastery destroys the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2 · PROBLEM STATEMENT</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Static AI is learnable. Random AI is unfair.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45720" cy="2148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847088"/>
            <a:ext cx="10424160" cy="2148840"/>
          </a:xfrm>
          <a:prstGeom prst="rect">
            <a:avLst/>
          </a:prstGeom>
          <a:noFill/>
        </p:spPr>
        <p:txBody>
          <a:bodyPr wrap="square" lIns="0" rIns="0" tIns="0" bIns="0">
            <a:spAutoFit/>
          </a:bodyPr>
          <a:lstStyle/>
          <a:p>
            <a:pPr algn="l">
              <a:lnSpc>
                <a:spcPct val="135000"/>
              </a:lnSpc>
              <a:spcAft>
                <a:spcPts val="1000"/>
              </a:spcAft>
            </a:pPr>
            <a:r>
              <a:rPr sz="1400" b="0">
                <a:solidFill>
                  <a:srgbClr val="16181A"/>
                </a:solidFill>
                <a:latin typeface="Arial"/>
              </a:rPr>
              <a:t>Existing horror antagonists are static or randomised. Static AI is learnable and stops being frightening. Randomised AI is unlearnable and therefore reads as unfair rather than intelligent. Neither adapts to the specific player.</a:t>
            </a:r>
          </a:p>
          <a:p>
            <a:pPr algn="l">
              <a:lnSpc>
                <a:spcPct val="135000"/>
              </a:lnSpc>
              <a:spcAft>
                <a:spcPts val="1000"/>
              </a:spcAft>
            </a:pPr>
            <a:r>
              <a:rPr sz="1400" b="0">
                <a:solidFill>
                  <a:srgbClr val="16181A"/>
                </a:solidFill>
                <a:latin typeface="Arial"/>
              </a:rPr>
              <a:t>PARITY proposes a third option: an antagonist that builds an online behavioural model of the individual player and acts on its predictions — intercepting where the player is going rather than chasing where they are, and degrading the information the player has come to depend on.</a:t>
            </a:r>
          </a:p>
        </p:txBody>
      </p:sp>
      <p:graphicFrame>
        <p:nvGraphicFramePr>
          <p:cNvPr id="7" name="Table 6"/>
          <p:cNvGraphicFramePr>
            <a:graphicFrameLocks noGrp="1"/>
          </p:cNvGraphicFramePr>
          <p:nvPr/>
        </p:nvGraphicFramePr>
        <p:xfrm>
          <a:off x="658368" y="4315968"/>
          <a:ext cx="10881360" cy="1920240"/>
        </p:xfrm>
        <a:graphic>
          <a:graphicData uri="http://schemas.openxmlformats.org/drawingml/2006/table">
            <a:tbl>
              <a:tblPr firstRow="1" bandRow="1">
                <a:tableStyleId>{5C22544A-7EE6-4342-B048-85BDC9FD1C3A}</a:tableStyleId>
              </a:tblPr>
              <a:tblGrid>
                <a:gridCol w="2377440"/>
                <a:gridCol w="8503920"/>
              </a:tblGrid>
              <a:tr h="384048">
                <a:tc>
                  <a:txBody>
                    <a:bodyPr/>
                    <a:lstStyle/>
                    <a:p>
                      <a:pPr>
                        <a:lnSpc>
                          <a:spcPct val="115000"/>
                        </a:lnSpc>
                      </a:pPr>
                      <a:r>
                        <a:rPr sz="950" b="1">
                          <a:solidFill>
                            <a:srgbClr val="6B7178"/>
                          </a:solidFill>
                          <a:latin typeface="Arial"/>
                        </a:rPr>
                        <a:t>Challenge</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is hard here</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Cold start</a:t>
                      </a:r>
                    </a:p>
                  </a:txBody>
                  <a:tcPr marL="73152" marR="73152" marT="36576" marB="36576">
                    <a:solidFill>
                      <a:srgbClr val="FCFCFB"/>
                    </a:solidFill>
                  </a:tcPr>
                </a:tc>
                <a:tc>
                  <a:txBody>
                    <a:bodyPr/>
                    <a:lstStyle/>
                    <a:p>
                      <a:pPr>
                        <a:lnSpc>
                          <a:spcPct val="115000"/>
                        </a:lnSpc>
                      </a:pPr>
                      <a:r>
                        <a:rPr sz="1250" b="0">
                          <a:solidFill>
                            <a:srgbClr val="16181A"/>
                          </a:solidFill>
                          <a:latin typeface="Arial"/>
                        </a:rPr>
                        <a:t>Must be interesting in the first two minutes, with no prior data on this player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Legibility</a:t>
                      </a:r>
                    </a:p>
                  </a:txBody>
                  <a:tcPr marL="73152" marR="73152" marT="36576" marB="36576">
                    <a:solidFill>
                      <a:srgbClr val="FCFCFB"/>
                    </a:solidFill>
                  </a:tcPr>
                </a:tc>
                <a:tc>
                  <a:txBody>
                    <a:bodyPr/>
                    <a:lstStyle/>
                    <a:p>
                      <a:pPr>
                        <a:lnSpc>
                          <a:spcPct val="115000"/>
                        </a:lnSpc>
                      </a:pPr>
                      <a:r>
                        <a:rPr sz="1250" b="0">
                          <a:solidFill>
                            <a:srgbClr val="16181A"/>
                          </a:solidFill>
                          <a:latin typeface="Arial"/>
                        </a:rPr>
                        <a:t>A model the player cannot perceive is, to the player, no model at all</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Fairness</a:t>
                      </a:r>
                    </a:p>
                  </a:txBody>
                  <a:tcPr marL="73152" marR="73152" marT="36576" marB="36576">
                    <a:solidFill>
                      <a:srgbClr val="FCFCFB"/>
                    </a:solidFill>
                  </a:tcPr>
                </a:tc>
                <a:tc>
                  <a:txBody>
                    <a:bodyPr/>
                    <a:lstStyle/>
                    <a:p>
                      <a:pPr>
                        <a:lnSpc>
                          <a:spcPct val="115000"/>
                        </a:lnSpc>
                      </a:pPr>
                      <a:r>
                        <a:rPr sz="1250" b="0">
                          <a:solidFill>
                            <a:srgbClr val="16181A"/>
                          </a:solidFill>
                          <a:latin typeface="Arial"/>
                        </a:rPr>
                        <a:t>An antagonist that is merely stronger is not scarier — it is unfair</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Evaluation</a:t>
                      </a:r>
                    </a:p>
                  </a:txBody>
                  <a:tcPr marL="73152" marR="73152" marT="36576" marB="36576">
                    <a:solidFill>
                      <a:srgbClr val="FCFCFB"/>
                    </a:solidFill>
                  </a:tcPr>
                </a:tc>
                <a:tc>
                  <a:txBody>
                    <a:bodyPr/>
                    <a:lstStyle/>
                    <a:p>
                      <a:pPr>
                        <a:lnSpc>
                          <a:spcPct val="115000"/>
                        </a:lnSpc>
                      </a:pPr>
                      <a:r>
                        <a:rPr sz="1250" b="0">
                          <a:solidFill>
                            <a:srgbClr val="16181A"/>
                          </a:solidFill>
                          <a:latin typeface="Arial"/>
                        </a:rPr>
                        <a:t>'Is it scary?' does not scale to the playtesting a solo project can do</a:t>
                      </a:r>
                    </a:p>
                  </a:txBody>
                  <a:tcPr marL="73152" marR="73152" marT="36576" marB="36576">
                    <a:solidFill>
                      <a:srgbClr val="FCFC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3 · AIM AND OBJECTIVES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Demonstrate that the model both learns and matters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548640"/>
          </a:xfrm>
          <a:prstGeom prst="rect">
            <a:avLst/>
          </a:prstGeom>
          <a:noFill/>
        </p:spPr>
        <p:txBody>
          <a:bodyPr wrap="square" lIns="0" rIns="0" tIns="0" bIns="0">
            <a:spAutoFit/>
          </a:bodyPr>
          <a:lstStyle/>
          <a:p>
            <a:pPr algn="l">
              <a:lnSpc>
                <a:spcPct val="135000"/>
              </a:lnSpc>
              <a:spcAft>
                <a:spcPts val="600"/>
              </a:spcAft>
            </a:pPr>
            <a:r>
              <a:rPr sz="1500" b="0">
                <a:solidFill>
                  <a:srgbClr val="6B7178"/>
                </a:solidFill>
                <a:latin typeface="Arial"/>
              </a:rPr>
              <a:t>Aim — build a first-person horror game whose antagonist is driven by a live, per-player predictive model, and demonstrate quantitatively that the model both learns and changes the game.</a:t>
            </a:r>
          </a:p>
        </p:txBody>
      </p:sp>
      <p:graphicFrame>
        <p:nvGraphicFramePr>
          <p:cNvPr id="6" name="Table 5"/>
          <p:cNvGraphicFramePr>
            <a:graphicFrameLocks noGrp="1"/>
          </p:cNvGraphicFramePr>
          <p:nvPr/>
        </p:nvGraphicFramePr>
        <p:xfrm>
          <a:off x="658368" y="2697480"/>
          <a:ext cx="10881360" cy="3072384"/>
        </p:xfrm>
        <a:graphic>
          <a:graphicData uri="http://schemas.openxmlformats.org/drawingml/2006/table">
            <a:tbl>
              <a:tblPr firstRow="1" bandRow="1">
                <a:tableStyleId>{5C22544A-7EE6-4342-B048-85BDC9FD1C3A}</a:tableStyleId>
              </a:tblPr>
              <a:tblGrid>
                <a:gridCol w="594360"/>
                <a:gridCol w="8275320"/>
                <a:gridCol w="2011680"/>
              </a:tblGrid>
              <a:tr h="384048">
                <a:tc>
                  <a:txBody>
                    <a:bodyPr/>
                    <a:lstStyle/>
                    <a:p>
                      <a:pPr>
                        <a:lnSpc>
                          <a:spcPct val="115000"/>
                        </a:lnSpc>
                      </a:pPr>
                      <a:r>
                        <a:rPr sz="950" b="1">
                          <a:solidFill>
                            <a:srgbClr val="6B7178"/>
                          </a:solidFill>
                          <a:latin typeface="Arial"/>
                        </a:rPr>
                        <a:t>#</a:t>
                      </a:r>
                    </a:p>
                  </a:txBody>
                  <a:tcPr marL="73152" marR="73152" marT="36576" marB="36576">
                    <a:solidFill>
                      <a:srgbClr val="F4F6F8"/>
                    </a:solidFill>
                  </a:tcPr>
                </a:tc>
                <a:tc>
                  <a:txBody>
                    <a:bodyPr/>
                    <a:lstStyle/>
                    <a:p>
                      <a:pPr>
                        <a:lnSpc>
                          <a:spcPct val="115000"/>
                        </a:lnSpc>
                      </a:pPr>
                      <a:r>
                        <a:rPr sz="950" b="1">
                          <a:solidFill>
                            <a:srgbClr val="6B7178"/>
                          </a:solidFill>
                          <a:latin typeface="Arial"/>
                        </a:rPr>
                        <a:t>Objective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Status</a:t>
                      </a:r>
                    </a:p>
                  </a:txBody>
                  <a:tcPr marL="73152" marR="73152" marT="36576" marB="36576">
                    <a:solidFill>
                      <a:srgbClr val="F4F6F8"/>
                    </a:solidFill>
                  </a:tcPr>
                </a:tc>
              </a:tr>
              <a:tr h="384048">
                <a:tc>
                  <a:txBody>
                    <a:bodyPr/>
                    <a:lstStyle/>
                    <a:p>
                      <a:pPr>
                        <a:lnSpc>
                          <a:spcPct val="115000"/>
                        </a:lnSpc>
                      </a:pPr>
                      <a:r>
                        <a:rPr sz="1250" b="0">
                          <a:solidFill>
                            <a:srgbClr val="16181A"/>
                          </a:solidFill>
                          <a:latin typeface="Arial"/>
                        </a:rPr>
                        <a:t>O1</a:t>
                      </a:r>
                    </a:p>
                  </a:txBody>
                  <a:tcPr marL="73152" marR="73152" marT="36576" marB="36576">
                    <a:solidFill>
                      <a:srgbClr val="FCFCFB"/>
                    </a:solidFill>
                  </a:tcPr>
                </a:tc>
                <a:tc>
                  <a:txBody>
                    <a:bodyPr/>
                    <a:lstStyle/>
                    <a:p>
                      <a:pPr>
                        <a:lnSpc>
                          <a:spcPct val="115000"/>
                        </a:lnSpc>
                      </a:pPr>
                      <a:r>
                        <a:rPr sz="1250" b="0">
                          <a:solidFill>
                            <a:srgbClr val="16181A"/>
                          </a:solidFill>
                          <a:latin typeface="Arial"/>
                        </a:rPr>
                        <a:t>Formalise the facility as a mutable room graph with runtime topology edits</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O2</a:t>
                      </a:r>
                    </a:p>
                  </a:txBody>
                  <a:tcPr marL="73152" marR="73152" marT="36576" marB="36576">
                    <a:solidFill>
                      <a:srgbClr val="FCFCFB"/>
                    </a:solidFill>
                  </a:tcPr>
                </a:tc>
                <a:tc>
                  <a:txBody>
                    <a:bodyPr/>
                    <a:lstStyle/>
                    <a:p>
                      <a:pPr>
                        <a:lnSpc>
                          <a:spcPct val="115000"/>
                        </a:lnSpc>
                      </a:pPr>
                      <a:r>
                        <a:rPr sz="1250" b="0">
                          <a:solidFill>
                            <a:srgbClr val="16181A"/>
                          </a:solidFill>
                          <a:latin typeface="Arial"/>
                        </a:rPr>
                        <a:t>Online next-room predictor that learns from the first move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O3</a:t>
                      </a:r>
                    </a:p>
                  </a:txBody>
                  <a:tcPr marL="73152" marR="73152" marT="36576" marB="36576">
                    <a:solidFill>
                      <a:srgbClr val="FCFCFB"/>
                    </a:solidFill>
                  </a:tcPr>
                </a:tc>
                <a:tc>
                  <a:txBody>
                    <a:bodyPr/>
                    <a:lstStyle/>
                    <a:p>
                      <a:pPr>
                        <a:lnSpc>
                          <a:spcPct val="115000"/>
                        </a:lnSpc>
                      </a:pPr>
                      <a:r>
                        <a:rPr sz="1250" b="0">
                          <a:solidFill>
                            <a:srgbClr val="16181A"/>
                          </a:solidFill>
                          <a:latin typeface="Arial"/>
                        </a:rPr>
                        <a:t>Beat a no-model control and an order-1 Markov baseline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O4</a:t>
                      </a:r>
                    </a:p>
                  </a:txBody>
                  <a:tcPr marL="73152" marR="73152" marT="36576" marB="36576">
                    <a:solidFill>
                      <a:srgbClr val="FCFCFB"/>
                    </a:solidFill>
                  </a:tcPr>
                </a:tc>
                <a:tc>
                  <a:txBody>
                    <a:bodyPr/>
                    <a:lstStyle/>
                    <a:p>
                      <a:pPr>
                        <a:lnSpc>
                          <a:spcPct val="115000"/>
                        </a:lnSpc>
                      </a:pPr>
                      <a:r>
                        <a:rPr sz="1250" b="0">
                          <a:solidFill>
                            <a:srgbClr val="16181A"/>
                          </a:solidFill>
                          <a:latin typeface="Arial"/>
                        </a:rPr>
                        <a:t>Learn nothing from a random player (no leakage)</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O5</a:t>
                      </a:r>
                    </a:p>
                  </a:txBody>
                  <a:tcPr marL="73152" marR="73152" marT="36576" marB="36576">
                    <a:solidFill>
                      <a:srgbClr val="FCFCFB"/>
                    </a:solidFill>
                  </a:tcPr>
                </a:tc>
                <a:tc>
                  <a:txBody>
                    <a:bodyPr/>
                    <a:lstStyle/>
                    <a:p>
                      <a:pPr>
                        <a:lnSpc>
                          <a:spcPct val="115000"/>
                        </a:lnSpc>
                      </a:pPr>
                      <a:r>
                        <a:rPr sz="1250" b="0">
                          <a:solidFill>
                            <a:srgbClr val="16181A"/>
                          </a:solidFill>
                          <a:latin typeface="Arial"/>
                        </a:rPr>
                        <a:t>Show better prediction yields a more dangerous antagonist</a:t>
                      </a:r>
                    </a:p>
                  </a:txBody>
                  <a:tcPr marL="73152" marR="73152" marT="36576" marB="36576">
                    <a:solidFill>
                      <a:srgbClr val="FCFCFB"/>
                    </a:solidFill>
                  </a:tcPr>
                </a:tc>
                <a:tc>
                  <a:txBody>
                    <a:bodyPr/>
                    <a:lstStyle/>
                    <a:p>
                      <a:pPr>
                        <a:lnSpc>
                          <a:spcPct val="115000"/>
                        </a:lnSpc>
                      </a:pPr>
                      <a:r>
                        <a:rPr sz="1250" b="0">
                          <a:solidFill>
                            <a:srgbClr val="16181A"/>
                          </a:solidFill>
                          <a:latin typeface="Arial"/>
                        </a:rPr>
                        <a:t>Done</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O6</a:t>
                      </a:r>
                    </a:p>
                  </a:txBody>
                  <a:tcPr marL="73152" marR="73152" marT="36576" marB="36576">
                    <a:solidFill>
                      <a:srgbClr val="FCFCFB"/>
                    </a:solidFill>
                  </a:tcPr>
                </a:tc>
                <a:tc>
                  <a:txBody>
                    <a:bodyPr/>
                    <a:lstStyle/>
                    <a:p>
                      <a:pPr>
                        <a:lnSpc>
                          <a:spcPct val="115000"/>
                        </a:lnSpc>
                      </a:pPr>
                      <a:r>
                        <a:rPr sz="1250" b="0">
                          <a:solidFill>
                            <a:srgbClr val="16181A"/>
                          </a:solidFill>
                          <a:latin typeface="Arial"/>
                        </a:rPr>
                        <a:t>Make the model legible to the player in-game</a:t>
                      </a:r>
                    </a:p>
                  </a:txBody>
                  <a:tcPr marL="73152" marR="73152" marT="36576" marB="36576">
                    <a:solidFill>
                      <a:srgbClr val="FCFCFB"/>
                    </a:solidFill>
                  </a:tcPr>
                </a:tc>
                <a:tc>
                  <a:txBody>
                    <a:bodyPr/>
                    <a:lstStyle/>
                    <a:p>
                      <a:pPr>
                        <a:lnSpc>
                          <a:spcPct val="115000"/>
                        </a:lnSpc>
                      </a:pPr>
                      <a:r>
                        <a:rPr sz="1250" b="0">
                          <a:solidFill>
                            <a:srgbClr val="16181A"/>
                          </a:solidFill>
                          <a:latin typeface="Arial"/>
                        </a:rPr>
                        <a:t>Demo built</a:t>
                      </a:r>
                    </a:p>
                  </a:txBody>
                  <a:tcPr marL="73152" marR="73152" marT="36576" marB="36576">
                    <a:solidFill>
                      <a:srgbClr val="FCFCFB"/>
                    </a:solidFill>
                  </a:tcPr>
                </a:tc>
              </a:tr>
              <a:tr h="384048">
                <a:tc>
                  <a:txBody>
                    <a:bodyPr/>
                    <a:lstStyle/>
                    <a:p>
                      <a:pPr>
                        <a:lnSpc>
                          <a:spcPct val="115000"/>
                        </a:lnSpc>
                      </a:pPr>
                      <a:r>
                        <a:rPr sz="1250" b="0">
                          <a:solidFill>
                            <a:srgbClr val="16181A"/>
                          </a:solidFill>
                          <a:latin typeface="Arial"/>
                        </a:rPr>
                        <a:t>O7</a:t>
                      </a:r>
                    </a:p>
                  </a:txBody>
                  <a:tcPr marL="73152" marR="73152" marT="36576" marB="36576">
                    <a:solidFill>
                      <a:srgbClr val="FCFCFB"/>
                    </a:solidFill>
                  </a:tcPr>
                </a:tc>
                <a:tc>
                  <a:txBody>
                    <a:bodyPr/>
                    <a:lstStyle/>
                    <a:p>
                      <a:pPr>
                        <a:lnSpc>
                          <a:spcPct val="115000"/>
                        </a:lnSpc>
                      </a:pPr>
                      <a:r>
                        <a:rPr sz="1250" b="0">
                          <a:solidFill>
                            <a:srgbClr val="16181A"/>
                          </a:solidFill>
                          <a:latin typeface="Arial"/>
                        </a:rPr>
                        <a:t>Ship the first-person Godot vertical slice</a:t>
                      </a:r>
                    </a:p>
                  </a:txBody>
                  <a:tcPr marL="73152" marR="73152" marT="36576" marB="36576">
                    <a:solidFill>
                      <a:srgbClr val="FCFCFB"/>
                    </a:solidFill>
                  </a:tcPr>
                </a:tc>
                <a:tc>
                  <a:txBody>
                    <a:bodyPr/>
                    <a:lstStyle/>
                    <a:p>
                      <a:pPr>
                        <a:lnSpc>
                          <a:spcPct val="115000"/>
                        </a:lnSpc>
                      </a:pPr>
                      <a:r>
                        <a:rPr sz="1250" b="0">
                          <a:solidFill>
                            <a:srgbClr val="16181A"/>
                          </a:solidFill>
                          <a:latin typeface="Arial"/>
                        </a:rPr>
                        <a:t>In progress</a:t>
                      </a:r>
                    </a:p>
                  </a:txBody>
                  <a:tcPr marL="73152" marR="73152" marT="36576" marB="36576">
                    <a:solidFill>
                      <a:srgbClr val="FCFCFB"/>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4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22 works · 20 published 2023 or later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304288"/>
        </p:xfrm>
        <a:graphic>
          <a:graphicData uri="http://schemas.openxmlformats.org/drawingml/2006/table">
            <a:tbl>
              <a:tblPr firstRow="1" bandRow="1">
                <a:tableStyleId>{5C22544A-7EE6-4342-B048-85BDC9FD1C3A}</a:tableStyleId>
              </a:tblPr>
              <a:tblGrid>
                <a:gridCol w="4114800"/>
                <a:gridCol w="1005840"/>
                <a:gridCol w="5760720"/>
              </a:tblGrid>
              <a:tr h="384048">
                <a:tc>
                  <a:txBody>
                    <a:bodyPr/>
                    <a:lstStyle/>
                    <a:p>
                      <a:pPr>
                        <a:lnSpc>
                          <a:spcPct val="115000"/>
                        </a:lnSpc>
                      </a:pPr>
                      <a:r>
                        <a:rPr sz="950" b="1">
                          <a:solidFill>
                            <a:srgbClr val="6B7178"/>
                          </a:solidFill>
                          <a:latin typeface="Arial"/>
                        </a:rPr>
                        <a:t>Theme</a:t>
                      </a:r>
                    </a:p>
                  </a:txBody>
                  <a:tcPr marL="73152" marR="73152" marT="36576" marB="36576">
                    <a:solidFill>
                      <a:srgbClr val="F4F6F8"/>
                    </a:solidFill>
                  </a:tcPr>
                </a:tc>
                <a:tc>
                  <a:txBody>
                    <a:bodyPr/>
                    <a:lstStyle/>
                    <a:p>
                      <a:pPr>
                        <a:lnSpc>
                          <a:spcPct val="115000"/>
                        </a:lnSpc>
                      </a:pPr>
                      <a:r>
                        <a:rPr sz="950" b="1">
                          <a:solidFill>
                            <a:srgbClr val="6B7178"/>
                          </a:solidFill>
                          <a:latin typeface="Arial"/>
                        </a:rPr>
                        <a:t>Works</a:t>
                      </a:r>
                    </a:p>
                  </a:txBody>
                  <a:tcPr marL="73152" marR="73152" marT="36576" marB="36576">
                    <a:solidFill>
                      <a:srgbClr val="F4F6F8"/>
                    </a:solidFill>
                  </a:tcPr>
                </a:tc>
                <a:tc>
                  <a:txBody>
                    <a:bodyPr/>
                    <a:lstStyle/>
                    <a:p>
                      <a:pPr>
                        <a:lnSpc>
                          <a:spcPct val="115000"/>
                        </a:lnSpc>
                      </a:pPr>
                      <a:r>
                        <a:rPr sz="950" b="1">
                          <a:solidFill>
                            <a:srgbClr val="6B7178"/>
                          </a:solidFill>
                          <a:latin typeface="Arial"/>
                        </a:rPr>
                        <a:t>What it settles for this project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Player modelling &amp; behaviour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Behavioural signals alone suffice; models should be inspectable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Adaptive game AI &amp; dynamic difficulty</a:t>
                      </a:r>
                    </a:p>
                  </a:txBody>
                  <a:tcPr marL="73152" marR="73152" marT="36576" marB="36576">
                    <a:solidFill>
                      <a:srgbClr val="FCFCFB"/>
                    </a:solidFill>
                  </a:tcPr>
                </a:tc>
                <a:tc>
                  <a:txBody>
                    <a:bodyPr/>
                    <a:lstStyle/>
                    <a:p>
                      <a:pPr>
                        <a:lnSpc>
                          <a:spcPct val="115000"/>
                        </a:lnSpc>
                      </a:pPr>
                      <a:r>
                        <a:rPr sz="1300" b="0">
                          <a:solidFill>
                            <a:srgbClr val="16181A"/>
                          </a:solidFill>
                          <a:latin typeface="Arial"/>
                        </a:rPr>
                        <a:t>7</a:t>
                      </a:r>
                    </a:p>
                  </a:txBody>
                  <a:tcPr marL="73152" marR="73152" marT="36576" marB="36576">
                    <a:solidFill>
                      <a:srgbClr val="FCFCFB"/>
                    </a:solidFill>
                  </a:tcPr>
                </a:tc>
                <a:tc>
                  <a:txBody>
                    <a:bodyPr/>
                    <a:lstStyle/>
                    <a:p>
                      <a:pPr>
                        <a:lnSpc>
                          <a:spcPct val="115000"/>
                        </a:lnSpc>
                      </a:pPr>
                      <a:r>
                        <a:rPr sz="1300" b="0">
                          <a:solidFill>
                            <a:srgbClr val="16181A"/>
                          </a:solidFill>
                          <a:latin typeface="Arial"/>
                        </a:rPr>
                        <a:t>State of the art adapts parameters, rarely placement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Procedural generation of mutable levels</a:t>
                      </a:r>
                    </a:p>
                  </a:txBody>
                  <a:tcPr marL="73152" marR="73152" marT="36576" marB="36576">
                    <a:solidFill>
                      <a:srgbClr val="FCFCFB"/>
                    </a:solidFill>
                  </a:tcPr>
                </a:tc>
                <a:tc>
                  <a:txBody>
                    <a:bodyPr/>
                    <a:lstStyle/>
                    <a:p>
                      <a:pPr>
                        <a:lnSpc>
                          <a:spcPct val="115000"/>
                        </a:lnSpc>
                      </a:pPr>
                      <a:r>
                        <a:rPr sz="1300" b="0">
                          <a:solidFill>
                            <a:srgbClr val="16181A"/>
                          </a:solidFill>
                          <a:latin typeface="Arial"/>
                        </a:rPr>
                        <a:t>3</a:t>
                      </a:r>
                    </a:p>
                  </a:txBody>
                  <a:tcPr marL="73152" marR="73152" marT="36576" marB="36576">
                    <a:solidFill>
                      <a:srgbClr val="FCFCFB"/>
                    </a:solidFill>
                  </a:tcPr>
                </a:tc>
                <a:tc>
                  <a:txBody>
                    <a:bodyPr/>
                    <a:lstStyle/>
                    <a:p>
                      <a:pPr>
                        <a:lnSpc>
                          <a:spcPct val="115000"/>
                        </a:lnSpc>
                      </a:pPr>
                      <a:r>
                        <a:rPr sz="1300" b="0">
                          <a:solidFill>
                            <a:srgbClr val="16181A"/>
                          </a:solidFill>
                          <a:latin typeface="Arial"/>
                        </a:rPr>
                        <a:t>Graph-based generation with connectivity guarantees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Sequence &amp; next-location prediction</a:t>
                      </a:r>
                    </a:p>
                  </a:txBody>
                  <a:tcPr marL="73152" marR="73152" marT="36576" marB="36576">
                    <a:solidFill>
                      <a:srgbClr val="FCFCFB"/>
                    </a:solidFill>
                  </a:tcPr>
                </a:tc>
                <a:tc>
                  <a:txBody>
                    <a:bodyPr/>
                    <a:lstStyle/>
                    <a:p>
                      <a:pPr>
                        <a:lnSpc>
                          <a:spcPct val="115000"/>
                        </a:lnSpc>
                      </a:pPr>
                      <a:r>
                        <a:rPr sz="1300" b="0">
                          <a:solidFill>
                            <a:srgbClr val="16181A"/>
                          </a:solidFill>
                          <a:latin typeface="Arial"/>
                        </a:rPr>
                        <a:t>5</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methodological core — VOMM and its successors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Fear as a measurable experience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2</a:t>
                      </a:r>
                    </a:p>
                  </a:txBody>
                  <a:tcPr marL="73152" marR="73152" marT="36576" marB="36576">
                    <a:solidFill>
                      <a:srgbClr val="FCFCFB"/>
                    </a:solidFill>
                  </a:tcPr>
                </a:tc>
                <a:tc>
                  <a:txBody>
                    <a:bodyPr/>
                    <a:lstStyle/>
                    <a:p>
                      <a:pPr>
                        <a:lnSpc>
                          <a:spcPct val="115000"/>
                        </a:lnSpc>
                      </a:pPr>
                      <a:r>
                        <a:rPr sz="1300" b="0">
                          <a:solidFill>
                            <a:srgbClr val="16181A"/>
                          </a:solidFill>
                          <a:latin typeface="Arial"/>
                        </a:rPr>
                        <a:t>Unfairness destroys fear; behaviour reveals fear</a:t>
                      </a:r>
                    </a:p>
                  </a:txBody>
                  <a:tcPr marL="73152" marR="73152" marT="36576" marB="36576">
                    <a:solidFill>
                      <a:srgbClr val="FCFCFB"/>
                    </a:solidFill>
                  </a:tcPr>
                </a:tc>
              </a:tr>
            </a:tbl>
          </a:graphicData>
        </a:graphic>
      </p:graphicFrame>
      <p:sp>
        <p:nvSpPr>
          <p:cNvPr id="6" name="TextBox 5"/>
          <p:cNvSpPr txBox="1"/>
          <p:nvPr/>
        </p:nvSpPr>
        <p:spPr>
          <a:xfrm>
            <a:off x="658368" y="4754880"/>
            <a:ext cx="10881360" cy="1280160"/>
          </a:xfrm>
          <a:prstGeom prst="rect">
            <a:avLst/>
          </a:prstGeom>
          <a:noFill/>
        </p:spPr>
        <p:txBody>
          <a:bodyPr wrap="square" lIns="0" rIns="0" tIns="0" bIns="0">
            <a:spAutoFit/>
          </a:bodyPr>
          <a:lstStyle/>
          <a:p>
            <a:pPr algn="l">
              <a:lnSpc>
                <a:spcPct val="135000"/>
              </a:lnSpc>
              <a:spcAft>
                <a:spcPts val="600"/>
              </a:spcAft>
            </a:pPr>
            <a:r>
              <a:rPr sz="1250" b="0">
                <a:solidFill>
                  <a:srgbClr val="6B7178"/>
                </a:solidFill>
                <a:latin typeface="Arial"/>
              </a:rPr>
              <a:t>Selection criteria — peer-reviewed or arXiv-indexed work addressing player behaviour prediction, runtime game adaptation, or discrete-trajectory prediction. Priority given to 2023-2026 publications; one foundational 2004 work is retained because it is the formal basis of the proposed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5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Player modelling and adaptive game AI</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50" b="0">
                          <a:solidFill>
                            <a:srgbClr val="16181A"/>
                          </a:solidFill>
                          <a:latin typeface="Arial"/>
                        </a:rPr>
                        <a:t>Lin et al., Open Player Modeling (2603.26915)</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Player models should be inspectable — motivates our overlay</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Halina et al., Playtrace Reconstructive Partitioning (2607.12097)</a:t>
                      </a:r>
                    </a:p>
                  </a:txBody>
                  <a:tcPr marL="73152" marR="73152" marT="36576" marB="36576">
                    <a:solidFill>
                      <a:srgbClr val="FCFCFB"/>
                    </a:solidFill>
                  </a:tcPr>
                </a:tc>
                <a:tc>
                  <a:txBody>
                    <a:bodyPr/>
                    <a:lstStyle/>
                    <a:p>
                      <a:pPr>
                        <a:lnSpc>
                          <a:spcPct val="115000"/>
                        </a:lnSpc>
                      </a:pPr>
                      <a:r>
                        <a:rPr sz="1150" b="0">
                          <a:solidFill>
                            <a:srgbClr val="16181A"/>
                          </a:solidFill>
                          <a:latin typeface="Arial"/>
                        </a:rPr>
                        <a:t>26</a:t>
                      </a:r>
                    </a:p>
                  </a:txBody>
                  <a:tcPr marL="73152" marR="73152" marT="36576" marB="36576">
                    <a:solidFill>
                      <a:srgbClr val="FCFCFB"/>
                    </a:solidFill>
                  </a:tcPr>
                </a:tc>
                <a:tc>
                  <a:txBody>
                    <a:bodyPr/>
                    <a:lstStyle/>
                    <a:p>
                      <a:pPr>
                        <a:lnSpc>
                          <a:spcPct val="115000"/>
                        </a:lnSpc>
                      </a:pPr>
                      <a:r>
                        <a:rPr sz="1150" b="0">
                          <a:solidFill>
                            <a:srgbClr val="16181A"/>
                          </a:solidFill>
                          <a:latin typeface="Arial"/>
                        </a:rPr>
                        <a:t>Playtraces as the level's primary representation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Carlier et al., Personalization in Serious Games (2411.18500)</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Model/method/adaptation split mirrors our architecture</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Dehpanah et al., Player Modeling from Behavioral Signals (2112.04379)</a:t>
                      </a:r>
                    </a:p>
                  </a:txBody>
                  <a:tcPr marL="73152" marR="73152" marT="36576" marB="36576">
                    <a:solidFill>
                      <a:srgbClr val="FCFCFB"/>
                    </a:solidFill>
                  </a:tcPr>
                </a:tc>
                <a:tc>
                  <a:txBody>
                    <a:bodyPr/>
                    <a:lstStyle/>
                    <a:p>
                      <a:pPr>
                        <a:lnSpc>
                          <a:spcPct val="115000"/>
                        </a:lnSpc>
                      </a:pPr>
                      <a:r>
                        <a:rPr sz="1150" b="0">
                          <a:solidFill>
                            <a:srgbClr val="16181A"/>
                          </a:solidFill>
                          <a:latin typeface="Arial"/>
                        </a:rPr>
                        <a:t>21</a:t>
                      </a:r>
                    </a:p>
                  </a:txBody>
                  <a:tcPr marL="73152" marR="73152" marT="36576" marB="36576">
                    <a:solidFill>
                      <a:srgbClr val="FCFCFB"/>
                    </a:solidFill>
                  </a:tcPr>
                </a:tc>
                <a:tc>
                  <a:txBody>
                    <a:bodyPr/>
                    <a:lstStyle/>
                    <a:p>
                      <a:pPr>
                        <a:lnSpc>
                          <a:spcPct val="115000"/>
                        </a:lnSpc>
                      </a:pPr>
                      <a:r>
                        <a:rPr sz="1150" b="0">
                          <a:solidFill>
                            <a:srgbClr val="16181A"/>
                          </a:solidFill>
                          <a:latin typeface="Arial"/>
                        </a:rPr>
                        <a:t>Raw behaviour suffices — no biometrics needed</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Romeo et al., NTRL: RL for DDA in D&amp;D (2506.19530)</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Closest analogue — adapts encounters, not stats</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Lopes et al., Affect-Driven Game Adaptation review (2505.01351)</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Identifies evaluation as the field's weak point</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Fuchs et al., Personalized DDA (2408.06818)</a:t>
                      </a:r>
                    </a:p>
                  </a:txBody>
                  <a:tcPr marL="73152" marR="73152" marT="36576" marB="36576">
                    <a:solidFill>
                      <a:srgbClr val="FCFCFB"/>
                    </a:solidFill>
                  </a:tcPr>
                </a:tc>
                <a:tc>
                  <a:txBody>
                    <a:bodyPr/>
                    <a:lstStyle/>
                    <a:p>
                      <a:pPr>
                        <a:lnSpc>
                          <a:spcPct val="115000"/>
                        </a:lnSpc>
                      </a:pPr>
                      <a:r>
                        <a:rPr sz="1150" b="0">
                          <a:solidFill>
                            <a:srgbClr val="16181A"/>
                          </a:solidFill>
                          <a:latin typeface="Arial"/>
                        </a:rPr>
                        <a:t>24</a:t>
                      </a:r>
                    </a:p>
                  </a:txBody>
                  <a:tcPr marL="73152" marR="73152" marT="36576" marB="36576">
                    <a:solidFill>
                      <a:srgbClr val="FCFCFB"/>
                    </a:solidFill>
                  </a:tcPr>
                </a:tc>
                <a:tc>
                  <a:txBody>
                    <a:bodyPr/>
                    <a:lstStyle/>
                    <a:p>
                      <a:pPr>
                        <a:lnSpc>
                          <a:spcPct val="115000"/>
                        </a:lnSpc>
                      </a:pPr>
                      <a:r>
                        <a:rPr sz="1150" b="0">
                          <a:solidFill>
                            <a:srgbClr val="16181A"/>
                          </a:solidFill>
                          <a:latin typeface="Arial"/>
                        </a:rPr>
                        <a:t>Imitation + RL personalisation; far heavier to train</a:t>
                      </a:r>
                    </a:p>
                  </a:txBody>
                  <a:tcPr marL="73152" marR="73152" marT="36576" marB="36576">
                    <a:solidFill>
                      <a:srgbClr val="FCFCFB"/>
                    </a:solidFill>
                  </a:tcPr>
                </a:tc>
              </a:tr>
              <a:tr h="384048">
                <a:tc>
                  <a:txBody>
                    <a:bodyPr/>
                    <a:lstStyle/>
                    <a:p>
                      <a:pPr>
                        <a:lnSpc>
                          <a:spcPct val="115000"/>
                        </a:lnSpc>
                      </a:pPr>
                      <a:r>
                        <a:rPr sz="1150" b="0">
                          <a:solidFill>
                            <a:srgbClr val="16181A"/>
                          </a:solidFill>
                          <a:latin typeface="Arial"/>
                        </a:rPr>
                        <a:t>Cafri et al., DDA with Brain Waves (2504.13965)</a:t>
                      </a:r>
                    </a:p>
                  </a:txBody>
                  <a:tcPr marL="73152" marR="73152" marT="36576" marB="36576">
                    <a:solidFill>
                      <a:srgbClr val="FCFCFB"/>
                    </a:solidFill>
                  </a:tcPr>
                </a:tc>
                <a:tc>
                  <a:txBody>
                    <a:bodyPr/>
                    <a:lstStyle/>
                    <a:p>
                      <a:pPr>
                        <a:lnSpc>
                          <a:spcPct val="115000"/>
                        </a:lnSpc>
                      </a:pPr>
                      <a:r>
                        <a:rPr sz="1150" b="0">
                          <a:solidFill>
                            <a:srgbClr val="16181A"/>
                          </a:solidFill>
                          <a:latin typeface="Arial"/>
                        </a:rPr>
                        <a:t>25</a:t>
                      </a:r>
                    </a:p>
                  </a:txBody>
                  <a:tcPr marL="73152" marR="73152" marT="36576" marB="36576">
                    <a:solidFill>
                      <a:srgbClr val="FCFCFB"/>
                    </a:solidFill>
                  </a:tcPr>
                </a:tc>
                <a:tc>
                  <a:txBody>
                    <a:bodyPr/>
                    <a:lstStyle/>
                    <a:p>
                      <a:pPr>
                        <a:lnSpc>
                          <a:spcPct val="115000"/>
                        </a:lnSpc>
                      </a:pPr>
                      <a:r>
                        <a:rPr sz="1150" b="0">
                          <a:solidFill>
                            <a:srgbClr val="16181A"/>
                          </a:solidFill>
                          <a:latin typeface="Arial"/>
                        </a:rPr>
                        <a:t>Biometric branch — we deliberately avoid extra hardware</a:t>
                      </a:r>
                    </a:p>
                  </a:txBody>
                  <a:tcPr marL="73152" marR="73152" marT="36576" marB="36576">
                    <a:solidFill>
                      <a:srgbClr val="FCFCFB"/>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6 · LITERATURE REVIEW</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Level generation and trajectory prediction</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4224528"/>
        </p:xfrm>
        <a:graphic>
          <a:graphicData uri="http://schemas.openxmlformats.org/drawingml/2006/table">
            <a:tbl>
              <a:tblPr firstRow="1" bandRow="1">
                <a:tableStyleId>{5C22544A-7EE6-4342-B048-85BDC9FD1C3A}</a:tableStyleId>
              </a:tblPr>
              <a:tblGrid>
                <a:gridCol w="5852160"/>
                <a:gridCol w="548640"/>
                <a:gridCol w="4480560"/>
              </a:tblGrid>
              <a:tr h="384048">
                <a:tc>
                  <a:txBody>
                    <a:bodyPr/>
                    <a:lstStyle/>
                    <a:p>
                      <a:pPr>
                        <a:lnSpc>
                          <a:spcPct val="115000"/>
                        </a:lnSpc>
                      </a:pPr>
                      <a:r>
                        <a:rPr sz="900" b="1">
                          <a:solidFill>
                            <a:srgbClr val="6B7178"/>
                          </a:solidFill>
                          <a:latin typeface="Arial"/>
                        </a:rPr>
                        <a:t>Work</a:t>
                      </a:r>
                    </a:p>
                  </a:txBody>
                  <a:tcPr marL="73152" marR="73152" marT="36576" marB="36576">
                    <a:solidFill>
                      <a:srgbClr val="F4F6F8"/>
                    </a:solidFill>
                  </a:tcPr>
                </a:tc>
                <a:tc>
                  <a:txBody>
                    <a:bodyPr/>
                    <a:lstStyle/>
                    <a:p>
                      <a:pPr>
                        <a:lnSpc>
                          <a:spcPct val="115000"/>
                        </a:lnSpc>
                      </a:pPr>
                      <a:r>
                        <a:rPr sz="900" b="1">
                          <a:solidFill>
                            <a:srgbClr val="6B7178"/>
                          </a:solidFill>
                          <a:latin typeface="Arial"/>
                        </a:rPr>
                        <a:t>Yr</a:t>
                      </a:r>
                    </a:p>
                  </a:txBody>
                  <a:tcPr marL="73152" marR="73152" marT="36576" marB="36576">
                    <a:solidFill>
                      <a:srgbClr val="F4F6F8"/>
                    </a:solidFill>
                  </a:tcPr>
                </a:tc>
                <a:tc>
                  <a:txBody>
                    <a:bodyPr/>
                    <a:lstStyle/>
                    <a:p>
                      <a:pPr>
                        <a:lnSpc>
                          <a:spcPct val="115000"/>
                        </a:lnSpc>
                      </a:pPr>
                      <a:r>
                        <a:rPr sz="900" b="1">
                          <a:solidFill>
                            <a:srgbClr val="6B7178"/>
                          </a:solidFill>
                          <a:latin typeface="Arial"/>
                        </a:rPr>
                        <a:t>Relevance</a:t>
                      </a:r>
                    </a:p>
                  </a:txBody>
                  <a:tcPr marL="73152" marR="73152" marT="36576" marB="36576">
                    <a:solidFill>
                      <a:srgbClr val="F4F6F8"/>
                    </a:solidFill>
                  </a:tcPr>
                </a:tc>
              </a:tr>
              <a:tr h="384048">
                <a:tc>
                  <a:txBody>
                    <a:bodyPr/>
                    <a:lstStyle/>
                    <a:p>
                      <a:pPr>
                        <a:lnSpc>
                          <a:spcPct val="115000"/>
                        </a:lnSpc>
                      </a:pPr>
                      <a:r>
                        <a:rPr sz="1100" b="0">
                          <a:solidFill>
                            <a:srgbClr val="16181A"/>
                          </a:solidFill>
                          <a:latin typeface="Arial"/>
                        </a:rPr>
                        <a:t>Fiuza Vieira et al., Mansions and Dungeons generation (2606.03857)</a:t>
                      </a:r>
                    </a:p>
                  </a:txBody>
                  <a:tcPr marL="73152" marR="73152" marT="36576" marB="36576">
                    <a:solidFill>
                      <a:srgbClr val="FCFCFB"/>
                    </a:solidFill>
                  </a:tcPr>
                </a:tc>
                <a:tc>
                  <a:txBody>
                    <a:bodyPr/>
                    <a:lstStyle/>
                    <a:p>
                      <a:pPr>
                        <a:lnSpc>
                          <a:spcPct val="115000"/>
                        </a:lnSpc>
                      </a:pPr>
                      <a:r>
                        <a:rPr sz="1100" b="0">
                          <a:solidFill>
                            <a:srgbClr val="16181A"/>
                          </a:solidFill>
                          <a:latin typeface="Arial"/>
                        </a:rPr>
                        <a:t>26</a:t>
                      </a:r>
                    </a:p>
                  </a:txBody>
                  <a:tcPr marL="73152" marR="73152" marT="36576" marB="36576">
                    <a:solidFill>
                      <a:srgbClr val="FCFCFB"/>
                    </a:solidFill>
                  </a:tcPr>
                </a:tc>
                <a:tc>
                  <a:txBody>
                    <a:bodyPr/>
                    <a:lstStyle/>
                    <a:p>
                      <a:pPr>
                        <a:lnSpc>
                          <a:spcPct val="115000"/>
                        </a:lnSpc>
                      </a:pPr>
                      <a:r>
                        <a:rPr sz="1100" b="0">
                          <a:solidFill>
                            <a:srgbClr val="16181A"/>
                          </a:solidFill>
                          <a:latin typeface="Arial"/>
                        </a:rPr>
                        <a:t>Graph generation of exactly our building type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Earle et al., Level Design as Multi-Agent RL (2510.04862)</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Framing for a Director that edits the level at runtime</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Özkan, Procedural Level Design with Deep RL (2510.15120)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Contrast to our constraint-checked mutation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Begleiter, El-Yaniv &amp; Yona, Variable Order Markov Models, JAIR 22</a:t>
                      </a:r>
                    </a:p>
                  </a:txBody>
                  <a:tcPr marL="73152" marR="73152" marT="36576" marB="36576">
                    <a:solidFill>
                      <a:srgbClr val="FCFCFB"/>
                    </a:solidFill>
                  </a:tcPr>
                </a:tc>
                <a:tc>
                  <a:txBody>
                    <a:bodyPr/>
                    <a:lstStyle/>
                    <a:p>
                      <a:pPr>
                        <a:lnSpc>
                          <a:spcPct val="115000"/>
                        </a:lnSpc>
                      </a:pPr>
                      <a:r>
                        <a:rPr sz="1100" b="0">
                          <a:solidFill>
                            <a:srgbClr val="16181A"/>
                          </a:solidFill>
                          <a:latin typeface="Arial"/>
                        </a:rPr>
                        <a:t>04</a:t>
                      </a:r>
                    </a:p>
                  </a:txBody>
                  <a:tcPr marL="73152" marR="73152" marT="36576" marB="36576">
                    <a:solidFill>
                      <a:srgbClr val="FCFCFB"/>
                    </a:solidFill>
                  </a:tcPr>
                </a:tc>
                <a:tc>
                  <a:txBody>
                    <a:bodyPr/>
                    <a:lstStyle/>
                    <a:p>
                      <a:pPr>
                        <a:lnSpc>
                          <a:spcPct val="115000"/>
                        </a:lnSpc>
                      </a:pPr>
                      <a:r>
                        <a:rPr sz="1100" b="0">
                          <a:solidFill>
                            <a:srgbClr val="16181A"/>
                          </a:solidFill>
                          <a:latin typeface="Arial"/>
                        </a:rPr>
                        <a:t>FOUNDATIONAL — the formal basis of our predictor</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Wu et al., Beyond Regularity: chaotic mobility (2509.11713)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Same task shape; handles irregular trajectories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Deng et al., STRelay location prediction (2508.16620)</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The natural upgrade path from VOMM</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Liu et al., MoE Personalized Next-Location (2505.24597)</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Per-individual personalisation of prediction</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Soni et al., Predicting Your Next Move &amp; Privacy (2507.08843)</a:t>
                      </a:r>
                    </a:p>
                  </a:txBody>
                  <a:tcPr marL="73152" marR="73152" marT="36576" marB="36576">
                    <a:solidFill>
                      <a:srgbClr val="FCFCFB"/>
                    </a:solidFill>
                  </a:tcPr>
                </a:tc>
                <a:tc>
                  <a:txBody>
                    <a:bodyPr/>
                    <a:lstStyle/>
                    <a:p>
                      <a:pPr>
                        <a:lnSpc>
                          <a:spcPct val="115000"/>
                        </a:lnSpc>
                      </a:pPr>
                      <a:r>
                        <a:rPr sz="1100" b="0">
                          <a:solidFill>
                            <a:srgbClr val="16181A"/>
                          </a:solidFill>
                          <a:latin typeface="Arial"/>
                        </a:rPr>
                        <a:t>25</a:t>
                      </a:r>
                    </a:p>
                  </a:txBody>
                  <a:tcPr marL="73152" marR="73152" marT="36576" marB="36576">
                    <a:solidFill>
                      <a:srgbClr val="FCFCFB"/>
                    </a:solidFill>
                  </a:tcPr>
                </a:tc>
                <a:tc>
                  <a:txBody>
                    <a:bodyPr/>
                    <a:lstStyle/>
                    <a:p>
                      <a:pPr>
                        <a:lnSpc>
                          <a:spcPct val="115000"/>
                        </a:lnSpc>
                      </a:pPr>
                      <a:r>
                        <a:rPr sz="1100" b="0">
                          <a:solidFill>
                            <a:srgbClr val="16181A"/>
                          </a:solidFill>
                          <a:latin typeface="Arial"/>
                        </a:rPr>
                        <a:t>Privacy framing for a persisted per-player model</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VRMN-bD fear-response dataset (2401.12133)</a:t>
                      </a:r>
                    </a:p>
                  </a:txBody>
                  <a:tcPr marL="73152" marR="73152" marT="36576" marB="36576">
                    <a:solidFill>
                      <a:srgbClr val="FCFCFB"/>
                    </a:solidFill>
                  </a:tcPr>
                </a:tc>
                <a:tc>
                  <a:txBody>
                    <a:bodyPr/>
                    <a:lstStyle/>
                    <a:p>
                      <a:pPr>
                        <a:lnSpc>
                          <a:spcPct val="115000"/>
                        </a:lnSpc>
                      </a:pPr>
                      <a:r>
                        <a:rPr sz="1100" b="0">
                          <a:solidFill>
                            <a:srgbClr val="16181A"/>
                          </a:solidFill>
                          <a:latin typeface="Arial"/>
                        </a:rPr>
                        <a:t>24</a:t>
                      </a:r>
                    </a:p>
                  </a:txBody>
                  <a:tcPr marL="73152" marR="73152" marT="36576" marB="36576">
                    <a:solidFill>
                      <a:srgbClr val="FCFCFB"/>
                    </a:solidFill>
                  </a:tcPr>
                </a:tc>
                <a:tc>
                  <a:txBody>
                    <a:bodyPr/>
                    <a:lstStyle/>
                    <a:p>
                      <a:pPr>
                        <a:lnSpc>
                          <a:spcPct val="115000"/>
                        </a:lnSpc>
                      </a:pPr>
                      <a:r>
                        <a:rPr sz="1100" b="0">
                          <a:solidFill>
                            <a:srgbClr val="16181A"/>
                          </a:solidFill>
                          <a:latin typeface="Arial"/>
                        </a:rPr>
                        <a:t>Fear is detectable in ordinary behavioural signals</a:t>
                      </a:r>
                    </a:p>
                  </a:txBody>
                  <a:tcPr marL="73152" marR="73152" marT="36576" marB="36576">
                    <a:solidFill>
                      <a:srgbClr val="FCFCFB"/>
                    </a:solidFill>
                  </a:tcPr>
                </a:tc>
              </a:tr>
              <a:tr h="384048">
                <a:tc>
                  <a:txBody>
                    <a:bodyPr/>
                    <a:lstStyle/>
                    <a:p>
                      <a:pPr>
                        <a:lnSpc>
                          <a:spcPct val="115000"/>
                        </a:lnSpc>
                      </a:pPr>
                      <a:r>
                        <a:rPr sz="1100" b="0">
                          <a:solidFill>
                            <a:srgbClr val="16181A"/>
                          </a:solidFill>
                          <a:latin typeface="Arial"/>
                        </a:rPr>
                        <a:t>Zhang et al., Decoding Fear in VR horror (2312.15582)</a:t>
                      </a:r>
                    </a:p>
                  </a:txBody>
                  <a:tcPr marL="73152" marR="73152" marT="36576" marB="36576">
                    <a:solidFill>
                      <a:srgbClr val="FCFCFB"/>
                    </a:solidFill>
                  </a:tcPr>
                </a:tc>
                <a:tc>
                  <a:txBody>
                    <a:bodyPr/>
                    <a:lstStyle/>
                    <a:p>
                      <a:pPr>
                        <a:lnSpc>
                          <a:spcPct val="115000"/>
                        </a:lnSpc>
                      </a:pPr>
                      <a:r>
                        <a:rPr sz="1100" b="0">
                          <a:solidFill>
                            <a:srgbClr val="16181A"/>
                          </a:solidFill>
                          <a:latin typeface="Arial"/>
                        </a:rPr>
                        <a:t>23</a:t>
                      </a:r>
                    </a:p>
                  </a:txBody>
                  <a:tcPr marL="73152" marR="73152" marT="36576" marB="36576">
                    <a:solidFill>
                      <a:srgbClr val="FCFCFB"/>
                    </a:solidFill>
                  </a:tcPr>
                </a:tc>
                <a:tc>
                  <a:txBody>
                    <a:bodyPr/>
                    <a:lstStyle/>
                    <a:p>
                      <a:pPr>
                        <a:lnSpc>
                          <a:spcPct val="115000"/>
                        </a:lnSpc>
                      </a:pPr>
                      <a:r>
                        <a:rPr sz="1100" b="0">
                          <a:solidFill>
                            <a:srgbClr val="16181A"/>
                          </a:solidFill>
                          <a:latin typeface="Arial"/>
                        </a:rPr>
                        <a:t>Sources the constraint that unfairness destroys fear</a:t>
                      </a:r>
                    </a:p>
                  </a:txBody>
                  <a:tcPr marL="73152" marR="73152" marT="36576" marB="36576">
                    <a:solidFill>
                      <a:srgbClr val="FCFCFB"/>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7 · RESEARCH GAP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gaps, consistent across the literature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500"/>
              </a:spcAft>
            </a:pPr>
            <a:r>
              <a:rPr sz="1450" b="1">
                <a:solidFill>
                  <a:srgbClr val="16181A"/>
                </a:solidFill>
                <a:latin typeface="Arial"/>
              </a:rPr>
              <a:t>1 · DDA adapts parameters, not position.  </a:t>
            </a:r>
            <a:r>
              <a:rPr sz="1450">
                <a:solidFill>
                  <a:srgbClr val="6B7178"/>
                </a:solidFill>
                <a:latin typeface="Arial"/>
              </a:rPr>
              <a:t>The literature overwhelmingly tunes difficulty magnitude — enemy health, encounter budget, puzzle complexity. Almost none adapt where the antagonist chooses to be, from a model of the individual player.</a:t>
            </a:r>
          </a:p>
          <a:p>
            <a:pPr>
              <a:lnSpc>
                <a:spcPct val="130000"/>
              </a:lnSpc>
              <a:spcAft>
                <a:spcPts val="1500"/>
              </a:spcAft>
            </a:pPr>
            <a:r>
              <a:rPr sz="1450" b="1">
                <a:solidFill>
                  <a:srgbClr val="16181A"/>
                </a:solidFill>
                <a:latin typeface="Arial"/>
              </a:rPr>
              <a:t>2 · Next-location prediction is never used adversarially.  </a:t>
            </a:r>
            <a:r>
              <a:rPr sz="1450">
                <a:solidFill>
                  <a:srgbClr val="6B7178"/>
                </a:solidFill>
                <a:latin typeface="Arial"/>
              </a:rPr>
              <a:t>Trajectory prediction is mature, but is applied to service delivery and urban analytics. Its use as a real-time adversary against the person being predicted is unexplored.</a:t>
            </a:r>
          </a:p>
          <a:p>
            <a:pPr>
              <a:lnSpc>
                <a:spcPct val="130000"/>
              </a:lnSpc>
              <a:spcAft>
                <a:spcPts val="1500"/>
              </a:spcAft>
            </a:pPr>
            <a:r>
              <a:rPr sz="1450" b="1">
                <a:solidFill>
                  <a:srgbClr val="16181A"/>
                </a:solidFill>
                <a:latin typeface="Arial"/>
              </a:rPr>
              <a:t>3 · Adaptation is invisible, and therefore unevaluated.  </a:t>
            </a:r>
            <a:r>
              <a:rPr sz="1450">
                <a:solidFill>
                  <a:srgbClr val="6B7178"/>
                </a:solidFill>
                <a:latin typeface="Arial"/>
              </a:rPr>
              <a:t>Lopes et al. (2025) identify evaluation as the weak point. Adaptive systems are rarely surfaced to the player or measured against a no-model control.</a:t>
            </a:r>
          </a:p>
        </p:txBody>
      </p:sp>
      <p:sp>
        <p:nvSpPr>
          <p:cNvPr id="6" name="Rectangle 5"/>
          <p:cNvSpPr/>
          <p:nvPr/>
        </p:nvSpPr>
        <p:spPr>
          <a:xfrm>
            <a:off x="658368" y="5257800"/>
            <a:ext cx="10881360" cy="9144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468112"/>
            <a:ext cx="10332720" cy="640080"/>
          </a:xfrm>
          <a:prstGeom prst="rect">
            <a:avLst/>
          </a:prstGeom>
          <a:noFill/>
        </p:spPr>
        <p:txBody>
          <a:bodyPr wrap="square" lIns="0" rIns="0" tIns="0" bIns="0">
            <a:spAutoFit/>
          </a:bodyPr>
          <a:lstStyle/>
          <a:p>
            <a:pPr algn="l">
              <a:lnSpc>
                <a:spcPct val="130000"/>
              </a:lnSpc>
              <a:spcAft>
                <a:spcPts val="600"/>
              </a:spcAft>
            </a:pPr>
            <a:r>
              <a:rPr sz="1350" b="0">
                <a:solidFill>
                  <a:srgbClr val="16181A"/>
                </a:solidFill>
                <a:latin typeface="Arial"/>
              </a:rPr>
              <a:t>PARITY addresses all three: online trajectory prediction applied adversarially, adapting antagonist placement and world state rather than parameters, evaluated against explicit controls with the model on screen.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8 · METHODOLOGY — FORMALISATION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Prediction over a room graph</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a:solidFill>
                  <a:srgbClr val="16181A"/>
                </a:solidFill>
                <a:latin typeface="Arial"/>
              </a:rPr>
              <a:t>The facility is an undirected graph G = (V, E): rooms are vertices, doors are edges. The player produces a trajectory h = (v₁, v₂, …, vₜ).</a:t>
            </a:r>
          </a:p>
          <a:p>
            <a:pPr>
              <a:lnSpc>
                <a:spcPct val="130000"/>
              </a:lnSpc>
              <a:spcAft>
                <a:spcPts val="1300"/>
              </a:spcAft>
            </a:pPr>
            <a:r>
              <a:rPr sz="1500" b="1">
                <a:solidFill>
                  <a:srgbClr val="16181A"/>
                </a:solidFill>
                <a:latin typeface="Arial"/>
              </a:rPr>
              <a:t>Prediction task —  </a:t>
            </a:r>
            <a:r>
              <a:rPr sz="1500">
                <a:solidFill>
                  <a:srgbClr val="6B7178"/>
                </a:solidFill>
                <a:latin typeface="Arial"/>
              </a:rPr>
              <a:t>given h and the candidate set N(vₜ), estimate  P(v(t+1) = c | h)  for each adjacent room c.</a:t>
            </a:r>
          </a:p>
        </p:txBody>
      </p:sp>
      <p:sp>
        <p:nvSpPr>
          <p:cNvPr id="6" name="Rectangle 5"/>
          <p:cNvSpPr/>
          <p:nvPr/>
        </p:nvSpPr>
        <p:spPr>
          <a:xfrm>
            <a:off x="658368" y="3154680"/>
            <a:ext cx="10881360" cy="1874519"/>
          </a:xfrm>
          <a:prstGeom prst="rect">
            <a:avLst/>
          </a:prstGeom>
          <a:solidFill>
            <a:srgbClr val="F4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346704"/>
            <a:ext cx="10332720" cy="1554480"/>
          </a:xfrm>
          <a:prstGeom prst="rect">
            <a:avLst/>
          </a:prstGeom>
          <a:noFill/>
        </p:spPr>
        <p:txBody>
          <a:bodyPr wrap="square" lIns="0" rIns="0" tIns="0" bIns="0">
            <a:spAutoFit/>
          </a:bodyPr>
          <a:lstStyle/>
          <a:p>
            <a:pPr algn="l">
              <a:lnSpc>
                <a:spcPct val="132000"/>
              </a:lnSpc>
              <a:spcAft>
                <a:spcPts val="800"/>
              </a:spcAft>
            </a:pPr>
            <a:r>
              <a:rPr sz="1350" b="0">
                <a:solidFill>
                  <a:srgbClr val="16181A"/>
                </a:solidFill>
                <a:latin typeface="Arial"/>
              </a:rPr>
              <a:t>Why an order-1 Markov model is structurally insufficient</a:t>
            </a:r>
          </a:p>
          <a:p>
            <a:pPr algn="l">
              <a:lnSpc>
                <a:spcPct val="132000"/>
              </a:lnSpc>
              <a:spcAft>
                <a:spcPts val="800"/>
              </a:spcAft>
            </a:pPr>
            <a:r>
              <a:rPr sz="1350" b="0">
                <a:solidFill>
                  <a:srgbClr val="16181A"/>
                </a:solidFill>
                <a:latin typeface="Arial"/>
              </a:rPr>
              <a:t/>
            </a:r>
          </a:p>
          <a:p>
            <a:pPr algn="l">
              <a:lnSpc>
                <a:spcPct val="132000"/>
              </a:lnSpc>
              <a:spcAft>
                <a:spcPts val="800"/>
              </a:spcAft>
            </a:pPr>
            <a:r>
              <a:rPr sz="1350" b="0">
                <a:solidFill>
                  <a:srgbClr val="16181A"/>
                </a:solidFill>
                <a:latin typeface="Arial"/>
              </a:rPr>
              <a:t>Real players run routes, so the same room has different successors depending on how it was entered. In our test facility, one room appears five times in a habitual circuit with four different successors. Order-1 cannot separate them. Longer context resolves it — but long contexts are sparse.</a:t>
            </a:r>
          </a:p>
        </p:txBody>
      </p:sp>
      <p:sp>
        <p:nvSpPr>
          <p:cNvPr id="8" name="TextBox 7"/>
          <p:cNvSpPr txBox="1"/>
          <p:nvPr/>
        </p:nvSpPr>
        <p:spPr>
          <a:xfrm>
            <a:off x="658368" y="5230368"/>
            <a:ext cx="10881360" cy="731520"/>
          </a:xfrm>
          <a:prstGeom prst="rect">
            <a:avLst/>
          </a:prstGeom>
          <a:noFill/>
        </p:spPr>
        <p:txBody>
          <a:bodyPr wrap="square" lIns="0" rIns="0" tIns="0" bIns="0">
            <a:spAutoFit/>
          </a:bodyPr>
          <a:lstStyle/>
          <a:p>
            <a:pPr algn="l">
              <a:lnSpc>
                <a:spcPct val="125000"/>
              </a:lnSpc>
              <a:spcAft>
                <a:spcPts val="600"/>
              </a:spcAft>
            </a:pPr>
            <a:r>
              <a:rPr sz="1600" b="1">
                <a:solidFill>
                  <a:srgbClr val="2A78D6"/>
                </a:solidFill>
                <a:latin typeface="Arial"/>
              </a:rPr>
              <a:t>A variable-order Markov model with back-off resolves both pressures at once.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9 · METHODOLOGY — THE MODEL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Variable-order Markov with Witten-Bell back-off</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1828800"/>
            <a:ext cx="10881360" cy="1371600"/>
          </a:xfrm>
          <a:prstGeom prst="rect">
            <a:avLst/>
          </a:prstGeom>
          <a:solidFill>
            <a:srgbClr val="16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57400"/>
            <a:ext cx="10241280" cy="1005840"/>
          </a:xfrm>
          <a:prstGeom prst="rect">
            <a:avLst/>
          </a:prstGeom>
          <a:noFill/>
        </p:spPr>
        <p:txBody>
          <a:bodyPr wrap="square" lIns="0" rIns="0" tIns="0" bIns="0">
            <a:spAutoFit/>
          </a:bodyPr>
          <a:lstStyle/>
          <a:p>
            <a:pPr algn="l">
              <a:lnSpc>
                <a:spcPct val="160000"/>
              </a:lnSpc>
              <a:spcAft>
                <a:spcPts val="400"/>
              </a:spcAft>
            </a:pPr>
            <a:r>
              <a:rPr sz="1600" b="0">
                <a:solidFill>
                  <a:srgbClr val="FFFFFF"/>
                </a:solidFill>
                <a:latin typeface="Consolas"/>
              </a:rPr>
              <a:t>P_o(x | ctx)  =  w · f_o(x | ctx)  +  (1 − w) · P_(o−1)(x | ctx[1:])</a:t>
            </a:r>
          </a:p>
          <a:p>
            <a:pPr algn="l">
              <a:lnSpc>
                <a:spcPct val="160000"/>
              </a:lnSpc>
              <a:spcAft>
                <a:spcPts val="400"/>
              </a:spcAft>
            </a:pPr>
            <a:r>
              <a:rPr sz="1600" b="0">
                <a:solidFill>
                  <a:srgbClr val="FFFFFF"/>
                </a:solidFill>
                <a:latin typeface="Consolas"/>
              </a:rPr>
              <a:t>w  =  C(ctx) / (C(ctx) + α)                    α = 1.6,  k = 4</a:t>
            </a:r>
          </a:p>
        </p:txBody>
      </p:sp>
      <p:sp>
        <p:nvSpPr>
          <p:cNvPr id="7" name="TextBox 6"/>
          <p:cNvSpPr txBox="1"/>
          <p:nvPr/>
        </p:nvSpPr>
        <p:spPr>
          <a:xfrm>
            <a:off x="658368" y="3401568"/>
            <a:ext cx="10881360" cy="365760"/>
          </a:xfrm>
          <a:prstGeom prst="rect">
            <a:avLst/>
          </a:prstGeom>
          <a:noFill/>
        </p:spPr>
        <p:txBody>
          <a:bodyPr wrap="square" lIns="0" rIns="0" tIns="0" bIns="0">
            <a:spAutoFit/>
          </a:bodyPr>
          <a:lstStyle/>
          <a:p>
            <a:pPr algn="l">
              <a:lnSpc>
                <a:spcPct val="130000"/>
              </a:lnSpc>
              <a:spcAft>
                <a:spcPts val="600"/>
              </a:spcAft>
            </a:pPr>
            <a:r>
              <a:rPr sz="1350" b="0">
                <a:solidFill>
                  <a:srgbClr val="6B7178"/>
                </a:solidFill>
                <a:latin typeface="Arial"/>
              </a:rPr>
              <a:t>Interpolate from the longest available context down to uniform. Long contexts dominate once well-supported, and decay gracefully when they are not.</a:t>
            </a:r>
          </a:p>
        </p:txBody>
      </p:sp>
      <p:graphicFrame>
        <p:nvGraphicFramePr>
          <p:cNvPr id="8" name="Table 7"/>
          <p:cNvGraphicFramePr>
            <a:graphicFrameLocks noGrp="1"/>
          </p:cNvGraphicFramePr>
          <p:nvPr/>
        </p:nvGraphicFramePr>
        <p:xfrm>
          <a:off x="658368" y="4114800"/>
          <a:ext cx="10881360" cy="1920240"/>
        </p:xfrm>
        <a:graphic>
          <a:graphicData uri="http://schemas.openxmlformats.org/drawingml/2006/table">
            <a:tbl>
              <a:tblPr firstRow="1" bandRow="1">
                <a:tableStyleId>{5C22544A-7EE6-4342-B048-85BDC9FD1C3A}</a:tableStyleId>
              </a:tblPr>
              <a:tblGrid>
                <a:gridCol w="3566160"/>
                <a:gridCol w="7315200"/>
              </a:tblGrid>
              <a:tr h="384048">
                <a:tc>
                  <a:txBody>
                    <a:bodyPr/>
                    <a:lstStyle/>
                    <a:p>
                      <a:pPr>
                        <a:lnSpc>
                          <a:spcPct val="115000"/>
                        </a:lnSpc>
                      </a:pPr>
                      <a:r>
                        <a:rPr sz="950" b="1">
                          <a:solidFill>
                            <a:srgbClr val="6B7178"/>
                          </a:solidFill>
                          <a:latin typeface="Arial"/>
                        </a:rPr>
                        <a:t>Property</a:t>
                      </a:r>
                    </a:p>
                  </a:txBody>
                  <a:tcPr marL="73152" marR="73152" marT="36576" marB="36576">
                    <a:solidFill>
                      <a:srgbClr val="F4F6F8"/>
                    </a:solidFill>
                  </a:tcPr>
                </a:tc>
                <a:tc>
                  <a:txBody>
                    <a:bodyPr/>
                    <a:lstStyle/>
                    <a:p>
                      <a:pPr>
                        <a:lnSpc>
                          <a:spcPct val="115000"/>
                        </a:lnSpc>
                      </a:pPr>
                      <a:r>
                        <a:rPr sz="950" b="1">
                          <a:solidFill>
                            <a:srgbClr val="6B7178"/>
                          </a:solidFill>
                          <a:latin typeface="Arial"/>
                        </a:rPr>
                        <a:t>Why it matters for this application</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Learns online from the first move</a:t>
                      </a:r>
                    </a:p>
                  </a:txBody>
                  <a:tcPr marL="73152" marR="73152" marT="36576" marB="36576">
                    <a:solidFill>
                      <a:srgbClr val="FCFCFB"/>
                    </a:solidFill>
                  </a:tcPr>
                </a:tc>
                <a:tc>
                  <a:txBody>
                    <a:bodyPr/>
                    <a:lstStyle/>
                    <a:p>
                      <a:pPr>
                        <a:lnSpc>
                          <a:spcPct val="115000"/>
                        </a:lnSpc>
                      </a:pPr>
                      <a:r>
                        <a:rPr sz="1300" b="0">
                          <a:solidFill>
                            <a:srgbClr val="16181A"/>
                          </a:solidFill>
                          <a:latin typeface="Arial"/>
                        </a:rPr>
                        <a:t>No pre-training corpus — solves the cold-start problem</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Persists across runs</a:t>
                      </a:r>
                    </a:p>
                  </a:txBody>
                  <a:tcPr marL="73152" marR="73152" marT="36576" marB="36576">
                    <a:solidFill>
                      <a:srgbClr val="FCFCFB"/>
                    </a:solidFill>
                  </a:tcPr>
                </a:tc>
                <a:tc>
                  <a:txBody>
                    <a:bodyPr/>
                    <a:lstStyle/>
                    <a:p>
                      <a:pPr>
                        <a:lnSpc>
                          <a:spcPct val="115000"/>
                        </a:lnSpc>
                      </a:pPr>
                      <a:r>
                        <a:rPr sz="1300" b="0">
                          <a:solidFill>
                            <a:srgbClr val="16181A"/>
                          </a:solidFill>
                          <a:latin typeface="Arial"/>
                        </a:rPr>
                        <a:t>The antagonist remembers you between deaths, as your notebook does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Inspectable</a:t>
                      </a:r>
                    </a:p>
                  </a:txBody>
                  <a:tcPr marL="73152" marR="73152" marT="36576" marB="36576">
                    <a:solidFill>
                      <a:srgbClr val="FCFCFB"/>
                    </a:solidFill>
                  </a:tcPr>
                </a:tc>
                <a:tc>
                  <a:txBody>
                    <a:bodyPr/>
                    <a:lstStyle/>
                    <a:p>
                      <a:pPr>
                        <a:lnSpc>
                          <a:spcPct val="115000"/>
                        </a:lnSpc>
                      </a:pPr>
                      <a:r>
                        <a:rPr sz="1300" b="0">
                          <a:solidFill>
                            <a:srgbClr val="16181A"/>
                          </a:solidFill>
                          <a:latin typeface="Arial"/>
                        </a:rPr>
                        <a:t>Every prediction decomposes to 'context → outcome, n observations'</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Cheap</a:t>
                      </a:r>
                    </a:p>
                  </a:txBody>
                  <a:tcPr marL="73152" marR="73152" marT="36576" marB="36576">
                    <a:solidFill>
                      <a:srgbClr val="FCFCFB"/>
                    </a:solidFill>
                  </a:tcPr>
                </a:tc>
                <a:tc>
                  <a:txBody>
                    <a:bodyPr/>
                    <a:lstStyle/>
                    <a:p>
                      <a:pPr>
                        <a:lnSpc>
                          <a:spcPct val="115000"/>
                        </a:lnSpc>
                      </a:pPr>
                      <a:r>
                        <a:rPr sz="1300" b="0">
                          <a:solidFill>
                            <a:srgbClr val="16181A"/>
                          </a:solidFill>
                          <a:latin typeface="Arial"/>
                        </a:rPr>
                        <a:t>Hash-map counter updates; negligible per-frame cost</a:t>
                      </a:r>
                    </a:p>
                  </a:txBody>
                  <a:tcPr marL="73152" marR="73152" marT="36576" marB="36576">
                    <a:solidFill>
                      <a:srgbClr val="FCFCF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10 · METHODOLOGY — BELIEF VS. BEHAVIOUR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Director is separate from the Predictor</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
          </a:xfrm>
          <a:prstGeom prst="rect">
            <a:avLst/>
          </a:prstGeom>
          <a:noFill/>
        </p:spPr>
        <p:txBody>
          <a:bodyPr wrap="square" lIns="0" rIns="0" tIns="0" bIns="0">
            <a:spAutoFit/>
          </a:bodyPr>
          <a:lstStyle/>
          <a:p>
            <a:pPr algn="l">
              <a:lnSpc>
                <a:spcPct val="130000"/>
              </a:lnSpc>
              <a:spcAft>
                <a:spcPts val="600"/>
              </a:spcAft>
            </a:pPr>
            <a:r>
              <a:rPr sz="1450" b="0">
                <a:solidFill>
                  <a:srgbClr val="6B7178"/>
                </a:solidFill>
                <a:latin typeface="Arial"/>
              </a:rPr>
              <a:t>The Predictor outputs beliefs. The Director decides what to do with them, scoring each counter-move by expected disruption × confidence. The model can be upgraded without re-tuning game feel.</a:t>
            </a:r>
          </a:p>
        </p:txBody>
      </p:sp>
      <p:graphicFrame>
        <p:nvGraphicFramePr>
          <p:cNvPr id="6" name="Table 5"/>
          <p:cNvGraphicFramePr>
            <a:graphicFrameLocks noGrp="1"/>
          </p:cNvGraphicFramePr>
          <p:nvPr/>
        </p:nvGraphicFramePr>
        <p:xfrm>
          <a:off x="658368" y="2606040"/>
          <a:ext cx="10881360" cy="1920240"/>
        </p:xfrm>
        <a:graphic>
          <a:graphicData uri="http://schemas.openxmlformats.org/drawingml/2006/table">
            <a:tbl>
              <a:tblPr firstRow="1" bandRow="1">
                <a:tableStyleId>{5C22544A-7EE6-4342-B048-85BDC9FD1C3A}</a:tableStyleId>
              </a:tblPr>
              <a:tblGrid>
                <a:gridCol w="3200400"/>
                <a:gridCol w="7680960"/>
              </a:tblGrid>
              <a:tr h="384048">
                <a:tc>
                  <a:txBody>
                    <a:bodyPr/>
                    <a:lstStyle/>
                    <a:p>
                      <a:pPr>
                        <a:lnSpc>
                          <a:spcPct val="115000"/>
                        </a:lnSpc>
                      </a:pPr>
                      <a:r>
                        <a:rPr sz="950" b="1">
                          <a:solidFill>
                            <a:srgbClr val="6B7178"/>
                          </a:solidFill>
                          <a:latin typeface="Arial"/>
                        </a:rPr>
                        <a:t>Counter-move</a:t>
                      </a:r>
                    </a:p>
                  </a:txBody>
                  <a:tcPr marL="73152" marR="73152" marT="36576" marB="36576">
                    <a:solidFill>
                      <a:srgbClr val="F4F6F8"/>
                    </a:solidFill>
                  </a:tcPr>
                </a:tc>
                <a:tc>
                  <a:txBody>
                    <a:bodyPr/>
                    <a:lstStyle/>
                    <a:p>
                      <a:pPr>
                        <a:lnSpc>
                          <a:spcPct val="115000"/>
                        </a:lnSpc>
                      </a:pPr>
                      <a:r>
                        <a:rPr sz="950" b="1">
                          <a:solidFill>
                            <a:srgbClr val="6B7178"/>
                          </a:solidFill>
                          <a:latin typeface="Arial"/>
                        </a:rPr>
                        <a:t>Trigger</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Intercept</a:t>
                      </a:r>
                    </a:p>
                  </a:txBody>
                  <a:tcPr marL="73152" marR="73152" marT="36576" marB="36576">
                    <a:solidFill>
                      <a:srgbClr val="FCFCFB"/>
                    </a:solidFill>
                  </a:tcPr>
                </a:tc>
                <a:tc>
                  <a:txBody>
                    <a:bodyPr/>
                    <a:lstStyle/>
                    <a:p>
                      <a:pPr>
                        <a:lnSpc>
                          <a:spcPct val="115000"/>
                        </a:lnSpc>
                      </a:pPr>
                      <a:r>
                        <a:rPr sz="1300" b="0">
                          <a:solidFill>
                            <a:srgbClr val="16181A"/>
                          </a:solidFill>
                          <a:latin typeface="Arial"/>
                        </a:rPr>
                        <a:t>High confidence on a specific room — move to meet the player there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Rewire / rotate a room</a:t>
                      </a:r>
                    </a:p>
                  </a:txBody>
                  <a:tcPr marL="73152" marR="73152" marT="36576" marB="36576">
                    <a:solidFill>
                      <a:srgbClr val="FCFCFB"/>
                    </a:solidFill>
                  </a:tcPr>
                </a:tc>
                <a:tc>
                  <a:txBody>
                    <a:bodyPr/>
                    <a:lstStyle/>
                    <a:p>
                      <a:pPr>
                        <a:lnSpc>
                          <a:spcPct val="115000"/>
                        </a:lnSpc>
                      </a:pPr>
                      <a:r>
                        <a:rPr sz="1300" b="0">
                          <a:solidFill>
                            <a:srgbClr val="16181A"/>
                          </a:solidFill>
                          <a:latin typeface="Arial"/>
                        </a:rPr>
                        <a:t>High confidence on a transit route — change it before they arrive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Poison a codebook</a:t>
                      </a:r>
                    </a:p>
                  </a:txBody>
                  <a:tcPr marL="73152" marR="73152" marT="36576" marB="36576">
                    <a:solidFill>
                      <a:srgbClr val="FCFCFB"/>
                    </a:solidFill>
                  </a:tcPr>
                </a:tc>
                <a:tc>
                  <a:txBody>
                    <a:bodyPr/>
                    <a:lstStyle/>
                    <a:p>
                      <a:pPr>
                        <a:lnSpc>
                          <a:spcPct val="115000"/>
                        </a:lnSpc>
                      </a:pPr>
                      <a:r>
                        <a:rPr sz="1300" b="0">
                          <a:solidFill>
                            <a:srgbClr val="16181A"/>
                          </a:solidFill>
                          <a:latin typeface="Arial"/>
                        </a:rPr>
                        <a:t>A recorded entry the player is predicted to need again</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Seal a shortcut</a:t>
                      </a:r>
                    </a:p>
                  </a:txBody>
                  <a:tcPr marL="73152" marR="73152" marT="36576" marB="36576">
                    <a:solidFill>
                      <a:srgbClr val="FCFCFB"/>
                    </a:solidFill>
                  </a:tcPr>
                </a:tc>
                <a:tc>
                  <a:txBody>
                    <a:bodyPr/>
                    <a:lstStyle/>
                    <a:p>
                      <a:pPr>
                        <a:lnSpc>
                          <a:spcPct val="115000"/>
                        </a:lnSpc>
                      </a:pPr>
                      <a:r>
                        <a:rPr sz="1300" b="0">
                          <a:solidFill>
                            <a:srgbClr val="16181A"/>
                          </a:solidFill>
                          <a:latin typeface="Arial"/>
                        </a:rPr>
                        <a:t>An edge with high traversal frequency</a:t>
                      </a:r>
                    </a:p>
                  </a:txBody>
                  <a:tcPr marL="73152" marR="73152" marT="36576" marB="36576">
                    <a:solidFill>
                      <a:srgbClr val="FCFCFB"/>
                    </a:solidFill>
                  </a:tcPr>
                </a:tc>
              </a:tr>
            </a:tbl>
          </a:graphicData>
        </a:graphic>
      </p:graphicFrame>
      <p:sp>
        <p:nvSpPr>
          <p:cNvPr id="7" name="TextBox 6"/>
          <p:cNvSpPr txBox="1"/>
          <p:nvPr/>
        </p:nvSpPr>
        <p:spPr>
          <a:xfrm>
            <a:off x="658368" y="4526280"/>
            <a:ext cx="10881360" cy="320040"/>
          </a:xfrm>
          <a:prstGeom prst="rect">
            <a:avLst/>
          </a:prstGeom>
          <a:noFill/>
        </p:spPr>
        <p:txBody>
          <a:bodyPr wrap="square" lIns="0" rIns="0" tIns="0" bIns="0">
            <a:spAutoFit/>
          </a:bodyPr>
          <a:lstStyle/>
          <a:p>
            <a:pPr algn="l">
              <a:lnSpc>
                <a:spcPct val="125000"/>
              </a:lnSpc>
              <a:spcAft>
                <a:spcPts val="600"/>
              </a:spcAft>
            </a:pPr>
            <a:r>
              <a:rPr sz="1050" b="1">
                <a:solidFill>
                  <a:srgbClr val="EB6834"/>
                </a:solidFill>
                <a:latin typeface="Arial"/>
              </a:rPr>
              <a:t>FAIRNESS CONSTRAINTS</a:t>
            </a:r>
          </a:p>
        </p:txBody>
      </p:sp>
      <p:sp>
        <p:nvSpPr>
          <p:cNvPr id="8" name="TextBox 7"/>
          <p:cNvSpPr txBox="1"/>
          <p:nvPr/>
        </p:nvSpPr>
        <p:spPr>
          <a:xfrm>
            <a:off x="658368" y="4892040"/>
            <a:ext cx="10881360" cy="4480560"/>
          </a:xfrm>
          <a:prstGeom prst="rect">
            <a:avLst/>
          </a:prstGeom>
          <a:noFill/>
        </p:spPr>
        <p:txBody>
          <a:bodyPr wrap="square" lIns="0" rIns="0" tIns="0" bIns="0">
            <a:spAutoFit/>
          </a:bodyPr>
          <a:lstStyle/>
          <a:p>
            <a:pPr>
              <a:lnSpc>
                <a:spcPct val="130000"/>
              </a:lnSpc>
              <a:spcAft>
                <a:spcPts val="600"/>
              </a:spcAft>
            </a:pPr>
            <a:r>
              <a:rPr sz="1350" b="1">
                <a:solidFill>
                  <a:srgbClr val="16181A"/>
                </a:solidFill>
                <a:latin typeface="Arial"/>
              </a:rPr>
              <a:t>1  </a:t>
            </a:r>
            <a:r>
              <a:rPr sz="1350">
                <a:solidFill>
                  <a:srgbClr val="6B7178"/>
                </a:solidFill>
                <a:latin typeface="Arial"/>
              </a:rPr>
              <a:t>No mutation is ever applied to anything currently visible to the player.</a:t>
            </a:r>
          </a:p>
          <a:p>
            <a:pPr>
              <a:lnSpc>
                <a:spcPct val="130000"/>
              </a:lnSpc>
              <a:spcAft>
                <a:spcPts val="600"/>
              </a:spcAft>
            </a:pPr>
            <a:r>
              <a:rPr sz="1350" b="1">
                <a:solidFill>
                  <a:srgbClr val="16181A"/>
                </a:solidFill>
                <a:latin typeface="Arial"/>
              </a:rPr>
              <a:t>2  </a:t>
            </a:r>
            <a:r>
              <a:rPr sz="1350">
                <a:solidFill>
                  <a:srgbClr val="6B7178"/>
                </a:solidFill>
                <a:latin typeface="Arial"/>
              </a:rPr>
              <a:t>Confidence gating — below threshold it hunts conventionally, exploiting only what it knows.</a:t>
            </a:r>
          </a:p>
          <a:p>
            <a:pPr>
              <a:lnSpc>
                <a:spcPct val="130000"/>
              </a:lnSpc>
              <a:spcAft>
                <a:spcPts val="600"/>
              </a:spcAft>
            </a:pPr>
            <a:r>
              <a:rPr sz="1350" b="1">
                <a:solidFill>
                  <a:srgbClr val="16181A"/>
                </a:solidFill>
                <a:latin typeface="Arial"/>
              </a:rPr>
              <a:t>3  </a:t>
            </a:r>
            <a:r>
              <a:rPr sz="1350">
                <a:solidFill>
                  <a:srgbClr val="6B7178"/>
                </a:solidFill>
                <a:latin typeface="Arial"/>
              </a:rPr>
              <a:t>Solvability invariant — every mutation is checked for reachability and reverted if it would soft-lock the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11 · METHODOLOGY — EVALUATION PROTOCOL</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Headless, bot-driven, prequential</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450">
                <a:solidFill>
                  <a:srgbClr val="16181A"/>
                </a:solidFill>
                <a:latin typeface="Arial"/>
              </a:rPr>
              <a:t>Human playtesting does not scale to a solo project. Three scripted players stand in for humans, so thousands of games run headlessly:</a:t>
            </a:r>
          </a:p>
        </p:txBody>
      </p:sp>
      <p:graphicFrame>
        <p:nvGraphicFramePr>
          <p:cNvPr id="6" name="Table 5"/>
          <p:cNvGraphicFramePr>
            <a:graphicFrameLocks noGrp="1"/>
          </p:cNvGraphicFramePr>
          <p:nvPr/>
        </p:nvGraphicFramePr>
        <p:xfrm>
          <a:off x="658368" y="2514600"/>
          <a:ext cx="10881360" cy="1536192"/>
        </p:xfrm>
        <a:graphic>
          <a:graphicData uri="http://schemas.openxmlformats.org/drawingml/2006/table">
            <a:tbl>
              <a:tblPr firstRow="1" bandRow="1">
                <a:tableStyleId>{5C22544A-7EE6-4342-B048-85BDC9FD1C3A}</a:tableStyleId>
              </a:tblPr>
              <a:tblGrid>
                <a:gridCol w="2468880"/>
                <a:gridCol w="5212080"/>
                <a:gridCol w="3200400"/>
              </a:tblGrid>
              <a:tr h="384048">
                <a:tc>
                  <a:txBody>
                    <a:bodyPr/>
                    <a:lstStyle/>
                    <a:p>
                      <a:pPr>
                        <a:lnSpc>
                          <a:spcPct val="115000"/>
                        </a:lnSpc>
                      </a:pPr>
                      <a:r>
                        <a:rPr sz="950" b="1">
                          <a:solidFill>
                            <a:srgbClr val="6B7178"/>
                          </a:solidFill>
                          <a:latin typeface="Arial"/>
                        </a:rPr>
                        <a:t>Scripted player</a:t>
                      </a:r>
                    </a:p>
                  </a:txBody>
                  <a:tcPr marL="73152" marR="73152" marT="36576" marB="36576">
                    <a:solidFill>
                      <a:srgbClr val="F4F6F8"/>
                    </a:solidFill>
                  </a:tcPr>
                </a:tc>
                <a:tc>
                  <a:txBody>
                    <a:bodyPr/>
                    <a:lstStyle/>
                    <a:p>
                      <a:pPr>
                        <a:lnSpc>
                          <a:spcPct val="115000"/>
                        </a:lnSpc>
                      </a:pPr>
                      <a:r>
                        <a:rPr sz="950" b="1">
                          <a:solidFill>
                            <a:srgbClr val="6B7178"/>
                          </a:solidFill>
                          <a:latin typeface="Arial"/>
                        </a:rPr>
                        <a:t>Models</a:t>
                      </a:r>
                    </a:p>
                  </a:txBody>
                  <a:tcPr marL="73152" marR="73152" marT="36576" marB="36576">
                    <a:solidFill>
                      <a:srgbClr val="F4F6F8"/>
                    </a:solidFill>
                  </a:tcPr>
                </a:tc>
                <a:tc>
                  <a:txBody>
                    <a:bodyPr/>
                    <a:lstStyle/>
                    <a:p>
                      <a:pPr>
                        <a:lnSpc>
                          <a:spcPct val="115000"/>
                        </a:lnSpc>
                      </a:pPr>
                      <a:r>
                        <a:rPr sz="950" b="1">
                          <a:solidFill>
                            <a:srgbClr val="6B7178"/>
                          </a:solidFill>
                          <a:latin typeface="Arial"/>
                        </a:rPr>
                        <a:t>Expected result</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HabitualBot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player who has learned the level and runs routes</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 decisively</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ExplorerBot</a:t>
                      </a:r>
                    </a:p>
                  </a:txBody>
                  <a:tcPr marL="73152" marR="73152" marT="36576" marB="36576">
                    <a:solidFill>
                      <a:srgbClr val="FCFCFB"/>
                    </a:solidFill>
                  </a:tcPr>
                </a:tc>
                <a:tc>
                  <a:txBody>
                    <a:bodyPr/>
                    <a:lstStyle/>
                    <a:p>
                      <a:pPr>
                        <a:lnSpc>
                          <a:spcPct val="115000"/>
                        </a:lnSpc>
                      </a:pPr>
                      <a:r>
                        <a:rPr sz="1300" b="0">
                          <a:solidFill>
                            <a:srgbClr val="16181A"/>
                          </a:solidFill>
                          <a:latin typeface="Arial"/>
                        </a:rPr>
                        <a:t>A first-time player sweeping systematically</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should win</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RandomBot</a:t>
                      </a:r>
                    </a:p>
                  </a:txBody>
                  <a:tcPr marL="73152" marR="73152" marT="36576" marB="36576">
                    <a:solidFill>
                      <a:srgbClr val="FCFCFB"/>
                    </a:solidFill>
                  </a:tcPr>
                </a:tc>
                <a:tc>
                  <a:txBody>
                    <a:bodyPr/>
                    <a:lstStyle/>
                    <a:p>
                      <a:pPr>
                        <a:lnSpc>
                          <a:spcPct val="115000"/>
                        </a:lnSpc>
                      </a:pPr>
                      <a:r>
                        <a:rPr sz="1300" b="0">
                          <a:solidFill>
                            <a:srgbClr val="16181A"/>
                          </a:solidFill>
                          <a:latin typeface="Arial"/>
                        </a:rPr>
                        <a:t>Uniform over neighbours — no habit at all</a:t>
                      </a:r>
                    </a:p>
                  </a:txBody>
                  <a:tcPr marL="73152" marR="73152" marT="36576" marB="36576">
                    <a:solidFill>
                      <a:srgbClr val="FCFCFB"/>
                    </a:solidFill>
                  </a:tcPr>
                </a:tc>
                <a:tc>
                  <a:txBody>
                    <a:bodyPr/>
                    <a:lstStyle/>
                    <a:p>
                      <a:pPr>
                        <a:lnSpc>
                          <a:spcPct val="115000"/>
                        </a:lnSpc>
                      </a:pPr>
                      <a:r>
                        <a:rPr sz="1300" b="0">
                          <a:solidFill>
                            <a:srgbClr val="16181A"/>
                          </a:solidFill>
                          <a:latin typeface="Arial"/>
                        </a:rPr>
                        <a:t>Model MUST NOT beat baseline</a:t>
                      </a:r>
                    </a:p>
                  </a:txBody>
                  <a:tcPr marL="73152" marR="73152" marT="36576" marB="36576">
                    <a:solidFill>
                      <a:srgbClr val="FCFCFB"/>
                    </a:solidFill>
                  </a:tcPr>
                </a:tc>
              </a:tr>
            </a:tbl>
          </a:graphicData>
        </a:graphic>
      </p:graphicFrame>
      <p:sp>
        <p:nvSpPr>
          <p:cNvPr id="7" name="Rectangle 6"/>
          <p:cNvSpPr/>
          <p:nvPr/>
        </p:nvSpPr>
        <p:spPr>
          <a:xfrm>
            <a:off x="658368" y="4160520"/>
            <a:ext cx="10881360" cy="132588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4370832"/>
            <a:ext cx="10332720" cy="1005840"/>
          </a:xfrm>
          <a:prstGeom prst="rect">
            <a:avLst/>
          </a:prstGeom>
          <a:noFill/>
        </p:spPr>
        <p:txBody>
          <a:bodyPr wrap="square" lIns="0" rIns="0" tIns="0" bIns="0">
            <a:spAutoFit/>
          </a:bodyPr>
          <a:lstStyle/>
          <a:p>
            <a:pPr algn="l">
              <a:lnSpc>
                <a:spcPct val="132000"/>
              </a:lnSpc>
              <a:spcAft>
                <a:spcPts val="300"/>
              </a:spcAft>
            </a:pPr>
            <a:r>
              <a:rPr sz="1350" b="0">
                <a:solidFill>
                  <a:srgbClr val="16181A"/>
                </a:solidFill>
                <a:latin typeface="Arial"/>
              </a:rPr>
              <a:t>The control is the most important experiment.</a:t>
            </a:r>
          </a:p>
          <a:p>
            <a:pPr algn="l">
              <a:lnSpc>
                <a:spcPct val="132000"/>
              </a:lnSpc>
              <a:spcAft>
                <a:spcPts val="300"/>
              </a:spcAft>
            </a:pPr>
            <a:r>
              <a:rPr sz="1350" b="0">
                <a:solidFill>
                  <a:srgbClr val="16181A"/>
                </a:solidFill>
                <a:latin typeface="Arial"/>
              </a:rPr>
              <a:t>Against a random player the model must FAIL to beat baseline. A model that appears to predict a random walk is measuring something it should not have access to. All accuracy is prequential — every prediction is made before its outcome is observed, so there is no train/test leakage by construction.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12 · SYSTEM DESIGN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Eight modules across three layers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ch.png"/>
          <p:cNvPicPr>
            <a:picLocks noChangeAspect="1"/>
          </p:cNvPicPr>
          <p:nvPr/>
        </p:nvPicPr>
        <p:blipFill>
          <a:blip r:embed="rId2"/>
          <a:stretch>
            <a:fillRect/>
          </a:stretch>
        </p:blipFill>
        <p:spPr>
          <a:xfrm>
            <a:off x="1344168" y="1737360"/>
            <a:ext cx="9509760" cy="48413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13 · MODULE DESCRIPTION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Responsibilities and dependencies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3456432"/>
        </p:xfrm>
        <a:graphic>
          <a:graphicData uri="http://schemas.openxmlformats.org/drawingml/2006/table">
            <a:tbl>
              <a:tblPr firstRow="1" bandRow="1">
                <a:tableStyleId>{5C22544A-7EE6-4342-B048-85BDC9FD1C3A}</a:tableStyleId>
              </a:tblPr>
              <a:tblGrid>
                <a:gridCol w="1691640"/>
                <a:gridCol w="6995160"/>
                <a:gridCol w="2194560"/>
              </a:tblGrid>
              <a:tr h="384048">
                <a:tc>
                  <a:txBody>
                    <a:bodyPr/>
                    <a:lstStyle/>
                    <a:p>
                      <a:pPr>
                        <a:lnSpc>
                          <a:spcPct val="115000"/>
                        </a:lnSpc>
                      </a:pPr>
                      <a:r>
                        <a:rPr sz="900" b="1">
                          <a:solidFill>
                            <a:srgbClr val="6B7178"/>
                          </a:solidFill>
                          <a:latin typeface="Arial"/>
                        </a:rPr>
                        <a:t>Module</a:t>
                      </a:r>
                    </a:p>
                  </a:txBody>
                  <a:tcPr marL="73152" marR="73152" marT="36576" marB="36576">
                    <a:solidFill>
                      <a:srgbClr val="F4F6F8"/>
                    </a:solidFill>
                  </a:tcPr>
                </a:tc>
                <a:tc>
                  <a:txBody>
                    <a:bodyPr/>
                    <a:lstStyle/>
                    <a:p>
                      <a:pPr>
                        <a:lnSpc>
                          <a:spcPct val="115000"/>
                        </a:lnSpc>
                      </a:pPr>
                      <a:r>
                        <a:rPr sz="900" b="1">
                          <a:solidFill>
                            <a:srgbClr val="6B7178"/>
                          </a:solidFill>
                          <a:latin typeface="Arial"/>
                        </a:rPr>
                        <a:t>Responsibility</a:t>
                      </a:r>
                    </a:p>
                  </a:txBody>
                  <a:tcPr marL="73152" marR="73152" marT="36576" marB="36576">
                    <a:solidFill>
                      <a:srgbClr val="F4F6F8"/>
                    </a:solidFill>
                  </a:tcPr>
                </a:tc>
                <a:tc>
                  <a:txBody>
                    <a:bodyPr/>
                    <a:lstStyle/>
                    <a:p>
                      <a:pPr>
                        <a:lnSpc>
                          <a:spcPct val="115000"/>
                        </a:lnSpc>
                      </a:pPr>
                      <a:r>
                        <a:rPr sz="900" b="1">
                          <a:solidFill>
                            <a:srgbClr val="6B7178"/>
                          </a:solidFill>
                          <a:latin typeface="Arial"/>
                        </a:rPr>
                        <a:t>Depends on</a:t>
                      </a:r>
                    </a:p>
                  </a:txBody>
                  <a:tcPr marL="73152" marR="73152" marT="36576" marB="36576">
                    <a:solidFill>
                      <a:srgbClr val="F4F6F8"/>
                    </a:solidFill>
                  </a:tcPr>
                </a:tc>
              </a:tr>
              <a:tr h="384048">
                <a:tc>
                  <a:txBody>
                    <a:bodyPr/>
                    <a:lstStyle/>
                    <a:p>
                      <a:pPr>
                        <a:lnSpc>
                          <a:spcPct val="115000"/>
                        </a:lnSpc>
                      </a:pPr>
                      <a:r>
                        <a:rPr sz="1200" b="0">
                          <a:solidFill>
                            <a:srgbClr val="16181A"/>
                          </a:solidFill>
                          <a:latin typeface="Arial"/>
                        </a:rPr>
                        <a:t>Facility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graph; generation; rewire / seal; connectivity and reachability queries</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Cipher</a:t>
                      </a:r>
                    </a:p>
                  </a:txBody>
                  <a:tcPr marL="73152" marR="73152" marT="36576" marB="36576">
                    <a:solidFill>
                      <a:srgbClr val="FCFCFB"/>
                    </a:solidFill>
                  </a:tcPr>
                </a:tc>
                <a:tc>
                  <a:txBody>
                    <a:bodyPr/>
                    <a:lstStyle/>
                    <a:p>
                      <a:pPr>
                        <a:lnSpc>
                          <a:spcPct val="115000"/>
                        </a:lnSpc>
                      </a:pPr>
                      <a:r>
                        <a:rPr sz="1200" b="0">
                          <a:solidFill>
                            <a:srgbClr val="16181A"/>
                          </a:solidFill>
                          <a:latin typeface="Arial"/>
                        </a:rPr>
                        <a:t>Per-room lookup tables, inbound sequences, 9-cell register, transmit validation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Sabotage</a:t>
                      </a:r>
                    </a:p>
                  </a:txBody>
                  <a:tcPr marL="73152" marR="73152" marT="36576" marB="36576">
                    <a:solidFill>
                      <a:srgbClr val="FCFCFB"/>
                    </a:solidFill>
                  </a:tcPr>
                </a:tc>
                <a:tc>
                  <a:txBody>
                    <a:bodyPr/>
                    <a:lstStyle/>
                    <a:p>
                      <a:pPr>
                        <a:lnSpc>
                          <a:spcPct val="115000"/>
                        </a:lnSpc>
                      </a:pPr>
                      <a:r>
                        <a:rPr sz="1200" b="0">
                          <a:solidFill>
                            <a:srgbClr val="16181A"/>
                          </a:solidFill>
                          <a:latin typeface="Arial"/>
                        </a:rPr>
                        <a:t>The single choke point for all world mutation — every lie is logged and replayable</a:t>
                      </a:r>
                    </a:p>
                  </a:txBody>
                  <a:tcPr marL="73152" marR="73152" marT="36576" marB="36576">
                    <a:solidFill>
                      <a:srgbClr val="FCFCFB"/>
                    </a:solidFill>
                  </a:tcPr>
                </a:tc>
                <a:tc>
                  <a:txBody>
                    <a:bodyPr/>
                    <a:lstStyle/>
                    <a:p>
                      <a:pPr>
                        <a:lnSpc>
                          <a:spcPct val="115000"/>
                        </a:lnSpc>
                      </a:pPr>
                      <a:r>
                        <a:rPr sz="1200" b="0">
                          <a:solidFill>
                            <a:srgbClr val="16181A"/>
                          </a:solidFill>
                          <a:latin typeface="Arial"/>
                        </a:rPr>
                        <a:t>Facility, Cipher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c>
                  <a:txBody>
                    <a:bodyPr/>
                    <a:lstStyle/>
                    <a:p>
                      <a:pPr>
                        <a:lnSpc>
                          <a:spcPct val="115000"/>
                        </a:lnSpc>
                      </a:pPr>
                      <a:r>
                        <a:rPr sz="1200" b="0">
                          <a:solidFill>
                            <a:srgbClr val="16181A"/>
                          </a:solidFill>
                          <a:latin typeface="Arial"/>
                        </a:rPr>
                        <a:t>Room dwell, edge traversals, route repeats, verify duration, flee direction</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VOMM: predict / observe / top_habit / confidence. Persists across runs</a:t>
                      </a:r>
                    </a:p>
                  </a:txBody>
                  <a:tcPr marL="73152" marR="73152" marT="36576" marB="36576">
                    <a:solidFill>
                      <a:srgbClr val="FCFCFB"/>
                    </a:solidFill>
                  </a:tcPr>
                </a:tc>
                <a:tc>
                  <a:txBody>
                    <a:bodyPr/>
                    <a:lstStyle/>
                    <a:p>
                      <a:pPr>
                        <a:lnSpc>
                          <a:spcPct val="115000"/>
                        </a:lnSpc>
                      </a:pPr>
                      <a:r>
                        <a:rPr sz="1200" b="0">
                          <a:solidFill>
                            <a:srgbClr val="16181A"/>
                          </a:solidFill>
                          <a:latin typeface="Arial"/>
                        </a:rPr>
                        <a:t>Telemetry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Director</a:t>
                      </a:r>
                    </a:p>
                  </a:txBody>
                  <a:tcPr marL="73152" marR="73152" marT="36576" marB="36576">
                    <a:solidFill>
                      <a:srgbClr val="FCFCFB"/>
                    </a:solidFill>
                  </a:tcPr>
                </a:tc>
                <a:tc>
                  <a:txBody>
                    <a:bodyPr/>
                    <a:lstStyle/>
                    <a:p>
                      <a:pPr>
                        <a:lnSpc>
                          <a:spcPct val="115000"/>
                        </a:lnSpc>
                      </a:pPr>
                      <a:r>
                        <a:rPr sz="1200" b="0">
                          <a:solidFill>
                            <a:srgbClr val="16181A"/>
                          </a:solidFill>
                          <a:latin typeface="Arial"/>
                        </a:rPr>
                        <a:t>Scores and selects counter-moves from beliefs. Confidence-gated</a:t>
                      </a:r>
                    </a:p>
                  </a:txBody>
                  <a:tcPr marL="73152" marR="73152" marT="36576" marB="36576">
                    <a:solidFill>
                      <a:srgbClr val="FCFCFB"/>
                    </a:solidFill>
                  </a:tcPr>
                </a:tc>
                <a:tc>
                  <a:txBody>
                    <a:bodyPr/>
                    <a:lstStyle/>
                    <a:p>
                      <a:pPr>
                        <a:lnSpc>
                          <a:spcPct val="115000"/>
                        </a:lnSpc>
                      </a:pPr>
                      <a:r>
                        <a:rPr sz="1200" b="0">
                          <a:solidFill>
                            <a:srgbClr val="16181A"/>
                          </a:solidFill>
                          <a:latin typeface="Arial"/>
                        </a:rPr>
                        <a:t>Predictor</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Entity</a:t>
                      </a:r>
                    </a:p>
                  </a:txBody>
                  <a:tcPr marL="73152" marR="73152" marT="36576" marB="36576">
                    <a:solidFill>
                      <a:srgbClr val="FCFCFB"/>
                    </a:solidFill>
                  </a:tcPr>
                </a:tc>
                <a:tc>
                  <a:txBody>
                    <a:bodyPr/>
                    <a:lstStyle/>
                    <a:p>
                      <a:pPr>
                        <a:lnSpc>
                          <a:spcPct val="115000"/>
                        </a:lnSpc>
                      </a:pPr>
                      <a:r>
                        <a:rPr sz="1200" b="0">
                          <a:solidFill>
                            <a:srgbClr val="16181A"/>
                          </a:solidFill>
                          <a:latin typeface="Arial"/>
                        </a:rPr>
                        <a:t>Perception, navigation, patrol / hunt / ambush. Contains no learning</a:t>
                      </a:r>
                    </a:p>
                  </a:txBody>
                  <a:tcPr marL="73152" marR="73152" marT="36576" marB="36576">
                    <a:solidFill>
                      <a:srgbClr val="FCFCFB"/>
                    </a:solidFill>
                  </a:tcPr>
                </a:tc>
                <a:tc>
                  <a:txBody>
                    <a:bodyPr/>
                    <a:lstStyle/>
                    <a:p>
                      <a:pPr>
                        <a:lnSpc>
                          <a:spcPct val="115000"/>
                        </a:lnSpc>
                      </a:pPr>
                      <a:r>
                        <a:rPr sz="1200" b="0">
                          <a:solidFill>
                            <a:srgbClr val="16181A"/>
                          </a:solidFill>
                          <a:latin typeface="Arial"/>
                        </a:rPr>
                        <a:t>Director, Facility</a:t>
                      </a:r>
                    </a:p>
                  </a:txBody>
                  <a:tcPr marL="73152" marR="73152" marT="36576" marB="36576">
                    <a:solidFill>
                      <a:srgbClr val="FCFCFB"/>
                    </a:solidFill>
                  </a:tcPr>
                </a:tc>
              </a:tr>
              <a:tr h="384048">
                <a:tc>
                  <a:txBody>
                    <a:bodyPr/>
                    <a:lstStyle/>
                    <a:p>
                      <a:pPr>
                        <a:lnSpc>
                          <a:spcPct val="115000"/>
                        </a:lnSpc>
                      </a:pPr>
                      <a:r>
                        <a:rPr sz="1200" b="0">
                          <a:solidFill>
                            <a:srgbClr val="16181A"/>
                          </a:solidFill>
                          <a:latin typeface="Arial"/>
                        </a:rPr>
                        <a:t>Notebook</a:t>
                      </a:r>
                    </a:p>
                  </a:txBody>
                  <a:tcPr marL="73152" marR="73152" marT="36576" marB="36576">
                    <a:solidFill>
                      <a:srgbClr val="FCFCFB"/>
                    </a:solidFill>
                  </a:tcPr>
                </a:tc>
                <a:tc>
                  <a:txBody>
                    <a:bodyPr/>
                    <a:lstStyle/>
                    <a:p>
                      <a:pPr>
                        <a:lnSpc>
                          <a:spcPct val="115000"/>
                        </a:lnSpc>
                      </a:pPr>
                      <a:r>
                        <a:rPr sz="1200" b="0">
                          <a:solidFill>
                            <a:srgbClr val="16181A"/>
                          </a:solidFill>
                          <a:latin typeface="Arial"/>
                        </a:rPr>
                        <a:t>In-world vector editor and serialisation. Reads no game state</a:t>
                      </a:r>
                    </a:p>
                  </a:txBody>
                  <a:tcPr marL="73152" marR="73152" marT="36576" marB="36576">
                    <a:solidFill>
                      <a:srgbClr val="FCFCFB"/>
                    </a:solidFill>
                  </a:tcPr>
                </a:tc>
                <a:tc>
                  <a:txBody>
                    <a:bodyPr/>
                    <a:lstStyle/>
                    <a:p>
                      <a:pPr>
                        <a:lnSpc>
                          <a:spcPct val="115000"/>
                        </a:lnSpc>
                      </a:pPr>
                      <a:r>
                        <a:rPr sz="1200" b="0">
                          <a:solidFill>
                            <a:srgbClr val="16181A"/>
                          </a:solidFill>
                          <a:latin typeface="Arial"/>
                        </a:rPr>
                        <a:t>—</a:t>
                      </a:r>
                    </a:p>
                  </a:txBody>
                  <a:tcPr marL="73152" marR="73152" marT="36576" marB="36576">
                    <a:solidFill>
                      <a:srgbClr val="FCFCFB"/>
                    </a:solidFill>
                  </a:tcPr>
                </a:tc>
              </a:tr>
            </a:tbl>
          </a:graphicData>
        </a:graphic>
      </p:graphicFrame>
      <p:sp>
        <p:nvSpPr>
          <p:cNvPr id="6" name="TextBox 5"/>
          <p:cNvSpPr txBox="1"/>
          <p:nvPr/>
        </p:nvSpPr>
        <p:spPr>
          <a:xfrm>
            <a:off x="658368" y="5440680"/>
            <a:ext cx="10881360" cy="822960"/>
          </a:xfrm>
          <a:prstGeom prst="rect">
            <a:avLst/>
          </a:prstGeom>
          <a:noFill/>
        </p:spPr>
        <p:txBody>
          <a:bodyPr wrap="square" lIns="0" rIns="0" tIns="0" bIns="0">
            <a:spAutoFit/>
          </a:bodyPr>
          <a:lstStyle/>
          <a:p>
            <a:pPr algn="l">
              <a:lnSpc>
                <a:spcPct val="130000"/>
              </a:lnSpc>
              <a:spcAft>
                <a:spcPts val="600"/>
              </a:spcAft>
            </a:pPr>
            <a:r>
              <a:rPr sz="1250" b="0">
                <a:solidFill>
                  <a:srgbClr val="6B7178"/>
                </a:solidFill>
                <a:latin typeface="Arial"/>
              </a:rPr>
              <a:t>Two decisions worth defending — Sabotage as sole mutator makes 'did the AI cheat or did I misread my notes?' a tractable question. The Notebook sits outside the data loop: it is the only channel the Director cannot touch, which is what makes it the player's counter-move rather than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14 · RESULTS — PREDICTION ACCURACY</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10-room facility · 1200 steps × 12 seeds</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ccuracy.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Read the control first: against a random player the model performs identically to no model at all. The gains against structured players are therefore learned habit, not leakage.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15 · RESULTS — LEARNING SPEED</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Cold start solved empirically</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learning.png"/>
          <p:cNvPicPr>
            <a:picLocks noChangeAspect="1"/>
          </p:cNvPicPr>
          <p:nvPr/>
        </p:nvPicPr>
        <p:blipFill>
          <a:blip r:embed="rId2"/>
          <a:stretch>
            <a:fillRect/>
          </a:stretch>
        </p:blipFill>
        <p:spPr>
          <a:xfrm>
            <a:off x="2075688" y="1691640"/>
            <a:ext cx="8046720" cy="4121491"/>
          </a:xfrm>
          <a:prstGeom prst="rect">
            <a:avLst/>
          </a:prstGeom>
        </p:spPr>
      </p:pic>
      <p:sp>
        <p:nvSpPr>
          <p:cNvPr id="6" name="TextBox 5"/>
          <p:cNvSpPr txBox="1"/>
          <p:nvPr/>
        </p:nvSpPr>
        <p:spPr>
          <a:xfrm>
            <a:off x="658368" y="6035040"/>
            <a:ext cx="10881360" cy="5486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Rolling top-1 accuracy rises from 48% to 87% within roughly 60 observed moves — under a minute of play.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16 · RESULTS — DOES PREDICTION MATTER?</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Embodied pursuit: the entity must intercept, not teleport</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capture.png"/>
          <p:cNvPicPr>
            <a:picLocks noChangeAspect="1"/>
          </p:cNvPicPr>
          <p:nvPr/>
        </p:nvPicPr>
        <p:blipFill>
          <a:blip r:embed="rId2"/>
          <a:stretch>
            <a:fillRect/>
          </a:stretch>
        </p:blipFill>
        <p:spPr>
          <a:xfrm>
            <a:off x="1709928" y="1783080"/>
            <a:ext cx="8778240" cy="3853861"/>
          </a:xfrm>
          <a:prstGeom prst="rect">
            <a:avLst/>
          </a:prstGeom>
        </p:spPr>
      </p:pic>
      <p:sp>
        <p:nvSpPr>
          <p:cNvPr id="6" name="TextBox 5"/>
          <p:cNvSpPr txBox="1"/>
          <p:nvPr/>
        </p:nvSpPr>
        <p:spPr>
          <a:xfrm>
            <a:off x="658368" y="5870448"/>
            <a:ext cx="10881360" cy="777240"/>
          </a:xfrm>
          <a:prstGeom prst="rect">
            <a:avLst/>
          </a:prstGeom>
          <a:noFill/>
        </p:spPr>
        <p:txBody>
          <a:bodyPr wrap="square" lIns="0" rIns="0" tIns="0" bIns="0">
            <a:spAutoFit/>
          </a:bodyPr>
          <a:lstStyle/>
          <a:p>
            <a:pPr algn="l">
              <a:lnSpc>
                <a:spcPct val="130000"/>
              </a:lnSpc>
              <a:spcAft>
                <a:spcPts val="600"/>
              </a:spcAft>
            </a:pPr>
            <a:r>
              <a:rPr sz="1300" b="0">
                <a:solidFill>
                  <a:srgbClr val="6B7178"/>
                </a:solidFill>
                <a:latin typeface="Arial"/>
              </a:rPr>
              <a:t>The hub-camping baseline is included deliberately: a model that cannot beat 'sit in the busiest room' has not earned its complexity. The proposed director achieves 4.3× the control and 1.7× the strongest non-learning heuristic.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17 · LIVE DEMONSTRATION</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The full loop, running</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480560"/>
          </a:xfrm>
          <a:prstGeom prst="rect">
            <a:avLst/>
          </a:prstGeom>
          <a:noFill/>
        </p:spPr>
        <p:txBody>
          <a:bodyPr wrap="square" lIns="0" rIns="0" tIns="0" bIns="0">
            <a:spAutoFit/>
          </a:bodyPr>
          <a:lstStyle/>
          <a:p>
            <a:pPr>
              <a:lnSpc>
                <a:spcPct val="130000"/>
              </a:lnSpc>
              <a:spcAft>
                <a:spcPts val="1300"/>
              </a:spcAft>
            </a:pPr>
            <a:r>
              <a:rPr sz="1500" b="1">
                <a:solidFill>
                  <a:srgbClr val="16181A"/>
                </a:solidFill>
                <a:latin typeface="Arial"/>
              </a:rPr>
              <a:t>Room graph —  </a:t>
            </a:r>
            <a:r>
              <a:rPr sz="1500">
                <a:solidFill>
                  <a:srgbClr val="6B7178"/>
                </a:solidFill>
                <a:latin typeface="Arial"/>
              </a:rPr>
              <a:t>live per-room predicted probabilities drawn on the facility.</a:t>
            </a:r>
          </a:p>
          <a:p>
            <a:pPr>
              <a:lnSpc>
                <a:spcPct val="130000"/>
              </a:lnSpc>
              <a:spcAft>
                <a:spcPts val="1300"/>
              </a:spcAft>
            </a:pPr>
            <a:r>
              <a:rPr sz="1500" b="1">
                <a:solidFill>
                  <a:srgbClr val="16181A"/>
                </a:solidFill>
                <a:latin typeface="Arial"/>
              </a:rPr>
              <a:t>Entity —  </a:t>
            </a:r>
            <a:r>
              <a:rPr sz="1500">
                <a:solidFill>
                  <a:srgbClr val="6B7178"/>
                </a:solidFill>
                <a:latin typeface="Arial"/>
              </a:rPr>
              <a:t>moves to intercept where the model points, gated on confidence.</a:t>
            </a:r>
          </a:p>
          <a:p>
            <a:pPr>
              <a:lnSpc>
                <a:spcPct val="130000"/>
              </a:lnSpc>
              <a:spcAft>
                <a:spcPts val="1300"/>
              </a:spcAft>
            </a:pPr>
            <a:r>
              <a:rPr sz="1500" b="1">
                <a:solidFill>
                  <a:srgbClr val="16181A"/>
                </a:solidFill>
                <a:latin typeface="Arial"/>
              </a:rPr>
              <a:t>Codebooks and notebook —  </a:t>
            </a:r>
            <a:r>
              <a:rPr sz="1500">
                <a:solidFill>
                  <a:srgbClr val="6B7178"/>
                </a:solidFill>
                <a:latin typeface="Arial"/>
              </a:rPr>
              <a:t>record entries; the Director silently poisons what you rely on.</a:t>
            </a:r>
          </a:p>
          <a:p>
            <a:pPr>
              <a:lnSpc>
                <a:spcPct val="130000"/>
              </a:lnSpc>
              <a:spcAft>
                <a:spcPts val="1300"/>
              </a:spcAft>
            </a:pPr>
            <a:r>
              <a:rPr sz="1500" b="1">
                <a:solidFill>
                  <a:srgbClr val="16181A"/>
                </a:solidFill>
                <a:latin typeface="Arial"/>
              </a:rPr>
              <a:t>Live scoreboard —  </a:t>
            </a:r>
            <a:r>
              <a:rPr sz="1500">
                <a:solidFill>
                  <a:srgbClr val="6B7178"/>
                </a:solidFill>
                <a:latin typeface="Arial"/>
              </a:rPr>
              <a:t>running VOMM accuracy against a no-model control, side by side.</a:t>
            </a:r>
          </a:p>
          <a:p>
            <a:pPr>
              <a:lnSpc>
                <a:spcPct val="130000"/>
              </a:lnSpc>
              <a:spcAft>
                <a:spcPts val="1300"/>
              </a:spcAft>
            </a:pPr>
            <a:r>
              <a:rPr sz="1500" b="1">
                <a:solidFill>
                  <a:srgbClr val="16181A"/>
                </a:solidFill>
                <a:latin typeface="Arial"/>
              </a:rPr>
              <a:t>Learned-rule readout —  </a:t>
            </a:r>
            <a:r>
              <a:rPr sz="1500">
                <a:solidFill>
                  <a:srgbClr val="6B7178"/>
                </a:solidFill>
                <a:latin typeface="Arial"/>
              </a:rPr>
              <a:t>in plain language: 'from E you go to B, 100% of the time, 13 observations'.</a:t>
            </a:r>
          </a:p>
        </p:txBody>
      </p:sp>
      <p:sp>
        <p:nvSpPr>
          <p:cNvPr id="6" name="Rectangle 5"/>
          <p:cNvSpPr/>
          <p:nvPr/>
        </p:nvSpPr>
        <p:spPr>
          <a:xfrm>
            <a:off x="658368" y="4572000"/>
            <a:ext cx="10881360" cy="1371600"/>
          </a:xfrm>
          <a:prstGeom prst="rect">
            <a:avLst/>
          </a:prstGeom>
          <a:solidFill>
            <a:srgbClr val="F1F6FC"/>
          </a:solidFill>
          <a:ln w="1270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4791456"/>
            <a:ext cx="10332720" cy="1005840"/>
          </a:xfrm>
          <a:prstGeom prst="rect">
            <a:avLst/>
          </a:prstGeom>
          <a:noFill/>
        </p:spPr>
        <p:txBody>
          <a:bodyPr wrap="square" lIns="0" rIns="0" tIns="0" bIns="0">
            <a:spAutoFit/>
          </a:bodyPr>
          <a:lstStyle/>
          <a:p>
            <a:pPr algn="l">
              <a:lnSpc>
                <a:spcPct val="140000"/>
              </a:lnSpc>
              <a:spcAft>
                <a:spcPts val="400"/>
              </a:spcAft>
            </a:pPr>
            <a:r>
              <a:rPr sz="1500" b="0">
                <a:solidFill>
                  <a:srgbClr val="16181A"/>
                </a:solidFill>
                <a:latin typeface="Arial"/>
              </a:rPr>
              <a:t>Observed in a 96-move automated session</a:t>
            </a:r>
          </a:p>
          <a:p>
            <a:pPr algn="l">
              <a:lnSpc>
                <a:spcPct val="140000"/>
              </a:lnSpc>
              <a:spcAft>
                <a:spcPts val="400"/>
              </a:spcAft>
            </a:pPr>
            <a:r>
              <a:rPr sz="1500" b="0">
                <a:solidFill>
                  <a:srgbClr val="16181A"/>
                </a:solidFill>
                <a:latin typeface="Arial"/>
              </a:rPr>
              <a:t>VOMM 72%  vs.  no-model 31%  —  and 2 of 16 transmitted signals corrupted by sabotage the player was never told about.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18 · ROADMAP</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Three of six milestones complete</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83080"/>
          <a:ext cx="10881360" cy="2688336"/>
        </p:xfrm>
        <a:graphic>
          <a:graphicData uri="http://schemas.openxmlformats.org/drawingml/2006/table">
            <a:tbl>
              <a:tblPr firstRow="1" bandRow="1">
                <a:tableStyleId>{5C22544A-7EE6-4342-B048-85BDC9FD1C3A}</a:tableStyleId>
              </a:tblPr>
              <a:tblGrid>
                <a:gridCol w="1188720"/>
                <a:gridCol w="7680960"/>
                <a:gridCol w="2011680"/>
              </a:tblGrid>
              <a:tr h="384048">
                <a:tc>
                  <a:txBody>
                    <a:bodyPr/>
                    <a:lstStyle/>
                    <a:p>
                      <a:pPr>
                        <a:lnSpc>
                          <a:spcPct val="115000"/>
                        </a:lnSpc>
                      </a:pPr>
                      <a:r>
                        <a:rPr sz="950" b="1">
                          <a:solidFill>
                            <a:srgbClr val="6B7178"/>
                          </a:solidFill>
                          <a:latin typeface="Arial"/>
                        </a:rPr>
                        <a:t>Milestone</a:t>
                      </a:r>
                    </a:p>
                  </a:txBody>
                  <a:tcPr marL="73152" marR="73152" marT="36576" marB="36576">
                    <a:solidFill>
                      <a:srgbClr val="F4F6F8"/>
                    </a:solidFill>
                  </a:tcPr>
                </a:tc>
                <a:tc>
                  <a:txBody>
                    <a:bodyPr/>
                    <a:lstStyle/>
                    <a:p>
                      <a:pPr>
                        <a:lnSpc>
                          <a:spcPct val="115000"/>
                        </a:lnSpc>
                      </a:pPr>
                      <a:r>
                        <a:rPr sz="950" b="1">
                          <a:solidFill>
                            <a:srgbClr val="6B7178"/>
                          </a:solidFill>
                          <a:latin typeface="Arial"/>
                        </a:rPr>
                        <a:t>Deliverable</a:t>
                      </a:r>
                    </a:p>
                  </a:txBody>
                  <a:tcPr marL="73152" marR="73152" marT="36576" marB="36576">
                    <a:solidFill>
                      <a:srgbClr val="F4F6F8"/>
                    </a:solidFill>
                  </a:tcPr>
                </a:tc>
                <a:tc>
                  <a:txBody>
                    <a:bodyPr/>
                    <a:lstStyle/>
                    <a:p>
                      <a:pPr>
                        <a:lnSpc>
                          <a:spcPct val="115000"/>
                        </a:lnSpc>
                      </a:pPr>
                      <a:r>
                        <a:rPr sz="950" b="1">
                          <a:solidFill>
                            <a:srgbClr val="6B7178"/>
                          </a:solidFill>
                          <a:latin typeface="Arial"/>
                        </a:rPr>
                        <a:t>State</a:t>
                      </a:r>
                    </a:p>
                  </a:txBody>
                  <a:tcPr marL="73152" marR="73152" marT="36576" marB="36576">
                    <a:solidFill>
                      <a:srgbClr val="F4F6F8"/>
                    </a:solidFill>
                  </a:tcPr>
                </a:tc>
              </a:tr>
              <a:tr h="384048">
                <a:tc>
                  <a:txBody>
                    <a:bodyPr/>
                    <a:lstStyle/>
                    <a:p>
                      <a:pPr>
                        <a:lnSpc>
                          <a:spcPct val="115000"/>
                        </a:lnSpc>
                      </a:pPr>
                      <a:r>
                        <a:rPr sz="1300" b="0">
                          <a:solidFill>
                            <a:srgbClr val="16181A"/>
                          </a:solidFill>
                          <a:latin typeface="Arial"/>
                        </a:rPr>
                        <a:t>M0</a:t>
                      </a:r>
                    </a:p>
                  </a:txBody>
                  <a:tcPr marL="73152" marR="73152" marT="36576" marB="36576">
                    <a:solidFill>
                      <a:srgbClr val="FCFCFB"/>
                    </a:solidFill>
                  </a:tcPr>
                </a:tc>
                <a:tc>
                  <a:txBody>
                    <a:bodyPr/>
                    <a:lstStyle/>
                    <a:p>
                      <a:pPr>
                        <a:lnSpc>
                          <a:spcPct val="115000"/>
                        </a:lnSpc>
                      </a:pPr>
                      <a:r>
                        <a:rPr sz="1300" b="0">
                          <a:solidFill>
                            <a:srgbClr val="16181A"/>
                          </a:solidFill>
                          <a:latin typeface="Arial"/>
                        </a:rPr>
                        <a:t>Headless simulation core, telemetry, bot harness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M1</a:t>
                      </a:r>
                    </a:p>
                  </a:txBody>
                  <a:tcPr marL="73152" marR="73152" marT="36576" marB="36576">
                    <a:solidFill>
                      <a:srgbClr val="FCFCFB"/>
                    </a:solidFill>
                  </a:tcPr>
                </a:tc>
                <a:tc>
                  <a:txBody>
                    <a:bodyPr/>
                    <a:lstStyle/>
                    <a:p>
                      <a:pPr>
                        <a:lnSpc>
                          <a:spcPct val="115000"/>
                        </a:lnSpc>
                      </a:pPr>
                      <a:r>
                        <a:rPr sz="1300" b="0">
                          <a:solidFill>
                            <a:srgbClr val="16181A"/>
                          </a:solidFill>
                          <a:latin typeface="Arial"/>
                        </a:rPr>
                        <a:t>Predictor, baselines, controls, offline metrics and figures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M2</a:t>
                      </a:r>
                    </a:p>
                  </a:txBody>
                  <a:tcPr marL="73152" marR="73152" marT="36576" marB="36576">
                    <a:solidFill>
                      <a:srgbClr val="FCFCFB"/>
                    </a:solidFill>
                  </a:tcPr>
                </a:tc>
                <a:tc>
                  <a:txBody>
                    <a:bodyPr/>
                    <a:lstStyle/>
                    <a:p>
                      <a:pPr>
                        <a:lnSpc>
                          <a:spcPct val="115000"/>
                        </a:lnSpc>
                      </a:pPr>
                      <a:r>
                        <a:rPr sz="1300" b="0">
                          <a:solidFill>
                            <a:srgbClr val="16181A"/>
                          </a:solidFill>
                          <a:latin typeface="Arial"/>
                        </a:rPr>
                        <a:t>Director and counter-moves, validated headless</a:t>
                      </a:r>
                    </a:p>
                  </a:txBody>
                  <a:tcPr marL="73152" marR="73152" marT="36576" marB="36576">
                    <a:solidFill>
                      <a:srgbClr val="FCFCFB"/>
                    </a:solidFill>
                  </a:tcPr>
                </a:tc>
                <a:tc>
                  <a:txBody>
                    <a:bodyPr/>
                    <a:lstStyle/>
                    <a:p>
                      <a:pPr>
                        <a:lnSpc>
                          <a:spcPct val="115000"/>
                        </a:lnSpc>
                      </a:pPr>
                      <a:r>
                        <a:rPr sz="1300" b="0">
                          <a:solidFill>
                            <a:srgbClr val="16181A"/>
                          </a:solidFill>
                          <a:latin typeface="Arial"/>
                        </a:rPr>
                        <a:t>Complete</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M3</a:t>
                      </a:r>
                    </a:p>
                  </a:txBody>
                  <a:tcPr marL="73152" marR="73152" marT="36576" marB="36576">
                    <a:solidFill>
                      <a:srgbClr val="FCFCFB"/>
                    </a:solidFill>
                  </a:tcPr>
                </a:tc>
                <a:tc>
                  <a:txBody>
                    <a:bodyPr/>
                    <a:lstStyle/>
                    <a:p>
                      <a:pPr>
                        <a:lnSpc>
                          <a:spcPct val="115000"/>
                        </a:lnSpc>
                      </a:pPr>
                      <a:r>
                        <a:rPr sz="1300" b="0">
                          <a:solidFill>
                            <a:srgbClr val="16181A"/>
                          </a:solidFill>
                          <a:latin typeface="Arial"/>
                        </a:rPr>
                        <a:t>Godot greybox first-person build + live prediction overlay</a:t>
                      </a:r>
                    </a:p>
                  </a:txBody>
                  <a:tcPr marL="73152" marR="73152" marT="36576" marB="36576">
                    <a:solidFill>
                      <a:srgbClr val="FCFCFB"/>
                    </a:solidFill>
                  </a:tcPr>
                </a:tc>
                <a:tc>
                  <a:txBody>
                    <a:bodyPr/>
                    <a:lstStyle/>
                    <a:p>
                      <a:pPr>
                        <a:lnSpc>
                          <a:spcPct val="115000"/>
                        </a:lnSpc>
                      </a:pPr>
                      <a:r>
                        <a:rPr sz="1300" b="0">
                          <a:solidFill>
                            <a:srgbClr val="16181A"/>
                          </a:solidFill>
                          <a:latin typeface="Arial"/>
                        </a:rPr>
                        <a:t>Next</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M4</a:t>
                      </a:r>
                    </a:p>
                  </a:txBody>
                  <a:tcPr marL="73152" marR="73152" marT="36576" marB="36576">
                    <a:solidFill>
                      <a:srgbClr val="FCFCFB"/>
                    </a:solidFill>
                  </a:tcPr>
                </a:tc>
                <a:tc>
                  <a:txBody>
                    <a:bodyPr/>
                    <a:lstStyle/>
                    <a:p>
                      <a:pPr>
                        <a:lnSpc>
                          <a:spcPct val="115000"/>
                        </a:lnSpc>
                      </a:pPr>
                      <a:r>
                        <a:rPr sz="1300" b="0">
                          <a:solidFill>
                            <a:srgbClr val="16181A"/>
                          </a:solidFill>
                          <a:latin typeface="Arial"/>
                        </a:rPr>
                        <a:t>Notebook vector editor and persistence</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r h="384048">
                <a:tc>
                  <a:txBody>
                    <a:bodyPr/>
                    <a:lstStyle/>
                    <a:p>
                      <a:pPr>
                        <a:lnSpc>
                          <a:spcPct val="115000"/>
                        </a:lnSpc>
                      </a:pPr>
                      <a:r>
                        <a:rPr sz="1300" b="0">
                          <a:solidFill>
                            <a:srgbClr val="16181A"/>
                          </a:solidFill>
                          <a:latin typeface="Arial"/>
                        </a:rPr>
                        <a:t>M5</a:t>
                      </a:r>
                    </a:p>
                  </a:txBody>
                  <a:tcPr marL="73152" marR="73152" marT="36576" marB="36576">
                    <a:solidFill>
                      <a:srgbClr val="FCFCFB"/>
                    </a:solidFill>
                  </a:tcPr>
                </a:tc>
                <a:tc>
                  <a:txBody>
                    <a:bodyPr/>
                    <a:lstStyle/>
                    <a:p>
                      <a:pPr>
                        <a:lnSpc>
                          <a:spcPct val="115000"/>
                        </a:lnSpc>
                      </a:pPr>
                      <a:r>
                        <a:rPr sz="1300" b="0">
                          <a:solidFill>
                            <a:srgbClr val="16181A"/>
                          </a:solidFill>
                          <a:latin typeface="Arial"/>
                        </a:rPr>
                        <a:t>Entity polish, atmosphere, audio, human playtest</a:t>
                      </a:r>
                    </a:p>
                  </a:txBody>
                  <a:tcPr marL="73152" marR="73152" marT="36576" marB="36576">
                    <a:solidFill>
                      <a:srgbClr val="FCFCFB"/>
                    </a:solidFill>
                  </a:tcPr>
                </a:tc>
                <a:tc>
                  <a:txBody>
                    <a:bodyPr/>
                    <a:lstStyle/>
                    <a:p>
                      <a:pPr>
                        <a:lnSpc>
                          <a:spcPct val="115000"/>
                        </a:lnSpc>
                      </a:pPr>
                      <a:r>
                        <a:rPr sz="1300" b="0">
                          <a:solidFill>
                            <a:srgbClr val="16181A"/>
                          </a:solidFill>
                          <a:latin typeface="Arial"/>
                        </a:rPr>
                        <a:t>Planned</a:t>
                      </a:r>
                    </a:p>
                  </a:txBody>
                  <a:tcPr marL="73152" marR="73152" marT="36576" marB="36576">
                    <a:solidFill>
                      <a:srgbClr val="FCFCFB"/>
                    </a:solidFill>
                  </a:tcPr>
                </a:tc>
              </a:tr>
            </a:tbl>
          </a:graphicData>
        </a:graphic>
      </p:graphicFrame>
      <p:sp>
        <p:nvSpPr>
          <p:cNvPr id="6" name="TextBox 5"/>
          <p:cNvSpPr txBox="1"/>
          <p:nvPr/>
        </p:nvSpPr>
        <p:spPr>
          <a:xfrm>
            <a:off x="658368" y="4663440"/>
            <a:ext cx="10881360" cy="1097280"/>
          </a:xfrm>
          <a:prstGeom prst="rect">
            <a:avLst/>
          </a:prstGeom>
          <a:noFill/>
        </p:spPr>
        <p:txBody>
          <a:bodyPr wrap="square" lIns="0" rIns="0" tIns="0" bIns="0">
            <a:spAutoFit/>
          </a:bodyPr>
          <a:lstStyle/>
          <a:p>
            <a:pPr algn="l">
              <a:lnSpc>
                <a:spcPct val="135000"/>
              </a:lnSpc>
              <a:spcAft>
                <a:spcPts val="600"/>
              </a:spcAft>
            </a:pPr>
            <a:r>
              <a:rPr sz="1300" b="0">
                <a:solidFill>
                  <a:srgbClr val="6B7178"/>
                </a:solidFill>
                <a:latin typeface="Arial"/>
              </a:rPr>
              <a:t>Art direction for M3 is settled: a low-poly modular brutalist kit instantiated from the room graph, near-total darkness with a flashlight, heavy fog, and a retro post-processing pass — chosen because it minimises modelling cost while staying coherent. Modularity is not a style choice: rooms are rotated, added and removed at runtime, so they must be prefab-instantiated regardless.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1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  Lin, Z. et al. (2026). Unlocking Open-Player-Modeling-enhanced Game-Based Learning. arXiv:2603.26915</a:t>
            </a:r>
          </a:p>
          <a:p>
            <a:pPr>
              <a:lnSpc>
                <a:spcPct val="120000"/>
              </a:lnSpc>
              <a:spcAft>
                <a:spcPts val="700"/>
              </a:spcAft>
            </a:pPr>
            <a:r>
              <a:rPr sz="1200">
                <a:solidFill>
                  <a:srgbClr val="16181A"/>
                </a:solidFill>
                <a:latin typeface="Arial"/>
              </a:rPr>
              <a:t>2.  Dehpanah, A. et al. (2021). Player Modeling using Behavioral Signals in Competitive Online Games. arXiv:2112.04379</a:t>
            </a:r>
          </a:p>
          <a:p>
            <a:pPr>
              <a:lnSpc>
                <a:spcPct val="120000"/>
              </a:lnSpc>
              <a:spcAft>
                <a:spcPts val="700"/>
              </a:spcAft>
            </a:pPr>
            <a:r>
              <a:rPr sz="1200">
                <a:solidFill>
                  <a:srgbClr val="16181A"/>
                </a:solidFill>
                <a:latin typeface="Arial"/>
              </a:rPr>
              <a:t>3.  Carlier, S. et al. (2024). Personalization in Serious Games and Gamification for Healthcare. arXiv:2411.18500</a:t>
            </a:r>
          </a:p>
          <a:p>
            <a:pPr>
              <a:lnSpc>
                <a:spcPct val="120000"/>
              </a:lnSpc>
              <a:spcAft>
                <a:spcPts val="700"/>
              </a:spcAft>
            </a:pPr>
            <a:r>
              <a:rPr sz="1200">
                <a:solidFill>
                  <a:srgbClr val="16181A"/>
                </a:solidFill>
                <a:latin typeface="Arial"/>
              </a:rPr>
              <a:t>4.  Halina, E. et al. (2026). Representing and Generating Levels Over Time through Playtrace Reconstructive Partitioning. arXiv:2607.12097</a:t>
            </a:r>
          </a:p>
          <a:p>
            <a:pPr>
              <a:lnSpc>
                <a:spcPct val="120000"/>
              </a:lnSpc>
              <a:spcAft>
                <a:spcPts val="700"/>
              </a:spcAft>
            </a:pPr>
            <a:r>
              <a:rPr sz="1200">
                <a:solidFill>
                  <a:srgbClr val="16181A"/>
                </a:solidFill>
                <a:latin typeface="Arial"/>
              </a:rPr>
              <a:t>5.  Bazzaz, M. (2026). Player Perceptions of Generative AI in Games: A Steam Review Analysis. arXiv:2608.11539</a:t>
            </a:r>
          </a:p>
          <a:p>
            <a:pPr>
              <a:lnSpc>
                <a:spcPct val="120000"/>
              </a:lnSpc>
              <a:spcAft>
                <a:spcPts val="700"/>
              </a:spcAft>
            </a:pPr>
            <a:r>
              <a:rPr sz="1200">
                <a:solidFill>
                  <a:srgbClr val="16181A"/>
                </a:solidFill>
                <a:latin typeface="Arial"/>
              </a:rPr>
              <a:t>6.  Romeo, C. et al. (2025). NTRL: Encounter Generation via RL for DDA in Dungeons and Dragons. arXiv:2506.19530</a:t>
            </a:r>
          </a:p>
          <a:p>
            <a:pPr>
              <a:lnSpc>
                <a:spcPct val="120000"/>
              </a:lnSpc>
              <a:spcAft>
                <a:spcPts val="700"/>
              </a:spcAft>
            </a:pPr>
            <a:r>
              <a:rPr sz="1200">
                <a:solidFill>
                  <a:srgbClr val="16181A"/>
                </a:solidFill>
                <a:latin typeface="Arial"/>
              </a:rPr>
              <a:t>7.  Lopes, P. et al. (2025). Closing the Loop in Affect-Driven Game Adaptation: A Systematic Review. arXiv:2505.01351</a:t>
            </a:r>
          </a:p>
          <a:p>
            <a:pPr>
              <a:lnSpc>
                <a:spcPct val="120000"/>
              </a:lnSpc>
              <a:spcAft>
                <a:spcPts val="700"/>
              </a:spcAft>
            </a:pPr>
            <a:r>
              <a:rPr sz="1200">
                <a:solidFill>
                  <a:srgbClr val="16181A"/>
                </a:solidFill>
                <a:latin typeface="Arial"/>
              </a:rPr>
              <a:t>8.  Cafri, N. et al. (2025). Dynamic Difficulty Adjustment With Brain Waves. arXiv:2504.13965</a:t>
            </a:r>
          </a:p>
          <a:p>
            <a:pPr>
              <a:lnSpc>
                <a:spcPct val="120000"/>
              </a:lnSpc>
              <a:spcAft>
                <a:spcPts val="700"/>
              </a:spcAft>
            </a:pPr>
            <a:r>
              <a:rPr sz="1200">
                <a:solidFill>
                  <a:srgbClr val="16181A"/>
                </a:solidFill>
                <a:latin typeface="Arial"/>
              </a:rPr>
              <a:t>9.  Fuchs, R. et al. (2024). Personalized Dynamic Difficulty Adjustment. arXiv:2408.06818</a:t>
            </a:r>
          </a:p>
          <a:p>
            <a:pPr>
              <a:lnSpc>
                <a:spcPct val="120000"/>
              </a:lnSpc>
              <a:spcAft>
                <a:spcPts val="700"/>
              </a:spcAft>
            </a:pPr>
            <a:r>
              <a:rPr sz="1200">
                <a:solidFill>
                  <a:srgbClr val="16181A"/>
                </a:solidFill>
                <a:latin typeface="Arial"/>
              </a:rPr>
              <a:t>10.  McConnell, M. et al. (2025). From Frustration to Fun: An Adaptive Puzzle Game Powered by Genetic Algorithm. arXiv:2509.23796</a:t>
            </a:r>
          </a:p>
          <a:p>
            <a:pPr>
              <a:lnSpc>
                <a:spcPct val="120000"/>
              </a:lnSpc>
              <a:spcAft>
                <a:spcPts val="700"/>
              </a:spcAft>
            </a:pPr>
            <a:r>
              <a:rPr sz="1200">
                <a:solidFill>
                  <a:srgbClr val="16181A"/>
                </a:solidFill>
                <a:latin typeface="Arial"/>
              </a:rPr>
              <a:t>11.  Jarma Montoya, O. et al. (2026). Atari Games Challenge: Multimodal Player Experience Assessment. arXiv:2605.27261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658368" y="420624"/>
            <a:ext cx="10881360" cy="274320"/>
          </a:xfrm>
          <a:prstGeom prst="rect">
            <a:avLst/>
          </a:prstGeom>
          <a:noFill/>
        </p:spPr>
        <p:txBody>
          <a:bodyPr wrap="square" lIns="0" rIns="0" tIns="0" bIns="0">
            <a:spAutoFit/>
          </a:bodyPr>
          <a:lstStyle/>
          <a:p>
            <a:pPr algn="l">
              <a:lnSpc>
                <a:spcPct val="125000"/>
              </a:lnSpc>
              <a:spcAft>
                <a:spcPts val="600"/>
              </a:spcAft>
            </a:pPr>
            <a:r>
              <a:rPr sz="1050" b="1">
                <a:solidFill>
                  <a:srgbClr val="2A78D6"/>
                </a:solidFill>
                <a:latin typeface="Arial"/>
              </a:rPr>
              <a:t>REFERENCES</a:t>
            </a:r>
          </a:p>
        </p:txBody>
      </p:sp>
      <p:sp>
        <p:nvSpPr>
          <p:cNvPr id="3" name="TextBox 2"/>
          <p:cNvSpPr txBox="1"/>
          <p:nvPr/>
        </p:nvSpPr>
        <p:spPr>
          <a:xfrm>
            <a:off x="658368" y="749808"/>
            <a:ext cx="10881360" cy="822960"/>
          </a:xfrm>
          <a:prstGeom prst="rect">
            <a:avLst/>
          </a:prstGeom>
          <a:noFill/>
        </p:spPr>
        <p:txBody>
          <a:bodyPr wrap="square" lIns="0" rIns="0" tIns="0" bIns="0">
            <a:spAutoFit/>
          </a:bodyPr>
          <a:lstStyle/>
          <a:p>
            <a:pPr algn="l">
              <a:lnSpc>
                <a:spcPct val="125000"/>
              </a:lnSpc>
              <a:spcAft>
                <a:spcPts val="600"/>
              </a:spcAft>
            </a:pPr>
            <a:r>
              <a:rPr sz="2800" b="1">
                <a:solidFill>
                  <a:srgbClr val="16181A"/>
                </a:solidFill>
                <a:latin typeface="Arial"/>
              </a:rPr>
              <a:t>2 of 2</a:t>
            </a:r>
          </a:p>
        </p:txBody>
      </p:sp>
      <p:sp>
        <p:nvSpPr>
          <p:cNvPr id="4" name="Rectangle 3"/>
          <p:cNvSpPr/>
          <p:nvPr/>
        </p:nvSpPr>
        <p:spPr>
          <a:xfrm>
            <a:off x="658368" y="1481328"/>
            <a:ext cx="10881360" cy="18288"/>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783080"/>
            <a:ext cx="10881360" cy="4572000"/>
          </a:xfrm>
          <a:prstGeom prst="rect">
            <a:avLst/>
          </a:prstGeom>
          <a:noFill/>
        </p:spPr>
        <p:txBody>
          <a:bodyPr wrap="square" lIns="0" rIns="0" tIns="0" bIns="0">
            <a:spAutoFit/>
          </a:bodyPr>
          <a:lstStyle/>
          <a:p>
            <a:pPr>
              <a:lnSpc>
                <a:spcPct val="120000"/>
              </a:lnSpc>
              <a:spcAft>
                <a:spcPts val="700"/>
              </a:spcAft>
            </a:pPr>
            <a:r>
              <a:rPr sz="1200">
                <a:solidFill>
                  <a:srgbClr val="16181A"/>
                </a:solidFill>
                <a:latin typeface="Arial"/>
              </a:rPr>
              <a:t>12.  Tripathi, P. et al. (2026). AI-Enabled Serious Games: Integrating Intelligence and Adaptivity. arXiv:2605.21962</a:t>
            </a:r>
          </a:p>
          <a:p>
            <a:pPr>
              <a:lnSpc>
                <a:spcPct val="120000"/>
              </a:lnSpc>
              <a:spcAft>
                <a:spcPts val="700"/>
              </a:spcAft>
            </a:pPr>
            <a:r>
              <a:rPr sz="1200">
                <a:solidFill>
                  <a:srgbClr val="16181A"/>
                </a:solidFill>
                <a:latin typeface="Arial"/>
              </a:rPr>
              <a:t>13.  Fiuza Vieira, I. et al. (2026). A Novel Procedural Generation for Level Design of Mansions and Dungeons. arXiv:2606.03857</a:t>
            </a:r>
          </a:p>
          <a:p>
            <a:pPr>
              <a:lnSpc>
                <a:spcPct val="120000"/>
              </a:lnSpc>
              <a:spcAft>
                <a:spcPts val="700"/>
              </a:spcAft>
            </a:pPr>
            <a:r>
              <a:rPr sz="1200">
                <a:solidFill>
                  <a:srgbClr val="16181A"/>
                </a:solidFill>
                <a:latin typeface="Arial"/>
              </a:rPr>
              <a:t>14.  Özkan, M. B. (2025). Procedural Game Level Design with Deep Reinforcement Learning. arXiv:2510.15120</a:t>
            </a:r>
          </a:p>
          <a:p>
            <a:pPr>
              <a:lnSpc>
                <a:spcPct val="120000"/>
              </a:lnSpc>
              <a:spcAft>
                <a:spcPts val="700"/>
              </a:spcAft>
            </a:pPr>
            <a:r>
              <a:rPr sz="1200">
                <a:solidFill>
                  <a:srgbClr val="16181A"/>
                </a:solidFill>
                <a:latin typeface="Arial"/>
              </a:rPr>
              <a:t>15.  Earle, S. et al. (2025). Video Game Level Design as a Multi-Agent Reinforcement Learning Problem. arXiv:2510.04862</a:t>
            </a:r>
          </a:p>
          <a:p>
            <a:pPr>
              <a:lnSpc>
                <a:spcPct val="120000"/>
              </a:lnSpc>
              <a:spcAft>
                <a:spcPts val="700"/>
              </a:spcAft>
            </a:pPr>
            <a:r>
              <a:rPr sz="1200">
                <a:solidFill>
                  <a:srgbClr val="16181A"/>
                </a:solidFill>
                <a:latin typeface="Arial"/>
              </a:rPr>
              <a:t>16.  Begleiter, R., El-Yaniv, R. &amp; Yona, G. (2004). On Prediction Using Variable Order Markov Models. JAIR 22, 385–421. arXiv:1107.0051</a:t>
            </a:r>
          </a:p>
          <a:p>
            <a:pPr>
              <a:lnSpc>
                <a:spcPct val="120000"/>
              </a:lnSpc>
              <a:spcAft>
                <a:spcPts val="700"/>
              </a:spcAft>
            </a:pPr>
            <a:r>
              <a:rPr sz="1200">
                <a:solidFill>
                  <a:srgbClr val="16181A"/>
                </a:solidFill>
                <a:latin typeface="Arial"/>
              </a:rPr>
              <a:t>17.  Wu, Y. et al. (2025). Beyond Regularity: Modeling Chaotic Mobility Patterns for Next Location Prediction. arXiv:2509.11713</a:t>
            </a:r>
          </a:p>
          <a:p>
            <a:pPr>
              <a:lnSpc>
                <a:spcPct val="120000"/>
              </a:lnSpc>
              <a:spcAft>
                <a:spcPts val="700"/>
              </a:spcAft>
            </a:pPr>
            <a:r>
              <a:rPr sz="1200">
                <a:solidFill>
                  <a:srgbClr val="16181A"/>
                </a:solidFill>
                <a:latin typeface="Arial"/>
              </a:rPr>
              <a:t>18.  Deng, B. et al. (2025). STRelay: A Universal Spatio-Temporal Relaying Framework for Location Prediction. arXiv:2508.16620</a:t>
            </a:r>
          </a:p>
          <a:p>
            <a:pPr>
              <a:lnSpc>
                <a:spcPct val="120000"/>
              </a:lnSpc>
              <a:spcAft>
                <a:spcPts val="700"/>
              </a:spcAft>
            </a:pPr>
            <a:r>
              <a:rPr sz="1200">
                <a:solidFill>
                  <a:srgbClr val="16181A"/>
                </a:solidFill>
                <a:latin typeface="Arial"/>
              </a:rPr>
              <a:t>19.  Liu, S. et al. (2025). Mixture-of-Experts for Personalized and Semantic-Aware Next Location Prediction. arXiv:2505.24597</a:t>
            </a:r>
          </a:p>
          <a:p>
            <a:pPr>
              <a:lnSpc>
                <a:spcPct val="120000"/>
              </a:lnSpc>
              <a:spcAft>
                <a:spcPts val="700"/>
              </a:spcAft>
            </a:pPr>
            <a:r>
              <a:rPr sz="1200">
                <a:solidFill>
                  <a:srgbClr val="16181A"/>
                </a:solidFill>
                <a:latin typeface="Arial"/>
              </a:rPr>
              <a:t>20.  Soni, A. et al. (2025). Can We Predict Your Next Move Without Breaking Your Privacy? arXiv:2507.08843</a:t>
            </a:r>
          </a:p>
          <a:p>
            <a:pPr>
              <a:lnSpc>
                <a:spcPct val="120000"/>
              </a:lnSpc>
              <a:spcAft>
                <a:spcPts val="700"/>
              </a:spcAft>
            </a:pPr>
            <a:r>
              <a:rPr sz="1200">
                <a:solidFill>
                  <a:srgbClr val="16181A"/>
                </a:solidFill>
                <a:latin typeface="Arial"/>
              </a:rPr>
              <a:t>21.  Zhang, H. et al. (2024). VRMN-bD: A Multi-modal Natural Behavior Dataset of Immersive Human Fear Responses. arXiv:2401.12133</a:t>
            </a:r>
          </a:p>
          <a:p>
            <a:pPr>
              <a:lnSpc>
                <a:spcPct val="120000"/>
              </a:lnSpc>
              <a:spcAft>
                <a:spcPts val="700"/>
              </a:spcAft>
            </a:pPr>
            <a:r>
              <a:rPr sz="1200">
                <a:solidFill>
                  <a:srgbClr val="16181A"/>
                </a:solidFill>
                <a:latin typeface="Arial"/>
              </a:rPr>
              <a:t>22.  Zhang, H. et al. (2023). Decoding Fear: Exploring User Experiences in Virtual Reality Horror Games. arXiv:2312.15582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