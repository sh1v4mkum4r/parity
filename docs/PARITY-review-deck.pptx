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Pitch: a horror antagonist that builds a live behavioural model of the individual player and acts on its predictions. The model is the project; the game makes it legible.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the panel at where each rubric item is answered. Do not linger.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Game AI optimises for agents that PLAY well. Adapting to the specific person is a different, less-solved problem. Horror is where it matters most because the genre dies when the player learns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AI is learnable and stops scaring. Random AI feels unfair. Neither adapts to you. If asked 'isn't this DDA?' — no: DDA tunes difficulty magnitude, this changes WHERE the antagonist chooses to be.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that the Godot build is NOT done. Do not let them think a 3D game exists.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works, 20 from 2023 or later. State the selection criteria out loud.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Name two: Romeo (closest analogue) and Lopes (review that names evaluation as the field's weak point — the gap the bot harness addresses).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Begleiter aloud — it is the formal basis of the model. If challenged on a 2004 paper in a 'recent' review: it is the foundational treatment, and four 2025 trajectory-prediction papers beside it are the modern 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gaps: DDA adapts parameters not position; trajectory prediction is never used adversarially; adaptation is invisible so it is never evaluated against a control.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clock is the thing to explain well. Lockdown, window, lockdown. You act only when the doors open — and STAYING is one of the choices. That matters: the model must predict whether you move at all, not just where. The antagonist obeys the same clock.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equation slowly. w is a confidence weight: the more a context has been seen, the more the model trusts it; otherwise it backs off to shorter context.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Predictor outputs beliefs, Director decides what to do. All four counter-moves are implemented AND measured — say so explicitly.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 is the strongest thing here. Against a random player the model MUST NOT beat baseline. Prequential evaluation means every prediction precedes its outcome — no leakage possible by construction. Note EvasiveBot: I built a bot specifically to try to beat my own AI.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decisions to defend: Sabotage is the single mutator so every lie is logged and replayable; the Notebook sits outside the loop, which is what makes it the player's counter-move rather than decoration.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Skim. It is here as module-level design evidence, not to be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CONTROL column (27/26/27), not the 61%. Explain why the control matters before showing the win. If asked why accuracy is 61% and not higher: because staying is a legal move, and predicting whether someone moves at all is harder than predicting where. An earlier version of this work forbade waiting and scored 90% — that number was inflated and I corrected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 start: the model is useful within about a minute of play, with no prior data on this player.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here. Every model-driven antagonist beats the non-learning baselines, but the models are within noise of each other, and five-step lookahead is now slightly worse than one-step. That is expected: rollout error compounds, so lookahead helps an accurate model and hurts an uncertain one. Volunteer this before they find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to 'hub-camping is nearly as good'. It is only nearly as good on a small map. The advantage widens as the facility grows.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entity is REMOVED here — this isolates world editing from hunting. About 60% more moves per objective lap, and every mutation passed a reachability check, so no run was ever soft-locked.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this. Targeted sabotage gives NO advantage when the player relies on every room equally; it only pays off against uneven habits. Reporting a null is a strength.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valuable slide in the deck, and it is a negative result. I built a bot to beat my own AI by waiting. It degrades the model's accuracy but barely reduces capture risk — because the antagonist currently sees everything, so standing still just makes you a stationary target. That diagnosis is what set the next milestone: sense the player through door motion-detectors instead of omniscience, which turns this into partially-observed prediction. If you only defend one slide well, defend this 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because someone asked whether the time a player spends in their notebook is itself something to learn. It is — and the model already had. Lead with the plain-rooms bar: 100%, because it learned you never linger where there is nothing to record. The codebook bar at 67% is the honest one: it knows you may be writing, not when you will finish. Also say that an explicit dwell model made things slightly WORSE, because the sequence model already captures dwell once staying is a legal action.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invariants, 25 facilities, all passing. The two that matter: uplink reachable after mutation (the AI can never soft-lock you) and VOMM approximating uniform on a random player (no leakage). Offer to run it live — it takes seconds.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it. Say what it is honestly: an art-direction study, not the game — hand-written WebGL so it runs offline on any laptop with no engine installed. Point out that the hexagonal cells ARE the room graph the model plays on, and that side count is the difficulty setting. The whole look is darkness, fog and a post-process pass, chosen because it minimises modelling cost.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 to M2 done, M3 next; the 3D game does not exist yet. M6 to M8 are specified from the design work: door sensors and partial observation, polygonal room tiles where side count IS the difficulty setting, and the outbound register the AI can tamper with before you send. Say that the negative result on slide 22 is what prioritised M6.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1 to 11.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12 to 22.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874519"/>
            <a:ext cx="10515600" cy="914400"/>
          </a:xfrm>
          <a:prstGeom prst="rect">
            <a:avLst/>
          </a:prstGeom>
          <a:noFill/>
        </p:spPr>
        <p:txBody>
          <a:bodyPr wrap="square" lIns="0" rIns="0" tIns="0" bIns="0">
            <a:spAutoFit/>
          </a:bodyPr>
          <a:lstStyle/>
          <a:p>
            <a:pPr algn="l">
              <a:lnSpc>
                <a:spcPct val="125000"/>
              </a:lnSpc>
              <a:spcAft>
                <a:spcPts val="600"/>
              </a:spcAft>
            </a:pPr>
            <a:r>
              <a:rPr sz="5800" b="1">
                <a:solidFill>
                  <a:srgbClr val="16181A"/>
                </a:solidFill>
                <a:latin typeface="Arial"/>
              </a:rPr>
              <a:t>PARITY</a:t>
            </a:r>
          </a:p>
        </p:txBody>
      </p:sp>
      <p:sp>
        <p:nvSpPr>
          <p:cNvPr id="4" name="TextBox 3"/>
          <p:cNvSpPr txBox="1"/>
          <p:nvPr/>
        </p:nvSpPr>
        <p:spPr>
          <a:xfrm>
            <a:off x="868680" y="2880360"/>
            <a:ext cx="10058400" cy="822960"/>
          </a:xfrm>
          <a:prstGeom prst="rect">
            <a:avLst/>
          </a:prstGeom>
          <a:noFill/>
        </p:spPr>
        <p:txBody>
          <a:bodyPr wrap="square" lIns="0" rIns="0" tIns="0" bIns="0">
            <a:spAutoFit/>
          </a:bodyPr>
          <a:lstStyle/>
          <a:p>
            <a:pPr algn="l">
              <a:lnSpc>
                <a:spcPct val="135000"/>
              </a:lnSpc>
              <a:spcAft>
                <a:spcPts val="600"/>
              </a:spcAft>
            </a:pPr>
            <a:r>
              <a:rPr sz="2100" b="0">
                <a:solidFill>
                  <a:srgbClr val="6B7178"/>
                </a:solidFill>
                <a:latin typeface="Arial"/>
              </a:rPr>
              <a:t>An Adaptive Horror Game Driven by</a:t>
            </a:r>
          </a:p>
          <a:p>
            <a:pPr algn="l">
              <a:lnSpc>
                <a:spcPct val="135000"/>
              </a:lnSpc>
              <a:spcAft>
                <a:spcPts val="600"/>
              </a:spcAft>
            </a:pPr>
            <a:r>
              <a:rPr sz="2100" b="0">
                <a:solidFill>
                  <a:srgbClr val="6B7178"/>
                </a:solidFill>
                <a:latin typeface="Arial"/>
              </a:rPr>
              <a:t>Online Player-Trajectory Prediction</a:t>
            </a:r>
          </a:p>
        </p:txBody>
      </p:sp>
      <p:sp>
        <p:nvSpPr>
          <p:cNvPr id="5" name="Rectangle 4"/>
          <p:cNvSpPr/>
          <p:nvPr/>
        </p:nvSpPr>
        <p:spPr>
          <a:xfrm>
            <a:off x="896112" y="3977639"/>
            <a:ext cx="219456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261104"/>
            <a:ext cx="10058400" cy="822960"/>
          </a:xfrm>
          <a:prstGeom prst="rect">
            <a:avLst/>
          </a:prstGeom>
          <a:noFill/>
        </p:spPr>
        <p:txBody>
          <a:bodyPr wrap="square" lIns="0" rIns="0" tIns="0" bIns="0">
            <a:spAutoFit/>
          </a:bodyPr>
          <a:lstStyle/>
          <a:p>
            <a:pPr algn="l">
              <a:lnSpc>
                <a:spcPct val="150000"/>
              </a:lnSpc>
              <a:spcAft>
                <a:spcPts val="600"/>
              </a:spcAft>
            </a:pPr>
            <a:r>
              <a:rPr sz="1300" b="0">
                <a:solidFill>
                  <a:srgbClr val="6B7178"/>
                </a:solidFill>
                <a:latin typeface="Arial"/>
              </a:rPr>
              <a:t>Shivam Kumar</a:t>
            </a:r>
          </a:p>
          <a:p>
            <a:pPr algn="l">
              <a:lnSpc>
                <a:spcPct val="150000"/>
              </a:lnSpc>
              <a:spcAft>
                <a:spcPts val="600"/>
              </a:spcAft>
            </a:pPr>
            <a:r>
              <a:rPr sz="1300" b="0">
                <a:solidFill>
                  <a:srgbClr val="6B7178"/>
                </a:solidFill>
                <a:latin typeface="Arial"/>
              </a:rPr>
              <a:t>Vellore Institute of Technology  ·  Project Review  ·  18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WHAT THIS REVIEW COVERS</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Mapped to the marking rubric</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783080"/>
          <a:ext cx="10881360" cy="2304288"/>
        </p:xfrm>
        <a:graphic>
          <a:graphicData uri="http://schemas.openxmlformats.org/drawingml/2006/table">
            <a:tbl>
              <a:tblPr firstRow="1" bandRow="1">
                <a:tableStyleId>{5C22544A-7EE6-4342-B048-85BDC9FD1C3A}</a:tableStyleId>
              </a:tblPr>
              <a:tblGrid>
                <a:gridCol w="3931920"/>
                <a:gridCol w="3657600"/>
                <a:gridCol w="3291840"/>
              </a:tblGrid>
              <a:tr h="384048">
                <a:tc>
                  <a:txBody>
                    <a:bodyPr/>
                    <a:lstStyle/>
                    <a:p>
                      <a:pPr>
                        <a:lnSpc>
                          <a:spcPct val="115000"/>
                        </a:lnSpc>
                      </a:pPr>
                      <a:r>
                        <a:rPr sz="950" b="1">
                          <a:solidFill>
                            <a:srgbClr val="6B7178"/>
                          </a:solidFill>
                          <a:latin typeface="Arial"/>
                        </a:rPr>
                        <a:t>Rubric</a:t>
                      </a:r>
                    </a:p>
                  </a:txBody>
                  <a:tcPr marL="73152" marR="73152" marT="36576" marB="36576">
                    <a:solidFill>
                      <a:srgbClr val="F4F6F8"/>
                    </a:solidFill>
                  </a:tcPr>
                </a:tc>
                <a:tc>
                  <a:txBody>
                    <a:bodyPr/>
                    <a:lstStyle/>
                    <a:p>
                      <a:pPr>
                        <a:lnSpc>
                          <a:spcPct val="115000"/>
                        </a:lnSpc>
                      </a:pPr>
                      <a:r>
                        <a:rPr sz="950" b="1">
                          <a:solidFill>
                            <a:srgbClr val="6B7178"/>
                          </a:solidFill>
                          <a:latin typeface="Arial"/>
                        </a:rPr>
                        <a:t>Where it is answered</a:t>
                      </a:r>
                    </a:p>
                  </a:txBody>
                  <a:tcPr marL="73152" marR="73152" marT="36576" marB="36576">
                    <a:solidFill>
                      <a:srgbClr val="F4F6F8"/>
                    </a:solidFill>
                  </a:tcPr>
                </a:tc>
                <a:tc>
                  <a:txBody>
                    <a:bodyPr/>
                    <a:lstStyle/>
                    <a:p>
                      <a:pPr>
                        <a:lnSpc>
                          <a:spcPct val="115000"/>
                        </a:lnSpc>
                      </a:pPr>
                      <a:r>
                        <a:rPr sz="950" b="1">
                          <a:solidFill>
                            <a:srgbClr val="6B7178"/>
                          </a:solidFill>
                          <a:latin typeface="Arial"/>
                        </a:rPr>
                        <a:t>Evidence</a:t>
                      </a:r>
                    </a:p>
                  </a:txBody>
                  <a:tcPr marL="73152" marR="73152" marT="36576" marB="36576">
                    <a:solidFill>
                      <a:srgbClr val="F4F6F8"/>
                    </a:solidFill>
                  </a:tcPr>
                </a:tc>
              </a:tr>
              <a:tr h="384048">
                <a:tc>
                  <a:txBody>
                    <a:bodyPr/>
                    <a:lstStyle/>
                    <a:p>
                      <a:pPr>
                        <a:lnSpc>
                          <a:spcPct val="115000"/>
                        </a:lnSpc>
                      </a:pPr>
                      <a:r>
                        <a:rPr sz="1250" b="0">
                          <a:solidFill>
                            <a:srgbClr val="16181A"/>
                          </a:solidFill>
                          <a:latin typeface="Arial"/>
                        </a:rPr>
                        <a:t>Knowledge on domain / problem statement</a:t>
                      </a:r>
                    </a:p>
                  </a:txBody>
                  <a:tcPr marL="73152" marR="73152" marT="36576" marB="36576">
                    <a:solidFill>
                      <a:srgbClr val="FCFCFB"/>
                    </a:solidFill>
                  </a:tcPr>
                </a:tc>
                <a:tc>
                  <a:txBody>
                    <a:bodyPr/>
                    <a:lstStyle/>
                    <a:p>
                      <a:pPr>
                        <a:lnSpc>
                          <a:spcPct val="115000"/>
                        </a:lnSpc>
                      </a:pPr>
                      <a:r>
                        <a:rPr sz="1250" b="0">
                          <a:solidFill>
                            <a:srgbClr val="16181A"/>
                          </a:solidFill>
                          <a:latin typeface="Arial"/>
                        </a:rPr>
                        <a:t>Sections 1–3 of this deck</a:t>
                      </a:r>
                    </a:p>
                  </a:txBody>
                  <a:tcPr marL="73152" marR="73152" marT="36576" marB="36576">
                    <a:solidFill>
                      <a:srgbClr val="FCFCFB"/>
                    </a:solidFill>
                  </a:tcPr>
                </a:tc>
                <a:tc>
                  <a:txBody>
                    <a:bodyPr/>
                    <a:lstStyle/>
                    <a:p>
                      <a:pPr>
                        <a:lnSpc>
                          <a:spcPct val="115000"/>
                        </a:lnSpc>
                      </a:pPr>
                      <a:r>
                        <a:rPr sz="1250" b="0">
                          <a:solidFill>
                            <a:srgbClr val="16181A"/>
                          </a:solidFill>
                          <a:latin typeface="Arial"/>
                        </a:rPr>
                        <a:t>Gap analysis over 22 works</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Literature review (min. 15 recent papers)</a:t>
                      </a:r>
                    </a:p>
                  </a:txBody>
                  <a:tcPr marL="73152" marR="73152" marT="36576" marB="36576">
                    <a:solidFill>
                      <a:srgbClr val="FCFCFB"/>
                    </a:solidFill>
                  </a:tcPr>
                </a:tc>
                <a:tc>
                  <a:txBody>
                    <a:bodyPr/>
                    <a:lstStyle/>
                    <a:p>
                      <a:pPr>
                        <a:lnSpc>
                          <a:spcPct val="115000"/>
                        </a:lnSpc>
                      </a:pPr>
                      <a:r>
                        <a:rPr sz="1250" b="0">
                          <a:solidFill>
                            <a:srgbClr val="16181A"/>
                          </a:solidFill>
                          <a:latin typeface="Arial"/>
                        </a:rPr>
                        <a:t>Sections 4–7</a:t>
                      </a:r>
                    </a:p>
                  </a:txBody>
                  <a:tcPr marL="73152" marR="73152" marT="36576" marB="36576">
                    <a:solidFill>
                      <a:srgbClr val="FCFCFB"/>
                    </a:solidFill>
                  </a:tcPr>
                </a:tc>
                <a:tc>
                  <a:txBody>
                    <a:bodyPr/>
                    <a:lstStyle/>
                    <a:p>
                      <a:pPr>
                        <a:lnSpc>
                          <a:spcPct val="115000"/>
                        </a:lnSpc>
                      </a:pPr>
                      <a:r>
                        <a:rPr sz="1250" b="0">
                          <a:solidFill>
                            <a:srgbClr val="16181A"/>
                          </a:solidFill>
                          <a:latin typeface="Arial"/>
                        </a:rPr>
                        <a:t>22 works, 20 from 2023 or later</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Design of proposed methodology</a:t>
                      </a:r>
                    </a:p>
                  </a:txBody>
                  <a:tcPr marL="73152" marR="73152" marT="36576" marB="36576">
                    <a:solidFill>
                      <a:srgbClr val="FCFCFB"/>
                    </a:solidFill>
                  </a:tcPr>
                </a:tc>
                <a:tc>
                  <a:txBody>
                    <a:bodyPr/>
                    <a:lstStyle/>
                    <a:p>
                      <a:pPr>
                        <a:lnSpc>
                          <a:spcPct val="115000"/>
                        </a:lnSpc>
                      </a:pPr>
                      <a:r>
                        <a:rPr sz="1250" b="0">
                          <a:solidFill>
                            <a:srgbClr val="16181A"/>
                          </a:solidFill>
                          <a:latin typeface="Arial"/>
                        </a:rPr>
                        <a:t>Sections 8–11</a:t>
                      </a:r>
                    </a:p>
                  </a:txBody>
                  <a:tcPr marL="73152" marR="73152" marT="36576" marB="36576">
                    <a:solidFill>
                      <a:srgbClr val="FCFCFB"/>
                    </a:solidFill>
                  </a:tcPr>
                </a:tc>
                <a:tc>
                  <a:txBody>
                    <a:bodyPr/>
                    <a:lstStyle/>
                    <a:p>
                      <a:pPr>
                        <a:lnSpc>
                          <a:spcPct val="115000"/>
                        </a:lnSpc>
                      </a:pPr>
                      <a:r>
                        <a:rPr sz="1250" b="0">
                          <a:solidFill>
                            <a:srgbClr val="16181A"/>
                          </a:solidFill>
                          <a:latin typeface="Arial"/>
                        </a:rPr>
                        <a:t>Formal model + evaluation protocol</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Module description / system design</a:t>
                      </a:r>
                    </a:p>
                  </a:txBody>
                  <a:tcPr marL="73152" marR="73152" marT="36576" marB="36576">
                    <a:solidFill>
                      <a:srgbClr val="FCFCFB"/>
                    </a:solidFill>
                  </a:tcPr>
                </a:tc>
                <a:tc>
                  <a:txBody>
                    <a:bodyPr/>
                    <a:lstStyle/>
                    <a:p>
                      <a:pPr>
                        <a:lnSpc>
                          <a:spcPct val="115000"/>
                        </a:lnSpc>
                      </a:pPr>
                      <a:r>
                        <a:rPr sz="1250" b="0">
                          <a:solidFill>
                            <a:srgbClr val="16181A"/>
                          </a:solidFill>
                          <a:latin typeface="Arial"/>
                        </a:rPr>
                        <a:t>Sections 12–13</a:t>
                      </a:r>
                    </a:p>
                  </a:txBody>
                  <a:tcPr marL="73152" marR="73152" marT="36576" marB="36576">
                    <a:solidFill>
                      <a:srgbClr val="FCFCFB"/>
                    </a:solidFill>
                  </a:tcPr>
                </a:tc>
                <a:tc>
                  <a:txBody>
                    <a:bodyPr/>
                    <a:lstStyle/>
                    <a:p>
                      <a:pPr>
                        <a:lnSpc>
                          <a:spcPct val="115000"/>
                        </a:lnSpc>
                      </a:pPr>
                      <a:r>
                        <a:rPr sz="1250" b="0">
                          <a:solidFill>
                            <a:srgbClr val="16181A"/>
                          </a:solidFill>
                          <a:latin typeface="Arial"/>
                        </a:rPr>
                        <a:t>8 modules, implemented and tested</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Beyond the rubric</a:t>
                      </a:r>
                    </a:p>
                  </a:txBody>
                  <a:tcPr marL="73152" marR="73152" marT="36576" marB="36576">
                    <a:solidFill>
                      <a:srgbClr val="FCFCFB"/>
                    </a:solidFill>
                  </a:tcPr>
                </a:tc>
                <a:tc>
                  <a:txBody>
                    <a:bodyPr/>
                    <a:lstStyle/>
                    <a:p>
                      <a:pPr>
                        <a:lnSpc>
                          <a:spcPct val="115000"/>
                        </a:lnSpc>
                      </a:pPr>
                      <a:r>
                        <a:rPr sz="1250" b="0">
                          <a:solidFill>
                            <a:srgbClr val="16181A"/>
                          </a:solidFill>
                          <a:latin typeface="Arial"/>
                        </a:rPr>
                        <a:t>Sections 14–25</a:t>
                      </a:r>
                    </a:p>
                  </a:txBody>
                  <a:tcPr marL="73152" marR="73152" marT="36576" marB="36576">
                    <a:solidFill>
                      <a:srgbClr val="FCFCFB"/>
                    </a:solidFill>
                  </a:tcPr>
                </a:tc>
                <a:tc>
                  <a:txBody>
                    <a:bodyPr/>
                    <a:lstStyle/>
                    <a:p>
                      <a:pPr>
                        <a:lnSpc>
                          <a:spcPct val="115000"/>
                        </a:lnSpc>
                      </a:pPr>
                      <a:r>
                        <a:rPr sz="1250" b="0">
                          <a:solidFill>
                            <a:srgbClr val="16181A"/>
                          </a:solidFill>
                          <a:latin typeface="Arial"/>
                        </a:rPr>
                        <a:t>Ten experiments, 9 invariants, two live demos</a:t>
                      </a:r>
                    </a:p>
                  </a:txBody>
                  <a:tcPr marL="73152" marR="73152" marT="36576" marB="36576">
                    <a:solidFill>
                      <a:srgbClr val="FCFCFB"/>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1 · DOMAIN</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Game AI has optimised for competence, not adaptation</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83080"/>
            <a:ext cx="10881360" cy="4480560"/>
          </a:xfrm>
          <a:prstGeom prst="rect">
            <a:avLst/>
          </a:prstGeom>
          <a:noFill/>
        </p:spPr>
        <p:txBody>
          <a:bodyPr wrap="square" lIns="0" rIns="0" tIns="0" bIns="0">
            <a:spAutoFit/>
          </a:bodyPr>
          <a:lstStyle/>
          <a:p>
            <a:pPr>
              <a:lnSpc>
                <a:spcPct val="130000"/>
              </a:lnSpc>
              <a:spcAft>
                <a:spcPts val="1300"/>
              </a:spcAft>
            </a:pPr>
            <a:r>
              <a:rPr sz="1500" b="1">
                <a:solidFill>
                  <a:srgbClr val="16181A"/>
                </a:solidFill>
                <a:latin typeface="Arial"/>
              </a:rPr>
              <a:t>Player modelling —  </a:t>
            </a:r>
            <a:r>
              <a:rPr sz="1500">
                <a:solidFill>
                  <a:srgbClr val="6B7178"/>
                </a:solidFill>
                <a:latin typeface="Arial"/>
              </a:rPr>
              <a:t>inferring player intent and state from behavioural telemetry.</a:t>
            </a:r>
          </a:p>
          <a:p>
            <a:pPr>
              <a:lnSpc>
                <a:spcPct val="130000"/>
              </a:lnSpc>
              <a:spcAft>
                <a:spcPts val="1300"/>
              </a:spcAft>
            </a:pPr>
            <a:r>
              <a:rPr sz="1500" b="1">
                <a:solidFill>
                  <a:srgbClr val="16181A"/>
                </a:solidFill>
                <a:latin typeface="Arial"/>
              </a:rPr>
              <a:t>Adaptive AI and DDA —  </a:t>
            </a:r>
            <a:r>
              <a:rPr sz="1500">
                <a:solidFill>
                  <a:srgbClr val="6B7178"/>
                </a:solidFill>
                <a:latin typeface="Arial"/>
              </a:rPr>
              <a:t>acting on that inference to reshape the experience.</a:t>
            </a:r>
          </a:p>
          <a:p>
            <a:pPr>
              <a:lnSpc>
                <a:spcPct val="130000"/>
              </a:lnSpc>
              <a:spcAft>
                <a:spcPts val="1300"/>
              </a:spcAft>
            </a:pPr>
            <a:r>
              <a:rPr sz="1500" b="1">
                <a:solidFill>
                  <a:srgbClr val="16181A"/>
                </a:solidFill>
                <a:latin typeface="Arial"/>
              </a:rPr>
              <a:t>Procedural generation —  </a:t>
            </a:r>
            <a:r>
              <a:rPr sz="1500">
                <a:solidFill>
                  <a:srgbClr val="6B7178"/>
                </a:solidFill>
                <a:latin typeface="Arial"/>
              </a:rPr>
              <a:t>changing the world itself, not only the agents in it.</a:t>
            </a:r>
          </a:p>
          <a:p>
            <a:pPr>
              <a:lnSpc>
                <a:spcPct val="130000"/>
              </a:lnSpc>
              <a:spcAft>
                <a:spcPts val="1300"/>
              </a:spcAft>
            </a:pPr>
            <a:r>
              <a:rPr sz="1500">
                <a:solidFill>
                  <a:srgbClr val="16181A"/>
                </a:solidFill>
                <a:latin typeface="Arial"/>
              </a:rPr>
              <a:t/>
            </a:r>
          </a:p>
          <a:p>
            <a:pPr>
              <a:lnSpc>
                <a:spcPct val="130000"/>
              </a:lnSpc>
              <a:spcAft>
                <a:spcPts val="1300"/>
              </a:spcAft>
            </a:pPr>
            <a:r>
              <a:rPr sz="1500" b="1">
                <a:solidFill>
                  <a:srgbClr val="16181A"/>
                </a:solidFill>
                <a:latin typeface="Arial"/>
              </a:rPr>
              <a:t>Horror is where this matters most, and is least explored.  </a:t>
            </a:r>
            <a:r>
              <a:rPr sz="1500">
                <a:solidFill>
                  <a:srgbClr val="6B7178"/>
                </a:solidFill>
                <a:latin typeface="Arial"/>
              </a:rPr>
              <a:t/>
            </a:r>
          </a:p>
          <a:p>
            <a:pPr>
              <a:lnSpc>
                <a:spcPct val="130000"/>
              </a:lnSpc>
              <a:spcAft>
                <a:spcPts val="1300"/>
              </a:spcAft>
            </a:pPr>
            <a:r>
              <a:rPr sz="1500">
                <a:solidFill>
                  <a:srgbClr val="16181A"/>
                </a:solidFill>
                <a:latin typeface="Arial"/>
              </a:rPr>
              <a:t>Horror depends on uncertainty. Every horror game degrades as the player learns it: routes get memorised, spawns get learned, the monster becomes a timing puzzle.</a:t>
            </a:r>
          </a:p>
          <a:p>
            <a:pPr>
              <a:lnSpc>
                <a:spcPct val="130000"/>
              </a:lnSpc>
              <a:spcAft>
                <a:spcPts val="1300"/>
              </a:spcAft>
            </a:pPr>
            <a:r>
              <a:rPr sz="1500">
                <a:solidFill>
                  <a:srgbClr val="16181A"/>
                </a:solidFill>
                <a:latin typeface="Arial"/>
              </a:rPr>
              <a:t>The genre's central failure mode is that mastery destroys the product.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2 · PROBLEM STATEMENT</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Static AI is learnable. Random AI is unfair.</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828800"/>
            <a:ext cx="45720" cy="21488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47088"/>
            <a:ext cx="10424160" cy="2148840"/>
          </a:xfrm>
          <a:prstGeom prst="rect">
            <a:avLst/>
          </a:prstGeom>
          <a:noFill/>
        </p:spPr>
        <p:txBody>
          <a:bodyPr wrap="square" lIns="0" rIns="0" tIns="0" bIns="0">
            <a:spAutoFit/>
          </a:bodyPr>
          <a:lstStyle/>
          <a:p>
            <a:pPr algn="l">
              <a:lnSpc>
                <a:spcPct val="135000"/>
              </a:lnSpc>
              <a:spcAft>
                <a:spcPts val="1000"/>
              </a:spcAft>
            </a:pPr>
            <a:r>
              <a:rPr sz="1400" b="0">
                <a:solidFill>
                  <a:srgbClr val="16181A"/>
                </a:solidFill>
                <a:latin typeface="Arial"/>
              </a:rPr>
              <a:t>Existing horror antagonists are static or randomised. Static AI is learnable and stops being frightening. Randomised AI is unlearnable and therefore reads as unfair rather than intelligent. Neither adapts to the specific player.</a:t>
            </a:r>
          </a:p>
          <a:p>
            <a:pPr algn="l">
              <a:lnSpc>
                <a:spcPct val="135000"/>
              </a:lnSpc>
              <a:spcAft>
                <a:spcPts val="1000"/>
              </a:spcAft>
            </a:pPr>
            <a:r>
              <a:rPr sz="1400" b="0">
                <a:solidFill>
                  <a:srgbClr val="16181A"/>
                </a:solidFill>
                <a:latin typeface="Arial"/>
              </a:rPr>
              <a:t>PARITY proposes a third option: an antagonist that builds an online behavioural model of the individual player and acts on its predictions — intercepting where the player is going rather than chasing where they are, and degrading the information the player has come to depend on.</a:t>
            </a:r>
          </a:p>
        </p:txBody>
      </p:sp>
      <p:graphicFrame>
        <p:nvGraphicFramePr>
          <p:cNvPr id="7" name="Table 6"/>
          <p:cNvGraphicFramePr>
            <a:graphicFrameLocks noGrp="1"/>
          </p:cNvGraphicFramePr>
          <p:nvPr/>
        </p:nvGraphicFramePr>
        <p:xfrm>
          <a:off x="658368" y="4315968"/>
          <a:ext cx="10881360" cy="1920240"/>
        </p:xfrm>
        <a:graphic>
          <a:graphicData uri="http://schemas.openxmlformats.org/drawingml/2006/table">
            <a:tbl>
              <a:tblPr firstRow="1" bandRow="1">
                <a:tableStyleId>{5C22544A-7EE6-4342-B048-85BDC9FD1C3A}</a:tableStyleId>
              </a:tblPr>
              <a:tblGrid>
                <a:gridCol w="2377440"/>
                <a:gridCol w="8503920"/>
              </a:tblGrid>
              <a:tr h="384048">
                <a:tc>
                  <a:txBody>
                    <a:bodyPr/>
                    <a:lstStyle/>
                    <a:p>
                      <a:pPr>
                        <a:lnSpc>
                          <a:spcPct val="115000"/>
                        </a:lnSpc>
                      </a:pPr>
                      <a:r>
                        <a:rPr sz="950" b="1">
                          <a:solidFill>
                            <a:srgbClr val="6B7178"/>
                          </a:solidFill>
                          <a:latin typeface="Arial"/>
                        </a:rPr>
                        <a:t>Challenge</a:t>
                      </a:r>
                    </a:p>
                  </a:txBody>
                  <a:tcPr marL="73152" marR="73152" marT="36576" marB="36576">
                    <a:solidFill>
                      <a:srgbClr val="F4F6F8"/>
                    </a:solidFill>
                  </a:tcPr>
                </a:tc>
                <a:tc>
                  <a:txBody>
                    <a:bodyPr/>
                    <a:lstStyle/>
                    <a:p>
                      <a:pPr>
                        <a:lnSpc>
                          <a:spcPct val="115000"/>
                        </a:lnSpc>
                      </a:pPr>
                      <a:r>
                        <a:rPr sz="950" b="1">
                          <a:solidFill>
                            <a:srgbClr val="6B7178"/>
                          </a:solidFill>
                          <a:latin typeface="Arial"/>
                        </a:rPr>
                        <a:t>Why it is hard here</a:t>
                      </a:r>
                    </a:p>
                  </a:txBody>
                  <a:tcPr marL="73152" marR="73152" marT="36576" marB="36576">
                    <a:solidFill>
                      <a:srgbClr val="F4F6F8"/>
                    </a:solidFill>
                  </a:tcPr>
                </a:tc>
              </a:tr>
              <a:tr h="384048">
                <a:tc>
                  <a:txBody>
                    <a:bodyPr/>
                    <a:lstStyle/>
                    <a:p>
                      <a:pPr>
                        <a:lnSpc>
                          <a:spcPct val="115000"/>
                        </a:lnSpc>
                      </a:pPr>
                      <a:r>
                        <a:rPr sz="1250" b="0">
                          <a:solidFill>
                            <a:srgbClr val="16181A"/>
                          </a:solidFill>
                          <a:latin typeface="Arial"/>
                        </a:rPr>
                        <a:t>Cold start</a:t>
                      </a:r>
                    </a:p>
                  </a:txBody>
                  <a:tcPr marL="73152" marR="73152" marT="36576" marB="36576">
                    <a:solidFill>
                      <a:srgbClr val="FCFCFB"/>
                    </a:solidFill>
                  </a:tcPr>
                </a:tc>
                <a:tc>
                  <a:txBody>
                    <a:bodyPr/>
                    <a:lstStyle/>
                    <a:p>
                      <a:pPr>
                        <a:lnSpc>
                          <a:spcPct val="115000"/>
                        </a:lnSpc>
                      </a:pPr>
                      <a:r>
                        <a:rPr sz="1250" b="0">
                          <a:solidFill>
                            <a:srgbClr val="16181A"/>
                          </a:solidFill>
                          <a:latin typeface="Arial"/>
                        </a:rPr>
                        <a:t>Must be interesting in the first two minutes, with no prior data on this player</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Legibility</a:t>
                      </a:r>
                    </a:p>
                  </a:txBody>
                  <a:tcPr marL="73152" marR="73152" marT="36576" marB="36576">
                    <a:solidFill>
                      <a:srgbClr val="FCFCFB"/>
                    </a:solidFill>
                  </a:tcPr>
                </a:tc>
                <a:tc>
                  <a:txBody>
                    <a:bodyPr/>
                    <a:lstStyle/>
                    <a:p>
                      <a:pPr>
                        <a:lnSpc>
                          <a:spcPct val="115000"/>
                        </a:lnSpc>
                      </a:pPr>
                      <a:r>
                        <a:rPr sz="1250" b="0">
                          <a:solidFill>
                            <a:srgbClr val="16181A"/>
                          </a:solidFill>
                          <a:latin typeface="Arial"/>
                        </a:rPr>
                        <a:t>A model the player cannot perceive is, to the player, no model at all</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Fairness</a:t>
                      </a:r>
                    </a:p>
                  </a:txBody>
                  <a:tcPr marL="73152" marR="73152" marT="36576" marB="36576">
                    <a:solidFill>
                      <a:srgbClr val="FCFCFB"/>
                    </a:solidFill>
                  </a:tcPr>
                </a:tc>
                <a:tc>
                  <a:txBody>
                    <a:bodyPr/>
                    <a:lstStyle/>
                    <a:p>
                      <a:pPr>
                        <a:lnSpc>
                          <a:spcPct val="115000"/>
                        </a:lnSpc>
                      </a:pPr>
                      <a:r>
                        <a:rPr sz="1250" b="0">
                          <a:solidFill>
                            <a:srgbClr val="16181A"/>
                          </a:solidFill>
                          <a:latin typeface="Arial"/>
                        </a:rPr>
                        <a:t>An antagonist that is merely stronger is not scarier — it is unfair</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Evaluation</a:t>
                      </a:r>
                    </a:p>
                  </a:txBody>
                  <a:tcPr marL="73152" marR="73152" marT="36576" marB="36576">
                    <a:solidFill>
                      <a:srgbClr val="FCFCFB"/>
                    </a:solidFill>
                  </a:tcPr>
                </a:tc>
                <a:tc>
                  <a:txBody>
                    <a:bodyPr/>
                    <a:lstStyle/>
                    <a:p>
                      <a:pPr>
                        <a:lnSpc>
                          <a:spcPct val="115000"/>
                        </a:lnSpc>
                      </a:pPr>
                      <a:r>
                        <a:rPr sz="1250" b="0">
                          <a:solidFill>
                            <a:srgbClr val="16181A"/>
                          </a:solidFill>
                          <a:latin typeface="Arial"/>
                        </a:rPr>
                        <a:t>'Is it scary?' does not scale to the playtesting a solo project can do</a:t>
                      </a:r>
                    </a:p>
                  </a:txBody>
                  <a:tcPr marL="73152" marR="73152" marT="36576" marB="36576">
                    <a:solidFill>
                      <a:srgbClr val="FCFCFB"/>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3 · AIM AND OBJECTIVES</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Demonstrate that the model both learns and matters</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83080"/>
            <a:ext cx="10881360" cy="548640"/>
          </a:xfrm>
          <a:prstGeom prst="rect">
            <a:avLst/>
          </a:prstGeom>
          <a:noFill/>
        </p:spPr>
        <p:txBody>
          <a:bodyPr wrap="square" lIns="0" rIns="0" tIns="0" bIns="0">
            <a:spAutoFit/>
          </a:bodyPr>
          <a:lstStyle/>
          <a:p>
            <a:pPr algn="l">
              <a:lnSpc>
                <a:spcPct val="135000"/>
              </a:lnSpc>
              <a:spcAft>
                <a:spcPts val="600"/>
              </a:spcAft>
            </a:pPr>
            <a:r>
              <a:rPr sz="1500" b="0">
                <a:solidFill>
                  <a:srgbClr val="6B7178"/>
                </a:solidFill>
                <a:latin typeface="Arial"/>
              </a:rPr>
              <a:t>Aim — build a first-person horror game whose antagonist is driven by a live, per-player predictive model, and demonstrate quantitatively that the model both learns and changes the game.</a:t>
            </a:r>
          </a:p>
        </p:txBody>
      </p:sp>
      <p:graphicFrame>
        <p:nvGraphicFramePr>
          <p:cNvPr id="6" name="Table 5"/>
          <p:cNvGraphicFramePr>
            <a:graphicFrameLocks noGrp="1"/>
          </p:cNvGraphicFramePr>
          <p:nvPr/>
        </p:nvGraphicFramePr>
        <p:xfrm>
          <a:off x="658368" y="2697480"/>
          <a:ext cx="10881360" cy="3456432"/>
        </p:xfrm>
        <a:graphic>
          <a:graphicData uri="http://schemas.openxmlformats.org/drawingml/2006/table">
            <a:tbl>
              <a:tblPr firstRow="1" bandRow="1">
                <a:tableStyleId>{5C22544A-7EE6-4342-B048-85BDC9FD1C3A}</a:tableStyleId>
              </a:tblPr>
              <a:tblGrid>
                <a:gridCol w="594360"/>
                <a:gridCol w="8275320"/>
                <a:gridCol w="2011680"/>
              </a:tblGrid>
              <a:tr h="384048">
                <a:tc>
                  <a:txBody>
                    <a:bodyPr/>
                    <a:lstStyle/>
                    <a:p>
                      <a:pPr>
                        <a:lnSpc>
                          <a:spcPct val="115000"/>
                        </a:lnSpc>
                      </a:pPr>
                      <a:r>
                        <a:rPr sz="950" b="1">
                          <a:solidFill>
                            <a:srgbClr val="6B7178"/>
                          </a:solidFill>
                          <a:latin typeface="Arial"/>
                        </a:rPr>
                        <a:t>#</a:t>
                      </a:r>
                    </a:p>
                  </a:txBody>
                  <a:tcPr marL="73152" marR="73152" marT="36576" marB="36576">
                    <a:solidFill>
                      <a:srgbClr val="F4F6F8"/>
                    </a:solidFill>
                  </a:tcPr>
                </a:tc>
                <a:tc>
                  <a:txBody>
                    <a:bodyPr/>
                    <a:lstStyle/>
                    <a:p>
                      <a:pPr>
                        <a:lnSpc>
                          <a:spcPct val="115000"/>
                        </a:lnSpc>
                      </a:pPr>
                      <a:r>
                        <a:rPr sz="950" b="1">
                          <a:solidFill>
                            <a:srgbClr val="6B7178"/>
                          </a:solidFill>
                          <a:latin typeface="Arial"/>
                        </a:rPr>
                        <a:t>Objective</a:t>
                      </a:r>
                    </a:p>
                  </a:txBody>
                  <a:tcPr marL="73152" marR="73152" marT="36576" marB="36576">
                    <a:solidFill>
                      <a:srgbClr val="F4F6F8"/>
                    </a:solidFill>
                  </a:tcPr>
                </a:tc>
                <a:tc>
                  <a:txBody>
                    <a:bodyPr/>
                    <a:lstStyle/>
                    <a:p>
                      <a:pPr>
                        <a:lnSpc>
                          <a:spcPct val="115000"/>
                        </a:lnSpc>
                      </a:pPr>
                      <a:r>
                        <a:rPr sz="950" b="1">
                          <a:solidFill>
                            <a:srgbClr val="6B7178"/>
                          </a:solidFill>
                          <a:latin typeface="Arial"/>
                        </a:rPr>
                        <a:t>Status</a:t>
                      </a:r>
                    </a:p>
                  </a:txBody>
                  <a:tcPr marL="73152" marR="73152" marT="36576" marB="36576">
                    <a:solidFill>
                      <a:srgbClr val="F4F6F8"/>
                    </a:solidFill>
                  </a:tcPr>
                </a:tc>
              </a:tr>
              <a:tr h="384048">
                <a:tc>
                  <a:txBody>
                    <a:bodyPr/>
                    <a:lstStyle/>
                    <a:p>
                      <a:pPr>
                        <a:lnSpc>
                          <a:spcPct val="115000"/>
                        </a:lnSpc>
                      </a:pPr>
                      <a:r>
                        <a:rPr sz="1250" b="0">
                          <a:solidFill>
                            <a:srgbClr val="16181A"/>
                          </a:solidFill>
                          <a:latin typeface="Arial"/>
                        </a:rPr>
                        <a:t>O1</a:t>
                      </a:r>
                    </a:p>
                  </a:txBody>
                  <a:tcPr marL="73152" marR="73152" marT="36576" marB="36576">
                    <a:solidFill>
                      <a:srgbClr val="FCFCFB"/>
                    </a:solidFill>
                  </a:tcPr>
                </a:tc>
                <a:tc>
                  <a:txBody>
                    <a:bodyPr/>
                    <a:lstStyle/>
                    <a:p>
                      <a:pPr>
                        <a:lnSpc>
                          <a:spcPct val="115000"/>
                        </a:lnSpc>
                      </a:pPr>
                      <a:r>
                        <a:rPr sz="1250" b="0">
                          <a:solidFill>
                            <a:srgbClr val="16181A"/>
                          </a:solidFill>
                          <a:latin typeface="Arial"/>
                        </a:rPr>
                        <a:t>Formalise the facility as a mutable room graph with runtime topology edits</a:t>
                      </a:r>
                    </a:p>
                  </a:txBody>
                  <a:tcPr marL="73152" marR="73152" marT="36576" marB="36576">
                    <a:solidFill>
                      <a:srgbClr val="FCFCFB"/>
                    </a:solidFill>
                  </a:tcPr>
                </a:tc>
                <a:tc>
                  <a:txBody>
                    <a:bodyPr/>
                    <a:lstStyle/>
                    <a:p>
                      <a:pPr>
                        <a:lnSpc>
                          <a:spcPct val="115000"/>
                        </a:lnSpc>
                      </a:pPr>
                      <a:r>
                        <a:rPr sz="1250" b="0">
                          <a:solidFill>
                            <a:srgbClr val="16181A"/>
                          </a:solidFill>
                          <a:latin typeface="Arial"/>
                        </a:rPr>
                        <a:t>Done</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O2</a:t>
                      </a:r>
                    </a:p>
                  </a:txBody>
                  <a:tcPr marL="73152" marR="73152" marT="36576" marB="36576">
                    <a:solidFill>
                      <a:srgbClr val="FCFCFB"/>
                    </a:solidFill>
                  </a:tcPr>
                </a:tc>
                <a:tc>
                  <a:txBody>
                    <a:bodyPr/>
                    <a:lstStyle/>
                    <a:p>
                      <a:pPr>
                        <a:lnSpc>
                          <a:spcPct val="115000"/>
                        </a:lnSpc>
                      </a:pPr>
                      <a:r>
                        <a:rPr sz="1250" b="0">
                          <a:solidFill>
                            <a:srgbClr val="16181A"/>
                          </a:solidFill>
                          <a:latin typeface="Arial"/>
                        </a:rPr>
                        <a:t>Online next-room predictor that learns from the first move</a:t>
                      </a:r>
                    </a:p>
                  </a:txBody>
                  <a:tcPr marL="73152" marR="73152" marT="36576" marB="36576">
                    <a:solidFill>
                      <a:srgbClr val="FCFCFB"/>
                    </a:solidFill>
                  </a:tcPr>
                </a:tc>
                <a:tc>
                  <a:txBody>
                    <a:bodyPr/>
                    <a:lstStyle/>
                    <a:p>
                      <a:pPr>
                        <a:lnSpc>
                          <a:spcPct val="115000"/>
                        </a:lnSpc>
                      </a:pPr>
                      <a:r>
                        <a:rPr sz="1250" b="0">
                          <a:solidFill>
                            <a:srgbClr val="16181A"/>
                          </a:solidFill>
                          <a:latin typeface="Arial"/>
                        </a:rPr>
                        <a:t>Done</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O3</a:t>
                      </a:r>
                    </a:p>
                  </a:txBody>
                  <a:tcPr marL="73152" marR="73152" marT="36576" marB="36576">
                    <a:solidFill>
                      <a:srgbClr val="FCFCFB"/>
                    </a:solidFill>
                  </a:tcPr>
                </a:tc>
                <a:tc>
                  <a:txBody>
                    <a:bodyPr/>
                    <a:lstStyle/>
                    <a:p>
                      <a:pPr>
                        <a:lnSpc>
                          <a:spcPct val="115000"/>
                        </a:lnSpc>
                      </a:pPr>
                      <a:r>
                        <a:rPr sz="1250" b="0">
                          <a:solidFill>
                            <a:srgbClr val="16181A"/>
                          </a:solidFill>
                          <a:latin typeface="Arial"/>
                        </a:rPr>
                        <a:t>Beat a no-model control and an order-1 Markov baseline</a:t>
                      </a:r>
                    </a:p>
                  </a:txBody>
                  <a:tcPr marL="73152" marR="73152" marT="36576" marB="36576">
                    <a:solidFill>
                      <a:srgbClr val="FCFCFB"/>
                    </a:solidFill>
                  </a:tcPr>
                </a:tc>
                <a:tc>
                  <a:txBody>
                    <a:bodyPr/>
                    <a:lstStyle/>
                    <a:p>
                      <a:pPr>
                        <a:lnSpc>
                          <a:spcPct val="115000"/>
                        </a:lnSpc>
                      </a:pPr>
                      <a:r>
                        <a:rPr sz="1250" b="0">
                          <a:solidFill>
                            <a:srgbClr val="16181A"/>
                          </a:solidFill>
                          <a:latin typeface="Arial"/>
                        </a:rPr>
                        <a:t>Done</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O4</a:t>
                      </a:r>
                    </a:p>
                  </a:txBody>
                  <a:tcPr marL="73152" marR="73152" marT="36576" marB="36576">
                    <a:solidFill>
                      <a:srgbClr val="FCFCFB"/>
                    </a:solidFill>
                  </a:tcPr>
                </a:tc>
                <a:tc>
                  <a:txBody>
                    <a:bodyPr/>
                    <a:lstStyle/>
                    <a:p>
                      <a:pPr>
                        <a:lnSpc>
                          <a:spcPct val="115000"/>
                        </a:lnSpc>
                      </a:pPr>
                      <a:r>
                        <a:rPr sz="1250" b="0">
                          <a:solidFill>
                            <a:srgbClr val="16181A"/>
                          </a:solidFill>
                          <a:latin typeface="Arial"/>
                        </a:rPr>
                        <a:t>Learn nothing from a random player (no leakage)</a:t>
                      </a:r>
                    </a:p>
                  </a:txBody>
                  <a:tcPr marL="73152" marR="73152" marT="36576" marB="36576">
                    <a:solidFill>
                      <a:srgbClr val="FCFCFB"/>
                    </a:solidFill>
                  </a:tcPr>
                </a:tc>
                <a:tc>
                  <a:txBody>
                    <a:bodyPr/>
                    <a:lstStyle/>
                    <a:p>
                      <a:pPr>
                        <a:lnSpc>
                          <a:spcPct val="115000"/>
                        </a:lnSpc>
                      </a:pPr>
                      <a:r>
                        <a:rPr sz="1250" b="0">
                          <a:solidFill>
                            <a:srgbClr val="16181A"/>
                          </a:solidFill>
                          <a:latin typeface="Arial"/>
                        </a:rPr>
                        <a:t>Done</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O5</a:t>
                      </a:r>
                    </a:p>
                  </a:txBody>
                  <a:tcPr marL="73152" marR="73152" marT="36576" marB="36576">
                    <a:solidFill>
                      <a:srgbClr val="FCFCFB"/>
                    </a:solidFill>
                  </a:tcPr>
                </a:tc>
                <a:tc>
                  <a:txBody>
                    <a:bodyPr/>
                    <a:lstStyle/>
                    <a:p>
                      <a:pPr>
                        <a:lnSpc>
                          <a:spcPct val="115000"/>
                        </a:lnSpc>
                      </a:pPr>
                      <a:r>
                        <a:rPr sz="1250" b="0">
                          <a:solidFill>
                            <a:srgbClr val="16181A"/>
                          </a:solidFill>
                          <a:latin typeface="Arial"/>
                        </a:rPr>
                        <a:t>Show better prediction yields a more dangerous antagonist</a:t>
                      </a:r>
                    </a:p>
                  </a:txBody>
                  <a:tcPr marL="73152" marR="73152" marT="36576" marB="36576">
                    <a:solidFill>
                      <a:srgbClr val="FCFCFB"/>
                    </a:solidFill>
                  </a:tcPr>
                </a:tc>
                <a:tc>
                  <a:txBody>
                    <a:bodyPr/>
                    <a:lstStyle/>
                    <a:p>
                      <a:pPr>
                        <a:lnSpc>
                          <a:spcPct val="115000"/>
                        </a:lnSpc>
                      </a:pPr>
                      <a:r>
                        <a:rPr sz="1250" b="0">
                          <a:solidFill>
                            <a:srgbClr val="16181A"/>
                          </a:solidFill>
                          <a:latin typeface="Arial"/>
                        </a:rPr>
                        <a:t>Done</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O6</a:t>
                      </a:r>
                    </a:p>
                  </a:txBody>
                  <a:tcPr marL="73152" marR="73152" marT="36576" marB="36576">
                    <a:solidFill>
                      <a:srgbClr val="FCFCFB"/>
                    </a:solidFill>
                  </a:tcPr>
                </a:tc>
                <a:tc>
                  <a:txBody>
                    <a:bodyPr/>
                    <a:lstStyle/>
                    <a:p>
                      <a:pPr>
                        <a:lnSpc>
                          <a:spcPct val="115000"/>
                        </a:lnSpc>
                      </a:pPr>
                      <a:r>
                        <a:rPr sz="1250" b="0">
                          <a:solidFill>
                            <a:srgbClr val="16181A"/>
                          </a:solidFill>
                          <a:latin typeface="Arial"/>
                        </a:rPr>
                        <a:t>Implement and measure all four Director counter-moves</a:t>
                      </a:r>
                    </a:p>
                  </a:txBody>
                  <a:tcPr marL="73152" marR="73152" marT="36576" marB="36576">
                    <a:solidFill>
                      <a:srgbClr val="FCFCFB"/>
                    </a:solidFill>
                  </a:tcPr>
                </a:tc>
                <a:tc>
                  <a:txBody>
                    <a:bodyPr/>
                    <a:lstStyle/>
                    <a:p>
                      <a:pPr>
                        <a:lnSpc>
                          <a:spcPct val="115000"/>
                        </a:lnSpc>
                      </a:pPr>
                      <a:r>
                        <a:rPr sz="1250" b="0">
                          <a:solidFill>
                            <a:srgbClr val="16181A"/>
                          </a:solidFill>
                          <a:latin typeface="Arial"/>
                        </a:rPr>
                        <a:t>Done</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O7</a:t>
                      </a:r>
                    </a:p>
                  </a:txBody>
                  <a:tcPr marL="73152" marR="73152" marT="36576" marB="36576">
                    <a:solidFill>
                      <a:srgbClr val="FCFCFB"/>
                    </a:solidFill>
                  </a:tcPr>
                </a:tc>
                <a:tc>
                  <a:txBody>
                    <a:bodyPr/>
                    <a:lstStyle/>
                    <a:p>
                      <a:pPr>
                        <a:lnSpc>
                          <a:spcPct val="115000"/>
                        </a:lnSpc>
                      </a:pPr>
                      <a:r>
                        <a:rPr sz="1250" b="0">
                          <a:solidFill>
                            <a:srgbClr val="16181A"/>
                          </a:solidFill>
                          <a:latin typeface="Arial"/>
                        </a:rPr>
                        <a:t>Make the model legible to the player in-game</a:t>
                      </a:r>
                    </a:p>
                  </a:txBody>
                  <a:tcPr marL="73152" marR="73152" marT="36576" marB="36576">
                    <a:solidFill>
                      <a:srgbClr val="FCFCFB"/>
                    </a:solidFill>
                  </a:tcPr>
                </a:tc>
                <a:tc>
                  <a:txBody>
                    <a:bodyPr/>
                    <a:lstStyle/>
                    <a:p>
                      <a:pPr>
                        <a:lnSpc>
                          <a:spcPct val="115000"/>
                        </a:lnSpc>
                      </a:pPr>
                      <a:r>
                        <a:rPr sz="1250" b="0">
                          <a:solidFill>
                            <a:srgbClr val="16181A"/>
                          </a:solidFill>
                          <a:latin typeface="Arial"/>
                        </a:rPr>
                        <a:t>Demo built</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O8</a:t>
                      </a:r>
                    </a:p>
                  </a:txBody>
                  <a:tcPr marL="73152" marR="73152" marT="36576" marB="36576">
                    <a:solidFill>
                      <a:srgbClr val="FCFCFB"/>
                    </a:solidFill>
                  </a:tcPr>
                </a:tc>
                <a:tc>
                  <a:txBody>
                    <a:bodyPr/>
                    <a:lstStyle/>
                    <a:p>
                      <a:pPr>
                        <a:lnSpc>
                          <a:spcPct val="115000"/>
                        </a:lnSpc>
                      </a:pPr>
                      <a:r>
                        <a:rPr sz="1250" b="0">
                          <a:solidFill>
                            <a:srgbClr val="16181A"/>
                          </a:solidFill>
                          <a:latin typeface="Arial"/>
                        </a:rPr>
                        <a:t>Ship the first-person Godot vertical slice</a:t>
                      </a:r>
                    </a:p>
                  </a:txBody>
                  <a:tcPr marL="73152" marR="73152" marT="36576" marB="36576">
                    <a:solidFill>
                      <a:srgbClr val="FCFCFB"/>
                    </a:solidFill>
                  </a:tcPr>
                </a:tc>
                <a:tc>
                  <a:txBody>
                    <a:bodyPr/>
                    <a:lstStyle/>
                    <a:p>
                      <a:pPr>
                        <a:lnSpc>
                          <a:spcPct val="115000"/>
                        </a:lnSpc>
                      </a:pPr>
                      <a:r>
                        <a:rPr sz="1250" b="0">
                          <a:solidFill>
                            <a:srgbClr val="16181A"/>
                          </a:solidFill>
                          <a:latin typeface="Arial"/>
                        </a:rPr>
                        <a:t>In progress</a:t>
                      </a:r>
                    </a:p>
                  </a:txBody>
                  <a:tcPr marL="73152" marR="73152" marT="36576" marB="36576">
                    <a:solidFill>
                      <a:srgbClr val="FCFCFB"/>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4 · LITERATURE REVIEW</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22 works · 20 published 2023 or later</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783080"/>
          <a:ext cx="10881360" cy="2304288"/>
        </p:xfrm>
        <a:graphic>
          <a:graphicData uri="http://schemas.openxmlformats.org/drawingml/2006/table">
            <a:tbl>
              <a:tblPr firstRow="1" bandRow="1">
                <a:tableStyleId>{5C22544A-7EE6-4342-B048-85BDC9FD1C3A}</a:tableStyleId>
              </a:tblPr>
              <a:tblGrid>
                <a:gridCol w="4114800"/>
                <a:gridCol w="1005840"/>
                <a:gridCol w="5760720"/>
              </a:tblGrid>
              <a:tr h="384048">
                <a:tc>
                  <a:txBody>
                    <a:bodyPr/>
                    <a:lstStyle/>
                    <a:p>
                      <a:pPr>
                        <a:lnSpc>
                          <a:spcPct val="115000"/>
                        </a:lnSpc>
                      </a:pPr>
                      <a:r>
                        <a:rPr sz="950" b="1">
                          <a:solidFill>
                            <a:srgbClr val="6B7178"/>
                          </a:solidFill>
                          <a:latin typeface="Arial"/>
                        </a:rPr>
                        <a:t>Theme</a:t>
                      </a:r>
                    </a:p>
                  </a:txBody>
                  <a:tcPr marL="73152" marR="73152" marT="36576" marB="36576">
                    <a:solidFill>
                      <a:srgbClr val="F4F6F8"/>
                    </a:solidFill>
                  </a:tcPr>
                </a:tc>
                <a:tc>
                  <a:txBody>
                    <a:bodyPr/>
                    <a:lstStyle/>
                    <a:p>
                      <a:pPr>
                        <a:lnSpc>
                          <a:spcPct val="115000"/>
                        </a:lnSpc>
                      </a:pPr>
                      <a:r>
                        <a:rPr sz="950" b="1">
                          <a:solidFill>
                            <a:srgbClr val="6B7178"/>
                          </a:solidFill>
                          <a:latin typeface="Arial"/>
                        </a:rPr>
                        <a:t>Works</a:t>
                      </a:r>
                    </a:p>
                  </a:txBody>
                  <a:tcPr marL="73152" marR="73152" marT="36576" marB="36576">
                    <a:solidFill>
                      <a:srgbClr val="F4F6F8"/>
                    </a:solidFill>
                  </a:tcPr>
                </a:tc>
                <a:tc>
                  <a:txBody>
                    <a:bodyPr/>
                    <a:lstStyle/>
                    <a:p>
                      <a:pPr>
                        <a:lnSpc>
                          <a:spcPct val="115000"/>
                        </a:lnSpc>
                      </a:pPr>
                      <a:r>
                        <a:rPr sz="950" b="1">
                          <a:solidFill>
                            <a:srgbClr val="6B7178"/>
                          </a:solidFill>
                          <a:latin typeface="Arial"/>
                        </a:rPr>
                        <a:t>What it settles for this project</a:t>
                      </a:r>
                    </a:p>
                  </a:txBody>
                  <a:tcPr marL="73152" marR="73152" marT="36576" marB="36576">
                    <a:solidFill>
                      <a:srgbClr val="F4F6F8"/>
                    </a:solidFill>
                  </a:tcPr>
                </a:tc>
              </a:tr>
              <a:tr h="384048">
                <a:tc>
                  <a:txBody>
                    <a:bodyPr/>
                    <a:lstStyle/>
                    <a:p>
                      <a:pPr>
                        <a:lnSpc>
                          <a:spcPct val="115000"/>
                        </a:lnSpc>
                      </a:pPr>
                      <a:r>
                        <a:rPr sz="1300" b="0">
                          <a:solidFill>
                            <a:srgbClr val="16181A"/>
                          </a:solidFill>
                          <a:latin typeface="Arial"/>
                        </a:rPr>
                        <a:t>Player modelling &amp; behaviour prediction</a:t>
                      </a:r>
                    </a:p>
                  </a:txBody>
                  <a:tcPr marL="73152" marR="73152" marT="36576" marB="36576">
                    <a:solidFill>
                      <a:srgbClr val="FCFCFB"/>
                    </a:solidFill>
                  </a:tcPr>
                </a:tc>
                <a:tc>
                  <a:txBody>
                    <a:bodyPr/>
                    <a:lstStyle/>
                    <a:p>
                      <a:pPr>
                        <a:lnSpc>
                          <a:spcPct val="115000"/>
                        </a:lnSpc>
                      </a:pPr>
                      <a:r>
                        <a:rPr sz="1300" b="0">
                          <a:solidFill>
                            <a:srgbClr val="16181A"/>
                          </a:solidFill>
                          <a:latin typeface="Arial"/>
                        </a:rPr>
                        <a:t>5</a:t>
                      </a:r>
                    </a:p>
                  </a:txBody>
                  <a:tcPr marL="73152" marR="73152" marT="36576" marB="36576">
                    <a:solidFill>
                      <a:srgbClr val="FCFCFB"/>
                    </a:solidFill>
                  </a:tcPr>
                </a:tc>
                <a:tc>
                  <a:txBody>
                    <a:bodyPr/>
                    <a:lstStyle/>
                    <a:p>
                      <a:pPr>
                        <a:lnSpc>
                          <a:spcPct val="115000"/>
                        </a:lnSpc>
                      </a:pPr>
                      <a:r>
                        <a:rPr sz="1300" b="0">
                          <a:solidFill>
                            <a:srgbClr val="16181A"/>
                          </a:solidFill>
                          <a:latin typeface="Arial"/>
                        </a:rPr>
                        <a:t>Behavioural signals alone suffice; models should be inspectable</a:t>
                      </a:r>
                    </a:p>
                  </a:txBody>
                  <a:tcPr marL="73152" marR="73152" marT="36576" marB="36576">
                    <a:solidFill>
                      <a:srgbClr val="FCFCFB"/>
                    </a:solidFill>
                  </a:tcPr>
                </a:tc>
              </a:tr>
              <a:tr h="384048">
                <a:tc>
                  <a:txBody>
                    <a:bodyPr/>
                    <a:lstStyle/>
                    <a:p>
                      <a:pPr>
                        <a:lnSpc>
                          <a:spcPct val="115000"/>
                        </a:lnSpc>
                      </a:pPr>
                      <a:r>
                        <a:rPr sz="1300" b="0">
                          <a:solidFill>
                            <a:srgbClr val="16181A"/>
                          </a:solidFill>
                          <a:latin typeface="Arial"/>
                        </a:rPr>
                        <a:t>Adaptive game AI &amp; dynamic difficulty</a:t>
                      </a:r>
                    </a:p>
                  </a:txBody>
                  <a:tcPr marL="73152" marR="73152" marT="36576" marB="36576">
                    <a:solidFill>
                      <a:srgbClr val="FCFCFB"/>
                    </a:solidFill>
                  </a:tcPr>
                </a:tc>
                <a:tc>
                  <a:txBody>
                    <a:bodyPr/>
                    <a:lstStyle/>
                    <a:p>
                      <a:pPr>
                        <a:lnSpc>
                          <a:spcPct val="115000"/>
                        </a:lnSpc>
                      </a:pPr>
                      <a:r>
                        <a:rPr sz="1300" b="0">
                          <a:solidFill>
                            <a:srgbClr val="16181A"/>
                          </a:solidFill>
                          <a:latin typeface="Arial"/>
                        </a:rPr>
                        <a:t>7</a:t>
                      </a:r>
                    </a:p>
                  </a:txBody>
                  <a:tcPr marL="73152" marR="73152" marT="36576" marB="36576">
                    <a:solidFill>
                      <a:srgbClr val="FCFCFB"/>
                    </a:solidFill>
                  </a:tcPr>
                </a:tc>
                <a:tc>
                  <a:txBody>
                    <a:bodyPr/>
                    <a:lstStyle/>
                    <a:p>
                      <a:pPr>
                        <a:lnSpc>
                          <a:spcPct val="115000"/>
                        </a:lnSpc>
                      </a:pPr>
                      <a:r>
                        <a:rPr sz="1300" b="0">
                          <a:solidFill>
                            <a:srgbClr val="16181A"/>
                          </a:solidFill>
                          <a:latin typeface="Arial"/>
                        </a:rPr>
                        <a:t>State of the art adapts parameters, rarely placement</a:t>
                      </a:r>
                    </a:p>
                  </a:txBody>
                  <a:tcPr marL="73152" marR="73152" marT="36576" marB="36576">
                    <a:solidFill>
                      <a:srgbClr val="FCFCFB"/>
                    </a:solidFill>
                  </a:tcPr>
                </a:tc>
              </a:tr>
              <a:tr h="384048">
                <a:tc>
                  <a:txBody>
                    <a:bodyPr/>
                    <a:lstStyle/>
                    <a:p>
                      <a:pPr>
                        <a:lnSpc>
                          <a:spcPct val="115000"/>
                        </a:lnSpc>
                      </a:pPr>
                      <a:r>
                        <a:rPr sz="1300" b="0">
                          <a:solidFill>
                            <a:srgbClr val="16181A"/>
                          </a:solidFill>
                          <a:latin typeface="Arial"/>
                        </a:rPr>
                        <a:t>Procedural generation of mutable levels</a:t>
                      </a:r>
                    </a:p>
                  </a:txBody>
                  <a:tcPr marL="73152" marR="73152" marT="36576" marB="36576">
                    <a:solidFill>
                      <a:srgbClr val="FCFCFB"/>
                    </a:solidFill>
                  </a:tcPr>
                </a:tc>
                <a:tc>
                  <a:txBody>
                    <a:bodyPr/>
                    <a:lstStyle/>
                    <a:p>
                      <a:pPr>
                        <a:lnSpc>
                          <a:spcPct val="115000"/>
                        </a:lnSpc>
                      </a:pPr>
                      <a:r>
                        <a:rPr sz="1300" b="0">
                          <a:solidFill>
                            <a:srgbClr val="16181A"/>
                          </a:solidFill>
                          <a:latin typeface="Arial"/>
                        </a:rPr>
                        <a:t>3</a:t>
                      </a:r>
                    </a:p>
                  </a:txBody>
                  <a:tcPr marL="73152" marR="73152" marT="36576" marB="36576">
                    <a:solidFill>
                      <a:srgbClr val="FCFCFB"/>
                    </a:solidFill>
                  </a:tcPr>
                </a:tc>
                <a:tc>
                  <a:txBody>
                    <a:bodyPr/>
                    <a:lstStyle/>
                    <a:p>
                      <a:pPr>
                        <a:lnSpc>
                          <a:spcPct val="115000"/>
                        </a:lnSpc>
                      </a:pPr>
                      <a:r>
                        <a:rPr sz="1300" b="0">
                          <a:solidFill>
                            <a:srgbClr val="16181A"/>
                          </a:solidFill>
                          <a:latin typeface="Arial"/>
                        </a:rPr>
                        <a:t>Graph-based generation with connectivity guarantees</a:t>
                      </a:r>
                    </a:p>
                  </a:txBody>
                  <a:tcPr marL="73152" marR="73152" marT="36576" marB="36576">
                    <a:solidFill>
                      <a:srgbClr val="FCFCFB"/>
                    </a:solidFill>
                  </a:tcPr>
                </a:tc>
              </a:tr>
              <a:tr h="384048">
                <a:tc>
                  <a:txBody>
                    <a:bodyPr/>
                    <a:lstStyle/>
                    <a:p>
                      <a:pPr>
                        <a:lnSpc>
                          <a:spcPct val="115000"/>
                        </a:lnSpc>
                      </a:pPr>
                      <a:r>
                        <a:rPr sz="1300" b="0">
                          <a:solidFill>
                            <a:srgbClr val="16181A"/>
                          </a:solidFill>
                          <a:latin typeface="Arial"/>
                        </a:rPr>
                        <a:t>Sequence &amp; next-location prediction</a:t>
                      </a:r>
                    </a:p>
                  </a:txBody>
                  <a:tcPr marL="73152" marR="73152" marT="36576" marB="36576">
                    <a:solidFill>
                      <a:srgbClr val="FCFCFB"/>
                    </a:solidFill>
                  </a:tcPr>
                </a:tc>
                <a:tc>
                  <a:txBody>
                    <a:bodyPr/>
                    <a:lstStyle/>
                    <a:p>
                      <a:pPr>
                        <a:lnSpc>
                          <a:spcPct val="115000"/>
                        </a:lnSpc>
                      </a:pPr>
                      <a:r>
                        <a:rPr sz="1300" b="0">
                          <a:solidFill>
                            <a:srgbClr val="16181A"/>
                          </a:solidFill>
                          <a:latin typeface="Arial"/>
                        </a:rPr>
                        <a:t>5</a:t>
                      </a:r>
                    </a:p>
                  </a:txBody>
                  <a:tcPr marL="73152" marR="73152" marT="36576" marB="36576">
                    <a:solidFill>
                      <a:srgbClr val="FCFCFB"/>
                    </a:solidFill>
                  </a:tcPr>
                </a:tc>
                <a:tc>
                  <a:txBody>
                    <a:bodyPr/>
                    <a:lstStyle/>
                    <a:p>
                      <a:pPr>
                        <a:lnSpc>
                          <a:spcPct val="115000"/>
                        </a:lnSpc>
                      </a:pPr>
                      <a:r>
                        <a:rPr sz="1300" b="0">
                          <a:solidFill>
                            <a:srgbClr val="16181A"/>
                          </a:solidFill>
                          <a:latin typeface="Arial"/>
                        </a:rPr>
                        <a:t>The methodological core — VOMM and its successors</a:t>
                      </a:r>
                    </a:p>
                  </a:txBody>
                  <a:tcPr marL="73152" marR="73152" marT="36576" marB="36576">
                    <a:solidFill>
                      <a:srgbClr val="FCFCFB"/>
                    </a:solidFill>
                  </a:tcPr>
                </a:tc>
              </a:tr>
              <a:tr h="384048">
                <a:tc>
                  <a:txBody>
                    <a:bodyPr/>
                    <a:lstStyle/>
                    <a:p>
                      <a:pPr>
                        <a:lnSpc>
                          <a:spcPct val="115000"/>
                        </a:lnSpc>
                      </a:pPr>
                      <a:r>
                        <a:rPr sz="1300" b="0">
                          <a:solidFill>
                            <a:srgbClr val="16181A"/>
                          </a:solidFill>
                          <a:latin typeface="Arial"/>
                        </a:rPr>
                        <a:t>Fear as a measurable experience</a:t>
                      </a:r>
                    </a:p>
                  </a:txBody>
                  <a:tcPr marL="73152" marR="73152" marT="36576" marB="36576">
                    <a:solidFill>
                      <a:srgbClr val="FCFCFB"/>
                    </a:solidFill>
                  </a:tcPr>
                </a:tc>
                <a:tc>
                  <a:txBody>
                    <a:bodyPr/>
                    <a:lstStyle/>
                    <a:p>
                      <a:pPr>
                        <a:lnSpc>
                          <a:spcPct val="115000"/>
                        </a:lnSpc>
                      </a:pPr>
                      <a:r>
                        <a:rPr sz="1300" b="0">
                          <a:solidFill>
                            <a:srgbClr val="16181A"/>
                          </a:solidFill>
                          <a:latin typeface="Arial"/>
                        </a:rPr>
                        <a:t>2</a:t>
                      </a:r>
                    </a:p>
                  </a:txBody>
                  <a:tcPr marL="73152" marR="73152" marT="36576" marB="36576">
                    <a:solidFill>
                      <a:srgbClr val="FCFCFB"/>
                    </a:solidFill>
                  </a:tcPr>
                </a:tc>
                <a:tc>
                  <a:txBody>
                    <a:bodyPr/>
                    <a:lstStyle/>
                    <a:p>
                      <a:pPr>
                        <a:lnSpc>
                          <a:spcPct val="115000"/>
                        </a:lnSpc>
                      </a:pPr>
                      <a:r>
                        <a:rPr sz="1300" b="0">
                          <a:solidFill>
                            <a:srgbClr val="16181A"/>
                          </a:solidFill>
                          <a:latin typeface="Arial"/>
                        </a:rPr>
                        <a:t>Unfairness destroys fear; behaviour reveals fear</a:t>
                      </a:r>
                    </a:p>
                  </a:txBody>
                  <a:tcPr marL="73152" marR="73152" marT="36576" marB="36576">
                    <a:solidFill>
                      <a:srgbClr val="FCFCFB"/>
                    </a:solidFill>
                  </a:tcPr>
                </a:tc>
              </a:tr>
            </a:tbl>
          </a:graphicData>
        </a:graphic>
      </p:graphicFrame>
      <p:sp>
        <p:nvSpPr>
          <p:cNvPr id="6" name="TextBox 5"/>
          <p:cNvSpPr txBox="1"/>
          <p:nvPr/>
        </p:nvSpPr>
        <p:spPr>
          <a:xfrm>
            <a:off x="658368" y="4754880"/>
            <a:ext cx="10881360" cy="1280160"/>
          </a:xfrm>
          <a:prstGeom prst="rect">
            <a:avLst/>
          </a:prstGeom>
          <a:noFill/>
        </p:spPr>
        <p:txBody>
          <a:bodyPr wrap="square" lIns="0" rIns="0" tIns="0" bIns="0">
            <a:spAutoFit/>
          </a:bodyPr>
          <a:lstStyle/>
          <a:p>
            <a:pPr algn="l">
              <a:lnSpc>
                <a:spcPct val="135000"/>
              </a:lnSpc>
              <a:spcAft>
                <a:spcPts val="600"/>
              </a:spcAft>
            </a:pPr>
            <a:r>
              <a:rPr sz="1250" b="0">
                <a:solidFill>
                  <a:srgbClr val="6B7178"/>
                </a:solidFill>
                <a:latin typeface="Arial"/>
              </a:rPr>
              <a:t>Selection criteria — peer-reviewed or arXiv-indexed work addressing player behaviour prediction, runtime game adaptation, or discrete-trajectory prediction. Priority given to 2023-2026 publications; one foundational 2004 work is retained because it is the formal basis of the proposed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5 · LITERATURE REVIEW</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Player modelling and adaptive game AI</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783080"/>
          <a:ext cx="10881360" cy="3456432"/>
        </p:xfrm>
        <a:graphic>
          <a:graphicData uri="http://schemas.openxmlformats.org/drawingml/2006/table">
            <a:tbl>
              <a:tblPr firstRow="1" bandRow="1">
                <a:tableStyleId>{5C22544A-7EE6-4342-B048-85BDC9FD1C3A}</a:tableStyleId>
              </a:tblPr>
              <a:tblGrid>
                <a:gridCol w="5852160"/>
                <a:gridCol w="548640"/>
                <a:gridCol w="4480560"/>
              </a:tblGrid>
              <a:tr h="384048">
                <a:tc>
                  <a:txBody>
                    <a:bodyPr/>
                    <a:lstStyle/>
                    <a:p>
                      <a:pPr>
                        <a:lnSpc>
                          <a:spcPct val="115000"/>
                        </a:lnSpc>
                      </a:pPr>
                      <a:r>
                        <a:rPr sz="900" b="1">
                          <a:solidFill>
                            <a:srgbClr val="6B7178"/>
                          </a:solidFill>
                          <a:latin typeface="Arial"/>
                        </a:rPr>
                        <a:t>Work</a:t>
                      </a:r>
                    </a:p>
                  </a:txBody>
                  <a:tcPr marL="73152" marR="73152" marT="36576" marB="36576">
                    <a:solidFill>
                      <a:srgbClr val="F4F6F8"/>
                    </a:solidFill>
                  </a:tcPr>
                </a:tc>
                <a:tc>
                  <a:txBody>
                    <a:bodyPr/>
                    <a:lstStyle/>
                    <a:p>
                      <a:pPr>
                        <a:lnSpc>
                          <a:spcPct val="115000"/>
                        </a:lnSpc>
                      </a:pPr>
                      <a:r>
                        <a:rPr sz="900" b="1">
                          <a:solidFill>
                            <a:srgbClr val="6B7178"/>
                          </a:solidFill>
                          <a:latin typeface="Arial"/>
                        </a:rPr>
                        <a:t>Yr</a:t>
                      </a:r>
                    </a:p>
                  </a:txBody>
                  <a:tcPr marL="73152" marR="73152" marT="36576" marB="36576">
                    <a:solidFill>
                      <a:srgbClr val="F4F6F8"/>
                    </a:solidFill>
                  </a:tcPr>
                </a:tc>
                <a:tc>
                  <a:txBody>
                    <a:bodyPr/>
                    <a:lstStyle/>
                    <a:p>
                      <a:pPr>
                        <a:lnSpc>
                          <a:spcPct val="115000"/>
                        </a:lnSpc>
                      </a:pPr>
                      <a:r>
                        <a:rPr sz="900" b="1">
                          <a:solidFill>
                            <a:srgbClr val="6B7178"/>
                          </a:solidFill>
                          <a:latin typeface="Arial"/>
                        </a:rPr>
                        <a:t>Relevance</a:t>
                      </a:r>
                    </a:p>
                  </a:txBody>
                  <a:tcPr marL="73152" marR="73152" marT="36576" marB="36576">
                    <a:solidFill>
                      <a:srgbClr val="F4F6F8"/>
                    </a:solidFill>
                  </a:tcPr>
                </a:tc>
              </a:tr>
              <a:tr h="384048">
                <a:tc>
                  <a:txBody>
                    <a:bodyPr/>
                    <a:lstStyle/>
                    <a:p>
                      <a:pPr>
                        <a:lnSpc>
                          <a:spcPct val="115000"/>
                        </a:lnSpc>
                      </a:pPr>
                      <a:r>
                        <a:rPr sz="1150" b="0">
                          <a:solidFill>
                            <a:srgbClr val="16181A"/>
                          </a:solidFill>
                          <a:latin typeface="Arial"/>
                        </a:rPr>
                        <a:t>Lin et al., Open Player Modeling (2603.26915)</a:t>
                      </a:r>
                    </a:p>
                  </a:txBody>
                  <a:tcPr marL="73152" marR="73152" marT="36576" marB="36576">
                    <a:solidFill>
                      <a:srgbClr val="FCFCFB"/>
                    </a:solidFill>
                  </a:tcPr>
                </a:tc>
                <a:tc>
                  <a:txBody>
                    <a:bodyPr/>
                    <a:lstStyle/>
                    <a:p>
                      <a:pPr>
                        <a:lnSpc>
                          <a:spcPct val="115000"/>
                        </a:lnSpc>
                      </a:pPr>
                      <a:r>
                        <a:rPr sz="1150" b="0">
                          <a:solidFill>
                            <a:srgbClr val="16181A"/>
                          </a:solidFill>
                          <a:latin typeface="Arial"/>
                        </a:rPr>
                        <a:t>26</a:t>
                      </a:r>
                    </a:p>
                  </a:txBody>
                  <a:tcPr marL="73152" marR="73152" marT="36576" marB="36576">
                    <a:solidFill>
                      <a:srgbClr val="FCFCFB"/>
                    </a:solidFill>
                  </a:tcPr>
                </a:tc>
                <a:tc>
                  <a:txBody>
                    <a:bodyPr/>
                    <a:lstStyle/>
                    <a:p>
                      <a:pPr>
                        <a:lnSpc>
                          <a:spcPct val="115000"/>
                        </a:lnSpc>
                      </a:pPr>
                      <a:r>
                        <a:rPr sz="1150" b="0">
                          <a:solidFill>
                            <a:srgbClr val="16181A"/>
                          </a:solidFill>
                          <a:latin typeface="Arial"/>
                        </a:rPr>
                        <a:t>Player models should be inspectable — motivates our overlay</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Halina et al., Playtrace Reconstructive Partitioning (2607.12097)</a:t>
                      </a:r>
                    </a:p>
                  </a:txBody>
                  <a:tcPr marL="73152" marR="73152" marT="36576" marB="36576">
                    <a:solidFill>
                      <a:srgbClr val="FCFCFB"/>
                    </a:solidFill>
                  </a:tcPr>
                </a:tc>
                <a:tc>
                  <a:txBody>
                    <a:bodyPr/>
                    <a:lstStyle/>
                    <a:p>
                      <a:pPr>
                        <a:lnSpc>
                          <a:spcPct val="115000"/>
                        </a:lnSpc>
                      </a:pPr>
                      <a:r>
                        <a:rPr sz="1150" b="0">
                          <a:solidFill>
                            <a:srgbClr val="16181A"/>
                          </a:solidFill>
                          <a:latin typeface="Arial"/>
                        </a:rPr>
                        <a:t>26</a:t>
                      </a:r>
                    </a:p>
                  </a:txBody>
                  <a:tcPr marL="73152" marR="73152" marT="36576" marB="36576">
                    <a:solidFill>
                      <a:srgbClr val="FCFCFB"/>
                    </a:solidFill>
                  </a:tcPr>
                </a:tc>
                <a:tc>
                  <a:txBody>
                    <a:bodyPr/>
                    <a:lstStyle/>
                    <a:p>
                      <a:pPr>
                        <a:lnSpc>
                          <a:spcPct val="115000"/>
                        </a:lnSpc>
                      </a:pPr>
                      <a:r>
                        <a:rPr sz="1150" b="0">
                          <a:solidFill>
                            <a:srgbClr val="16181A"/>
                          </a:solidFill>
                          <a:latin typeface="Arial"/>
                        </a:rPr>
                        <a:t>Playtraces as the level's primary representation</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Carlier et al., Personalization in Serious Games (2411.18500)</a:t>
                      </a:r>
                    </a:p>
                  </a:txBody>
                  <a:tcPr marL="73152" marR="73152" marT="36576" marB="36576">
                    <a:solidFill>
                      <a:srgbClr val="FCFCFB"/>
                    </a:solidFill>
                  </a:tcPr>
                </a:tc>
                <a:tc>
                  <a:txBody>
                    <a:bodyPr/>
                    <a:lstStyle/>
                    <a:p>
                      <a:pPr>
                        <a:lnSpc>
                          <a:spcPct val="115000"/>
                        </a:lnSpc>
                      </a:pPr>
                      <a:r>
                        <a:rPr sz="1150" b="0">
                          <a:solidFill>
                            <a:srgbClr val="16181A"/>
                          </a:solidFill>
                          <a:latin typeface="Arial"/>
                        </a:rPr>
                        <a:t>24</a:t>
                      </a:r>
                    </a:p>
                  </a:txBody>
                  <a:tcPr marL="73152" marR="73152" marT="36576" marB="36576">
                    <a:solidFill>
                      <a:srgbClr val="FCFCFB"/>
                    </a:solidFill>
                  </a:tcPr>
                </a:tc>
                <a:tc>
                  <a:txBody>
                    <a:bodyPr/>
                    <a:lstStyle/>
                    <a:p>
                      <a:pPr>
                        <a:lnSpc>
                          <a:spcPct val="115000"/>
                        </a:lnSpc>
                      </a:pPr>
                      <a:r>
                        <a:rPr sz="1150" b="0">
                          <a:solidFill>
                            <a:srgbClr val="16181A"/>
                          </a:solidFill>
                          <a:latin typeface="Arial"/>
                        </a:rPr>
                        <a:t>Model/method/adaptation split mirrors our architecture</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Dehpanah et al., Player Modeling from Behavioral Signals (2112.04379)</a:t>
                      </a:r>
                    </a:p>
                  </a:txBody>
                  <a:tcPr marL="73152" marR="73152" marT="36576" marB="36576">
                    <a:solidFill>
                      <a:srgbClr val="FCFCFB"/>
                    </a:solidFill>
                  </a:tcPr>
                </a:tc>
                <a:tc>
                  <a:txBody>
                    <a:bodyPr/>
                    <a:lstStyle/>
                    <a:p>
                      <a:pPr>
                        <a:lnSpc>
                          <a:spcPct val="115000"/>
                        </a:lnSpc>
                      </a:pPr>
                      <a:r>
                        <a:rPr sz="1150" b="0">
                          <a:solidFill>
                            <a:srgbClr val="16181A"/>
                          </a:solidFill>
                          <a:latin typeface="Arial"/>
                        </a:rPr>
                        <a:t>21</a:t>
                      </a:r>
                    </a:p>
                  </a:txBody>
                  <a:tcPr marL="73152" marR="73152" marT="36576" marB="36576">
                    <a:solidFill>
                      <a:srgbClr val="FCFCFB"/>
                    </a:solidFill>
                  </a:tcPr>
                </a:tc>
                <a:tc>
                  <a:txBody>
                    <a:bodyPr/>
                    <a:lstStyle/>
                    <a:p>
                      <a:pPr>
                        <a:lnSpc>
                          <a:spcPct val="115000"/>
                        </a:lnSpc>
                      </a:pPr>
                      <a:r>
                        <a:rPr sz="1150" b="0">
                          <a:solidFill>
                            <a:srgbClr val="16181A"/>
                          </a:solidFill>
                          <a:latin typeface="Arial"/>
                        </a:rPr>
                        <a:t>Raw behaviour suffices — no biometrics needed</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Romeo et al., NTRL: RL for DDA in D&amp;D (2506.19530)</a:t>
                      </a:r>
                    </a:p>
                  </a:txBody>
                  <a:tcPr marL="73152" marR="73152" marT="36576" marB="36576">
                    <a:solidFill>
                      <a:srgbClr val="FCFCFB"/>
                    </a:solidFill>
                  </a:tcPr>
                </a:tc>
                <a:tc>
                  <a:txBody>
                    <a:bodyPr/>
                    <a:lstStyle/>
                    <a:p>
                      <a:pPr>
                        <a:lnSpc>
                          <a:spcPct val="115000"/>
                        </a:lnSpc>
                      </a:pPr>
                      <a:r>
                        <a:rPr sz="1150" b="0">
                          <a:solidFill>
                            <a:srgbClr val="16181A"/>
                          </a:solidFill>
                          <a:latin typeface="Arial"/>
                        </a:rPr>
                        <a:t>25</a:t>
                      </a:r>
                    </a:p>
                  </a:txBody>
                  <a:tcPr marL="73152" marR="73152" marT="36576" marB="36576">
                    <a:solidFill>
                      <a:srgbClr val="FCFCFB"/>
                    </a:solidFill>
                  </a:tcPr>
                </a:tc>
                <a:tc>
                  <a:txBody>
                    <a:bodyPr/>
                    <a:lstStyle/>
                    <a:p>
                      <a:pPr>
                        <a:lnSpc>
                          <a:spcPct val="115000"/>
                        </a:lnSpc>
                      </a:pPr>
                      <a:r>
                        <a:rPr sz="1150" b="0">
                          <a:solidFill>
                            <a:srgbClr val="16181A"/>
                          </a:solidFill>
                          <a:latin typeface="Arial"/>
                        </a:rPr>
                        <a:t>Closest analogue — adapts encounters, not stats</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Lopes et al., Affect-Driven Game Adaptation review (2505.01351)</a:t>
                      </a:r>
                    </a:p>
                  </a:txBody>
                  <a:tcPr marL="73152" marR="73152" marT="36576" marB="36576">
                    <a:solidFill>
                      <a:srgbClr val="FCFCFB"/>
                    </a:solidFill>
                  </a:tcPr>
                </a:tc>
                <a:tc>
                  <a:txBody>
                    <a:bodyPr/>
                    <a:lstStyle/>
                    <a:p>
                      <a:pPr>
                        <a:lnSpc>
                          <a:spcPct val="115000"/>
                        </a:lnSpc>
                      </a:pPr>
                      <a:r>
                        <a:rPr sz="1150" b="0">
                          <a:solidFill>
                            <a:srgbClr val="16181A"/>
                          </a:solidFill>
                          <a:latin typeface="Arial"/>
                        </a:rPr>
                        <a:t>25</a:t>
                      </a:r>
                    </a:p>
                  </a:txBody>
                  <a:tcPr marL="73152" marR="73152" marT="36576" marB="36576">
                    <a:solidFill>
                      <a:srgbClr val="FCFCFB"/>
                    </a:solidFill>
                  </a:tcPr>
                </a:tc>
                <a:tc>
                  <a:txBody>
                    <a:bodyPr/>
                    <a:lstStyle/>
                    <a:p>
                      <a:pPr>
                        <a:lnSpc>
                          <a:spcPct val="115000"/>
                        </a:lnSpc>
                      </a:pPr>
                      <a:r>
                        <a:rPr sz="1150" b="0">
                          <a:solidFill>
                            <a:srgbClr val="16181A"/>
                          </a:solidFill>
                          <a:latin typeface="Arial"/>
                        </a:rPr>
                        <a:t>Identifies evaluation as the field's weak point</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Fuchs et al., Personalized DDA (2408.06818)</a:t>
                      </a:r>
                    </a:p>
                  </a:txBody>
                  <a:tcPr marL="73152" marR="73152" marT="36576" marB="36576">
                    <a:solidFill>
                      <a:srgbClr val="FCFCFB"/>
                    </a:solidFill>
                  </a:tcPr>
                </a:tc>
                <a:tc>
                  <a:txBody>
                    <a:bodyPr/>
                    <a:lstStyle/>
                    <a:p>
                      <a:pPr>
                        <a:lnSpc>
                          <a:spcPct val="115000"/>
                        </a:lnSpc>
                      </a:pPr>
                      <a:r>
                        <a:rPr sz="1150" b="0">
                          <a:solidFill>
                            <a:srgbClr val="16181A"/>
                          </a:solidFill>
                          <a:latin typeface="Arial"/>
                        </a:rPr>
                        <a:t>24</a:t>
                      </a:r>
                    </a:p>
                  </a:txBody>
                  <a:tcPr marL="73152" marR="73152" marT="36576" marB="36576">
                    <a:solidFill>
                      <a:srgbClr val="FCFCFB"/>
                    </a:solidFill>
                  </a:tcPr>
                </a:tc>
                <a:tc>
                  <a:txBody>
                    <a:bodyPr/>
                    <a:lstStyle/>
                    <a:p>
                      <a:pPr>
                        <a:lnSpc>
                          <a:spcPct val="115000"/>
                        </a:lnSpc>
                      </a:pPr>
                      <a:r>
                        <a:rPr sz="1150" b="0">
                          <a:solidFill>
                            <a:srgbClr val="16181A"/>
                          </a:solidFill>
                          <a:latin typeface="Arial"/>
                        </a:rPr>
                        <a:t>Imitation + RL personalisation; far heavier to train</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Cafri et al., DDA with Brain Waves (2504.13965)</a:t>
                      </a:r>
                    </a:p>
                  </a:txBody>
                  <a:tcPr marL="73152" marR="73152" marT="36576" marB="36576">
                    <a:solidFill>
                      <a:srgbClr val="FCFCFB"/>
                    </a:solidFill>
                  </a:tcPr>
                </a:tc>
                <a:tc>
                  <a:txBody>
                    <a:bodyPr/>
                    <a:lstStyle/>
                    <a:p>
                      <a:pPr>
                        <a:lnSpc>
                          <a:spcPct val="115000"/>
                        </a:lnSpc>
                      </a:pPr>
                      <a:r>
                        <a:rPr sz="1150" b="0">
                          <a:solidFill>
                            <a:srgbClr val="16181A"/>
                          </a:solidFill>
                          <a:latin typeface="Arial"/>
                        </a:rPr>
                        <a:t>25</a:t>
                      </a:r>
                    </a:p>
                  </a:txBody>
                  <a:tcPr marL="73152" marR="73152" marT="36576" marB="36576">
                    <a:solidFill>
                      <a:srgbClr val="FCFCFB"/>
                    </a:solidFill>
                  </a:tcPr>
                </a:tc>
                <a:tc>
                  <a:txBody>
                    <a:bodyPr/>
                    <a:lstStyle/>
                    <a:p>
                      <a:pPr>
                        <a:lnSpc>
                          <a:spcPct val="115000"/>
                        </a:lnSpc>
                      </a:pPr>
                      <a:r>
                        <a:rPr sz="1150" b="0">
                          <a:solidFill>
                            <a:srgbClr val="16181A"/>
                          </a:solidFill>
                          <a:latin typeface="Arial"/>
                        </a:rPr>
                        <a:t>Biometric branch — we deliberately avoid extra hardware</a:t>
                      </a:r>
                    </a:p>
                  </a:txBody>
                  <a:tcPr marL="73152" marR="73152" marT="36576" marB="36576">
                    <a:solidFill>
                      <a:srgbClr val="FCFCFB"/>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6 · LITERATURE REVIEW</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Level generation and trajectory prediction</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783080"/>
          <a:ext cx="10881360" cy="4224528"/>
        </p:xfrm>
        <a:graphic>
          <a:graphicData uri="http://schemas.openxmlformats.org/drawingml/2006/table">
            <a:tbl>
              <a:tblPr firstRow="1" bandRow="1">
                <a:tableStyleId>{5C22544A-7EE6-4342-B048-85BDC9FD1C3A}</a:tableStyleId>
              </a:tblPr>
              <a:tblGrid>
                <a:gridCol w="5852160"/>
                <a:gridCol w="548640"/>
                <a:gridCol w="4480560"/>
              </a:tblGrid>
              <a:tr h="384048">
                <a:tc>
                  <a:txBody>
                    <a:bodyPr/>
                    <a:lstStyle/>
                    <a:p>
                      <a:pPr>
                        <a:lnSpc>
                          <a:spcPct val="115000"/>
                        </a:lnSpc>
                      </a:pPr>
                      <a:r>
                        <a:rPr sz="900" b="1">
                          <a:solidFill>
                            <a:srgbClr val="6B7178"/>
                          </a:solidFill>
                          <a:latin typeface="Arial"/>
                        </a:rPr>
                        <a:t>Work</a:t>
                      </a:r>
                    </a:p>
                  </a:txBody>
                  <a:tcPr marL="73152" marR="73152" marT="36576" marB="36576">
                    <a:solidFill>
                      <a:srgbClr val="F4F6F8"/>
                    </a:solidFill>
                  </a:tcPr>
                </a:tc>
                <a:tc>
                  <a:txBody>
                    <a:bodyPr/>
                    <a:lstStyle/>
                    <a:p>
                      <a:pPr>
                        <a:lnSpc>
                          <a:spcPct val="115000"/>
                        </a:lnSpc>
                      </a:pPr>
                      <a:r>
                        <a:rPr sz="900" b="1">
                          <a:solidFill>
                            <a:srgbClr val="6B7178"/>
                          </a:solidFill>
                          <a:latin typeface="Arial"/>
                        </a:rPr>
                        <a:t>Yr</a:t>
                      </a:r>
                    </a:p>
                  </a:txBody>
                  <a:tcPr marL="73152" marR="73152" marT="36576" marB="36576">
                    <a:solidFill>
                      <a:srgbClr val="F4F6F8"/>
                    </a:solidFill>
                  </a:tcPr>
                </a:tc>
                <a:tc>
                  <a:txBody>
                    <a:bodyPr/>
                    <a:lstStyle/>
                    <a:p>
                      <a:pPr>
                        <a:lnSpc>
                          <a:spcPct val="115000"/>
                        </a:lnSpc>
                      </a:pPr>
                      <a:r>
                        <a:rPr sz="900" b="1">
                          <a:solidFill>
                            <a:srgbClr val="6B7178"/>
                          </a:solidFill>
                          <a:latin typeface="Arial"/>
                        </a:rPr>
                        <a:t>Relevance</a:t>
                      </a:r>
                    </a:p>
                  </a:txBody>
                  <a:tcPr marL="73152" marR="73152" marT="36576" marB="36576">
                    <a:solidFill>
                      <a:srgbClr val="F4F6F8"/>
                    </a:solidFill>
                  </a:tcPr>
                </a:tc>
              </a:tr>
              <a:tr h="384048">
                <a:tc>
                  <a:txBody>
                    <a:bodyPr/>
                    <a:lstStyle/>
                    <a:p>
                      <a:pPr>
                        <a:lnSpc>
                          <a:spcPct val="115000"/>
                        </a:lnSpc>
                      </a:pPr>
                      <a:r>
                        <a:rPr sz="1100" b="0">
                          <a:solidFill>
                            <a:srgbClr val="16181A"/>
                          </a:solidFill>
                          <a:latin typeface="Arial"/>
                        </a:rPr>
                        <a:t>Fiuza Vieira et al., Mansions and Dungeons generation (2606.03857)</a:t>
                      </a:r>
                    </a:p>
                  </a:txBody>
                  <a:tcPr marL="73152" marR="73152" marT="36576" marB="36576">
                    <a:solidFill>
                      <a:srgbClr val="FCFCFB"/>
                    </a:solidFill>
                  </a:tcPr>
                </a:tc>
                <a:tc>
                  <a:txBody>
                    <a:bodyPr/>
                    <a:lstStyle/>
                    <a:p>
                      <a:pPr>
                        <a:lnSpc>
                          <a:spcPct val="115000"/>
                        </a:lnSpc>
                      </a:pPr>
                      <a:r>
                        <a:rPr sz="1100" b="0">
                          <a:solidFill>
                            <a:srgbClr val="16181A"/>
                          </a:solidFill>
                          <a:latin typeface="Arial"/>
                        </a:rPr>
                        <a:t>26</a:t>
                      </a:r>
                    </a:p>
                  </a:txBody>
                  <a:tcPr marL="73152" marR="73152" marT="36576" marB="36576">
                    <a:solidFill>
                      <a:srgbClr val="FCFCFB"/>
                    </a:solidFill>
                  </a:tcPr>
                </a:tc>
                <a:tc>
                  <a:txBody>
                    <a:bodyPr/>
                    <a:lstStyle/>
                    <a:p>
                      <a:pPr>
                        <a:lnSpc>
                          <a:spcPct val="115000"/>
                        </a:lnSpc>
                      </a:pPr>
                      <a:r>
                        <a:rPr sz="1100" b="0">
                          <a:solidFill>
                            <a:srgbClr val="16181A"/>
                          </a:solidFill>
                          <a:latin typeface="Arial"/>
                        </a:rPr>
                        <a:t>Graph generation of exactly our building type</a:t>
                      </a:r>
                    </a:p>
                  </a:txBody>
                  <a:tcPr marL="73152" marR="73152" marT="36576" marB="36576">
                    <a:solidFill>
                      <a:srgbClr val="FCFCFB"/>
                    </a:solidFill>
                  </a:tcPr>
                </a:tc>
              </a:tr>
              <a:tr h="384048">
                <a:tc>
                  <a:txBody>
                    <a:bodyPr/>
                    <a:lstStyle/>
                    <a:p>
                      <a:pPr>
                        <a:lnSpc>
                          <a:spcPct val="115000"/>
                        </a:lnSpc>
                      </a:pPr>
                      <a:r>
                        <a:rPr sz="1100" b="0">
                          <a:solidFill>
                            <a:srgbClr val="16181A"/>
                          </a:solidFill>
                          <a:latin typeface="Arial"/>
                        </a:rPr>
                        <a:t>Earle et al., Level Design as Multi-Agent RL (2510.04862)</a:t>
                      </a:r>
                    </a:p>
                  </a:txBody>
                  <a:tcPr marL="73152" marR="73152" marT="36576" marB="36576">
                    <a:solidFill>
                      <a:srgbClr val="FCFCFB"/>
                    </a:solidFill>
                  </a:tcPr>
                </a:tc>
                <a:tc>
                  <a:txBody>
                    <a:bodyPr/>
                    <a:lstStyle/>
                    <a:p>
                      <a:pPr>
                        <a:lnSpc>
                          <a:spcPct val="115000"/>
                        </a:lnSpc>
                      </a:pPr>
                      <a:r>
                        <a:rPr sz="1100" b="0">
                          <a:solidFill>
                            <a:srgbClr val="16181A"/>
                          </a:solidFill>
                          <a:latin typeface="Arial"/>
                        </a:rPr>
                        <a:t>25</a:t>
                      </a:r>
                    </a:p>
                  </a:txBody>
                  <a:tcPr marL="73152" marR="73152" marT="36576" marB="36576">
                    <a:solidFill>
                      <a:srgbClr val="FCFCFB"/>
                    </a:solidFill>
                  </a:tcPr>
                </a:tc>
                <a:tc>
                  <a:txBody>
                    <a:bodyPr/>
                    <a:lstStyle/>
                    <a:p>
                      <a:pPr>
                        <a:lnSpc>
                          <a:spcPct val="115000"/>
                        </a:lnSpc>
                      </a:pPr>
                      <a:r>
                        <a:rPr sz="1100" b="0">
                          <a:solidFill>
                            <a:srgbClr val="16181A"/>
                          </a:solidFill>
                          <a:latin typeface="Arial"/>
                        </a:rPr>
                        <a:t>Framing for a Director that edits the level at runtime</a:t>
                      </a:r>
                    </a:p>
                  </a:txBody>
                  <a:tcPr marL="73152" marR="73152" marT="36576" marB="36576">
                    <a:solidFill>
                      <a:srgbClr val="FCFCFB"/>
                    </a:solidFill>
                  </a:tcPr>
                </a:tc>
              </a:tr>
              <a:tr h="384048">
                <a:tc>
                  <a:txBody>
                    <a:bodyPr/>
                    <a:lstStyle/>
                    <a:p>
                      <a:pPr>
                        <a:lnSpc>
                          <a:spcPct val="115000"/>
                        </a:lnSpc>
                      </a:pPr>
                      <a:r>
                        <a:rPr sz="1100" b="0">
                          <a:solidFill>
                            <a:srgbClr val="16181A"/>
                          </a:solidFill>
                          <a:latin typeface="Arial"/>
                        </a:rPr>
                        <a:t>Özkan, Procedural Level Design with Deep RL (2510.15120)</a:t>
                      </a:r>
                    </a:p>
                  </a:txBody>
                  <a:tcPr marL="73152" marR="73152" marT="36576" marB="36576">
                    <a:solidFill>
                      <a:srgbClr val="FCFCFB"/>
                    </a:solidFill>
                  </a:tcPr>
                </a:tc>
                <a:tc>
                  <a:txBody>
                    <a:bodyPr/>
                    <a:lstStyle/>
                    <a:p>
                      <a:pPr>
                        <a:lnSpc>
                          <a:spcPct val="115000"/>
                        </a:lnSpc>
                      </a:pPr>
                      <a:r>
                        <a:rPr sz="1100" b="0">
                          <a:solidFill>
                            <a:srgbClr val="16181A"/>
                          </a:solidFill>
                          <a:latin typeface="Arial"/>
                        </a:rPr>
                        <a:t>25</a:t>
                      </a:r>
                    </a:p>
                  </a:txBody>
                  <a:tcPr marL="73152" marR="73152" marT="36576" marB="36576">
                    <a:solidFill>
                      <a:srgbClr val="FCFCFB"/>
                    </a:solidFill>
                  </a:tcPr>
                </a:tc>
                <a:tc>
                  <a:txBody>
                    <a:bodyPr/>
                    <a:lstStyle/>
                    <a:p>
                      <a:pPr>
                        <a:lnSpc>
                          <a:spcPct val="115000"/>
                        </a:lnSpc>
                      </a:pPr>
                      <a:r>
                        <a:rPr sz="1100" b="0">
                          <a:solidFill>
                            <a:srgbClr val="16181A"/>
                          </a:solidFill>
                          <a:latin typeface="Arial"/>
                        </a:rPr>
                        <a:t>Contrast to our constraint-checked mutation</a:t>
                      </a:r>
                    </a:p>
                  </a:txBody>
                  <a:tcPr marL="73152" marR="73152" marT="36576" marB="36576">
                    <a:solidFill>
                      <a:srgbClr val="FCFCFB"/>
                    </a:solidFill>
                  </a:tcPr>
                </a:tc>
              </a:tr>
              <a:tr h="384048">
                <a:tc>
                  <a:txBody>
                    <a:bodyPr/>
                    <a:lstStyle/>
                    <a:p>
                      <a:pPr>
                        <a:lnSpc>
                          <a:spcPct val="115000"/>
                        </a:lnSpc>
                      </a:pPr>
                      <a:r>
                        <a:rPr sz="1100" b="0">
                          <a:solidFill>
                            <a:srgbClr val="16181A"/>
                          </a:solidFill>
                          <a:latin typeface="Arial"/>
                        </a:rPr>
                        <a:t>Begleiter, El-Yaniv &amp; Yona, Variable Order Markov Models, JAIR 22</a:t>
                      </a:r>
                    </a:p>
                  </a:txBody>
                  <a:tcPr marL="73152" marR="73152" marT="36576" marB="36576">
                    <a:solidFill>
                      <a:srgbClr val="FCFCFB"/>
                    </a:solidFill>
                  </a:tcPr>
                </a:tc>
                <a:tc>
                  <a:txBody>
                    <a:bodyPr/>
                    <a:lstStyle/>
                    <a:p>
                      <a:pPr>
                        <a:lnSpc>
                          <a:spcPct val="115000"/>
                        </a:lnSpc>
                      </a:pPr>
                      <a:r>
                        <a:rPr sz="1100" b="0">
                          <a:solidFill>
                            <a:srgbClr val="16181A"/>
                          </a:solidFill>
                          <a:latin typeface="Arial"/>
                        </a:rPr>
                        <a:t>04</a:t>
                      </a:r>
                    </a:p>
                  </a:txBody>
                  <a:tcPr marL="73152" marR="73152" marT="36576" marB="36576">
                    <a:solidFill>
                      <a:srgbClr val="FCFCFB"/>
                    </a:solidFill>
                  </a:tcPr>
                </a:tc>
                <a:tc>
                  <a:txBody>
                    <a:bodyPr/>
                    <a:lstStyle/>
                    <a:p>
                      <a:pPr>
                        <a:lnSpc>
                          <a:spcPct val="115000"/>
                        </a:lnSpc>
                      </a:pPr>
                      <a:r>
                        <a:rPr sz="1100" b="0">
                          <a:solidFill>
                            <a:srgbClr val="16181A"/>
                          </a:solidFill>
                          <a:latin typeface="Arial"/>
                        </a:rPr>
                        <a:t>FOUNDATIONAL — the formal basis of our predictor</a:t>
                      </a:r>
                    </a:p>
                  </a:txBody>
                  <a:tcPr marL="73152" marR="73152" marT="36576" marB="36576">
                    <a:solidFill>
                      <a:srgbClr val="FCFCFB"/>
                    </a:solidFill>
                  </a:tcPr>
                </a:tc>
              </a:tr>
              <a:tr h="384048">
                <a:tc>
                  <a:txBody>
                    <a:bodyPr/>
                    <a:lstStyle/>
                    <a:p>
                      <a:pPr>
                        <a:lnSpc>
                          <a:spcPct val="115000"/>
                        </a:lnSpc>
                      </a:pPr>
                      <a:r>
                        <a:rPr sz="1100" b="0">
                          <a:solidFill>
                            <a:srgbClr val="16181A"/>
                          </a:solidFill>
                          <a:latin typeface="Arial"/>
                        </a:rPr>
                        <a:t>Wu et al., Beyond Regularity: chaotic mobility (2509.11713)</a:t>
                      </a:r>
                    </a:p>
                  </a:txBody>
                  <a:tcPr marL="73152" marR="73152" marT="36576" marB="36576">
                    <a:solidFill>
                      <a:srgbClr val="FCFCFB"/>
                    </a:solidFill>
                  </a:tcPr>
                </a:tc>
                <a:tc>
                  <a:txBody>
                    <a:bodyPr/>
                    <a:lstStyle/>
                    <a:p>
                      <a:pPr>
                        <a:lnSpc>
                          <a:spcPct val="115000"/>
                        </a:lnSpc>
                      </a:pPr>
                      <a:r>
                        <a:rPr sz="1100" b="0">
                          <a:solidFill>
                            <a:srgbClr val="16181A"/>
                          </a:solidFill>
                          <a:latin typeface="Arial"/>
                        </a:rPr>
                        <a:t>25</a:t>
                      </a:r>
                    </a:p>
                  </a:txBody>
                  <a:tcPr marL="73152" marR="73152" marT="36576" marB="36576">
                    <a:solidFill>
                      <a:srgbClr val="FCFCFB"/>
                    </a:solidFill>
                  </a:tcPr>
                </a:tc>
                <a:tc>
                  <a:txBody>
                    <a:bodyPr/>
                    <a:lstStyle/>
                    <a:p>
                      <a:pPr>
                        <a:lnSpc>
                          <a:spcPct val="115000"/>
                        </a:lnSpc>
                      </a:pPr>
                      <a:r>
                        <a:rPr sz="1100" b="0">
                          <a:solidFill>
                            <a:srgbClr val="16181A"/>
                          </a:solidFill>
                          <a:latin typeface="Arial"/>
                        </a:rPr>
                        <a:t>Same task shape; handles irregular trajectories</a:t>
                      </a:r>
                    </a:p>
                  </a:txBody>
                  <a:tcPr marL="73152" marR="73152" marT="36576" marB="36576">
                    <a:solidFill>
                      <a:srgbClr val="FCFCFB"/>
                    </a:solidFill>
                  </a:tcPr>
                </a:tc>
              </a:tr>
              <a:tr h="384048">
                <a:tc>
                  <a:txBody>
                    <a:bodyPr/>
                    <a:lstStyle/>
                    <a:p>
                      <a:pPr>
                        <a:lnSpc>
                          <a:spcPct val="115000"/>
                        </a:lnSpc>
                      </a:pPr>
                      <a:r>
                        <a:rPr sz="1100" b="0">
                          <a:solidFill>
                            <a:srgbClr val="16181A"/>
                          </a:solidFill>
                          <a:latin typeface="Arial"/>
                        </a:rPr>
                        <a:t>Deng et al., STRelay location prediction (2508.16620)</a:t>
                      </a:r>
                    </a:p>
                  </a:txBody>
                  <a:tcPr marL="73152" marR="73152" marT="36576" marB="36576">
                    <a:solidFill>
                      <a:srgbClr val="FCFCFB"/>
                    </a:solidFill>
                  </a:tcPr>
                </a:tc>
                <a:tc>
                  <a:txBody>
                    <a:bodyPr/>
                    <a:lstStyle/>
                    <a:p>
                      <a:pPr>
                        <a:lnSpc>
                          <a:spcPct val="115000"/>
                        </a:lnSpc>
                      </a:pPr>
                      <a:r>
                        <a:rPr sz="1100" b="0">
                          <a:solidFill>
                            <a:srgbClr val="16181A"/>
                          </a:solidFill>
                          <a:latin typeface="Arial"/>
                        </a:rPr>
                        <a:t>25</a:t>
                      </a:r>
                    </a:p>
                  </a:txBody>
                  <a:tcPr marL="73152" marR="73152" marT="36576" marB="36576">
                    <a:solidFill>
                      <a:srgbClr val="FCFCFB"/>
                    </a:solidFill>
                  </a:tcPr>
                </a:tc>
                <a:tc>
                  <a:txBody>
                    <a:bodyPr/>
                    <a:lstStyle/>
                    <a:p>
                      <a:pPr>
                        <a:lnSpc>
                          <a:spcPct val="115000"/>
                        </a:lnSpc>
                      </a:pPr>
                      <a:r>
                        <a:rPr sz="1100" b="0">
                          <a:solidFill>
                            <a:srgbClr val="16181A"/>
                          </a:solidFill>
                          <a:latin typeface="Arial"/>
                        </a:rPr>
                        <a:t>The natural upgrade path from VOMM</a:t>
                      </a:r>
                    </a:p>
                  </a:txBody>
                  <a:tcPr marL="73152" marR="73152" marT="36576" marB="36576">
                    <a:solidFill>
                      <a:srgbClr val="FCFCFB"/>
                    </a:solidFill>
                  </a:tcPr>
                </a:tc>
              </a:tr>
              <a:tr h="384048">
                <a:tc>
                  <a:txBody>
                    <a:bodyPr/>
                    <a:lstStyle/>
                    <a:p>
                      <a:pPr>
                        <a:lnSpc>
                          <a:spcPct val="115000"/>
                        </a:lnSpc>
                      </a:pPr>
                      <a:r>
                        <a:rPr sz="1100" b="0">
                          <a:solidFill>
                            <a:srgbClr val="16181A"/>
                          </a:solidFill>
                          <a:latin typeface="Arial"/>
                        </a:rPr>
                        <a:t>Liu et al., MoE Personalized Next-Location (2505.24597)</a:t>
                      </a:r>
                    </a:p>
                  </a:txBody>
                  <a:tcPr marL="73152" marR="73152" marT="36576" marB="36576">
                    <a:solidFill>
                      <a:srgbClr val="FCFCFB"/>
                    </a:solidFill>
                  </a:tcPr>
                </a:tc>
                <a:tc>
                  <a:txBody>
                    <a:bodyPr/>
                    <a:lstStyle/>
                    <a:p>
                      <a:pPr>
                        <a:lnSpc>
                          <a:spcPct val="115000"/>
                        </a:lnSpc>
                      </a:pPr>
                      <a:r>
                        <a:rPr sz="1100" b="0">
                          <a:solidFill>
                            <a:srgbClr val="16181A"/>
                          </a:solidFill>
                          <a:latin typeface="Arial"/>
                        </a:rPr>
                        <a:t>25</a:t>
                      </a:r>
                    </a:p>
                  </a:txBody>
                  <a:tcPr marL="73152" marR="73152" marT="36576" marB="36576">
                    <a:solidFill>
                      <a:srgbClr val="FCFCFB"/>
                    </a:solidFill>
                  </a:tcPr>
                </a:tc>
                <a:tc>
                  <a:txBody>
                    <a:bodyPr/>
                    <a:lstStyle/>
                    <a:p>
                      <a:pPr>
                        <a:lnSpc>
                          <a:spcPct val="115000"/>
                        </a:lnSpc>
                      </a:pPr>
                      <a:r>
                        <a:rPr sz="1100" b="0">
                          <a:solidFill>
                            <a:srgbClr val="16181A"/>
                          </a:solidFill>
                          <a:latin typeface="Arial"/>
                        </a:rPr>
                        <a:t>Per-individual personalisation of prediction</a:t>
                      </a:r>
                    </a:p>
                  </a:txBody>
                  <a:tcPr marL="73152" marR="73152" marT="36576" marB="36576">
                    <a:solidFill>
                      <a:srgbClr val="FCFCFB"/>
                    </a:solidFill>
                  </a:tcPr>
                </a:tc>
              </a:tr>
              <a:tr h="384048">
                <a:tc>
                  <a:txBody>
                    <a:bodyPr/>
                    <a:lstStyle/>
                    <a:p>
                      <a:pPr>
                        <a:lnSpc>
                          <a:spcPct val="115000"/>
                        </a:lnSpc>
                      </a:pPr>
                      <a:r>
                        <a:rPr sz="1100" b="0">
                          <a:solidFill>
                            <a:srgbClr val="16181A"/>
                          </a:solidFill>
                          <a:latin typeface="Arial"/>
                        </a:rPr>
                        <a:t>Soni et al., Predicting Your Next Move &amp; Privacy (2507.08843)</a:t>
                      </a:r>
                    </a:p>
                  </a:txBody>
                  <a:tcPr marL="73152" marR="73152" marT="36576" marB="36576">
                    <a:solidFill>
                      <a:srgbClr val="FCFCFB"/>
                    </a:solidFill>
                  </a:tcPr>
                </a:tc>
                <a:tc>
                  <a:txBody>
                    <a:bodyPr/>
                    <a:lstStyle/>
                    <a:p>
                      <a:pPr>
                        <a:lnSpc>
                          <a:spcPct val="115000"/>
                        </a:lnSpc>
                      </a:pPr>
                      <a:r>
                        <a:rPr sz="1100" b="0">
                          <a:solidFill>
                            <a:srgbClr val="16181A"/>
                          </a:solidFill>
                          <a:latin typeface="Arial"/>
                        </a:rPr>
                        <a:t>25</a:t>
                      </a:r>
                    </a:p>
                  </a:txBody>
                  <a:tcPr marL="73152" marR="73152" marT="36576" marB="36576">
                    <a:solidFill>
                      <a:srgbClr val="FCFCFB"/>
                    </a:solidFill>
                  </a:tcPr>
                </a:tc>
                <a:tc>
                  <a:txBody>
                    <a:bodyPr/>
                    <a:lstStyle/>
                    <a:p>
                      <a:pPr>
                        <a:lnSpc>
                          <a:spcPct val="115000"/>
                        </a:lnSpc>
                      </a:pPr>
                      <a:r>
                        <a:rPr sz="1100" b="0">
                          <a:solidFill>
                            <a:srgbClr val="16181A"/>
                          </a:solidFill>
                          <a:latin typeface="Arial"/>
                        </a:rPr>
                        <a:t>Privacy framing for a persisted per-player model</a:t>
                      </a:r>
                    </a:p>
                  </a:txBody>
                  <a:tcPr marL="73152" marR="73152" marT="36576" marB="36576">
                    <a:solidFill>
                      <a:srgbClr val="FCFCFB"/>
                    </a:solidFill>
                  </a:tcPr>
                </a:tc>
              </a:tr>
              <a:tr h="384048">
                <a:tc>
                  <a:txBody>
                    <a:bodyPr/>
                    <a:lstStyle/>
                    <a:p>
                      <a:pPr>
                        <a:lnSpc>
                          <a:spcPct val="115000"/>
                        </a:lnSpc>
                      </a:pPr>
                      <a:r>
                        <a:rPr sz="1100" b="0">
                          <a:solidFill>
                            <a:srgbClr val="16181A"/>
                          </a:solidFill>
                          <a:latin typeface="Arial"/>
                        </a:rPr>
                        <a:t>Zhang et al., VRMN-bD fear-response dataset (2401.12133)</a:t>
                      </a:r>
                    </a:p>
                  </a:txBody>
                  <a:tcPr marL="73152" marR="73152" marT="36576" marB="36576">
                    <a:solidFill>
                      <a:srgbClr val="FCFCFB"/>
                    </a:solidFill>
                  </a:tcPr>
                </a:tc>
                <a:tc>
                  <a:txBody>
                    <a:bodyPr/>
                    <a:lstStyle/>
                    <a:p>
                      <a:pPr>
                        <a:lnSpc>
                          <a:spcPct val="115000"/>
                        </a:lnSpc>
                      </a:pPr>
                      <a:r>
                        <a:rPr sz="1100" b="0">
                          <a:solidFill>
                            <a:srgbClr val="16181A"/>
                          </a:solidFill>
                          <a:latin typeface="Arial"/>
                        </a:rPr>
                        <a:t>24</a:t>
                      </a:r>
                    </a:p>
                  </a:txBody>
                  <a:tcPr marL="73152" marR="73152" marT="36576" marB="36576">
                    <a:solidFill>
                      <a:srgbClr val="FCFCFB"/>
                    </a:solidFill>
                  </a:tcPr>
                </a:tc>
                <a:tc>
                  <a:txBody>
                    <a:bodyPr/>
                    <a:lstStyle/>
                    <a:p>
                      <a:pPr>
                        <a:lnSpc>
                          <a:spcPct val="115000"/>
                        </a:lnSpc>
                      </a:pPr>
                      <a:r>
                        <a:rPr sz="1100" b="0">
                          <a:solidFill>
                            <a:srgbClr val="16181A"/>
                          </a:solidFill>
                          <a:latin typeface="Arial"/>
                        </a:rPr>
                        <a:t>Fear is detectable in ordinary behavioural signals</a:t>
                      </a:r>
                    </a:p>
                  </a:txBody>
                  <a:tcPr marL="73152" marR="73152" marT="36576" marB="36576">
                    <a:solidFill>
                      <a:srgbClr val="FCFCFB"/>
                    </a:solidFill>
                  </a:tcPr>
                </a:tc>
              </a:tr>
              <a:tr h="384048">
                <a:tc>
                  <a:txBody>
                    <a:bodyPr/>
                    <a:lstStyle/>
                    <a:p>
                      <a:pPr>
                        <a:lnSpc>
                          <a:spcPct val="115000"/>
                        </a:lnSpc>
                      </a:pPr>
                      <a:r>
                        <a:rPr sz="1100" b="0">
                          <a:solidFill>
                            <a:srgbClr val="16181A"/>
                          </a:solidFill>
                          <a:latin typeface="Arial"/>
                        </a:rPr>
                        <a:t>Zhang et al., Decoding Fear in VR horror (2312.15582)</a:t>
                      </a:r>
                    </a:p>
                  </a:txBody>
                  <a:tcPr marL="73152" marR="73152" marT="36576" marB="36576">
                    <a:solidFill>
                      <a:srgbClr val="FCFCFB"/>
                    </a:solidFill>
                  </a:tcPr>
                </a:tc>
                <a:tc>
                  <a:txBody>
                    <a:bodyPr/>
                    <a:lstStyle/>
                    <a:p>
                      <a:pPr>
                        <a:lnSpc>
                          <a:spcPct val="115000"/>
                        </a:lnSpc>
                      </a:pPr>
                      <a:r>
                        <a:rPr sz="1100" b="0">
                          <a:solidFill>
                            <a:srgbClr val="16181A"/>
                          </a:solidFill>
                          <a:latin typeface="Arial"/>
                        </a:rPr>
                        <a:t>23</a:t>
                      </a:r>
                    </a:p>
                  </a:txBody>
                  <a:tcPr marL="73152" marR="73152" marT="36576" marB="36576">
                    <a:solidFill>
                      <a:srgbClr val="FCFCFB"/>
                    </a:solidFill>
                  </a:tcPr>
                </a:tc>
                <a:tc>
                  <a:txBody>
                    <a:bodyPr/>
                    <a:lstStyle/>
                    <a:p>
                      <a:pPr>
                        <a:lnSpc>
                          <a:spcPct val="115000"/>
                        </a:lnSpc>
                      </a:pPr>
                      <a:r>
                        <a:rPr sz="1100" b="0">
                          <a:solidFill>
                            <a:srgbClr val="16181A"/>
                          </a:solidFill>
                          <a:latin typeface="Arial"/>
                        </a:rPr>
                        <a:t>Sources the constraint that unfairness destroys fear</a:t>
                      </a:r>
                    </a:p>
                  </a:txBody>
                  <a:tcPr marL="73152" marR="73152" marT="36576" marB="36576">
                    <a:solidFill>
                      <a:srgbClr val="FCFCFB"/>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7 · RESEARCH GAP</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Three gaps, consistent across the literature</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83080"/>
            <a:ext cx="10881360" cy="4480560"/>
          </a:xfrm>
          <a:prstGeom prst="rect">
            <a:avLst/>
          </a:prstGeom>
          <a:noFill/>
        </p:spPr>
        <p:txBody>
          <a:bodyPr wrap="square" lIns="0" rIns="0" tIns="0" bIns="0">
            <a:spAutoFit/>
          </a:bodyPr>
          <a:lstStyle/>
          <a:p>
            <a:pPr>
              <a:lnSpc>
                <a:spcPct val="130000"/>
              </a:lnSpc>
              <a:spcAft>
                <a:spcPts val="1500"/>
              </a:spcAft>
            </a:pPr>
            <a:r>
              <a:rPr sz="1450" b="1">
                <a:solidFill>
                  <a:srgbClr val="16181A"/>
                </a:solidFill>
                <a:latin typeface="Arial"/>
              </a:rPr>
              <a:t>1 · DDA adapts parameters, not position.  </a:t>
            </a:r>
            <a:r>
              <a:rPr sz="1450">
                <a:solidFill>
                  <a:srgbClr val="6B7178"/>
                </a:solidFill>
                <a:latin typeface="Arial"/>
              </a:rPr>
              <a:t>The literature overwhelmingly tunes difficulty magnitude — enemy health, encounter budget, puzzle complexity. Almost none adapt where the antagonist chooses to be, from a model of the individual player.</a:t>
            </a:r>
          </a:p>
          <a:p>
            <a:pPr>
              <a:lnSpc>
                <a:spcPct val="130000"/>
              </a:lnSpc>
              <a:spcAft>
                <a:spcPts val="1500"/>
              </a:spcAft>
            </a:pPr>
            <a:r>
              <a:rPr sz="1450" b="1">
                <a:solidFill>
                  <a:srgbClr val="16181A"/>
                </a:solidFill>
                <a:latin typeface="Arial"/>
              </a:rPr>
              <a:t>2 · Next-location prediction is never used adversarially.  </a:t>
            </a:r>
            <a:r>
              <a:rPr sz="1450">
                <a:solidFill>
                  <a:srgbClr val="6B7178"/>
                </a:solidFill>
                <a:latin typeface="Arial"/>
              </a:rPr>
              <a:t>Trajectory prediction is mature, but is applied to service delivery and urban analytics. Its use as a real-time adversary against the person being predicted is unexplored.</a:t>
            </a:r>
          </a:p>
          <a:p>
            <a:pPr>
              <a:lnSpc>
                <a:spcPct val="130000"/>
              </a:lnSpc>
              <a:spcAft>
                <a:spcPts val="1500"/>
              </a:spcAft>
            </a:pPr>
            <a:r>
              <a:rPr sz="1450" b="1">
                <a:solidFill>
                  <a:srgbClr val="16181A"/>
                </a:solidFill>
                <a:latin typeface="Arial"/>
              </a:rPr>
              <a:t>3 · Adaptation is invisible, and therefore unevaluated.  </a:t>
            </a:r>
            <a:r>
              <a:rPr sz="1450">
                <a:solidFill>
                  <a:srgbClr val="6B7178"/>
                </a:solidFill>
                <a:latin typeface="Arial"/>
              </a:rPr>
              <a:t>Lopes et al. (2025) identify evaluation as the weak point. Adaptive systems are rarely surfaced to the player or measured against a no-model control.</a:t>
            </a:r>
          </a:p>
        </p:txBody>
      </p:sp>
      <p:sp>
        <p:nvSpPr>
          <p:cNvPr id="6" name="Rectangle 5"/>
          <p:cNvSpPr/>
          <p:nvPr/>
        </p:nvSpPr>
        <p:spPr>
          <a:xfrm>
            <a:off x="658368" y="5257800"/>
            <a:ext cx="10881360" cy="914400"/>
          </a:xfrm>
          <a:prstGeom prst="rect">
            <a:avLst/>
          </a:prstGeom>
          <a:solidFill>
            <a:srgbClr val="F1F6FC"/>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468112"/>
            <a:ext cx="10332720" cy="640080"/>
          </a:xfrm>
          <a:prstGeom prst="rect">
            <a:avLst/>
          </a:prstGeom>
          <a:noFill/>
        </p:spPr>
        <p:txBody>
          <a:bodyPr wrap="square" lIns="0" rIns="0" tIns="0" bIns="0">
            <a:spAutoFit/>
          </a:bodyPr>
          <a:lstStyle/>
          <a:p>
            <a:pPr algn="l">
              <a:lnSpc>
                <a:spcPct val="130000"/>
              </a:lnSpc>
              <a:spcAft>
                <a:spcPts val="600"/>
              </a:spcAft>
            </a:pPr>
            <a:r>
              <a:rPr sz="1350" b="0">
                <a:solidFill>
                  <a:srgbClr val="16181A"/>
                </a:solidFill>
                <a:latin typeface="Arial"/>
              </a:rPr>
              <a:t>PARITY addresses all three: online trajectory prediction applied adversarially, adapting antagonist placement and world state rather than parameters, evaluated against explicit controls with the model on screen.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8 · METHODOLOGY — FORMALISATION</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Prediction over a room graph</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83080"/>
            <a:ext cx="10881360" cy="4480560"/>
          </a:xfrm>
          <a:prstGeom prst="rect">
            <a:avLst/>
          </a:prstGeom>
          <a:noFill/>
        </p:spPr>
        <p:txBody>
          <a:bodyPr wrap="square" lIns="0" rIns="0" tIns="0" bIns="0">
            <a:spAutoFit/>
          </a:bodyPr>
          <a:lstStyle/>
          <a:p>
            <a:pPr>
              <a:lnSpc>
                <a:spcPct val="130000"/>
              </a:lnSpc>
              <a:spcAft>
                <a:spcPts val="1300"/>
              </a:spcAft>
            </a:pPr>
            <a:r>
              <a:rPr sz="1500">
                <a:solidFill>
                  <a:srgbClr val="16181A"/>
                </a:solidFill>
                <a:latin typeface="Arial"/>
              </a:rPr>
              <a:t>The facility is an undirected graph G = (V, E): rooms are vertices, doors are edges. The player produces a trajectory h = (v₁, v₂, …, vₜ).</a:t>
            </a:r>
          </a:p>
          <a:p>
            <a:pPr>
              <a:lnSpc>
                <a:spcPct val="130000"/>
              </a:lnSpc>
              <a:spcAft>
                <a:spcPts val="1300"/>
              </a:spcAft>
            </a:pPr>
            <a:r>
              <a:rPr sz="1500" b="1">
                <a:solidFill>
                  <a:srgbClr val="16181A"/>
                </a:solidFill>
                <a:latin typeface="Arial"/>
              </a:rPr>
              <a:t>The clock —  </a:t>
            </a:r>
            <a:r>
              <a:rPr sz="1500">
                <a:solidFill>
                  <a:srgbClr val="6B7178"/>
                </a:solidFill>
                <a:latin typeface="Arial"/>
              </a:rPr>
              <a:t>lockdown, then a short window when every door unlocks, then lockdown. Decisions happen only at windows. Sealed in between, the player draws, copies codebooks and stages the register — in real time.</a:t>
            </a:r>
          </a:p>
          <a:p>
            <a:pPr>
              <a:lnSpc>
                <a:spcPct val="130000"/>
              </a:lnSpc>
              <a:spcAft>
                <a:spcPts val="1300"/>
              </a:spcAft>
            </a:pPr>
            <a:r>
              <a:rPr sz="1500" b="1">
                <a:solidFill>
                  <a:srgbClr val="16181A"/>
                </a:solidFill>
                <a:latin typeface="Arial"/>
              </a:rPr>
              <a:t>Prediction task —  </a:t>
            </a:r>
            <a:r>
              <a:rPr sz="1500">
                <a:solidFill>
                  <a:srgbClr val="6B7178"/>
                </a:solidFill>
                <a:latin typeface="Arial"/>
              </a:rPr>
              <a:t>at each window the player takes a door OR declines to move. Estimate P(v(t+1) = c | h) over N(vₜ) ∪ {vₜ}.</a:t>
            </a:r>
          </a:p>
          <a:p>
            <a:pPr>
              <a:lnSpc>
                <a:spcPct val="130000"/>
              </a:lnSpc>
              <a:spcAft>
                <a:spcPts val="1300"/>
              </a:spcAft>
            </a:pPr>
            <a:r>
              <a:rPr sz="1500" b="1">
                <a:solidFill>
                  <a:srgbClr val="16181A"/>
                </a:solidFill>
                <a:latin typeface="Arial"/>
              </a:rPr>
              <a:t>Staying is a first-class action —  </a:t>
            </a:r>
            <a:r>
              <a:rPr sz="1500">
                <a:solidFill>
                  <a:srgbClr val="6B7178"/>
                </a:solidFill>
                <a:latin typeface="Arial"/>
              </a:rPr>
              <a:t>not the absence of one. Players linger where there is something to record, so dwell is informative. The antagonist obeys the same clock, so lockdown is safe and all danger is at the window.</a:t>
            </a:r>
          </a:p>
        </p:txBody>
      </p:sp>
      <p:sp>
        <p:nvSpPr>
          <p:cNvPr id="6" name="Rectangle 5"/>
          <p:cNvSpPr/>
          <p:nvPr/>
        </p:nvSpPr>
        <p:spPr>
          <a:xfrm>
            <a:off x="658368" y="3154680"/>
            <a:ext cx="10881360" cy="1874519"/>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346704"/>
            <a:ext cx="10332720" cy="1554480"/>
          </a:xfrm>
          <a:prstGeom prst="rect">
            <a:avLst/>
          </a:prstGeom>
          <a:noFill/>
        </p:spPr>
        <p:txBody>
          <a:bodyPr wrap="square" lIns="0" rIns="0" tIns="0" bIns="0">
            <a:spAutoFit/>
          </a:bodyPr>
          <a:lstStyle/>
          <a:p>
            <a:pPr algn="l">
              <a:lnSpc>
                <a:spcPct val="132000"/>
              </a:lnSpc>
              <a:spcAft>
                <a:spcPts val="800"/>
              </a:spcAft>
            </a:pPr>
            <a:r>
              <a:rPr sz="1350" b="0">
                <a:solidFill>
                  <a:srgbClr val="16181A"/>
                </a:solidFill>
                <a:latin typeface="Arial"/>
              </a:rPr>
              <a:t>Why an order-1 Markov model is structurally insufficient</a:t>
            </a:r>
          </a:p>
          <a:p>
            <a:pPr algn="l">
              <a:lnSpc>
                <a:spcPct val="132000"/>
              </a:lnSpc>
              <a:spcAft>
                <a:spcPts val="800"/>
              </a:spcAft>
            </a:pPr>
            <a:r>
              <a:rPr sz="1350" b="0">
                <a:solidFill>
                  <a:srgbClr val="16181A"/>
                </a:solidFill>
                <a:latin typeface="Arial"/>
              </a:rPr>
              <a:t/>
            </a:r>
          </a:p>
          <a:p>
            <a:pPr algn="l">
              <a:lnSpc>
                <a:spcPct val="132000"/>
              </a:lnSpc>
              <a:spcAft>
                <a:spcPts val="800"/>
              </a:spcAft>
            </a:pPr>
            <a:r>
              <a:rPr sz="1350" b="0">
                <a:solidFill>
                  <a:srgbClr val="16181A"/>
                </a:solidFill>
                <a:latin typeface="Arial"/>
              </a:rPr>
              <a:t>Real players run routes, so the same room has different successors depending on how it was entered. In our test facility, one room appears five times in a habitual circuit with four different successors. Order-1 cannot separate them. Longer context resolves it — but long contexts are sparse.</a:t>
            </a:r>
          </a:p>
        </p:txBody>
      </p:sp>
      <p:sp>
        <p:nvSpPr>
          <p:cNvPr id="8" name="TextBox 7"/>
          <p:cNvSpPr txBox="1"/>
          <p:nvPr/>
        </p:nvSpPr>
        <p:spPr>
          <a:xfrm>
            <a:off x="658368" y="5230368"/>
            <a:ext cx="10881360" cy="731520"/>
          </a:xfrm>
          <a:prstGeom prst="rect">
            <a:avLst/>
          </a:prstGeom>
          <a:noFill/>
        </p:spPr>
        <p:txBody>
          <a:bodyPr wrap="square" lIns="0" rIns="0" tIns="0" bIns="0">
            <a:spAutoFit/>
          </a:bodyPr>
          <a:lstStyle/>
          <a:p>
            <a:pPr algn="l">
              <a:lnSpc>
                <a:spcPct val="125000"/>
              </a:lnSpc>
              <a:spcAft>
                <a:spcPts val="600"/>
              </a:spcAft>
            </a:pPr>
            <a:r>
              <a:rPr sz="1600" b="1">
                <a:solidFill>
                  <a:srgbClr val="2A78D6"/>
                </a:solidFill>
                <a:latin typeface="Arial"/>
              </a:rPr>
              <a:t>A variable-order Markov model with back-off resolves both pressures at once.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9 · METHODOLOGY — THE MODEL</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Variable-order Markov with Witten-Bell back-off</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828800"/>
            <a:ext cx="10881360" cy="1371600"/>
          </a:xfrm>
          <a:prstGeom prst="rect">
            <a:avLst/>
          </a:prstGeom>
          <a:solidFill>
            <a:srgbClr val="16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57400"/>
            <a:ext cx="10241280" cy="1005840"/>
          </a:xfrm>
          <a:prstGeom prst="rect">
            <a:avLst/>
          </a:prstGeom>
          <a:noFill/>
        </p:spPr>
        <p:txBody>
          <a:bodyPr wrap="square" lIns="0" rIns="0" tIns="0" bIns="0">
            <a:spAutoFit/>
          </a:bodyPr>
          <a:lstStyle/>
          <a:p>
            <a:pPr algn="l">
              <a:lnSpc>
                <a:spcPct val="160000"/>
              </a:lnSpc>
              <a:spcAft>
                <a:spcPts val="400"/>
              </a:spcAft>
            </a:pPr>
            <a:r>
              <a:rPr sz="1600" b="0">
                <a:solidFill>
                  <a:srgbClr val="FFFFFF"/>
                </a:solidFill>
                <a:latin typeface="Consolas"/>
              </a:rPr>
              <a:t>P_o(x | ctx)  =  w · f_o(x | ctx)  +  (1 − w) · P_(o−1)(x | ctx[1:])</a:t>
            </a:r>
          </a:p>
          <a:p>
            <a:pPr algn="l">
              <a:lnSpc>
                <a:spcPct val="160000"/>
              </a:lnSpc>
              <a:spcAft>
                <a:spcPts val="400"/>
              </a:spcAft>
            </a:pPr>
            <a:r>
              <a:rPr sz="1600" b="0">
                <a:solidFill>
                  <a:srgbClr val="FFFFFF"/>
                </a:solidFill>
                <a:latin typeface="Consolas"/>
              </a:rPr>
              <a:t>w  =  C(ctx) / (C(ctx) + α)                    α = 1.6,  k = 4</a:t>
            </a:r>
          </a:p>
        </p:txBody>
      </p:sp>
      <p:sp>
        <p:nvSpPr>
          <p:cNvPr id="7" name="TextBox 6"/>
          <p:cNvSpPr txBox="1"/>
          <p:nvPr/>
        </p:nvSpPr>
        <p:spPr>
          <a:xfrm>
            <a:off x="658368" y="3401568"/>
            <a:ext cx="10881360" cy="365760"/>
          </a:xfrm>
          <a:prstGeom prst="rect">
            <a:avLst/>
          </a:prstGeom>
          <a:noFill/>
        </p:spPr>
        <p:txBody>
          <a:bodyPr wrap="square" lIns="0" rIns="0" tIns="0" bIns="0">
            <a:spAutoFit/>
          </a:bodyPr>
          <a:lstStyle/>
          <a:p>
            <a:pPr algn="l">
              <a:lnSpc>
                <a:spcPct val="130000"/>
              </a:lnSpc>
              <a:spcAft>
                <a:spcPts val="600"/>
              </a:spcAft>
            </a:pPr>
            <a:r>
              <a:rPr sz="1350" b="0">
                <a:solidFill>
                  <a:srgbClr val="6B7178"/>
                </a:solidFill>
                <a:latin typeface="Arial"/>
              </a:rPr>
              <a:t>Interpolate from the longest available context down to uniform. Long contexts dominate once well-supported, and decay gracefully when they are not.</a:t>
            </a:r>
          </a:p>
        </p:txBody>
      </p:sp>
      <p:graphicFrame>
        <p:nvGraphicFramePr>
          <p:cNvPr id="8" name="Table 7"/>
          <p:cNvGraphicFramePr>
            <a:graphicFrameLocks noGrp="1"/>
          </p:cNvGraphicFramePr>
          <p:nvPr/>
        </p:nvGraphicFramePr>
        <p:xfrm>
          <a:off x="658368" y="4114800"/>
          <a:ext cx="10881360" cy="1920240"/>
        </p:xfrm>
        <a:graphic>
          <a:graphicData uri="http://schemas.openxmlformats.org/drawingml/2006/table">
            <a:tbl>
              <a:tblPr firstRow="1" bandRow="1">
                <a:tableStyleId>{5C22544A-7EE6-4342-B048-85BDC9FD1C3A}</a:tableStyleId>
              </a:tblPr>
              <a:tblGrid>
                <a:gridCol w="3566160"/>
                <a:gridCol w="7315200"/>
              </a:tblGrid>
              <a:tr h="384048">
                <a:tc>
                  <a:txBody>
                    <a:bodyPr/>
                    <a:lstStyle/>
                    <a:p>
                      <a:pPr>
                        <a:lnSpc>
                          <a:spcPct val="115000"/>
                        </a:lnSpc>
                      </a:pPr>
                      <a:r>
                        <a:rPr sz="950" b="1">
                          <a:solidFill>
                            <a:srgbClr val="6B7178"/>
                          </a:solidFill>
                          <a:latin typeface="Arial"/>
                        </a:rPr>
                        <a:t>Property</a:t>
                      </a:r>
                    </a:p>
                  </a:txBody>
                  <a:tcPr marL="73152" marR="73152" marT="36576" marB="36576">
                    <a:solidFill>
                      <a:srgbClr val="F4F6F8"/>
                    </a:solidFill>
                  </a:tcPr>
                </a:tc>
                <a:tc>
                  <a:txBody>
                    <a:bodyPr/>
                    <a:lstStyle/>
                    <a:p>
                      <a:pPr>
                        <a:lnSpc>
                          <a:spcPct val="115000"/>
                        </a:lnSpc>
                      </a:pPr>
                      <a:r>
                        <a:rPr sz="950" b="1">
                          <a:solidFill>
                            <a:srgbClr val="6B7178"/>
                          </a:solidFill>
                          <a:latin typeface="Arial"/>
                        </a:rPr>
                        <a:t>Why it matters for this application</a:t>
                      </a:r>
                    </a:p>
                  </a:txBody>
                  <a:tcPr marL="73152" marR="73152" marT="36576" marB="36576">
                    <a:solidFill>
                      <a:srgbClr val="F4F6F8"/>
                    </a:solidFill>
                  </a:tcPr>
                </a:tc>
              </a:tr>
              <a:tr h="384048">
                <a:tc>
                  <a:txBody>
                    <a:bodyPr/>
                    <a:lstStyle/>
                    <a:p>
                      <a:pPr>
                        <a:lnSpc>
                          <a:spcPct val="115000"/>
                        </a:lnSpc>
                      </a:pPr>
                      <a:r>
                        <a:rPr sz="1300" b="0">
                          <a:solidFill>
                            <a:srgbClr val="16181A"/>
                          </a:solidFill>
                          <a:latin typeface="Arial"/>
                        </a:rPr>
                        <a:t>Learns online from the first move</a:t>
                      </a:r>
                    </a:p>
                  </a:txBody>
                  <a:tcPr marL="73152" marR="73152" marT="36576" marB="36576">
                    <a:solidFill>
                      <a:srgbClr val="FCFCFB"/>
                    </a:solidFill>
                  </a:tcPr>
                </a:tc>
                <a:tc>
                  <a:txBody>
                    <a:bodyPr/>
                    <a:lstStyle/>
                    <a:p>
                      <a:pPr>
                        <a:lnSpc>
                          <a:spcPct val="115000"/>
                        </a:lnSpc>
                      </a:pPr>
                      <a:r>
                        <a:rPr sz="1300" b="0">
                          <a:solidFill>
                            <a:srgbClr val="16181A"/>
                          </a:solidFill>
                          <a:latin typeface="Arial"/>
                        </a:rPr>
                        <a:t>No pre-training corpus — solves the cold-start problem</a:t>
                      </a:r>
                    </a:p>
                  </a:txBody>
                  <a:tcPr marL="73152" marR="73152" marT="36576" marB="36576">
                    <a:solidFill>
                      <a:srgbClr val="FCFCFB"/>
                    </a:solidFill>
                  </a:tcPr>
                </a:tc>
              </a:tr>
              <a:tr h="384048">
                <a:tc>
                  <a:txBody>
                    <a:bodyPr/>
                    <a:lstStyle/>
                    <a:p>
                      <a:pPr>
                        <a:lnSpc>
                          <a:spcPct val="115000"/>
                        </a:lnSpc>
                      </a:pPr>
                      <a:r>
                        <a:rPr sz="1300" b="0">
                          <a:solidFill>
                            <a:srgbClr val="16181A"/>
                          </a:solidFill>
                          <a:latin typeface="Arial"/>
                        </a:rPr>
                        <a:t>Persists across runs</a:t>
                      </a:r>
                    </a:p>
                  </a:txBody>
                  <a:tcPr marL="73152" marR="73152" marT="36576" marB="36576">
                    <a:solidFill>
                      <a:srgbClr val="FCFCFB"/>
                    </a:solidFill>
                  </a:tcPr>
                </a:tc>
                <a:tc>
                  <a:txBody>
                    <a:bodyPr/>
                    <a:lstStyle/>
                    <a:p>
                      <a:pPr>
                        <a:lnSpc>
                          <a:spcPct val="115000"/>
                        </a:lnSpc>
                      </a:pPr>
                      <a:r>
                        <a:rPr sz="1300" b="0">
                          <a:solidFill>
                            <a:srgbClr val="16181A"/>
                          </a:solidFill>
                          <a:latin typeface="Arial"/>
                        </a:rPr>
                        <a:t>The antagonist remembers you between deaths, as your notebook does</a:t>
                      </a:r>
                    </a:p>
                  </a:txBody>
                  <a:tcPr marL="73152" marR="73152" marT="36576" marB="36576">
                    <a:solidFill>
                      <a:srgbClr val="FCFCFB"/>
                    </a:solidFill>
                  </a:tcPr>
                </a:tc>
              </a:tr>
              <a:tr h="384048">
                <a:tc>
                  <a:txBody>
                    <a:bodyPr/>
                    <a:lstStyle/>
                    <a:p>
                      <a:pPr>
                        <a:lnSpc>
                          <a:spcPct val="115000"/>
                        </a:lnSpc>
                      </a:pPr>
                      <a:r>
                        <a:rPr sz="1300" b="0">
                          <a:solidFill>
                            <a:srgbClr val="16181A"/>
                          </a:solidFill>
                          <a:latin typeface="Arial"/>
                        </a:rPr>
                        <a:t>Inspectable</a:t>
                      </a:r>
                    </a:p>
                  </a:txBody>
                  <a:tcPr marL="73152" marR="73152" marT="36576" marB="36576">
                    <a:solidFill>
                      <a:srgbClr val="FCFCFB"/>
                    </a:solidFill>
                  </a:tcPr>
                </a:tc>
                <a:tc>
                  <a:txBody>
                    <a:bodyPr/>
                    <a:lstStyle/>
                    <a:p>
                      <a:pPr>
                        <a:lnSpc>
                          <a:spcPct val="115000"/>
                        </a:lnSpc>
                      </a:pPr>
                      <a:r>
                        <a:rPr sz="1300" b="0">
                          <a:solidFill>
                            <a:srgbClr val="16181A"/>
                          </a:solidFill>
                          <a:latin typeface="Arial"/>
                        </a:rPr>
                        <a:t>Every prediction decomposes to 'context → outcome, n observations'</a:t>
                      </a:r>
                    </a:p>
                  </a:txBody>
                  <a:tcPr marL="73152" marR="73152" marT="36576" marB="36576">
                    <a:solidFill>
                      <a:srgbClr val="FCFCFB"/>
                    </a:solidFill>
                  </a:tcPr>
                </a:tc>
              </a:tr>
              <a:tr h="384048">
                <a:tc>
                  <a:txBody>
                    <a:bodyPr/>
                    <a:lstStyle/>
                    <a:p>
                      <a:pPr>
                        <a:lnSpc>
                          <a:spcPct val="115000"/>
                        </a:lnSpc>
                      </a:pPr>
                      <a:r>
                        <a:rPr sz="1300" b="0">
                          <a:solidFill>
                            <a:srgbClr val="16181A"/>
                          </a:solidFill>
                          <a:latin typeface="Arial"/>
                        </a:rPr>
                        <a:t>Cheap</a:t>
                      </a:r>
                    </a:p>
                  </a:txBody>
                  <a:tcPr marL="73152" marR="73152" marT="36576" marB="36576">
                    <a:solidFill>
                      <a:srgbClr val="FCFCFB"/>
                    </a:solidFill>
                  </a:tcPr>
                </a:tc>
                <a:tc>
                  <a:txBody>
                    <a:bodyPr/>
                    <a:lstStyle/>
                    <a:p>
                      <a:pPr>
                        <a:lnSpc>
                          <a:spcPct val="115000"/>
                        </a:lnSpc>
                      </a:pPr>
                      <a:r>
                        <a:rPr sz="1300" b="0">
                          <a:solidFill>
                            <a:srgbClr val="16181A"/>
                          </a:solidFill>
                          <a:latin typeface="Arial"/>
                        </a:rPr>
                        <a:t>Hash-map counter updates; negligible per-frame cost</a:t>
                      </a:r>
                    </a:p>
                  </a:txBody>
                  <a:tcPr marL="73152" marR="73152" marT="36576" marB="36576">
                    <a:solidFill>
                      <a:srgbClr val="FCFCFB"/>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10 · METHODOLOGY — BELIEF VS. BEHAVIOUR</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The Director is separate from the Predictor</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83080"/>
            <a:ext cx="10881360" cy="457200"/>
          </a:xfrm>
          <a:prstGeom prst="rect">
            <a:avLst/>
          </a:prstGeom>
          <a:noFill/>
        </p:spPr>
        <p:txBody>
          <a:bodyPr wrap="square" lIns="0" rIns="0" tIns="0" bIns="0">
            <a:spAutoFit/>
          </a:bodyPr>
          <a:lstStyle/>
          <a:p>
            <a:pPr algn="l">
              <a:lnSpc>
                <a:spcPct val="130000"/>
              </a:lnSpc>
              <a:spcAft>
                <a:spcPts val="600"/>
              </a:spcAft>
            </a:pPr>
            <a:r>
              <a:rPr sz="1450" b="0">
                <a:solidFill>
                  <a:srgbClr val="6B7178"/>
                </a:solidFill>
                <a:latin typeface="Arial"/>
              </a:rPr>
              <a:t>The Predictor outputs beliefs. The Director decides what to do with them, scoring each counter-move by expected disruption × confidence. The model can be upgraded without re-tuning game feel.</a:t>
            </a:r>
          </a:p>
        </p:txBody>
      </p:sp>
      <p:graphicFrame>
        <p:nvGraphicFramePr>
          <p:cNvPr id="6" name="Table 5"/>
          <p:cNvGraphicFramePr>
            <a:graphicFrameLocks noGrp="1"/>
          </p:cNvGraphicFramePr>
          <p:nvPr/>
        </p:nvGraphicFramePr>
        <p:xfrm>
          <a:off x="658368" y="2606040"/>
          <a:ext cx="10881360" cy="1920240"/>
        </p:xfrm>
        <a:graphic>
          <a:graphicData uri="http://schemas.openxmlformats.org/drawingml/2006/table">
            <a:tbl>
              <a:tblPr firstRow="1" bandRow="1">
                <a:tableStyleId>{5C22544A-7EE6-4342-B048-85BDC9FD1C3A}</a:tableStyleId>
              </a:tblPr>
              <a:tblGrid>
                <a:gridCol w="2560320"/>
                <a:gridCol w="6309360"/>
                <a:gridCol w="2011680"/>
              </a:tblGrid>
              <a:tr h="384048">
                <a:tc>
                  <a:txBody>
                    <a:bodyPr/>
                    <a:lstStyle/>
                    <a:p>
                      <a:pPr>
                        <a:lnSpc>
                          <a:spcPct val="115000"/>
                        </a:lnSpc>
                      </a:pPr>
                      <a:r>
                        <a:rPr sz="950" b="1">
                          <a:solidFill>
                            <a:srgbClr val="6B7178"/>
                          </a:solidFill>
                          <a:latin typeface="Arial"/>
                        </a:rPr>
                        <a:t>Counter-move</a:t>
                      </a:r>
                    </a:p>
                  </a:txBody>
                  <a:tcPr marL="73152" marR="73152" marT="36576" marB="36576">
                    <a:solidFill>
                      <a:srgbClr val="F4F6F8"/>
                    </a:solidFill>
                  </a:tcPr>
                </a:tc>
                <a:tc>
                  <a:txBody>
                    <a:bodyPr/>
                    <a:lstStyle/>
                    <a:p>
                      <a:pPr>
                        <a:lnSpc>
                          <a:spcPct val="115000"/>
                        </a:lnSpc>
                      </a:pPr>
                      <a:r>
                        <a:rPr sz="950" b="1">
                          <a:solidFill>
                            <a:srgbClr val="6B7178"/>
                          </a:solidFill>
                          <a:latin typeface="Arial"/>
                        </a:rPr>
                        <a:t>Trigger</a:t>
                      </a:r>
                    </a:p>
                  </a:txBody>
                  <a:tcPr marL="73152" marR="73152" marT="36576" marB="36576">
                    <a:solidFill>
                      <a:srgbClr val="F4F6F8"/>
                    </a:solidFill>
                  </a:tcPr>
                </a:tc>
                <a:tc>
                  <a:txBody>
                    <a:bodyPr/>
                    <a:lstStyle/>
                    <a:p>
                      <a:pPr>
                        <a:lnSpc>
                          <a:spcPct val="115000"/>
                        </a:lnSpc>
                      </a:pPr>
                      <a:r>
                        <a:rPr sz="950" b="1">
                          <a:solidFill>
                            <a:srgbClr val="6B7178"/>
                          </a:solidFill>
                          <a:latin typeface="Arial"/>
                        </a:rPr>
                        <a:t>Status</a:t>
                      </a:r>
                    </a:p>
                  </a:txBody>
                  <a:tcPr marL="73152" marR="73152" marT="36576" marB="36576">
                    <a:solidFill>
                      <a:srgbClr val="F4F6F8"/>
                    </a:solidFill>
                  </a:tcPr>
                </a:tc>
              </a:tr>
              <a:tr h="384048">
                <a:tc>
                  <a:txBody>
                    <a:bodyPr/>
                    <a:lstStyle/>
                    <a:p>
                      <a:pPr>
                        <a:lnSpc>
                          <a:spcPct val="115000"/>
                        </a:lnSpc>
                      </a:pPr>
                      <a:r>
                        <a:rPr sz="1250" b="0">
                          <a:solidFill>
                            <a:srgbClr val="16181A"/>
                          </a:solidFill>
                          <a:latin typeface="Arial"/>
                        </a:rPr>
                        <a:t>Intercept</a:t>
                      </a:r>
                    </a:p>
                  </a:txBody>
                  <a:tcPr marL="73152" marR="73152" marT="36576" marB="36576">
                    <a:solidFill>
                      <a:srgbClr val="FCFCFB"/>
                    </a:solidFill>
                  </a:tcPr>
                </a:tc>
                <a:tc>
                  <a:txBody>
                    <a:bodyPr/>
                    <a:lstStyle/>
                    <a:p>
                      <a:pPr>
                        <a:lnSpc>
                          <a:spcPct val="115000"/>
                        </a:lnSpc>
                      </a:pPr>
                      <a:r>
                        <a:rPr sz="1250" b="0">
                          <a:solidFill>
                            <a:srgbClr val="16181A"/>
                          </a:solidFill>
                          <a:latin typeface="Arial"/>
                        </a:rPr>
                        <a:t>Rolls the model forward; meets the player where they will be</a:t>
                      </a:r>
                    </a:p>
                  </a:txBody>
                  <a:tcPr marL="73152" marR="73152" marT="36576" marB="36576">
                    <a:solidFill>
                      <a:srgbClr val="FCFCFB"/>
                    </a:solidFill>
                  </a:tcPr>
                </a:tc>
                <a:tc>
                  <a:txBody>
                    <a:bodyPr/>
                    <a:lstStyle/>
                    <a:p>
                      <a:pPr>
                        <a:lnSpc>
                          <a:spcPct val="115000"/>
                        </a:lnSpc>
                      </a:pPr>
                      <a:r>
                        <a:rPr sz="1250" b="0">
                          <a:solidFill>
                            <a:srgbClr val="16181A"/>
                          </a:solidFill>
                          <a:latin typeface="Arial"/>
                        </a:rPr>
                        <a:t>Measured (§16, 17)</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Rewire a room ahead</a:t>
                      </a:r>
                    </a:p>
                  </a:txBody>
                  <a:tcPr marL="73152" marR="73152" marT="36576" marB="36576">
                    <a:solidFill>
                      <a:srgbClr val="FCFCFB"/>
                    </a:solidFill>
                  </a:tcPr>
                </a:tc>
                <a:tc>
                  <a:txBody>
                    <a:bodyPr/>
                    <a:lstStyle/>
                    <a:p>
                      <a:pPr>
                        <a:lnSpc>
                          <a:spcPct val="115000"/>
                        </a:lnSpc>
                      </a:pPr>
                      <a:r>
                        <a:rPr sz="1250" b="0">
                          <a:solidFill>
                            <a:srgbClr val="16181A"/>
                          </a:solidFill>
                          <a:latin typeface="Arial"/>
                        </a:rPr>
                        <a:t>High confidence on a route — change it before they arrive</a:t>
                      </a:r>
                    </a:p>
                  </a:txBody>
                  <a:tcPr marL="73152" marR="73152" marT="36576" marB="36576">
                    <a:solidFill>
                      <a:srgbClr val="FCFCFB"/>
                    </a:solidFill>
                  </a:tcPr>
                </a:tc>
                <a:tc>
                  <a:txBody>
                    <a:bodyPr/>
                    <a:lstStyle/>
                    <a:p>
                      <a:pPr>
                        <a:lnSpc>
                          <a:spcPct val="115000"/>
                        </a:lnSpc>
                      </a:pPr>
                      <a:r>
                        <a:rPr sz="1250" b="0">
                          <a:solidFill>
                            <a:srgbClr val="16181A"/>
                          </a:solidFill>
                          <a:latin typeface="Arial"/>
                        </a:rPr>
                        <a:t>Measured (§18)</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Seal a shortcut</a:t>
                      </a:r>
                    </a:p>
                  </a:txBody>
                  <a:tcPr marL="73152" marR="73152" marT="36576" marB="36576">
                    <a:solidFill>
                      <a:srgbClr val="FCFCFB"/>
                    </a:solidFill>
                  </a:tcPr>
                </a:tc>
                <a:tc>
                  <a:txBody>
                    <a:bodyPr/>
                    <a:lstStyle/>
                    <a:p>
                      <a:pPr>
                        <a:lnSpc>
                          <a:spcPct val="115000"/>
                        </a:lnSpc>
                      </a:pPr>
                      <a:r>
                        <a:rPr sz="1250" b="0">
                          <a:solidFill>
                            <a:srgbClr val="16181A"/>
                          </a:solidFill>
                          <a:latin typeface="Arial"/>
                        </a:rPr>
                        <a:t>An edge with high traversal frequency</a:t>
                      </a:r>
                    </a:p>
                  </a:txBody>
                  <a:tcPr marL="73152" marR="73152" marT="36576" marB="36576">
                    <a:solidFill>
                      <a:srgbClr val="FCFCFB"/>
                    </a:solidFill>
                  </a:tcPr>
                </a:tc>
                <a:tc>
                  <a:txBody>
                    <a:bodyPr/>
                    <a:lstStyle/>
                    <a:p>
                      <a:pPr>
                        <a:lnSpc>
                          <a:spcPct val="115000"/>
                        </a:lnSpc>
                      </a:pPr>
                      <a:r>
                        <a:rPr sz="1250" b="0">
                          <a:solidFill>
                            <a:srgbClr val="16181A"/>
                          </a:solidFill>
                          <a:latin typeface="Arial"/>
                        </a:rPr>
                        <a:t>Measured (§18)</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Poison a codebook</a:t>
                      </a:r>
                    </a:p>
                  </a:txBody>
                  <a:tcPr marL="73152" marR="73152" marT="36576" marB="36576">
                    <a:solidFill>
                      <a:srgbClr val="FCFCFB"/>
                    </a:solidFill>
                  </a:tcPr>
                </a:tc>
                <a:tc>
                  <a:txBody>
                    <a:bodyPr/>
                    <a:lstStyle/>
                    <a:p>
                      <a:pPr>
                        <a:lnSpc>
                          <a:spcPct val="115000"/>
                        </a:lnSpc>
                      </a:pPr>
                      <a:r>
                        <a:rPr sz="1250" b="0">
                          <a:solidFill>
                            <a:srgbClr val="16181A"/>
                          </a:solidFill>
                          <a:latin typeface="Arial"/>
                        </a:rPr>
                        <a:t>A recorded entry the player is predicted to need again</a:t>
                      </a:r>
                    </a:p>
                  </a:txBody>
                  <a:tcPr marL="73152" marR="73152" marT="36576" marB="36576">
                    <a:solidFill>
                      <a:srgbClr val="FCFCFB"/>
                    </a:solidFill>
                  </a:tcPr>
                </a:tc>
                <a:tc>
                  <a:txBody>
                    <a:bodyPr/>
                    <a:lstStyle/>
                    <a:p>
                      <a:pPr>
                        <a:lnSpc>
                          <a:spcPct val="115000"/>
                        </a:lnSpc>
                      </a:pPr>
                      <a:r>
                        <a:rPr sz="1250" b="0">
                          <a:solidFill>
                            <a:srgbClr val="16181A"/>
                          </a:solidFill>
                          <a:latin typeface="Arial"/>
                        </a:rPr>
                        <a:t>Measured (§19)</a:t>
                      </a:r>
                    </a:p>
                  </a:txBody>
                  <a:tcPr marL="73152" marR="73152" marT="36576" marB="36576">
                    <a:solidFill>
                      <a:srgbClr val="FCFCFB"/>
                    </a:solidFill>
                  </a:tcPr>
                </a:tc>
              </a:tr>
            </a:tbl>
          </a:graphicData>
        </a:graphic>
      </p:graphicFrame>
      <p:sp>
        <p:nvSpPr>
          <p:cNvPr id="7" name="TextBox 6"/>
          <p:cNvSpPr txBox="1"/>
          <p:nvPr/>
        </p:nvSpPr>
        <p:spPr>
          <a:xfrm>
            <a:off x="658368" y="4526280"/>
            <a:ext cx="10881360" cy="320040"/>
          </a:xfrm>
          <a:prstGeom prst="rect">
            <a:avLst/>
          </a:prstGeom>
          <a:noFill/>
        </p:spPr>
        <p:txBody>
          <a:bodyPr wrap="square" lIns="0" rIns="0" tIns="0" bIns="0">
            <a:spAutoFit/>
          </a:bodyPr>
          <a:lstStyle/>
          <a:p>
            <a:pPr algn="l">
              <a:lnSpc>
                <a:spcPct val="125000"/>
              </a:lnSpc>
              <a:spcAft>
                <a:spcPts val="600"/>
              </a:spcAft>
            </a:pPr>
            <a:r>
              <a:rPr sz="1050" b="1">
                <a:solidFill>
                  <a:srgbClr val="EB6834"/>
                </a:solidFill>
                <a:latin typeface="Arial"/>
              </a:rPr>
              <a:t>FAIRNESS CONSTRAINTS</a:t>
            </a:r>
          </a:p>
        </p:txBody>
      </p:sp>
      <p:sp>
        <p:nvSpPr>
          <p:cNvPr id="8" name="TextBox 7"/>
          <p:cNvSpPr txBox="1"/>
          <p:nvPr/>
        </p:nvSpPr>
        <p:spPr>
          <a:xfrm>
            <a:off x="658368" y="4892040"/>
            <a:ext cx="10881360" cy="4480560"/>
          </a:xfrm>
          <a:prstGeom prst="rect">
            <a:avLst/>
          </a:prstGeom>
          <a:noFill/>
        </p:spPr>
        <p:txBody>
          <a:bodyPr wrap="square" lIns="0" rIns="0" tIns="0" bIns="0">
            <a:spAutoFit/>
          </a:bodyPr>
          <a:lstStyle/>
          <a:p>
            <a:pPr>
              <a:lnSpc>
                <a:spcPct val="130000"/>
              </a:lnSpc>
              <a:spcAft>
                <a:spcPts val="600"/>
              </a:spcAft>
            </a:pPr>
            <a:r>
              <a:rPr sz="1350" b="1">
                <a:solidFill>
                  <a:srgbClr val="16181A"/>
                </a:solidFill>
                <a:latin typeface="Arial"/>
              </a:rPr>
              <a:t>1  </a:t>
            </a:r>
            <a:r>
              <a:rPr sz="1350">
                <a:solidFill>
                  <a:srgbClr val="6B7178"/>
                </a:solidFill>
                <a:latin typeface="Arial"/>
              </a:rPr>
              <a:t>No mutation is ever applied to anything currently visible to the player.</a:t>
            </a:r>
          </a:p>
          <a:p>
            <a:pPr>
              <a:lnSpc>
                <a:spcPct val="130000"/>
              </a:lnSpc>
              <a:spcAft>
                <a:spcPts val="600"/>
              </a:spcAft>
            </a:pPr>
            <a:r>
              <a:rPr sz="1350" b="1">
                <a:solidFill>
                  <a:srgbClr val="16181A"/>
                </a:solidFill>
                <a:latin typeface="Arial"/>
              </a:rPr>
              <a:t>2  </a:t>
            </a:r>
            <a:r>
              <a:rPr sz="1350">
                <a:solidFill>
                  <a:srgbClr val="6B7178"/>
                </a:solidFill>
                <a:latin typeface="Arial"/>
              </a:rPr>
              <a:t>Confidence gating — below threshold it hunts conventionally, exploiting only what it knows.</a:t>
            </a:r>
          </a:p>
          <a:p>
            <a:pPr>
              <a:lnSpc>
                <a:spcPct val="130000"/>
              </a:lnSpc>
              <a:spcAft>
                <a:spcPts val="600"/>
              </a:spcAft>
            </a:pPr>
            <a:r>
              <a:rPr sz="1350" b="1">
                <a:solidFill>
                  <a:srgbClr val="16181A"/>
                </a:solidFill>
                <a:latin typeface="Arial"/>
              </a:rPr>
              <a:t>3  </a:t>
            </a:r>
            <a:r>
              <a:rPr sz="1350">
                <a:solidFill>
                  <a:srgbClr val="6B7178"/>
                </a:solidFill>
                <a:latin typeface="Arial"/>
              </a:rPr>
              <a:t>Solvability invariant — every mutation is checked for reachability and reverted if it would soft-lock the run.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11 · METHODOLOGY — EVALUATION PROTOCOL</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Headless, bot-driven, prequential</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83080"/>
            <a:ext cx="10881360" cy="4480560"/>
          </a:xfrm>
          <a:prstGeom prst="rect">
            <a:avLst/>
          </a:prstGeom>
          <a:noFill/>
        </p:spPr>
        <p:txBody>
          <a:bodyPr wrap="square" lIns="0" rIns="0" tIns="0" bIns="0">
            <a:spAutoFit/>
          </a:bodyPr>
          <a:lstStyle/>
          <a:p>
            <a:pPr>
              <a:lnSpc>
                <a:spcPct val="130000"/>
              </a:lnSpc>
              <a:spcAft>
                <a:spcPts val="1300"/>
              </a:spcAft>
            </a:pPr>
            <a:r>
              <a:rPr sz="1450">
                <a:solidFill>
                  <a:srgbClr val="16181A"/>
                </a:solidFill>
                <a:latin typeface="Arial"/>
              </a:rPr>
              <a:t>Human playtesting does not scale to a solo project. Three scripted players stand in for humans, so thousands of games run headlessly:</a:t>
            </a:r>
          </a:p>
        </p:txBody>
      </p:sp>
      <p:graphicFrame>
        <p:nvGraphicFramePr>
          <p:cNvPr id="6" name="Table 5"/>
          <p:cNvGraphicFramePr>
            <a:graphicFrameLocks noGrp="1"/>
          </p:cNvGraphicFramePr>
          <p:nvPr/>
        </p:nvGraphicFramePr>
        <p:xfrm>
          <a:off x="658368" y="2514600"/>
          <a:ext cx="10881360" cy="1920240"/>
        </p:xfrm>
        <a:graphic>
          <a:graphicData uri="http://schemas.openxmlformats.org/drawingml/2006/table">
            <a:tbl>
              <a:tblPr firstRow="1" bandRow="1">
                <a:tableStyleId>{5C22544A-7EE6-4342-B048-85BDC9FD1C3A}</a:tableStyleId>
              </a:tblPr>
              <a:tblGrid>
                <a:gridCol w="2377440"/>
                <a:gridCol w="5394960"/>
                <a:gridCol w="3108960"/>
              </a:tblGrid>
              <a:tr h="384048">
                <a:tc>
                  <a:txBody>
                    <a:bodyPr/>
                    <a:lstStyle/>
                    <a:p>
                      <a:pPr>
                        <a:lnSpc>
                          <a:spcPct val="115000"/>
                        </a:lnSpc>
                      </a:pPr>
                      <a:r>
                        <a:rPr sz="950" b="1">
                          <a:solidFill>
                            <a:srgbClr val="6B7178"/>
                          </a:solidFill>
                          <a:latin typeface="Arial"/>
                        </a:rPr>
                        <a:t>Scripted player</a:t>
                      </a:r>
                    </a:p>
                  </a:txBody>
                  <a:tcPr marL="73152" marR="73152" marT="36576" marB="36576">
                    <a:solidFill>
                      <a:srgbClr val="F4F6F8"/>
                    </a:solidFill>
                  </a:tcPr>
                </a:tc>
                <a:tc>
                  <a:txBody>
                    <a:bodyPr/>
                    <a:lstStyle/>
                    <a:p>
                      <a:pPr>
                        <a:lnSpc>
                          <a:spcPct val="115000"/>
                        </a:lnSpc>
                      </a:pPr>
                      <a:r>
                        <a:rPr sz="950" b="1">
                          <a:solidFill>
                            <a:srgbClr val="6B7178"/>
                          </a:solidFill>
                          <a:latin typeface="Arial"/>
                        </a:rPr>
                        <a:t>Models</a:t>
                      </a:r>
                    </a:p>
                  </a:txBody>
                  <a:tcPr marL="73152" marR="73152" marT="36576" marB="36576">
                    <a:solidFill>
                      <a:srgbClr val="F4F6F8"/>
                    </a:solidFill>
                  </a:tcPr>
                </a:tc>
                <a:tc>
                  <a:txBody>
                    <a:bodyPr/>
                    <a:lstStyle/>
                    <a:p>
                      <a:pPr>
                        <a:lnSpc>
                          <a:spcPct val="115000"/>
                        </a:lnSpc>
                      </a:pPr>
                      <a:r>
                        <a:rPr sz="950" b="1">
                          <a:solidFill>
                            <a:srgbClr val="6B7178"/>
                          </a:solidFill>
                          <a:latin typeface="Arial"/>
                        </a:rPr>
                        <a:t>Expected result</a:t>
                      </a:r>
                    </a:p>
                  </a:txBody>
                  <a:tcPr marL="73152" marR="73152" marT="36576" marB="36576">
                    <a:solidFill>
                      <a:srgbClr val="F4F6F8"/>
                    </a:solidFill>
                  </a:tcPr>
                </a:tc>
              </a:tr>
              <a:tr h="384048">
                <a:tc>
                  <a:txBody>
                    <a:bodyPr/>
                    <a:lstStyle/>
                    <a:p>
                      <a:pPr>
                        <a:lnSpc>
                          <a:spcPct val="115000"/>
                        </a:lnSpc>
                      </a:pPr>
                      <a:r>
                        <a:rPr sz="1250" b="0">
                          <a:solidFill>
                            <a:srgbClr val="16181A"/>
                          </a:solidFill>
                          <a:latin typeface="Arial"/>
                        </a:rPr>
                        <a:t>HabitualBot</a:t>
                      </a:r>
                    </a:p>
                  </a:txBody>
                  <a:tcPr marL="73152" marR="73152" marT="36576" marB="36576">
                    <a:solidFill>
                      <a:srgbClr val="FCFCFB"/>
                    </a:solidFill>
                  </a:tcPr>
                </a:tc>
                <a:tc>
                  <a:txBody>
                    <a:bodyPr/>
                    <a:lstStyle/>
                    <a:p>
                      <a:pPr>
                        <a:lnSpc>
                          <a:spcPct val="115000"/>
                        </a:lnSpc>
                      </a:pPr>
                      <a:r>
                        <a:rPr sz="1250" b="0">
                          <a:solidFill>
                            <a:srgbClr val="16181A"/>
                          </a:solidFill>
                          <a:latin typeface="Arial"/>
                        </a:rPr>
                        <a:t>A player who has learned the level and runs routes</a:t>
                      </a:r>
                    </a:p>
                  </a:txBody>
                  <a:tcPr marL="73152" marR="73152" marT="36576" marB="36576">
                    <a:solidFill>
                      <a:srgbClr val="FCFCFB"/>
                    </a:solidFill>
                  </a:tcPr>
                </a:tc>
                <a:tc>
                  <a:txBody>
                    <a:bodyPr/>
                    <a:lstStyle/>
                    <a:p>
                      <a:pPr>
                        <a:lnSpc>
                          <a:spcPct val="115000"/>
                        </a:lnSpc>
                      </a:pPr>
                      <a:r>
                        <a:rPr sz="1250" b="0">
                          <a:solidFill>
                            <a:srgbClr val="16181A"/>
                          </a:solidFill>
                          <a:latin typeface="Arial"/>
                        </a:rPr>
                        <a:t>Model should win decisively</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ExplorerBot</a:t>
                      </a:r>
                    </a:p>
                  </a:txBody>
                  <a:tcPr marL="73152" marR="73152" marT="36576" marB="36576">
                    <a:solidFill>
                      <a:srgbClr val="FCFCFB"/>
                    </a:solidFill>
                  </a:tcPr>
                </a:tc>
                <a:tc>
                  <a:txBody>
                    <a:bodyPr/>
                    <a:lstStyle/>
                    <a:p>
                      <a:pPr>
                        <a:lnSpc>
                          <a:spcPct val="115000"/>
                        </a:lnSpc>
                      </a:pPr>
                      <a:r>
                        <a:rPr sz="1250" b="0">
                          <a:solidFill>
                            <a:srgbClr val="16181A"/>
                          </a:solidFill>
                          <a:latin typeface="Arial"/>
                        </a:rPr>
                        <a:t>A first-time player sweeping systematically</a:t>
                      </a:r>
                    </a:p>
                  </a:txBody>
                  <a:tcPr marL="73152" marR="73152" marT="36576" marB="36576">
                    <a:solidFill>
                      <a:srgbClr val="FCFCFB"/>
                    </a:solidFill>
                  </a:tcPr>
                </a:tc>
                <a:tc>
                  <a:txBody>
                    <a:bodyPr/>
                    <a:lstStyle/>
                    <a:p>
                      <a:pPr>
                        <a:lnSpc>
                          <a:spcPct val="115000"/>
                        </a:lnSpc>
                      </a:pPr>
                      <a:r>
                        <a:rPr sz="1250" b="0">
                          <a:solidFill>
                            <a:srgbClr val="16181A"/>
                          </a:solidFill>
                          <a:latin typeface="Arial"/>
                        </a:rPr>
                        <a:t>Model should win</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EvasiveBot</a:t>
                      </a:r>
                    </a:p>
                  </a:txBody>
                  <a:tcPr marL="73152" marR="73152" marT="36576" marB="36576">
                    <a:solidFill>
                      <a:srgbClr val="FCFCFB"/>
                    </a:solidFill>
                  </a:tcPr>
                </a:tc>
                <a:tc>
                  <a:txBody>
                    <a:bodyPr/>
                    <a:lstStyle/>
                    <a:p>
                      <a:pPr>
                        <a:lnSpc>
                          <a:spcPct val="115000"/>
                        </a:lnSpc>
                      </a:pPr>
                      <a:r>
                        <a:rPr sz="1250" b="0">
                          <a:solidFill>
                            <a:srgbClr val="16181A"/>
                          </a:solidFill>
                          <a:latin typeface="Arial"/>
                        </a:rPr>
                        <a:t>Declines 35% of windows on purpose to break the pattern</a:t>
                      </a:r>
                    </a:p>
                  </a:txBody>
                  <a:tcPr marL="73152" marR="73152" marT="36576" marB="36576">
                    <a:solidFill>
                      <a:srgbClr val="FCFCFB"/>
                    </a:solidFill>
                  </a:tcPr>
                </a:tc>
                <a:tc>
                  <a:txBody>
                    <a:bodyPr/>
                    <a:lstStyle/>
                    <a:p>
                      <a:pPr>
                        <a:lnSpc>
                          <a:spcPct val="115000"/>
                        </a:lnSpc>
                      </a:pPr>
                      <a:r>
                        <a:rPr sz="1250" b="0">
                          <a:solidFill>
                            <a:srgbClr val="16181A"/>
                          </a:solidFill>
                          <a:latin typeface="Arial"/>
                        </a:rPr>
                        <a:t>The player's counter-play</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RandomBot</a:t>
                      </a:r>
                    </a:p>
                  </a:txBody>
                  <a:tcPr marL="73152" marR="73152" marT="36576" marB="36576">
                    <a:solidFill>
                      <a:srgbClr val="FCFCFB"/>
                    </a:solidFill>
                  </a:tcPr>
                </a:tc>
                <a:tc>
                  <a:txBody>
                    <a:bodyPr/>
                    <a:lstStyle/>
                    <a:p>
                      <a:pPr>
                        <a:lnSpc>
                          <a:spcPct val="115000"/>
                        </a:lnSpc>
                      </a:pPr>
                      <a:r>
                        <a:rPr sz="1250" b="0">
                          <a:solidFill>
                            <a:srgbClr val="16181A"/>
                          </a:solidFill>
                          <a:latin typeface="Arial"/>
                        </a:rPr>
                        <a:t>Uniform over doors and staying — no habit at all</a:t>
                      </a:r>
                    </a:p>
                  </a:txBody>
                  <a:tcPr marL="73152" marR="73152" marT="36576" marB="36576">
                    <a:solidFill>
                      <a:srgbClr val="FCFCFB"/>
                    </a:solidFill>
                  </a:tcPr>
                </a:tc>
                <a:tc>
                  <a:txBody>
                    <a:bodyPr/>
                    <a:lstStyle/>
                    <a:p>
                      <a:pPr>
                        <a:lnSpc>
                          <a:spcPct val="115000"/>
                        </a:lnSpc>
                      </a:pPr>
                      <a:r>
                        <a:rPr sz="1250" b="0">
                          <a:solidFill>
                            <a:srgbClr val="16181A"/>
                          </a:solidFill>
                          <a:latin typeface="Arial"/>
                        </a:rPr>
                        <a:t>Model MUST NOT beat baseline</a:t>
                      </a:r>
                    </a:p>
                  </a:txBody>
                  <a:tcPr marL="73152" marR="73152" marT="36576" marB="36576">
                    <a:solidFill>
                      <a:srgbClr val="FCFCFB"/>
                    </a:solidFill>
                  </a:tcPr>
                </a:tc>
              </a:tr>
            </a:tbl>
          </a:graphicData>
        </a:graphic>
      </p:graphicFrame>
      <p:sp>
        <p:nvSpPr>
          <p:cNvPr id="7" name="Rectangle 6"/>
          <p:cNvSpPr/>
          <p:nvPr/>
        </p:nvSpPr>
        <p:spPr>
          <a:xfrm>
            <a:off x="658368" y="4160520"/>
            <a:ext cx="10881360" cy="1325880"/>
          </a:xfrm>
          <a:prstGeom prst="rect">
            <a:avLst/>
          </a:prstGeom>
          <a:solidFill>
            <a:srgbClr val="F1F6FC"/>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370832"/>
            <a:ext cx="10332720" cy="1005840"/>
          </a:xfrm>
          <a:prstGeom prst="rect">
            <a:avLst/>
          </a:prstGeom>
          <a:noFill/>
        </p:spPr>
        <p:txBody>
          <a:bodyPr wrap="square" lIns="0" rIns="0" tIns="0" bIns="0">
            <a:spAutoFit/>
          </a:bodyPr>
          <a:lstStyle/>
          <a:p>
            <a:pPr algn="l">
              <a:lnSpc>
                <a:spcPct val="132000"/>
              </a:lnSpc>
              <a:spcAft>
                <a:spcPts val="300"/>
              </a:spcAft>
            </a:pPr>
            <a:r>
              <a:rPr sz="1350" b="0">
                <a:solidFill>
                  <a:srgbClr val="16181A"/>
                </a:solidFill>
                <a:latin typeface="Arial"/>
              </a:rPr>
              <a:t>The control is the most important experiment.</a:t>
            </a:r>
          </a:p>
          <a:p>
            <a:pPr algn="l">
              <a:lnSpc>
                <a:spcPct val="132000"/>
              </a:lnSpc>
              <a:spcAft>
                <a:spcPts val="300"/>
              </a:spcAft>
            </a:pPr>
            <a:r>
              <a:rPr sz="1350" b="0">
                <a:solidFill>
                  <a:srgbClr val="16181A"/>
                </a:solidFill>
                <a:latin typeface="Arial"/>
              </a:rPr>
              <a:t>Against a random player the model must FAIL to beat baseline. A model that appears to predict a random walk is measuring something it should not have access to. All accuracy is prequential — every prediction is made before its outcome is observed, so there is no train/test leakage by construction.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12 · SYSTEM DESIGN</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Eight modules across three layers</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arch.png"/>
          <p:cNvPicPr>
            <a:picLocks noChangeAspect="1"/>
          </p:cNvPicPr>
          <p:nvPr/>
        </p:nvPicPr>
        <p:blipFill>
          <a:blip r:embed="rId2"/>
          <a:stretch>
            <a:fillRect/>
          </a:stretch>
        </p:blipFill>
        <p:spPr>
          <a:xfrm>
            <a:off x="1344168" y="1737360"/>
            <a:ext cx="9509760" cy="48413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13 · MODULE DESCRIPTION</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Responsibilities and dependencies</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783080"/>
          <a:ext cx="10881360" cy="3456432"/>
        </p:xfrm>
        <a:graphic>
          <a:graphicData uri="http://schemas.openxmlformats.org/drawingml/2006/table">
            <a:tbl>
              <a:tblPr firstRow="1" bandRow="1">
                <a:tableStyleId>{5C22544A-7EE6-4342-B048-85BDC9FD1C3A}</a:tableStyleId>
              </a:tblPr>
              <a:tblGrid>
                <a:gridCol w="1691640"/>
                <a:gridCol w="6995160"/>
                <a:gridCol w="2194560"/>
              </a:tblGrid>
              <a:tr h="384048">
                <a:tc>
                  <a:txBody>
                    <a:bodyPr/>
                    <a:lstStyle/>
                    <a:p>
                      <a:pPr>
                        <a:lnSpc>
                          <a:spcPct val="115000"/>
                        </a:lnSpc>
                      </a:pPr>
                      <a:r>
                        <a:rPr sz="900" b="1">
                          <a:solidFill>
                            <a:srgbClr val="6B7178"/>
                          </a:solidFill>
                          <a:latin typeface="Arial"/>
                        </a:rPr>
                        <a:t>Module</a:t>
                      </a:r>
                    </a:p>
                  </a:txBody>
                  <a:tcPr marL="73152" marR="73152" marT="36576" marB="36576">
                    <a:solidFill>
                      <a:srgbClr val="F4F6F8"/>
                    </a:solidFill>
                  </a:tcPr>
                </a:tc>
                <a:tc>
                  <a:txBody>
                    <a:bodyPr/>
                    <a:lstStyle/>
                    <a:p>
                      <a:pPr>
                        <a:lnSpc>
                          <a:spcPct val="115000"/>
                        </a:lnSpc>
                      </a:pPr>
                      <a:r>
                        <a:rPr sz="900" b="1">
                          <a:solidFill>
                            <a:srgbClr val="6B7178"/>
                          </a:solidFill>
                          <a:latin typeface="Arial"/>
                        </a:rPr>
                        <a:t>Responsibility</a:t>
                      </a:r>
                    </a:p>
                  </a:txBody>
                  <a:tcPr marL="73152" marR="73152" marT="36576" marB="36576">
                    <a:solidFill>
                      <a:srgbClr val="F4F6F8"/>
                    </a:solidFill>
                  </a:tcPr>
                </a:tc>
                <a:tc>
                  <a:txBody>
                    <a:bodyPr/>
                    <a:lstStyle/>
                    <a:p>
                      <a:pPr>
                        <a:lnSpc>
                          <a:spcPct val="115000"/>
                        </a:lnSpc>
                      </a:pPr>
                      <a:r>
                        <a:rPr sz="900" b="1">
                          <a:solidFill>
                            <a:srgbClr val="6B7178"/>
                          </a:solidFill>
                          <a:latin typeface="Arial"/>
                        </a:rPr>
                        <a:t>Depends on</a:t>
                      </a:r>
                    </a:p>
                  </a:txBody>
                  <a:tcPr marL="73152" marR="73152" marT="36576" marB="36576">
                    <a:solidFill>
                      <a:srgbClr val="F4F6F8"/>
                    </a:solidFill>
                  </a:tcPr>
                </a:tc>
              </a:tr>
              <a:tr h="384048">
                <a:tc>
                  <a:txBody>
                    <a:bodyPr/>
                    <a:lstStyle/>
                    <a:p>
                      <a:pPr>
                        <a:lnSpc>
                          <a:spcPct val="115000"/>
                        </a:lnSpc>
                      </a:pPr>
                      <a:r>
                        <a:rPr sz="1200" b="0">
                          <a:solidFill>
                            <a:srgbClr val="16181A"/>
                          </a:solidFill>
                          <a:latin typeface="Arial"/>
                        </a:rPr>
                        <a:t>Facility</a:t>
                      </a:r>
                    </a:p>
                  </a:txBody>
                  <a:tcPr marL="73152" marR="73152" marT="36576" marB="36576">
                    <a:solidFill>
                      <a:srgbClr val="FCFCFB"/>
                    </a:solidFill>
                  </a:tcPr>
                </a:tc>
                <a:tc>
                  <a:txBody>
                    <a:bodyPr/>
                    <a:lstStyle/>
                    <a:p>
                      <a:pPr>
                        <a:lnSpc>
                          <a:spcPct val="115000"/>
                        </a:lnSpc>
                      </a:pPr>
                      <a:r>
                        <a:rPr sz="1200" b="0">
                          <a:solidFill>
                            <a:srgbClr val="16181A"/>
                          </a:solidFill>
                          <a:latin typeface="Arial"/>
                        </a:rPr>
                        <a:t>Room graph; generation; rewire / seal; connectivity and reachability queries</a:t>
                      </a:r>
                    </a:p>
                  </a:txBody>
                  <a:tcPr marL="73152" marR="73152" marT="36576" marB="36576">
                    <a:solidFill>
                      <a:srgbClr val="FCFCFB"/>
                    </a:solidFill>
                  </a:tcPr>
                </a:tc>
                <a:tc>
                  <a:txBody>
                    <a:bodyPr/>
                    <a:lstStyle/>
                    <a:p>
                      <a:pPr>
                        <a:lnSpc>
                          <a:spcPct val="115000"/>
                        </a:lnSpc>
                      </a:pPr>
                      <a:r>
                        <a:rPr sz="1200" b="0">
                          <a:solidFill>
                            <a:srgbClr val="16181A"/>
                          </a:solidFill>
                          <a:latin typeface="Arial"/>
                        </a:rPr>
                        <a:t>—</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Cipher</a:t>
                      </a:r>
                    </a:p>
                  </a:txBody>
                  <a:tcPr marL="73152" marR="73152" marT="36576" marB="36576">
                    <a:solidFill>
                      <a:srgbClr val="FCFCFB"/>
                    </a:solidFill>
                  </a:tcPr>
                </a:tc>
                <a:tc>
                  <a:txBody>
                    <a:bodyPr/>
                    <a:lstStyle/>
                    <a:p>
                      <a:pPr>
                        <a:lnSpc>
                          <a:spcPct val="115000"/>
                        </a:lnSpc>
                      </a:pPr>
                      <a:r>
                        <a:rPr sz="1200" b="0">
                          <a:solidFill>
                            <a:srgbClr val="16181A"/>
                          </a:solidFill>
                          <a:latin typeface="Arial"/>
                        </a:rPr>
                        <a:t>Per-room lookup tables, inbound sequences, 9-cell register, transmit validation</a:t>
                      </a:r>
                    </a:p>
                  </a:txBody>
                  <a:tcPr marL="73152" marR="73152" marT="36576" marB="36576">
                    <a:solidFill>
                      <a:srgbClr val="FCFCFB"/>
                    </a:solidFill>
                  </a:tcPr>
                </a:tc>
                <a:tc>
                  <a:txBody>
                    <a:bodyPr/>
                    <a:lstStyle/>
                    <a:p>
                      <a:pPr>
                        <a:lnSpc>
                          <a:spcPct val="115000"/>
                        </a:lnSpc>
                      </a:pPr>
                      <a:r>
                        <a:rPr sz="1200" b="0">
                          <a:solidFill>
                            <a:srgbClr val="16181A"/>
                          </a:solidFill>
                          <a:latin typeface="Arial"/>
                        </a:rPr>
                        <a:t>—</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Sabotage</a:t>
                      </a:r>
                    </a:p>
                  </a:txBody>
                  <a:tcPr marL="73152" marR="73152" marT="36576" marB="36576">
                    <a:solidFill>
                      <a:srgbClr val="FCFCFB"/>
                    </a:solidFill>
                  </a:tcPr>
                </a:tc>
                <a:tc>
                  <a:txBody>
                    <a:bodyPr/>
                    <a:lstStyle/>
                    <a:p>
                      <a:pPr>
                        <a:lnSpc>
                          <a:spcPct val="115000"/>
                        </a:lnSpc>
                      </a:pPr>
                      <a:r>
                        <a:rPr sz="1200" b="0">
                          <a:solidFill>
                            <a:srgbClr val="16181A"/>
                          </a:solidFill>
                          <a:latin typeface="Arial"/>
                        </a:rPr>
                        <a:t>The single choke point for all world mutation — every lie is logged and replayable</a:t>
                      </a:r>
                    </a:p>
                  </a:txBody>
                  <a:tcPr marL="73152" marR="73152" marT="36576" marB="36576">
                    <a:solidFill>
                      <a:srgbClr val="FCFCFB"/>
                    </a:solidFill>
                  </a:tcPr>
                </a:tc>
                <a:tc>
                  <a:txBody>
                    <a:bodyPr/>
                    <a:lstStyle/>
                    <a:p>
                      <a:pPr>
                        <a:lnSpc>
                          <a:spcPct val="115000"/>
                        </a:lnSpc>
                      </a:pPr>
                      <a:r>
                        <a:rPr sz="1200" b="0">
                          <a:solidFill>
                            <a:srgbClr val="16181A"/>
                          </a:solidFill>
                          <a:latin typeface="Arial"/>
                        </a:rPr>
                        <a:t>Facility, Cipher</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Telemetry</a:t>
                      </a:r>
                    </a:p>
                  </a:txBody>
                  <a:tcPr marL="73152" marR="73152" marT="36576" marB="36576">
                    <a:solidFill>
                      <a:srgbClr val="FCFCFB"/>
                    </a:solidFill>
                  </a:tcPr>
                </a:tc>
                <a:tc>
                  <a:txBody>
                    <a:bodyPr/>
                    <a:lstStyle/>
                    <a:p>
                      <a:pPr>
                        <a:lnSpc>
                          <a:spcPct val="115000"/>
                        </a:lnSpc>
                      </a:pPr>
                      <a:r>
                        <a:rPr sz="1200" b="0">
                          <a:solidFill>
                            <a:srgbClr val="16181A"/>
                          </a:solidFill>
                          <a:latin typeface="Arial"/>
                        </a:rPr>
                        <a:t>Room dwell, edge traversals, route repeats, verify duration, flee direction</a:t>
                      </a:r>
                    </a:p>
                  </a:txBody>
                  <a:tcPr marL="73152" marR="73152" marT="36576" marB="36576">
                    <a:solidFill>
                      <a:srgbClr val="FCFCFB"/>
                    </a:solidFill>
                  </a:tcPr>
                </a:tc>
                <a:tc>
                  <a:txBody>
                    <a:bodyPr/>
                    <a:lstStyle/>
                    <a:p>
                      <a:pPr>
                        <a:lnSpc>
                          <a:spcPct val="115000"/>
                        </a:lnSpc>
                      </a:pPr>
                      <a:r>
                        <a:rPr sz="1200" b="0">
                          <a:solidFill>
                            <a:srgbClr val="16181A"/>
                          </a:solidFill>
                          <a:latin typeface="Arial"/>
                        </a:rPr>
                        <a:t>—</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Predictor</a:t>
                      </a:r>
                    </a:p>
                  </a:txBody>
                  <a:tcPr marL="73152" marR="73152" marT="36576" marB="36576">
                    <a:solidFill>
                      <a:srgbClr val="FCFCFB"/>
                    </a:solidFill>
                  </a:tcPr>
                </a:tc>
                <a:tc>
                  <a:txBody>
                    <a:bodyPr/>
                    <a:lstStyle/>
                    <a:p>
                      <a:pPr>
                        <a:lnSpc>
                          <a:spcPct val="115000"/>
                        </a:lnSpc>
                      </a:pPr>
                      <a:r>
                        <a:rPr sz="1200" b="0">
                          <a:solidFill>
                            <a:srgbClr val="16181A"/>
                          </a:solidFill>
                          <a:latin typeface="Arial"/>
                        </a:rPr>
                        <a:t>VOMM: predict / observe / top_habit / confidence. Persists across runs</a:t>
                      </a:r>
                    </a:p>
                  </a:txBody>
                  <a:tcPr marL="73152" marR="73152" marT="36576" marB="36576">
                    <a:solidFill>
                      <a:srgbClr val="FCFCFB"/>
                    </a:solidFill>
                  </a:tcPr>
                </a:tc>
                <a:tc>
                  <a:txBody>
                    <a:bodyPr/>
                    <a:lstStyle/>
                    <a:p>
                      <a:pPr>
                        <a:lnSpc>
                          <a:spcPct val="115000"/>
                        </a:lnSpc>
                      </a:pPr>
                      <a:r>
                        <a:rPr sz="1200" b="0">
                          <a:solidFill>
                            <a:srgbClr val="16181A"/>
                          </a:solidFill>
                          <a:latin typeface="Arial"/>
                        </a:rPr>
                        <a:t>Telemetry</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Director</a:t>
                      </a:r>
                    </a:p>
                  </a:txBody>
                  <a:tcPr marL="73152" marR="73152" marT="36576" marB="36576">
                    <a:solidFill>
                      <a:srgbClr val="FCFCFB"/>
                    </a:solidFill>
                  </a:tcPr>
                </a:tc>
                <a:tc>
                  <a:txBody>
                    <a:bodyPr/>
                    <a:lstStyle/>
                    <a:p>
                      <a:pPr>
                        <a:lnSpc>
                          <a:spcPct val="115000"/>
                        </a:lnSpc>
                      </a:pPr>
                      <a:r>
                        <a:rPr sz="1200" b="0">
                          <a:solidFill>
                            <a:srgbClr val="16181A"/>
                          </a:solidFill>
                          <a:latin typeface="Arial"/>
                        </a:rPr>
                        <a:t>Scores and selects counter-moves from beliefs. Confidence-gated</a:t>
                      </a:r>
                    </a:p>
                  </a:txBody>
                  <a:tcPr marL="73152" marR="73152" marT="36576" marB="36576">
                    <a:solidFill>
                      <a:srgbClr val="FCFCFB"/>
                    </a:solidFill>
                  </a:tcPr>
                </a:tc>
                <a:tc>
                  <a:txBody>
                    <a:bodyPr/>
                    <a:lstStyle/>
                    <a:p>
                      <a:pPr>
                        <a:lnSpc>
                          <a:spcPct val="115000"/>
                        </a:lnSpc>
                      </a:pPr>
                      <a:r>
                        <a:rPr sz="1200" b="0">
                          <a:solidFill>
                            <a:srgbClr val="16181A"/>
                          </a:solidFill>
                          <a:latin typeface="Arial"/>
                        </a:rPr>
                        <a:t>Predictor</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Entity</a:t>
                      </a:r>
                    </a:p>
                  </a:txBody>
                  <a:tcPr marL="73152" marR="73152" marT="36576" marB="36576">
                    <a:solidFill>
                      <a:srgbClr val="FCFCFB"/>
                    </a:solidFill>
                  </a:tcPr>
                </a:tc>
                <a:tc>
                  <a:txBody>
                    <a:bodyPr/>
                    <a:lstStyle/>
                    <a:p>
                      <a:pPr>
                        <a:lnSpc>
                          <a:spcPct val="115000"/>
                        </a:lnSpc>
                      </a:pPr>
                      <a:r>
                        <a:rPr sz="1200" b="0">
                          <a:solidFill>
                            <a:srgbClr val="16181A"/>
                          </a:solidFill>
                          <a:latin typeface="Arial"/>
                        </a:rPr>
                        <a:t>Perception, navigation, patrol / hunt / ambush. Contains no learning</a:t>
                      </a:r>
                    </a:p>
                  </a:txBody>
                  <a:tcPr marL="73152" marR="73152" marT="36576" marB="36576">
                    <a:solidFill>
                      <a:srgbClr val="FCFCFB"/>
                    </a:solidFill>
                  </a:tcPr>
                </a:tc>
                <a:tc>
                  <a:txBody>
                    <a:bodyPr/>
                    <a:lstStyle/>
                    <a:p>
                      <a:pPr>
                        <a:lnSpc>
                          <a:spcPct val="115000"/>
                        </a:lnSpc>
                      </a:pPr>
                      <a:r>
                        <a:rPr sz="1200" b="0">
                          <a:solidFill>
                            <a:srgbClr val="16181A"/>
                          </a:solidFill>
                          <a:latin typeface="Arial"/>
                        </a:rPr>
                        <a:t>Director, Facility</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Notebook</a:t>
                      </a:r>
                    </a:p>
                  </a:txBody>
                  <a:tcPr marL="73152" marR="73152" marT="36576" marB="36576">
                    <a:solidFill>
                      <a:srgbClr val="FCFCFB"/>
                    </a:solidFill>
                  </a:tcPr>
                </a:tc>
                <a:tc>
                  <a:txBody>
                    <a:bodyPr/>
                    <a:lstStyle/>
                    <a:p>
                      <a:pPr>
                        <a:lnSpc>
                          <a:spcPct val="115000"/>
                        </a:lnSpc>
                      </a:pPr>
                      <a:r>
                        <a:rPr sz="1200" b="0">
                          <a:solidFill>
                            <a:srgbClr val="16181A"/>
                          </a:solidFill>
                          <a:latin typeface="Arial"/>
                        </a:rPr>
                        <a:t>In-world vector editor and serialisation. Reads no game state</a:t>
                      </a:r>
                    </a:p>
                  </a:txBody>
                  <a:tcPr marL="73152" marR="73152" marT="36576" marB="36576">
                    <a:solidFill>
                      <a:srgbClr val="FCFCFB"/>
                    </a:solidFill>
                  </a:tcPr>
                </a:tc>
                <a:tc>
                  <a:txBody>
                    <a:bodyPr/>
                    <a:lstStyle/>
                    <a:p>
                      <a:pPr>
                        <a:lnSpc>
                          <a:spcPct val="115000"/>
                        </a:lnSpc>
                      </a:pPr>
                      <a:r>
                        <a:rPr sz="1200" b="0">
                          <a:solidFill>
                            <a:srgbClr val="16181A"/>
                          </a:solidFill>
                          <a:latin typeface="Arial"/>
                        </a:rPr>
                        <a:t>—</a:t>
                      </a:r>
                    </a:p>
                  </a:txBody>
                  <a:tcPr marL="73152" marR="73152" marT="36576" marB="36576">
                    <a:solidFill>
                      <a:srgbClr val="FCFCFB"/>
                    </a:solidFill>
                  </a:tcPr>
                </a:tc>
              </a:tr>
            </a:tbl>
          </a:graphicData>
        </a:graphic>
      </p:graphicFrame>
      <p:sp>
        <p:nvSpPr>
          <p:cNvPr id="6" name="TextBox 5"/>
          <p:cNvSpPr txBox="1"/>
          <p:nvPr/>
        </p:nvSpPr>
        <p:spPr>
          <a:xfrm>
            <a:off x="658368" y="5440680"/>
            <a:ext cx="10881360" cy="822960"/>
          </a:xfrm>
          <a:prstGeom prst="rect">
            <a:avLst/>
          </a:prstGeom>
          <a:noFill/>
        </p:spPr>
        <p:txBody>
          <a:bodyPr wrap="square" lIns="0" rIns="0" tIns="0" bIns="0">
            <a:spAutoFit/>
          </a:bodyPr>
          <a:lstStyle/>
          <a:p>
            <a:pPr algn="l">
              <a:lnSpc>
                <a:spcPct val="130000"/>
              </a:lnSpc>
              <a:spcAft>
                <a:spcPts val="600"/>
              </a:spcAft>
            </a:pPr>
            <a:r>
              <a:rPr sz="1250" b="0">
                <a:solidFill>
                  <a:srgbClr val="6B7178"/>
                </a:solidFill>
                <a:latin typeface="Arial"/>
              </a:rPr>
              <a:t>Two decisions worth defending — Sabotage as sole mutator makes 'did the AI cheat or did I misread my notes?' a tractable question. The Notebook sits outside the data loop: it is the only channel the Director cannot touch, which is what makes it the player's counter-move rather than decoration.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14 · RESULTS — PREDICTION ACCURACY</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10-room facility · 1200 steps × 12 seeds</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accuracy.png"/>
          <p:cNvPicPr>
            <a:picLocks noChangeAspect="1"/>
          </p:cNvPicPr>
          <p:nvPr/>
        </p:nvPicPr>
        <p:blipFill>
          <a:blip r:embed="rId2"/>
          <a:stretch>
            <a:fillRect/>
          </a:stretch>
        </p:blipFill>
        <p:spPr>
          <a:xfrm>
            <a:off x="2075688" y="1691640"/>
            <a:ext cx="8046720" cy="4121491"/>
          </a:xfrm>
          <a:prstGeom prst="rect">
            <a:avLst/>
          </a:prstGeom>
        </p:spPr>
      </p:pic>
      <p:sp>
        <p:nvSpPr>
          <p:cNvPr id="6" name="TextBox 5"/>
          <p:cNvSpPr txBox="1"/>
          <p:nvPr/>
        </p:nvSpPr>
        <p:spPr>
          <a:xfrm>
            <a:off x="658368" y="6035040"/>
            <a:ext cx="10881360" cy="548640"/>
          </a:xfrm>
          <a:prstGeom prst="rect">
            <a:avLst/>
          </a:prstGeom>
          <a:noFill/>
        </p:spPr>
        <p:txBody>
          <a:bodyPr wrap="square" lIns="0" rIns="0" tIns="0" bIns="0">
            <a:spAutoFit/>
          </a:bodyPr>
          <a:lstStyle/>
          <a:p>
            <a:pPr algn="l">
              <a:lnSpc>
                <a:spcPct val="130000"/>
              </a:lnSpc>
              <a:spcAft>
                <a:spcPts val="600"/>
              </a:spcAft>
            </a:pPr>
            <a:r>
              <a:rPr sz="1300" b="0">
                <a:solidFill>
                  <a:srgbClr val="6B7178"/>
                </a:solidFill>
                <a:latin typeface="Arial"/>
              </a:rPr>
              <a:t>Read the control first: against a random player the model performs identically to no model at all. The gains against structured players are therefore learned habit, not leakage.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15 · RESULTS — LEARNING SPEED</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Cold start solved empirically</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learning.png"/>
          <p:cNvPicPr>
            <a:picLocks noChangeAspect="1"/>
          </p:cNvPicPr>
          <p:nvPr/>
        </p:nvPicPr>
        <p:blipFill>
          <a:blip r:embed="rId2"/>
          <a:stretch>
            <a:fillRect/>
          </a:stretch>
        </p:blipFill>
        <p:spPr>
          <a:xfrm>
            <a:off x="2075688" y="1691640"/>
            <a:ext cx="8046720" cy="4121491"/>
          </a:xfrm>
          <a:prstGeom prst="rect">
            <a:avLst/>
          </a:prstGeom>
        </p:spPr>
      </p:pic>
      <p:sp>
        <p:nvSpPr>
          <p:cNvPr id="6" name="TextBox 5"/>
          <p:cNvSpPr txBox="1"/>
          <p:nvPr/>
        </p:nvSpPr>
        <p:spPr>
          <a:xfrm>
            <a:off x="658368" y="6035040"/>
            <a:ext cx="10881360" cy="548640"/>
          </a:xfrm>
          <a:prstGeom prst="rect">
            <a:avLst/>
          </a:prstGeom>
          <a:noFill/>
        </p:spPr>
        <p:txBody>
          <a:bodyPr wrap="square" lIns="0" rIns="0" tIns="0" bIns="0">
            <a:spAutoFit/>
          </a:bodyPr>
          <a:lstStyle/>
          <a:p>
            <a:pPr algn="l">
              <a:lnSpc>
                <a:spcPct val="130000"/>
              </a:lnSpc>
              <a:spcAft>
                <a:spcPts val="600"/>
              </a:spcAft>
            </a:pPr>
            <a:r>
              <a:rPr sz="1300" b="0">
                <a:solidFill>
                  <a:srgbClr val="6B7178"/>
                </a:solidFill>
                <a:latin typeface="Arial"/>
              </a:rPr>
              <a:t>Rolling top-1 accuracy rises from 29% to 59% within roughly 60 observed moves — under a minute of play.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16 · RESULTS — DOES PREDICTION MATTER?</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Embodied pursuit: the entity must intercept, not teleport</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capture.png"/>
          <p:cNvPicPr>
            <a:picLocks noChangeAspect="1"/>
          </p:cNvPicPr>
          <p:nvPr/>
        </p:nvPicPr>
        <p:blipFill>
          <a:blip r:embed="rId2"/>
          <a:stretch>
            <a:fillRect/>
          </a:stretch>
        </p:blipFill>
        <p:spPr>
          <a:xfrm>
            <a:off x="2167128" y="1719072"/>
            <a:ext cx="7863840" cy="3836020"/>
          </a:xfrm>
          <a:prstGeom prst="rect">
            <a:avLst/>
          </a:prstGeom>
        </p:spPr>
      </p:pic>
      <p:sp>
        <p:nvSpPr>
          <p:cNvPr id="6" name="TextBox 5"/>
          <p:cNvSpPr txBox="1"/>
          <p:nvPr/>
        </p:nvSpPr>
        <p:spPr>
          <a:xfrm>
            <a:off x="658368" y="5687568"/>
            <a:ext cx="10881360" cy="960120"/>
          </a:xfrm>
          <a:prstGeom prst="rect">
            <a:avLst/>
          </a:prstGeom>
          <a:noFill/>
        </p:spPr>
        <p:txBody>
          <a:bodyPr wrap="square" lIns="0" rIns="0" tIns="0" bIns="0">
            <a:spAutoFit/>
          </a:bodyPr>
          <a:lstStyle/>
          <a:p>
            <a:pPr algn="l">
              <a:lnSpc>
                <a:spcPct val="128000"/>
              </a:lnSpc>
              <a:spcAft>
                <a:spcPts val="600"/>
              </a:spcAft>
            </a:pPr>
            <a:r>
              <a:rPr sz="1200" b="0">
                <a:solidFill>
                  <a:srgbClr val="6B7178"/>
                </a:solidFill>
                <a:latin typeface="Arial"/>
              </a:rPr>
              <a:t>Any model-driven antagonist beats the non-learning ones — 2.7× the random control and 1.1× hub-camping. But the models are within noise of each other, and five-step lookahead is now slightly WORSE than one-step: at 61% single-step accuracy, rollout error compounds faster than the extra foresight pays. Lookahead helps an accurate model and hurts an uncertain 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17 · RESULTS — DOES THE ADVANTAGE HOLD AT SCALE?</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Hub-camping only looks good on a small map</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scaling.png"/>
          <p:cNvPicPr>
            <a:picLocks noChangeAspect="1"/>
          </p:cNvPicPr>
          <p:nvPr/>
        </p:nvPicPr>
        <p:blipFill>
          <a:blip r:embed="rId2"/>
          <a:stretch>
            <a:fillRect/>
          </a:stretch>
        </p:blipFill>
        <p:spPr>
          <a:xfrm>
            <a:off x="2286000" y="1691640"/>
            <a:ext cx="7680960" cy="4027820"/>
          </a:xfrm>
          <a:prstGeom prst="rect">
            <a:avLst/>
          </a:prstGeom>
        </p:spPr>
      </p:pic>
      <p:sp>
        <p:nvSpPr>
          <p:cNvPr id="6" name="TextBox 5"/>
          <p:cNvSpPr txBox="1"/>
          <p:nvPr/>
        </p:nvSpPr>
        <p:spPr>
          <a:xfrm>
            <a:off x="658368" y="5623560"/>
            <a:ext cx="10881360" cy="914400"/>
          </a:xfrm>
          <a:prstGeom prst="rect">
            <a:avLst/>
          </a:prstGeom>
          <a:noFill/>
        </p:spPr>
        <p:txBody>
          <a:bodyPr wrap="square" lIns="0" rIns="0" tIns="0" bIns="0">
            <a:spAutoFit/>
          </a:bodyPr>
          <a:lstStyle/>
          <a:p>
            <a:pPr algn="l">
              <a:lnSpc>
                <a:spcPct val="130000"/>
              </a:lnSpc>
              <a:spcAft>
                <a:spcPts val="600"/>
              </a:spcAft>
            </a:pPr>
            <a:r>
              <a:rPr sz="1250" b="0">
                <a:solidFill>
                  <a:srgbClr val="6B7178"/>
                </a:solidFill>
                <a:latin typeface="Arial"/>
              </a:rPr>
              <a:t>On 10 rooms with one dominant junction the player has nowhere else to go, so a naive heuristic looks competitive for reasons unrelated to intelligence. As the facility grows, hub-camping decays fastest and the interceptor's advantage widens from 1.15× to 1.57×. The small-facility result understates the value of prediction.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18 · RESULTS — DO THE WORLD EDITS MATTER?</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Interception is only one of four counter-moves</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disruption.png"/>
          <p:cNvPicPr>
            <a:picLocks noChangeAspect="1"/>
          </p:cNvPicPr>
          <p:nvPr/>
        </p:nvPicPr>
        <p:blipFill>
          <a:blip r:embed="rId2"/>
          <a:stretch>
            <a:fillRect/>
          </a:stretch>
        </p:blipFill>
        <p:spPr>
          <a:xfrm>
            <a:off x="2286000" y="1737360"/>
            <a:ext cx="7680960" cy="3653140"/>
          </a:xfrm>
          <a:prstGeom prst="rect">
            <a:avLst/>
          </a:prstGeom>
        </p:spPr>
      </p:pic>
      <p:sp>
        <p:nvSpPr>
          <p:cNvPr id="6" name="TextBox 5"/>
          <p:cNvSpPr txBox="1"/>
          <p:nvPr/>
        </p:nvSpPr>
        <p:spPr>
          <a:xfrm>
            <a:off x="658368" y="5532120"/>
            <a:ext cx="10881360" cy="1005840"/>
          </a:xfrm>
          <a:prstGeom prst="rect">
            <a:avLst/>
          </a:prstGeom>
          <a:noFill/>
        </p:spPr>
        <p:txBody>
          <a:bodyPr wrap="square" lIns="0" rIns="0" tIns="0" bIns="0">
            <a:spAutoFit/>
          </a:bodyPr>
          <a:lstStyle/>
          <a:p>
            <a:pPr algn="l">
              <a:lnSpc>
                <a:spcPct val="130000"/>
              </a:lnSpc>
              <a:spcAft>
                <a:spcPts val="600"/>
              </a:spcAft>
            </a:pPr>
            <a:r>
              <a:rPr sz="1300" b="0">
                <a:solidFill>
                  <a:srgbClr val="6B7178"/>
                </a:solidFill>
                <a:latin typeface="Arial"/>
              </a:rPr>
              <a:t>The entity is removed entirely here, isolating topology mutation. Sealing and rewiring ahead of the player raises the cost of completing an objective by 54% (20.9 to 32.3 moves per lap). Every one of the 126 rewires and 55 seals passed the reachability check — no run was ever soft-locked.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19 · RESULTS — IS THE SABOTAGE AIMED?</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A conditional result, reported as such</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83080"/>
            <a:ext cx="10881360" cy="548640"/>
          </a:xfrm>
          <a:prstGeom prst="rect">
            <a:avLst/>
          </a:prstGeom>
          <a:noFill/>
        </p:spPr>
        <p:txBody>
          <a:bodyPr wrap="square" lIns="0" rIns="0" tIns="0" bIns="0">
            <a:spAutoFit/>
          </a:bodyPr>
          <a:lstStyle/>
          <a:p>
            <a:pPr algn="l">
              <a:lnSpc>
                <a:spcPct val="130000"/>
              </a:lnSpc>
              <a:spcAft>
                <a:spcPts val="600"/>
              </a:spcAft>
            </a:pPr>
            <a:r>
              <a:rPr sz="1400" b="0">
                <a:solidFill>
                  <a:srgbClr val="6B7178"/>
                </a:solidFill>
                <a:latin typeface="Arial"/>
              </a:rPr>
              <a:t>A poisoned codebook only costs the player if they return to it, and costs more the sooner they do. Lower is better-aimed. Control: poison a recorded room at random.</a:t>
            </a:r>
          </a:p>
        </p:txBody>
      </p:sp>
      <p:graphicFrame>
        <p:nvGraphicFramePr>
          <p:cNvPr id="6" name="Table 5"/>
          <p:cNvGraphicFramePr>
            <a:graphicFrameLocks noGrp="1"/>
          </p:cNvGraphicFramePr>
          <p:nvPr/>
        </p:nvGraphicFramePr>
        <p:xfrm>
          <a:off x="658368" y="2606040"/>
          <a:ext cx="10881360" cy="1152144"/>
        </p:xfrm>
        <a:graphic>
          <a:graphicData uri="http://schemas.openxmlformats.org/drawingml/2006/table">
            <a:tbl>
              <a:tblPr firstRow="1" bandRow="1">
                <a:tableStyleId>{5C22544A-7EE6-4342-B048-85BDC9FD1C3A}</a:tableStyleId>
              </a:tblPr>
              <a:tblGrid>
                <a:gridCol w="4572000"/>
                <a:gridCol w="2194560"/>
                <a:gridCol w="2103120"/>
                <a:gridCol w="2011680"/>
              </a:tblGrid>
              <a:tr h="384048">
                <a:tc>
                  <a:txBody>
                    <a:bodyPr/>
                    <a:lstStyle/>
                    <a:p>
                      <a:pPr>
                        <a:lnSpc>
                          <a:spcPct val="115000"/>
                        </a:lnSpc>
                      </a:pPr>
                      <a:r>
                        <a:rPr sz="950" b="1">
                          <a:solidFill>
                            <a:srgbClr val="6B7178"/>
                          </a:solidFill>
                          <a:latin typeface="Arial"/>
                        </a:rPr>
                        <a:t>Player's reliance on rooms</a:t>
                      </a:r>
                    </a:p>
                  </a:txBody>
                  <a:tcPr marL="73152" marR="73152" marT="36576" marB="36576">
                    <a:solidFill>
                      <a:srgbClr val="F4F6F8"/>
                    </a:solidFill>
                  </a:tcPr>
                </a:tc>
                <a:tc>
                  <a:txBody>
                    <a:bodyPr/>
                    <a:lstStyle/>
                    <a:p>
                      <a:pPr>
                        <a:lnSpc>
                          <a:spcPct val="115000"/>
                        </a:lnSpc>
                      </a:pPr>
                      <a:r>
                        <a:rPr sz="950" b="1">
                          <a:solidFill>
                            <a:srgbClr val="6B7178"/>
                          </a:solidFill>
                          <a:latin typeface="Arial"/>
                        </a:rPr>
                        <a:t>Random targeting</a:t>
                      </a:r>
                    </a:p>
                  </a:txBody>
                  <a:tcPr marL="73152" marR="73152" marT="36576" marB="36576">
                    <a:solidFill>
                      <a:srgbClr val="F4F6F8"/>
                    </a:solidFill>
                  </a:tcPr>
                </a:tc>
                <a:tc>
                  <a:txBody>
                    <a:bodyPr/>
                    <a:lstStyle/>
                    <a:p>
                      <a:pPr>
                        <a:lnSpc>
                          <a:spcPct val="115000"/>
                        </a:lnSpc>
                      </a:pPr>
                      <a:r>
                        <a:rPr sz="950" b="1">
                          <a:solidFill>
                            <a:srgbClr val="6B7178"/>
                          </a:solidFill>
                          <a:latin typeface="Arial"/>
                        </a:rPr>
                        <a:t>Model targeting</a:t>
                      </a:r>
                    </a:p>
                  </a:txBody>
                  <a:tcPr marL="73152" marR="73152" marT="36576" marB="36576">
                    <a:solidFill>
                      <a:srgbClr val="F4F6F8"/>
                    </a:solidFill>
                  </a:tcPr>
                </a:tc>
                <a:tc>
                  <a:txBody>
                    <a:bodyPr/>
                    <a:lstStyle/>
                    <a:p>
                      <a:pPr>
                        <a:lnSpc>
                          <a:spcPct val="115000"/>
                        </a:lnSpc>
                      </a:pPr>
                      <a:r>
                        <a:rPr sz="950" b="1">
                          <a:solidFill>
                            <a:srgbClr val="6B7178"/>
                          </a:solidFill>
                          <a:latin typeface="Arial"/>
                        </a:rPr>
                        <a:t>Advantage</a:t>
                      </a:r>
                    </a:p>
                  </a:txBody>
                  <a:tcPr marL="73152" marR="73152" marT="36576" marB="36576">
                    <a:solidFill>
                      <a:srgbClr val="F4F6F8"/>
                    </a:solidFill>
                  </a:tcPr>
                </a:tc>
              </a:tr>
              <a:tr h="384048">
                <a:tc>
                  <a:txBody>
                    <a:bodyPr/>
                    <a:lstStyle/>
                    <a:p>
                      <a:pPr>
                        <a:lnSpc>
                          <a:spcPct val="115000"/>
                        </a:lnSpc>
                      </a:pPr>
                      <a:r>
                        <a:rPr sz="1300" b="0">
                          <a:solidFill>
                            <a:srgbClr val="16181A"/>
                          </a:solidFill>
                          <a:latin typeface="Arial"/>
                        </a:rPr>
                        <a:t>Uniform — visits every codebook each lap</a:t>
                      </a:r>
                    </a:p>
                  </a:txBody>
                  <a:tcPr marL="73152" marR="73152" marT="36576" marB="36576">
                    <a:solidFill>
                      <a:srgbClr val="FCFCFB"/>
                    </a:solidFill>
                  </a:tcPr>
                </a:tc>
                <a:tc>
                  <a:txBody>
                    <a:bodyPr/>
                    <a:lstStyle/>
                    <a:p>
                      <a:pPr>
                        <a:lnSpc>
                          <a:spcPct val="115000"/>
                        </a:lnSpc>
                      </a:pPr>
                      <a:r>
                        <a:rPr sz="1300" b="0">
                          <a:solidFill>
                            <a:srgbClr val="16181A"/>
                          </a:solidFill>
                          <a:latin typeface="Arial"/>
                        </a:rPr>
                        <a:t>8.7</a:t>
                      </a:r>
                    </a:p>
                  </a:txBody>
                  <a:tcPr marL="73152" marR="73152" marT="36576" marB="36576">
                    <a:solidFill>
                      <a:srgbClr val="FCFCFB"/>
                    </a:solidFill>
                  </a:tcPr>
                </a:tc>
                <a:tc>
                  <a:txBody>
                    <a:bodyPr/>
                    <a:lstStyle/>
                    <a:p>
                      <a:pPr>
                        <a:lnSpc>
                          <a:spcPct val="115000"/>
                        </a:lnSpc>
                      </a:pPr>
                      <a:r>
                        <a:rPr sz="1300" b="0">
                          <a:solidFill>
                            <a:srgbClr val="16181A"/>
                          </a:solidFill>
                          <a:latin typeface="Arial"/>
                        </a:rPr>
                        <a:t>8.4</a:t>
                      </a:r>
                    </a:p>
                  </a:txBody>
                  <a:tcPr marL="73152" marR="73152" marT="36576" marB="36576">
                    <a:solidFill>
                      <a:srgbClr val="FCFCFB"/>
                    </a:solidFill>
                  </a:tcPr>
                </a:tc>
                <a:tc>
                  <a:txBody>
                    <a:bodyPr/>
                    <a:lstStyle/>
                    <a:p>
                      <a:pPr>
                        <a:lnSpc>
                          <a:spcPct val="115000"/>
                        </a:lnSpc>
                      </a:pPr>
                      <a:r>
                        <a:rPr sz="1300" b="0">
                          <a:solidFill>
                            <a:srgbClr val="16181A"/>
                          </a:solidFill>
                          <a:latin typeface="Arial"/>
                        </a:rPr>
                        <a:t>none (+3.2%)</a:t>
                      </a:r>
                    </a:p>
                  </a:txBody>
                  <a:tcPr marL="73152" marR="73152" marT="36576" marB="36576">
                    <a:solidFill>
                      <a:srgbClr val="FCFCFB"/>
                    </a:solidFill>
                  </a:tcPr>
                </a:tc>
              </a:tr>
              <a:tr h="384048">
                <a:tc>
                  <a:txBody>
                    <a:bodyPr/>
                    <a:lstStyle/>
                    <a:p>
                      <a:pPr>
                        <a:lnSpc>
                          <a:spcPct val="115000"/>
                        </a:lnSpc>
                      </a:pPr>
                      <a:r>
                        <a:rPr sz="1300" b="0">
                          <a:solidFill>
                            <a:srgbClr val="16181A"/>
                          </a:solidFill>
                          <a:latin typeface="Arial"/>
                        </a:rPr>
                        <a:t>Uneven — leans on some rooms harder</a:t>
                      </a:r>
                    </a:p>
                  </a:txBody>
                  <a:tcPr marL="73152" marR="73152" marT="36576" marB="36576">
                    <a:solidFill>
                      <a:srgbClr val="FCFCFB"/>
                    </a:solidFill>
                  </a:tcPr>
                </a:tc>
                <a:tc>
                  <a:txBody>
                    <a:bodyPr/>
                    <a:lstStyle/>
                    <a:p>
                      <a:pPr>
                        <a:lnSpc>
                          <a:spcPct val="115000"/>
                        </a:lnSpc>
                      </a:pPr>
                      <a:r>
                        <a:rPr sz="1300" b="0">
                          <a:solidFill>
                            <a:srgbClr val="16181A"/>
                          </a:solidFill>
                          <a:latin typeface="Arial"/>
                        </a:rPr>
                        <a:t>11.3</a:t>
                      </a:r>
                    </a:p>
                  </a:txBody>
                  <a:tcPr marL="73152" marR="73152" marT="36576" marB="36576">
                    <a:solidFill>
                      <a:srgbClr val="FCFCFB"/>
                    </a:solidFill>
                  </a:tcPr>
                </a:tc>
                <a:tc>
                  <a:txBody>
                    <a:bodyPr/>
                    <a:lstStyle/>
                    <a:p>
                      <a:pPr>
                        <a:lnSpc>
                          <a:spcPct val="115000"/>
                        </a:lnSpc>
                      </a:pPr>
                      <a:r>
                        <a:rPr sz="1300" b="0">
                          <a:solidFill>
                            <a:srgbClr val="16181A"/>
                          </a:solidFill>
                          <a:latin typeface="Arial"/>
                        </a:rPr>
                        <a:t>9.8</a:t>
                      </a:r>
                    </a:p>
                  </a:txBody>
                  <a:tcPr marL="73152" marR="73152" marT="36576" marB="36576">
                    <a:solidFill>
                      <a:srgbClr val="FCFCFB"/>
                    </a:solidFill>
                  </a:tcPr>
                </a:tc>
                <a:tc>
                  <a:txBody>
                    <a:bodyPr/>
                    <a:lstStyle/>
                    <a:p>
                      <a:pPr>
                        <a:lnSpc>
                          <a:spcPct val="115000"/>
                        </a:lnSpc>
                      </a:pPr>
                      <a:r>
                        <a:rPr sz="1300" b="0">
                          <a:solidFill>
                            <a:srgbClr val="16181A"/>
                          </a:solidFill>
                          <a:latin typeface="Arial"/>
                        </a:rPr>
                        <a:t>13% faster</a:t>
                      </a:r>
                    </a:p>
                  </a:txBody>
                  <a:tcPr marL="73152" marR="73152" marT="36576" marB="36576">
                    <a:solidFill>
                      <a:srgbClr val="FCFCFB"/>
                    </a:solidFill>
                  </a:tcPr>
                </a:tc>
              </a:tr>
            </a:tbl>
          </a:graphicData>
        </a:graphic>
      </p:graphicFrame>
      <p:sp>
        <p:nvSpPr>
          <p:cNvPr id="7" name="Rectangle 6"/>
          <p:cNvSpPr/>
          <p:nvPr/>
        </p:nvSpPr>
        <p:spPr>
          <a:xfrm>
            <a:off x="658368" y="3931920"/>
            <a:ext cx="10881360" cy="1600200"/>
          </a:xfrm>
          <a:prstGeom prst="rect">
            <a:avLst/>
          </a:prstGeom>
          <a:solidFill>
            <a:srgbClr val="FFF6F0"/>
          </a:solidFill>
          <a:ln w="1270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160520"/>
            <a:ext cx="10332720" cy="1234440"/>
          </a:xfrm>
          <a:prstGeom prst="rect">
            <a:avLst/>
          </a:prstGeom>
          <a:noFill/>
        </p:spPr>
        <p:txBody>
          <a:bodyPr wrap="square" lIns="0" rIns="0" tIns="0" bIns="0">
            <a:spAutoFit/>
          </a:bodyPr>
          <a:lstStyle/>
          <a:p>
            <a:pPr algn="l">
              <a:lnSpc>
                <a:spcPct val="132000"/>
              </a:lnSpc>
              <a:spcAft>
                <a:spcPts val="400"/>
              </a:spcAft>
            </a:pPr>
            <a:r>
              <a:rPr sz="1350" b="0">
                <a:solidFill>
                  <a:srgbClr val="16181A"/>
                </a:solidFill>
                <a:latin typeface="Arial"/>
              </a:rPr>
              <a:t>Reported as a negative result under the first condition.</a:t>
            </a:r>
          </a:p>
          <a:p>
            <a:pPr algn="l">
              <a:lnSpc>
                <a:spcPct val="132000"/>
              </a:lnSpc>
              <a:spcAft>
                <a:spcPts val="400"/>
              </a:spcAft>
            </a:pPr>
            <a:r>
              <a:rPr sz="1350" b="0">
                <a:solidFill>
                  <a:srgbClr val="16181A"/>
                </a:solidFill>
                <a:latin typeface="Arial"/>
              </a:rPr>
              <a:t>When the player relies on every room equally there is nothing for targeted sabotage to exploit, and model targeting performs no better than random. The counter-move earns its place only against a player with uneven habits. That is the realistic case — but the claim is conditional and is not overstated.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20 · RESULTS — CAN THE PLAYER FIGHT BACK?</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A negative result, and the most useful one</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83080"/>
            <a:ext cx="10881360" cy="502920"/>
          </a:xfrm>
          <a:prstGeom prst="rect">
            <a:avLst/>
          </a:prstGeom>
          <a:noFill/>
        </p:spPr>
        <p:txBody>
          <a:bodyPr wrap="square" lIns="0" rIns="0" tIns="0" bIns="0">
            <a:spAutoFit/>
          </a:bodyPr>
          <a:lstStyle/>
          <a:p>
            <a:pPr algn="l">
              <a:lnSpc>
                <a:spcPct val="130000"/>
              </a:lnSpc>
              <a:spcAft>
                <a:spcPts val="600"/>
              </a:spcAft>
            </a:pPr>
            <a:r>
              <a:rPr sz="1400" b="0">
                <a:solidFill>
                  <a:srgbClr val="6B7178"/>
                </a:solidFill>
                <a:latin typeface="Arial"/>
              </a:rPr>
              <a:t>Waiting is the natural counter-play: if it moves to where you are going, do not go. A fair adaptive antagonist must be beatable this way. It is not.</a:t>
            </a:r>
          </a:p>
        </p:txBody>
      </p:sp>
      <p:graphicFrame>
        <p:nvGraphicFramePr>
          <p:cNvPr id="6" name="Table 5"/>
          <p:cNvGraphicFramePr>
            <a:graphicFrameLocks noGrp="1"/>
          </p:cNvGraphicFramePr>
          <p:nvPr/>
        </p:nvGraphicFramePr>
        <p:xfrm>
          <a:off x="658368" y="2514600"/>
          <a:ext cx="10881360" cy="1152144"/>
        </p:xfrm>
        <a:graphic>
          <a:graphicData uri="http://schemas.openxmlformats.org/drawingml/2006/table">
            <a:tbl>
              <a:tblPr firstRow="1" bandRow="1">
                <a:tableStyleId>{5C22544A-7EE6-4342-B048-85BDC9FD1C3A}</a:tableStyleId>
              </a:tblPr>
              <a:tblGrid>
                <a:gridCol w="2377440"/>
                <a:gridCol w="2743200"/>
                <a:gridCol w="3291840"/>
                <a:gridCol w="2468880"/>
              </a:tblGrid>
              <a:tr h="384048">
                <a:tc>
                  <a:txBody>
                    <a:bodyPr/>
                    <a:lstStyle/>
                    <a:p>
                      <a:pPr>
                        <a:lnSpc>
                          <a:spcPct val="115000"/>
                        </a:lnSpc>
                      </a:pPr>
                      <a:r>
                        <a:rPr sz="950" b="1">
                          <a:solidFill>
                            <a:srgbClr val="6B7178"/>
                          </a:solidFill>
                          <a:latin typeface="Arial"/>
                        </a:rPr>
                        <a:t>Player</a:t>
                      </a:r>
                    </a:p>
                  </a:txBody>
                  <a:tcPr marL="73152" marR="73152" marT="36576" marB="36576">
                    <a:solidFill>
                      <a:srgbClr val="F4F6F8"/>
                    </a:solidFill>
                  </a:tcPr>
                </a:tc>
                <a:tc>
                  <a:txBody>
                    <a:bodyPr/>
                    <a:lstStyle/>
                    <a:p>
                      <a:pPr>
                        <a:lnSpc>
                          <a:spcPct val="115000"/>
                        </a:lnSpc>
                      </a:pPr>
                      <a:r>
                        <a:rPr sz="950" b="1">
                          <a:solidFill>
                            <a:srgbClr val="6B7178"/>
                          </a:solidFill>
                          <a:latin typeface="Arial"/>
                        </a:rPr>
                        <a:t>Windows declined</a:t>
                      </a:r>
                    </a:p>
                  </a:txBody>
                  <a:tcPr marL="73152" marR="73152" marT="36576" marB="36576">
                    <a:solidFill>
                      <a:srgbClr val="F4F6F8"/>
                    </a:solidFill>
                  </a:tcPr>
                </a:tc>
                <a:tc>
                  <a:txBody>
                    <a:bodyPr/>
                    <a:lstStyle/>
                    <a:p>
                      <a:pPr>
                        <a:lnSpc>
                          <a:spcPct val="115000"/>
                        </a:lnSpc>
                      </a:pPr>
                      <a:r>
                        <a:rPr sz="950" b="1">
                          <a:solidFill>
                            <a:srgbClr val="6B7178"/>
                          </a:solidFill>
                          <a:latin typeface="Arial"/>
                        </a:rPr>
                        <a:t>Model accuracy against them</a:t>
                      </a:r>
                    </a:p>
                  </a:txBody>
                  <a:tcPr marL="73152" marR="73152" marT="36576" marB="36576">
                    <a:solidFill>
                      <a:srgbClr val="F4F6F8"/>
                    </a:solidFill>
                  </a:tcPr>
                </a:tc>
                <a:tc>
                  <a:txBody>
                    <a:bodyPr/>
                    <a:lstStyle/>
                    <a:p>
                      <a:pPr>
                        <a:lnSpc>
                          <a:spcPct val="115000"/>
                        </a:lnSpc>
                      </a:pPr>
                      <a:r>
                        <a:rPr sz="950" b="1">
                          <a:solidFill>
                            <a:srgbClr val="6B7178"/>
                          </a:solidFill>
                          <a:latin typeface="Arial"/>
                        </a:rPr>
                        <a:t>Captures / 1000</a:t>
                      </a:r>
                    </a:p>
                  </a:txBody>
                  <a:tcPr marL="73152" marR="73152" marT="36576" marB="36576">
                    <a:solidFill>
                      <a:srgbClr val="F4F6F8"/>
                    </a:solidFill>
                  </a:tcPr>
                </a:tc>
              </a:tr>
              <a:tr h="384048">
                <a:tc>
                  <a:txBody>
                    <a:bodyPr/>
                    <a:lstStyle/>
                    <a:p>
                      <a:pPr>
                        <a:lnSpc>
                          <a:spcPct val="115000"/>
                        </a:lnSpc>
                      </a:pPr>
                      <a:r>
                        <a:rPr sz="1300" b="0">
                          <a:solidFill>
                            <a:srgbClr val="16181A"/>
                          </a:solidFill>
                          <a:latin typeface="Arial"/>
                        </a:rPr>
                        <a:t>Habitual</a:t>
                      </a:r>
                    </a:p>
                  </a:txBody>
                  <a:tcPr marL="73152" marR="73152" marT="36576" marB="36576">
                    <a:solidFill>
                      <a:srgbClr val="FCFCFB"/>
                    </a:solidFill>
                  </a:tcPr>
                </a:tc>
                <a:tc>
                  <a:txBody>
                    <a:bodyPr/>
                    <a:lstStyle/>
                    <a:p>
                      <a:pPr>
                        <a:lnSpc>
                          <a:spcPct val="115000"/>
                        </a:lnSpc>
                      </a:pPr>
                      <a:r>
                        <a:rPr sz="1300" b="0">
                          <a:solidFill>
                            <a:srgbClr val="16181A"/>
                          </a:solidFill>
                          <a:latin typeface="Arial"/>
                        </a:rPr>
                        <a:t>23%</a:t>
                      </a:r>
                    </a:p>
                  </a:txBody>
                  <a:tcPr marL="73152" marR="73152" marT="36576" marB="36576">
                    <a:solidFill>
                      <a:srgbClr val="FCFCFB"/>
                    </a:solidFill>
                  </a:tcPr>
                </a:tc>
                <a:tc>
                  <a:txBody>
                    <a:bodyPr/>
                    <a:lstStyle/>
                    <a:p>
                      <a:pPr>
                        <a:lnSpc>
                          <a:spcPct val="115000"/>
                        </a:lnSpc>
                      </a:pPr>
                      <a:r>
                        <a:rPr sz="1300" b="0">
                          <a:solidFill>
                            <a:srgbClr val="16181A"/>
                          </a:solidFill>
                          <a:latin typeface="Arial"/>
                        </a:rPr>
                        <a:t>46.5%</a:t>
                      </a:r>
                    </a:p>
                  </a:txBody>
                  <a:tcPr marL="73152" marR="73152" marT="36576" marB="36576">
                    <a:solidFill>
                      <a:srgbClr val="FCFCFB"/>
                    </a:solidFill>
                  </a:tcPr>
                </a:tc>
                <a:tc>
                  <a:txBody>
                    <a:bodyPr/>
                    <a:lstStyle/>
                    <a:p>
                      <a:pPr>
                        <a:lnSpc>
                          <a:spcPct val="115000"/>
                        </a:lnSpc>
                      </a:pPr>
                      <a:r>
                        <a:rPr sz="1300" b="0">
                          <a:solidFill>
                            <a:srgbClr val="16181A"/>
                          </a:solidFill>
                          <a:latin typeface="Arial"/>
                        </a:rPr>
                        <a:t>303</a:t>
                      </a:r>
                    </a:p>
                  </a:txBody>
                  <a:tcPr marL="73152" marR="73152" marT="36576" marB="36576">
                    <a:solidFill>
                      <a:srgbClr val="FCFCFB"/>
                    </a:solidFill>
                  </a:tcPr>
                </a:tc>
              </a:tr>
              <a:tr h="384048">
                <a:tc>
                  <a:txBody>
                    <a:bodyPr/>
                    <a:lstStyle/>
                    <a:p>
                      <a:pPr>
                        <a:lnSpc>
                          <a:spcPct val="115000"/>
                        </a:lnSpc>
                      </a:pPr>
                      <a:r>
                        <a:rPr sz="1300" b="0">
                          <a:solidFill>
                            <a:srgbClr val="16181A"/>
                          </a:solidFill>
                          <a:latin typeface="Arial"/>
                        </a:rPr>
                        <a:t>Evasive</a:t>
                      </a:r>
                    </a:p>
                  </a:txBody>
                  <a:tcPr marL="73152" marR="73152" marT="36576" marB="36576">
                    <a:solidFill>
                      <a:srgbClr val="FCFCFB"/>
                    </a:solidFill>
                  </a:tcPr>
                </a:tc>
                <a:tc>
                  <a:txBody>
                    <a:bodyPr/>
                    <a:lstStyle/>
                    <a:p>
                      <a:pPr>
                        <a:lnSpc>
                          <a:spcPct val="115000"/>
                        </a:lnSpc>
                      </a:pPr>
                      <a:r>
                        <a:rPr sz="1300" b="0">
                          <a:solidFill>
                            <a:srgbClr val="16181A"/>
                          </a:solidFill>
                          <a:latin typeface="Arial"/>
                        </a:rPr>
                        <a:t>35%</a:t>
                      </a:r>
                    </a:p>
                  </a:txBody>
                  <a:tcPr marL="73152" marR="73152" marT="36576" marB="36576">
                    <a:solidFill>
                      <a:srgbClr val="FCFCFB"/>
                    </a:solidFill>
                  </a:tcPr>
                </a:tc>
                <a:tc>
                  <a:txBody>
                    <a:bodyPr/>
                    <a:lstStyle/>
                    <a:p>
                      <a:pPr>
                        <a:lnSpc>
                          <a:spcPct val="115000"/>
                        </a:lnSpc>
                      </a:pPr>
                      <a:r>
                        <a:rPr sz="1300" b="0">
                          <a:solidFill>
                            <a:srgbClr val="16181A"/>
                          </a:solidFill>
                          <a:latin typeface="Arial"/>
                        </a:rPr>
                        <a:t>41.9%</a:t>
                      </a:r>
                    </a:p>
                  </a:txBody>
                  <a:tcPr marL="73152" marR="73152" marT="36576" marB="36576">
                    <a:solidFill>
                      <a:srgbClr val="FCFCFB"/>
                    </a:solidFill>
                  </a:tcPr>
                </a:tc>
                <a:tc>
                  <a:txBody>
                    <a:bodyPr/>
                    <a:lstStyle/>
                    <a:p>
                      <a:pPr>
                        <a:lnSpc>
                          <a:spcPct val="115000"/>
                        </a:lnSpc>
                      </a:pPr>
                      <a:r>
                        <a:rPr sz="1300" b="0">
                          <a:solidFill>
                            <a:srgbClr val="16181A"/>
                          </a:solidFill>
                          <a:latin typeface="Arial"/>
                        </a:rPr>
                        <a:t>299</a:t>
                      </a:r>
                    </a:p>
                  </a:txBody>
                  <a:tcPr marL="73152" marR="73152" marT="36576" marB="36576">
                    <a:solidFill>
                      <a:srgbClr val="FCFCFB"/>
                    </a:solidFill>
                  </a:tcPr>
                </a:tc>
              </a:tr>
            </a:tbl>
          </a:graphicData>
        </a:graphic>
      </p:graphicFrame>
      <p:sp>
        <p:nvSpPr>
          <p:cNvPr id="7" name="Rectangle 6"/>
          <p:cNvSpPr/>
          <p:nvPr/>
        </p:nvSpPr>
        <p:spPr>
          <a:xfrm>
            <a:off x="658368" y="3794760"/>
            <a:ext cx="10881360" cy="1965960"/>
          </a:xfrm>
          <a:prstGeom prst="rect">
            <a:avLst/>
          </a:prstGeom>
          <a:solidFill>
            <a:srgbClr val="FFF6F0"/>
          </a:solidFill>
          <a:ln w="1270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023360"/>
            <a:ext cx="10332720" cy="1600200"/>
          </a:xfrm>
          <a:prstGeom prst="rect">
            <a:avLst/>
          </a:prstGeom>
          <a:noFill/>
        </p:spPr>
        <p:txBody>
          <a:bodyPr wrap="square" lIns="0" rIns="0" tIns="0" bIns="0">
            <a:spAutoFit/>
          </a:bodyPr>
          <a:lstStyle/>
          <a:p>
            <a:pPr algn="l">
              <a:lnSpc>
                <a:spcPct val="130000"/>
              </a:lnSpc>
              <a:spcAft>
                <a:spcPts val="500"/>
              </a:spcAft>
            </a:pPr>
            <a:r>
              <a:rPr sz="1300" b="0">
                <a:solidFill>
                  <a:srgbClr val="16181A"/>
                </a:solidFill>
                <a:latin typeface="Arial"/>
              </a:rPr>
              <a:t>Evasion beats the model and loses to the outcome.</a:t>
            </a:r>
          </a:p>
          <a:p>
            <a:pPr algn="l">
              <a:lnSpc>
                <a:spcPct val="130000"/>
              </a:lnSpc>
              <a:spcAft>
                <a:spcPts val="500"/>
              </a:spcAft>
            </a:pPr>
            <a:r>
              <a:rPr sz="1300" b="0">
                <a:solidFill>
                  <a:srgbClr val="16181A"/>
                </a:solidFill>
                <a:latin typeface="Arial"/>
              </a:rPr>
              <a:t>Declining a third of all windows costs the predictor 4.6 points of accuracy but reduces capture risk by only 1.3%. The cause is the observation model, not the algorithm: the antagonist currently sees the player perfectly at every window, and under perfect observation standing still cannot conceal you — it only makes you a stationary target.</a:t>
            </a:r>
          </a:p>
          <a:p>
            <a:pPr algn="l">
              <a:lnSpc>
                <a:spcPct val="130000"/>
              </a:lnSpc>
              <a:spcAft>
                <a:spcPts val="500"/>
              </a:spcAft>
            </a:pPr>
            <a:r>
              <a:rPr sz="1300" b="0">
                <a:solidFill>
                  <a:srgbClr val="16181A"/>
                </a:solidFill>
                <a:latin typeface="Arial"/>
              </a:rPr>
              <a:t>Next iteration: sense the player through motion detectors on the doors instead of omniscience, turning this into a partially-observed prediction problem. This experiment is what identified that.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21 · RESULTS — WHAT IT LEARNS ABOUT YOUR NOTEBOOK</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Dwell is behaviour, not a parameter</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dwell.png"/>
          <p:cNvPicPr>
            <a:picLocks noChangeAspect="1"/>
          </p:cNvPicPr>
          <p:nvPr/>
        </p:nvPicPr>
        <p:blipFill>
          <a:blip r:embed="rId2"/>
          <a:stretch>
            <a:fillRect/>
          </a:stretch>
        </p:blipFill>
        <p:spPr>
          <a:xfrm>
            <a:off x="2286000" y="1664208"/>
            <a:ext cx="7680960" cy="3746810"/>
          </a:xfrm>
          <a:prstGeom prst="rect">
            <a:avLst/>
          </a:prstGeom>
        </p:spPr>
      </p:pic>
      <p:sp>
        <p:nvSpPr>
          <p:cNvPr id="6" name="TextBox 5"/>
          <p:cNvSpPr txBox="1"/>
          <p:nvPr/>
        </p:nvSpPr>
        <p:spPr>
          <a:xfrm>
            <a:off x="658368" y="5440680"/>
            <a:ext cx="10881360" cy="1143000"/>
          </a:xfrm>
          <a:prstGeom prst="rect">
            <a:avLst/>
          </a:prstGeom>
          <a:noFill/>
        </p:spPr>
        <p:txBody>
          <a:bodyPr wrap="square" lIns="0" rIns="0" tIns="0" bIns="0">
            <a:spAutoFit/>
          </a:bodyPr>
          <a:lstStyle/>
          <a:p>
            <a:pPr algn="l">
              <a:lnSpc>
                <a:spcPct val="128000"/>
              </a:lnSpc>
              <a:spcAft>
                <a:spcPts val="600"/>
              </a:spcAft>
            </a:pPr>
            <a:r>
              <a:rPr sz="1200" b="0">
                <a:solidFill>
                  <a:srgbClr val="6B7178"/>
                </a:solidFill>
                <a:latin typeface="Arial"/>
              </a:rPr>
              <a:t>How long you linger is one of the most individual things you do — and it is the actionable signal: 'they will be in room D for three more windows' tells the antagonist how long it has to walk there. A 16-point lift over the majority class. It is never wrong in rooms with nothing to record, and right two thirds of the time where a codebook is — the uncertainty sits exactly where the real variation is. An explicit dwell model adds nothing (-2.0%): once staying is a legal action, the sequence model already represents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22 · VERIFICATION</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Nine invariants, asserted over 25 generated facilities</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783080"/>
          <a:ext cx="10881360" cy="3840480"/>
        </p:xfrm>
        <a:graphic>
          <a:graphicData uri="http://schemas.openxmlformats.org/drawingml/2006/table">
            <a:tbl>
              <a:tblPr firstRow="1" bandRow="1">
                <a:tableStyleId>{5C22544A-7EE6-4342-B048-85BDC9FD1C3A}</a:tableStyleId>
              </a:tblPr>
              <a:tblGrid>
                <a:gridCol w="5852160"/>
                <a:gridCol w="5029200"/>
              </a:tblGrid>
              <a:tr h="384048">
                <a:tc>
                  <a:txBody>
                    <a:bodyPr/>
                    <a:lstStyle/>
                    <a:p>
                      <a:pPr>
                        <a:lnSpc>
                          <a:spcPct val="115000"/>
                        </a:lnSpc>
                      </a:pPr>
                      <a:r>
                        <a:rPr sz="900" b="1">
                          <a:solidFill>
                            <a:srgbClr val="6B7178"/>
                          </a:solidFill>
                          <a:latin typeface="Arial"/>
                        </a:rPr>
                        <a:t>Invariant</a:t>
                      </a:r>
                    </a:p>
                  </a:txBody>
                  <a:tcPr marL="73152" marR="73152" marT="36576" marB="36576">
                    <a:solidFill>
                      <a:srgbClr val="F4F6F8"/>
                    </a:solidFill>
                  </a:tcPr>
                </a:tc>
                <a:tc>
                  <a:txBody>
                    <a:bodyPr/>
                    <a:lstStyle/>
                    <a:p>
                      <a:pPr>
                        <a:lnSpc>
                          <a:spcPct val="115000"/>
                        </a:lnSpc>
                      </a:pPr>
                      <a:r>
                        <a:rPr sz="900" b="1">
                          <a:solidFill>
                            <a:srgbClr val="6B7178"/>
                          </a:solidFill>
                          <a:latin typeface="Arial"/>
                        </a:rPr>
                        <a:t>Guards against</a:t>
                      </a:r>
                    </a:p>
                  </a:txBody>
                  <a:tcPr marL="73152" marR="73152" marT="36576" marB="36576">
                    <a:solidFill>
                      <a:srgbClr val="F4F6F8"/>
                    </a:solidFill>
                  </a:tcPr>
                </a:tc>
              </a:tr>
              <a:tr h="384048">
                <a:tc>
                  <a:txBody>
                    <a:bodyPr/>
                    <a:lstStyle/>
                    <a:p>
                      <a:pPr>
                        <a:lnSpc>
                          <a:spcPct val="115000"/>
                        </a:lnSpc>
                      </a:pPr>
                      <a:r>
                        <a:rPr sz="1250" b="0">
                          <a:solidFill>
                            <a:srgbClr val="16181A"/>
                          </a:solidFill>
                          <a:latin typeface="Arial"/>
                        </a:rPr>
                        <a:t>Facility connected on construction</a:t>
                      </a:r>
                    </a:p>
                  </a:txBody>
                  <a:tcPr marL="73152" marR="73152" marT="36576" marB="36576">
                    <a:solidFill>
                      <a:srgbClr val="FCFCFB"/>
                    </a:solidFill>
                  </a:tcPr>
                </a:tc>
                <a:tc>
                  <a:txBody>
                    <a:bodyPr/>
                    <a:lstStyle/>
                    <a:p>
                      <a:pPr>
                        <a:lnSpc>
                          <a:spcPct val="115000"/>
                        </a:lnSpc>
                      </a:pPr>
                      <a:r>
                        <a:rPr sz="1250" b="0">
                          <a:solidFill>
                            <a:srgbClr val="16181A"/>
                          </a:solidFill>
                          <a:latin typeface="Arial"/>
                        </a:rPr>
                        <a:t>Unplayable generated levels</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seal_door never disconnects</a:t>
                      </a:r>
                    </a:p>
                  </a:txBody>
                  <a:tcPr marL="73152" marR="73152" marT="36576" marB="36576">
                    <a:solidFill>
                      <a:srgbClr val="FCFCFB"/>
                    </a:solidFill>
                  </a:tcPr>
                </a:tc>
                <a:tc>
                  <a:txBody>
                    <a:bodyPr/>
                    <a:lstStyle/>
                    <a:p>
                      <a:pPr>
                        <a:lnSpc>
                          <a:spcPct val="115000"/>
                        </a:lnSpc>
                      </a:pPr>
                      <a:r>
                        <a:rPr sz="1250" b="0">
                          <a:solidFill>
                            <a:srgbClr val="16181A"/>
                          </a:solidFill>
                          <a:latin typeface="Arial"/>
                        </a:rPr>
                        <a:t>The Director cutting the map in half</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rewire never disconnects</a:t>
                      </a:r>
                    </a:p>
                  </a:txBody>
                  <a:tcPr marL="73152" marR="73152" marT="36576" marB="36576">
                    <a:solidFill>
                      <a:srgbClr val="FCFCFB"/>
                    </a:solidFill>
                  </a:tcPr>
                </a:tc>
                <a:tc>
                  <a:txBody>
                    <a:bodyPr/>
                    <a:lstStyle/>
                    <a:p>
                      <a:pPr>
                        <a:lnSpc>
                          <a:spcPct val="115000"/>
                        </a:lnSpc>
                      </a:pPr>
                      <a:r>
                        <a:rPr sz="1250" b="0">
                          <a:solidFill>
                            <a:srgbClr val="16181A"/>
                          </a:solidFill>
                          <a:latin typeface="Arial"/>
                        </a:rPr>
                        <a:t>The same, via door relocation</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Uplink reachable from every room after mutation</a:t>
                      </a:r>
                    </a:p>
                  </a:txBody>
                  <a:tcPr marL="73152" marR="73152" marT="36576" marB="36576">
                    <a:solidFill>
                      <a:srgbClr val="FCFCFB"/>
                    </a:solidFill>
                  </a:tcPr>
                </a:tc>
                <a:tc>
                  <a:txBody>
                    <a:bodyPr/>
                    <a:lstStyle/>
                    <a:p>
                      <a:pPr>
                        <a:lnSpc>
                          <a:spcPct val="115000"/>
                        </a:lnSpc>
                      </a:pPr>
                      <a:r>
                        <a:rPr sz="1250" b="0">
                          <a:solidFill>
                            <a:srgbClr val="16181A"/>
                          </a:solidFill>
                          <a:latin typeface="Arial"/>
                        </a:rPr>
                        <a:t>Soft-locked, unwinnable runs</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Bots only move to adjacent rooms</a:t>
                      </a:r>
                    </a:p>
                  </a:txBody>
                  <a:tcPr marL="73152" marR="73152" marT="36576" marB="36576">
                    <a:solidFill>
                      <a:srgbClr val="FCFCFB"/>
                    </a:solidFill>
                  </a:tcPr>
                </a:tc>
                <a:tc>
                  <a:txBody>
                    <a:bodyPr/>
                    <a:lstStyle/>
                    <a:p>
                      <a:pPr>
                        <a:lnSpc>
                          <a:spcPct val="115000"/>
                        </a:lnSpc>
                      </a:pPr>
                      <a:r>
                        <a:rPr sz="1250" b="0">
                          <a:solidFill>
                            <a:srgbClr val="16181A"/>
                          </a:solidFill>
                          <a:latin typeface="Arial"/>
                        </a:rPr>
                        <a:t>Silent teleportation corrupting telemetry</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Predictor output is a proper distribution</a:t>
                      </a:r>
                    </a:p>
                  </a:txBody>
                  <a:tcPr marL="73152" marR="73152" marT="36576" marB="36576">
                    <a:solidFill>
                      <a:srgbClr val="FCFCFB"/>
                    </a:solidFill>
                  </a:tcPr>
                </a:tc>
                <a:tc>
                  <a:txBody>
                    <a:bodyPr/>
                    <a:lstStyle/>
                    <a:p>
                      <a:pPr>
                        <a:lnSpc>
                          <a:spcPct val="115000"/>
                        </a:lnSpc>
                      </a:pPr>
                      <a:r>
                        <a:rPr sz="1250" b="0">
                          <a:solidFill>
                            <a:srgbClr val="16181A"/>
                          </a:solidFill>
                          <a:latin typeface="Arial"/>
                        </a:rPr>
                        <a:t>Malformed probabilities</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VOMM approximates uniform on a random player</a:t>
                      </a:r>
                    </a:p>
                  </a:txBody>
                  <a:tcPr marL="73152" marR="73152" marT="36576" marB="36576">
                    <a:solidFill>
                      <a:srgbClr val="FCFCFB"/>
                    </a:solidFill>
                  </a:tcPr>
                </a:tc>
                <a:tc>
                  <a:txBody>
                    <a:bodyPr/>
                    <a:lstStyle/>
                    <a:p>
                      <a:pPr>
                        <a:lnSpc>
                          <a:spcPct val="115000"/>
                        </a:lnSpc>
                      </a:pPr>
                      <a:r>
                        <a:rPr sz="1250" b="0">
                          <a:solidFill>
                            <a:srgbClr val="16181A"/>
                          </a:solidFill>
                          <a:latin typeface="Arial"/>
                        </a:rPr>
                        <a:t>Leakage in the evaluation</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Director never mutates a visible room</a:t>
                      </a:r>
                    </a:p>
                  </a:txBody>
                  <a:tcPr marL="73152" marR="73152" marT="36576" marB="36576">
                    <a:solidFill>
                      <a:srgbClr val="FCFCFB"/>
                    </a:solidFill>
                  </a:tcPr>
                </a:tc>
                <a:tc>
                  <a:txBody>
                    <a:bodyPr/>
                    <a:lstStyle/>
                    <a:p>
                      <a:pPr>
                        <a:lnSpc>
                          <a:spcPct val="115000"/>
                        </a:lnSpc>
                      </a:pPr>
                      <a:r>
                        <a:rPr sz="1250" b="0">
                          <a:solidFill>
                            <a:srgbClr val="16181A"/>
                          </a:solidFill>
                          <a:latin typeface="Arial"/>
                        </a:rPr>
                        <a:t>Fairness rule 1</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Director never edits below its confidence gate</a:t>
                      </a:r>
                    </a:p>
                  </a:txBody>
                  <a:tcPr marL="73152" marR="73152" marT="36576" marB="36576">
                    <a:solidFill>
                      <a:srgbClr val="FCFCFB"/>
                    </a:solidFill>
                  </a:tcPr>
                </a:tc>
                <a:tc>
                  <a:txBody>
                    <a:bodyPr/>
                    <a:lstStyle/>
                    <a:p>
                      <a:pPr>
                        <a:lnSpc>
                          <a:spcPct val="115000"/>
                        </a:lnSpc>
                      </a:pPr>
                      <a:r>
                        <a:rPr sz="1250" b="0">
                          <a:solidFill>
                            <a:srgbClr val="16181A"/>
                          </a:solidFill>
                          <a:latin typeface="Arial"/>
                        </a:rPr>
                        <a:t>Fairness rule 2</a:t>
                      </a:r>
                    </a:p>
                  </a:txBody>
                  <a:tcPr marL="73152" marR="73152" marT="36576" marB="36576">
                    <a:solidFill>
                      <a:srgbClr val="FCFCFB"/>
                    </a:solidFill>
                  </a:tcPr>
                </a:tc>
              </a:tr>
            </a:tbl>
          </a:graphicData>
        </a:graphic>
      </p:graphicFrame>
      <p:sp>
        <p:nvSpPr>
          <p:cNvPr id="6" name="TextBox 5"/>
          <p:cNvSpPr txBox="1"/>
          <p:nvPr/>
        </p:nvSpPr>
        <p:spPr>
          <a:xfrm>
            <a:off x="658368" y="5806440"/>
            <a:ext cx="10881360" cy="457200"/>
          </a:xfrm>
          <a:prstGeom prst="rect">
            <a:avLst/>
          </a:prstGeom>
          <a:noFill/>
        </p:spPr>
        <p:txBody>
          <a:bodyPr wrap="square" lIns="0" rIns="0" tIns="0" bIns="0">
            <a:spAutoFit/>
          </a:bodyPr>
          <a:lstStyle/>
          <a:p>
            <a:pPr algn="l">
              <a:lnSpc>
                <a:spcPct val="125000"/>
              </a:lnSpc>
              <a:spcAft>
                <a:spcPts val="600"/>
              </a:spcAft>
            </a:pPr>
            <a:r>
              <a:rPr sz="1400" b="1">
                <a:solidFill>
                  <a:srgbClr val="1BAF7A"/>
                </a:solidFill>
                <a:latin typeface="Arial"/>
              </a:rPr>
              <a:t>9 / 9 passing  ·  python3 model/test_invariants.py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23 · LIVE DEMONSTRATION</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The full loop, running</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83080"/>
            <a:ext cx="10881360" cy="4480560"/>
          </a:xfrm>
          <a:prstGeom prst="rect">
            <a:avLst/>
          </a:prstGeom>
          <a:noFill/>
        </p:spPr>
        <p:txBody>
          <a:bodyPr wrap="square" lIns="0" rIns="0" tIns="0" bIns="0">
            <a:spAutoFit/>
          </a:bodyPr>
          <a:lstStyle/>
          <a:p>
            <a:pPr>
              <a:lnSpc>
                <a:spcPct val="130000"/>
              </a:lnSpc>
              <a:spcAft>
                <a:spcPts val="1300"/>
              </a:spcAft>
            </a:pPr>
            <a:r>
              <a:rPr sz="1500" b="1">
                <a:solidFill>
                  <a:srgbClr val="16181A"/>
                </a:solidFill>
                <a:latin typeface="Arial"/>
              </a:rPr>
              <a:t>Room graph —  </a:t>
            </a:r>
            <a:r>
              <a:rPr sz="1500">
                <a:solidFill>
                  <a:srgbClr val="6B7178"/>
                </a:solidFill>
                <a:latin typeface="Arial"/>
              </a:rPr>
              <a:t>live per-room predicted probabilities drawn on the facility.</a:t>
            </a:r>
          </a:p>
          <a:p>
            <a:pPr>
              <a:lnSpc>
                <a:spcPct val="130000"/>
              </a:lnSpc>
              <a:spcAft>
                <a:spcPts val="1300"/>
              </a:spcAft>
            </a:pPr>
            <a:r>
              <a:rPr sz="1500" b="1">
                <a:solidFill>
                  <a:srgbClr val="16181A"/>
                </a:solidFill>
                <a:latin typeface="Arial"/>
              </a:rPr>
              <a:t>Entity —  </a:t>
            </a:r>
            <a:r>
              <a:rPr sz="1500">
                <a:solidFill>
                  <a:srgbClr val="6B7178"/>
                </a:solidFill>
                <a:latin typeface="Arial"/>
              </a:rPr>
              <a:t>moves to intercept where the model points, gated on confidence.</a:t>
            </a:r>
          </a:p>
          <a:p>
            <a:pPr>
              <a:lnSpc>
                <a:spcPct val="130000"/>
              </a:lnSpc>
              <a:spcAft>
                <a:spcPts val="1300"/>
              </a:spcAft>
            </a:pPr>
            <a:r>
              <a:rPr sz="1500" b="1">
                <a:solidFill>
                  <a:srgbClr val="16181A"/>
                </a:solidFill>
                <a:latin typeface="Arial"/>
              </a:rPr>
              <a:t>Codebooks and notebook —  </a:t>
            </a:r>
            <a:r>
              <a:rPr sz="1500">
                <a:solidFill>
                  <a:srgbClr val="6B7178"/>
                </a:solidFill>
                <a:latin typeface="Arial"/>
              </a:rPr>
              <a:t>record entries; the Director silently poisons what you rely on.</a:t>
            </a:r>
          </a:p>
          <a:p>
            <a:pPr>
              <a:lnSpc>
                <a:spcPct val="130000"/>
              </a:lnSpc>
              <a:spcAft>
                <a:spcPts val="1300"/>
              </a:spcAft>
            </a:pPr>
            <a:r>
              <a:rPr sz="1500" b="1">
                <a:solidFill>
                  <a:srgbClr val="16181A"/>
                </a:solidFill>
                <a:latin typeface="Arial"/>
              </a:rPr>
              <a:t>All four counter-moves —  </a:t>
            </a:r>
            <a:r>
              <a:rPr sz="1500">
                <a:solidFill>
                  <a:srgbClr val="6B7178"/>
                </a:solidFill>
                <a:latin typeface="Arial"/>
              </a:rPr>
              <a:t>intercept, seal, rewire and poison, with a live counter for each.</a:t>
            </a:r>
          </a:p>
          <a:p>
            <a:pPr>
              <a:lnSpc>
                <a:spcPct val="130000"/>
              </a:lnSpc>
              <a:spcAft>
                <a:spcPts val="1300"/>
              </a:spcAft>
            </a:pPr>
            <a:r>
              <a:rPr sz="1500" b="1">
                <a:solidFill>
                  <a:srgbClr val="16181A"/>
                </a:solidFill>
                <a:latin typeface="Arial"/>
              </a:rPr>
              <a:t>Hold position —  </a:t>
            </a:r>
            <a:r>
              <a:rPr sz="1500">
                <a:solidFill>
                  <a:srgbClr val="6B7178"/>
                </a:solidFill>
                <a:latin typeface="Arial"/>
              </a:rPr>
              <a:t>decline the window and stay put, exactly as the model expects you might.</a:t>
            </a:r>
          </a:p>
          <a:p>
            <a:pPr>
              <a:lnSpc>
                <a:spcPct val="130000"/>
              </a:lnSpc>
              <a:spcAft>
                <a:spcPts val="1300"/>
              </a:spcAft>
            </a:pPr>
            <a:r>
              <a:rPr sz="1500" b="1">
                <a:solidFill>
                  <a:srgbClr val="16181A"/>
                </a:solidFill>
                <a:latin typeface="Arial"/>
              </a:rPr>
              <a:t>Live scoreboard —  </a:t>
            </a:r>
            <a:r>
              <a:rPr sz="1500">
                <a:solidFill>
                  <a:srgbClr val="6B7178"/>
                </a:solidFill>
                <a:latin typeface="Arial"/>
              </a:rPr>
              <a:t>running VOMM accuracy against a no-model control, side by side.</a:t>
            </a:r>
          </a:p>
          <a:p>
            <a:pPr>
              <a:lnSpc>
                <a:spcPct val="130000"/>
              </a:lnSpc>
              <a:spcAft>
                <a:spcPts val="1300"/>
              </a:spcAft>
            </a:pPr>
            <a:r>
              <a:rPr sz="1500" b="1">
                <a:solidFill>
                  <a:srgbClr val="16181A"/>
                </a:solidFill>
                <a:latin typeface="Arial"/>
              </a:rPr>
              <a:t>Learned-rule readout —  </a:t>
            </a:r>
            <a:r>
              <a:rPr sz="1500">
                <a:solidFill>
                  <a:srgbClr val="6B7178"/>
                </a:solidFill>
                <a:latin typeface="Arial"/>
              </a:rPr>
              <a:t>in plain language: 'from E you go to B, 100% of the time, 13 observations'.</a:t>
            </a:r>
          </a:p>
        </p:txBody>
      </p:sp>
      <p:sp>
        <p:nvSpPr>
          <p:cNvPr id="6" name="Rectangle 5"/>
          <p:cNvSpPr/>
          <p:nvPr/>
        </p:nvSpPr>
        <p:spPr>
          <a:xfrm>
            <a:off x="658368" y="4572000"/>
            <a:ext cx="10881360" cy="1371600"/>
          </a:xfrm>
          <a:prstGeom prst="rect">
            <a:avLst/>
          </a:prstGeom>
          <a:solidFill>
            <a:srgbClr val="F1F6FC"/>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791456"/>
            <a:ext cx="10332720" cy="1005840"/>
          </a:xfrm>
          <a:prstGeom prst="rect">
            <a:avLst/>
          </a:prstGeom>
          <a:noFill/>
        </p:spPr>
        <p:txBody>
          <a:bodyPr wrap="square" lIns="0" rIns="0" tIns="0" bIns="0">
            <a:spAutoFit/>
          </a:bodyPr>
          <a:lstStyle/>
          <a:p>
            <a:pPr algn="l">
              <a:lnSpc>
                <a:spcPct val="140000"/>
              </a:lnSpc>
              <a:spcAft>
                <a:spcPts val="400"/>
              </a:spcAft>
            </a:pPr>
            <a:r>
              <a:rPr sz="1500" b="0">
                <a:solidFill>
                  <a:srgbClr val="16181A"/>
                </a:solidFill>
                <a:latin typeface="Arial"/>
              </a:rPr>
              <a:t>Observed in a 102-window automated session</a:t>
            </a:r>
          </a:p>
          <a:p>
            <a:pPr algn="l">
              <a:lnSpc>
                <a:spcPct val="140000"/>
              </a:lnSpc>
              <a:spcAft>
                <a:spcPts val="400"/>
              </a:spcAft>
            </a:pPr>
            <a:r>
              <a:rPr sz="1500" b="0">
                <a:solidFill>
                  <a:srgbClr val="16181A"/>
                </a:solidFill>
                <a:latin typeface="Arial"/>
              </a:rPr>
              <a:t>The player declined 32 windows (31%) to finish pages. VOMM 47% vs. no-model 36%, 22 interceptions, and 2 of 13 signals corrupted. The confidence gate is visible live: 'too unsure to intercept; hunting conventionally'.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24 · THE LOOK</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A walkable room study, running in the browser</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room.png"/>
          <p:cNvPicPr>
            <a:picLocks noChangeAspect="1"/>
          </p:cNvPicPr>
          <p:nvPr/>
        </p:nvPicPr>
        <p:blipFill>
          <a:blip r:embed="rId2"/>
          <a:stretch>
            <a:fillRect/>
          </a:stretch>
        </p:blipFill>
        <p:spPr>
          <a:xfrm>
            <a:off x="2606040" y="1691640"/>
            <a:ext cx="7040880" cy="3960495"/>
          </a:xfrm>
          <a:prstGeom prst="rect">
            <a:avLst/>
          </a:prstGeom>
        </p:spPr>
      </p:pic>
      <p:sp>
        <p:nvSpPr>
          <p:cNvPr id="6" name="TextBox 5"/>
          <p:cNvSpPr txBox="1"/>
          <p:nvPr/>
        </p:nvSpPr>
        <p:spPr>
          <a:xfrm>
            <a:off x="658368" y="5623560"/>
            <a:ext cx="10881360" cy="960120"/>
          </a:xfrm>
          <a:prstGeom prst="rect">
            <a:avLst/>
          </a:prstGeom>
          <a:noFill/>
        </p:spPr>
        <p:txBody>
          <a:bodyPr wrap="square" lIns="0" rIns="0" tIns="0" bIns="0">
            <a:spAutoFit/>
          </a:bodyPr>
          <a:lstStyle/>
          <a:p>
            <a:pPr algn="l">
              <a:lnSpc>
                <a:spcPct val="130000"/>
              </a:lnSpc>
              <a:spcAft>
                <a:spcPts val="600"/>
              </a:spcAft>
            </a:pPr>
            <a:r>
              <a:rPr sz="1250" b="0">
                <a:solidFill>
                  <a:srgbClr val="6B7178"/>
                </a:solidFill>
                <a:latin typeface="Arial"/>
              </a:rPr>
              <a:t>Three hexagonal cells built from the same room graph the model plays on — low-poly concrete, a single handheld light, heavy fog, and a retro pass (420x236 internal resolution, ordered dither, colour quantisation, vignette). Hand-written WebGL, no engine and no libraries, so it runs offline in any browser. This is the art-direction target for M3, not the game.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25 · ROADMAP</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Three of nine milestones complete</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783080"/>
          <a:ext cx="10881360" cy="3840480"/>
        </p:xfrm>
        <a:graphic>
          <a:graphicData uri="http://schemas.openxmlformats.org/drawingml/2006/table">
            <a:tbl>
              <a:tblPr firstRow="1" bandRow="1">
                <a:tableStyleId>{5C22544A-7EE6-4342-B048-85BDC9FD1C3A}</a:tableStyleId>
              </a:tblPr>
              <a:tblGrid>
                <a:gridCol w="1188720"/>
                <a:gridCol w="7680960"/>
                <a:gridCol w="2011680"/>
              </a:tblGrid>
              <a:tr h="384048">
                <a:tc>
                  <a:txBody>
                    <a:bodyPr/>
                    <a:lstStyle/>
                    <a:p>
                      <a:pPr>
                        <a:lnSpc>
                          <a:spcPct val="115000"/>
                        </a:lnSpc>
                      </a:pPr>
                      <a:r>
                        <a:rPr sz="950" b="1">
                          <a:solidFill>
                            <a:srgbClr val="6B7178"/>
                          </a:solidFill>
                          <a:latin typeface="Arial"/>
                        </a:rPr>
                        <a:t>Milestone</a:t>
                      </a:r>
                    </a:p>
                  </a:txBody>
                  <a:tcPr marL="73152" marR="73152" marT="36576" marB="36576">
                    <a:solidFill>
                      <a:srgbClr val="F4F6F8"/>
                    </a:solidFill>
                  </a:tcPr>
                </a:tc>
                <a:tc>
                  <a:txBody>
                    <a:bodyPr/>
                    <a:lstStyle/>
                    <a:p>
                      <a:pPr>
                        <a:lnSpc>
                          <a:spcPct val="115000"/>
                        </a:lnSpc>
                      </a:pPr>
                      <a:r>
                        <a:rPr sz="950" b="1">
                          <a:solidFill>
                            <a:srgbClr val="6B7178"/>
                          </a:solidFill>
                          <a:latin typeface="Arial"/>
                        </a:rPr>
                        <a:t>Deliverable</a:t>
                      </a:r>
                    </a:p>
                  </a:txBody>
                  <a:tcPr marL="73152" marR="73152" marT="36576" marB="36576">
                    <a:solidFill>
                      <a:srgbClr val="F4F6F8"/>
                    </a:solidFill>
                  </a:tcPr>
                </a:tc>
                <a:tc>
                  <a:txBody>
                    <a:bodyPr/>
                    <a:lstStyle/>
                    <a:p>
                      <a:pPr>
                        <a:lnSpc>
                          <a:spcPct val="115000"/>
                        </a:lnSpc>
                      </a:pPr>
                      <a:r>
                        <a:rPr sz="950" b="1">
                          <a:solidFill>
                            <a:srgbClr val="6B7178"/>
                          </a:solidFill>
                          <a:latin typeface="Arial"/>
                        </a:rPr>
                        <a:t>State</a:t>
                      </a:r>
                    </a:p>
                  </a:txBody>
                  <a:tcPr marL="73152" marR="73152" marT="36576" marB="36576">
                    <a:solidFill>
                      <a:srgbClr val="F4F6F8"/>
                    </a:solidFill>
                  </a:tcPr>
                </a:tc>
              </a:tr>
              <a:tr h="384048">
                <a:tc>
                  <a:txBody>
                    <a:bodyPr/>
                    <a:lstStyle/>
                    <a:p>
                      <a:pPr>
                        <a:lnSpc>
                          <a:spcPct val="115000"/>
                        </a:lnSpc>
                      </a:pPr>
                      <a:r>
                        <a:rPr sz="1250" b="0">
                          <a:solidFill>
                            <a:srgbClr val="16181A"/>
                          </a:solidFill>
                          <a:latin typeface="Arial"/>
                        </a:rPr>
                        <a:t>M0</a:t>
                      </a:r>
                    </a:p>
                  </a:txBody>
                  <a:tcPr marL="73152" marR="73152" marT="36576" marB="36576">
                    <a:solidFill>
                      <a:srgbClr val="FCFCFB"/>
                    </a:solidFill>
                  </a:tcPr>
                </a:tc>
                <a:tc>
                  <a:txBody>
                    <a:bodyPr/>
                    <a:lstStyle/>
                    <a:p>
                      <a:pPr>
                        <a:lnSpc>
                          <a:spcPct val="115000"/>
                        </a:lnSpc>
                      </a:pPr>
                      <a:r>
                        <a:rPr sz="1250" b="0">
                          <a:solidFill>
                            <a:srgbClr val="16181A"/>
                          </a:solidFill>
                          <a:latin typeface="Arial"/>
                        </a:rPr>
                        <a:t>Headless simulation core, telemetry, bot harness</a:t>
                      </a:r>
                    </a:p>
                  </a:txBody>
                  <a:tcPr marL="73152" marR="73152" marT="36576" marB="36576">
                    <a:solidFill>
                      <a:srgbClr val="FCFCFB"/>
                    </a:solidFill>
                  </a:tcPr>
                </a:tc>
                <a:tc>
                  <a:txBody>
                    <a:bodyPr/>
                    <a:lstStyle/>
                    <a:p>
                      <a:pPr>
                        <a:lnSpc>
                          <a:spcPct val="115000"/>
                        </a:lnSpc>
                      </a:pPr>
                      <a:r>
                        <a:rPr sz="1250" b="0">
                          <a:solidFill>
                            <a:srgbClr val="16181A"/>
                          </a:solidFill>
                          <a:latin typeface="Arial"/>
                        </a:rPr>
                        <a:t>Complete</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M1</a:t>
                      </a:r>
                    </a:p>
                  </a:txBody>
                  <a:tcPr marL="73152" marR="73152" marT="36576" marB="36576">
                    <a:solidFill>
                      <a:srgbClr val="FCFCFB"/>
                    </a:solidFill>
                  </a:tcPr>
                </a:tc>
                <a:tc>
                  <a:txBody>
                    <a:bodyPr/>
                    <a:lstStyle/>
                    <a:p>
                      <a:pPr>
                        <a:lnSpc>
                          <a:spcPct val="115000"/>
                        </a:lnSpc>
                      </a:pPr>
                      <a:r>
                        <a:rPr sz="1250" b="0">
                          <a:solidFill>
                            <a:srgbClr val="16181A"/>
                          </a:solidFill>
                          <a:latin typeface="Arial"/>
                        </a:rPr>
                        <a:t>Predictor, baselines, controls, offline metrics and figures</a:t>
                      </a:r>
                    </a:p>
                  </a:txBody>
                  <a:tcPr marL="73152" marR="73152" marT="36576" marB="36576">
                    <a:solidFill>
                      <a:srgbClr val="FCFCFB"/>
                    </a:solidFill>
                  </a:tcPr>
                </a:tc>
                <a:tc>
                  <a:txBody>
                    <a:bodyPr/>
                    <a:lstStyle/>
                    <a:p>
                      <a:pPr>
                        <a:lnSpc>
                          <a:spcPct val="115000"/>
                        </a:lnSpc>
                      </a:pPr>
                      <a:r>
                        <a:rPr sz="1250" b="0">
                          <a:solidFill>
                            <a:srgbClr val="16181A"/>
                          </a:solidFill>
                          <a:latin typeface="Arial"/>
                        </a:rPr>
                        <a:t>Complete</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M2</a:t>
                      </a:r>
                    </a:p>
                  </a:txBody>
                  <a:tcPr marL="73152" marR="73152" marT="36576" marB="36576">
                    <a:solidFill>
                      <a:srgbClr val="FCFCFB"/>
                    </a:solidFill>
                  </a:tcPr>
                </a:tc>
                <a:tc>
                  <a:txBody>
                    <a:bodyPr/>
                    <a:lstStyle/>
                    <a:p>
                      <a:pPr>
                        <a:lnSpc>
                          <a:spcPct val="115000"/>
                        </a:lnSpc>
                      </a:pPr>
                      <a:r>
                        <a:rPr sz="1250" b="0">
                          <a:solidFill>
                            <a:srgbClr val="16181A"/>
                          </a:solidFill>
                          <a:latin typeface="Arial"/>
                        </a:rPr>
                        <a:t>Director and counter-moves, validated headless</a:t>
                      </a:r>
                    </a:p>
                  </a:txBody>
                  <a:tcPr marL="73152" marR="73152" marT="36576" marB="36576">
                    <a:solidFill>
                      <a:srgbClr val="FCFCFB"/>
                    </a:solidFill>
                  </a:tcPr>
                </a:tc>
                <a:tc>
                  <a:txBody>
                    <a:bodyPr/>
                    <a:lstStyle/>
                    <a:p>
                      <a:pPr>
                        <a:lnSpc>
                          <a:spcPct val="115000"/>
                        </a:lnSpc>
                      </a:pPr>
                      <a:r>
                        <a:rPr sz="1250" b="0">
                          <a:solidFill>
                            <a:srgbClr val="16181A"/>
                          </a:solidFill>
                          <a:latin typeface="Arial"/>
                        </a:rPr>
                        <a:t>Complete</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M3</a:t>
                      </a:r>
                    </a:p>
                  </a:txBody>
                  <a:tcPr marL="73152" marR="73152" marT="36576" marB="36576">
                    <a:solidFill>
                      <a:srgbClr val="FCFCFB"/>
                    </a:solidFill>
                  </a:tcPr>
                </a:tc>
                <a:tc>
                  <a:txBody>
                    <a:bodyPr/>
                    <a:lstStyle/>
                    <a:p>
                      <a:pPr>
                        <a:lnSpc>
                          <a:spcPct val="115000"/>
                        </a:lnSpc>
                      </a:pPr>
                      <a:r>
                        <a:rPr sz="1250" b="0">
                          <a:solidFill>
                            <a:srgbClr val="16181A"/>
                          </a:solidFill>
                          <a:latin typeface="Arial"/>
                        </a:rPr>
                        <a:t>Godot greybox first-person build + live prediction overlay</a:t>
                      </a:r>
                    </a:p>
                  </a:txBody>
                  <a:tcPr marL="73152" marR="73152" marT="36576" marB="36576">
                    <a:solidFill>
                      <a:srgbClr val="FCFCFB"/>
                    </a:solidFill>
                  </a:tcPr>
                </a:tc>
                <a:tc>
                  <a:txBody>
                    <a:bodyPr/>
                    <a:lstStyle/>
                    <a:p>
                      <a:pPr>
                        <a:lnSpc>
                          <a:spcPct val="115000"/>
                        </a:lnSpc>
                      </a:pPr>
                      <a:r>
                        <a:rPr sz="1250" b="0">
                          <a:solidFill>
                            <a:srgbClr val="16181A"/>
                          </a:solidFill>
                          <a:latin typeface="Arial"/>
                        </a:rPr>
                        <a:t>Next</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M4</a:t>
                      </a:r>
                    </a:p>
                  </a:txBody>
                  <a:tcPr marL="73152" marR="73152" marT="36576" marB="36576">
                    <a:solidFill>
                      <a:srgbClr val="FCFCFB"/>
                    </a:solidFill>
                  </a:tcPr>
                </a:tc>
                <a:tc>
                  <a:txBody>
                    <a:bodyPr/>
                    <a:lstStyle/>
                    <a:p>
                      <a:pPr>
                        <a:lnSpc>
                          <a:spcPct val="115000"/>
                        </a:lnSpc>
                      </a:pPr>
                      <a:r>
                        <a:rPr sz="1250" b="0">
                          <a:solidFill>
                            <a:srgbClr val="16181A"/>
                          </a:solidFill>
                          <a:latin typeface="Arial"/>
                        </a:rPr>
                        <a:t>Notebook vector editor and persistence</a:t>
                      </a:r>
                    </a:p>
                  </a:txBody>
                  <a:tcPr marL="73152" marR="73152" marT="36576" marB="36576">
                    <a:solidFill>
                      <a:srgbClr val="FCFCFB"/>
                    </a:solidFill>
                  </a:tcPr>
                </a:tc>
                <a:tc>
                  <a:txBody>
                    <a:bodyPr/>
                    <a:lstStyle/>
                    <a:p>
                      <a:pPr>
                        <a:lnSpc>
                          <a:spcPct val="115000"/>
                        </a:lnSpc>
                      </a:pPr>
                      <a:r>
                        <a:rPr sz="1250" b="0">
                          <a:solidFill>
                            <a:srgbClr val="16181A"/>
                          </a:solidFill>
                          <a:latin typeface="Arial"/>
                        </a:rPr>
                        <a:t>Planned</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M5</a:t>
                      </a:r>
                    </a:p>
                  </a:txBody>
                  <a:tcPr marL="73152" marR="73152" marT="36576" marB="36576">
                    <a:solidFill>
                      <a:srgbClr val="FCFCFB"/>
                    </a:solidFill>
                  </a:tcPr>
                </a:tc>
                <a:tc>
                  <a:txBody>
                    <a:bodyPr/>
                    <a:lstStyle/>
                    <a:p>
                      <a:pPr>
                        <a:lnSpc>
                          <a:spcPct val="115000"/>
                        </a:lnSpc>
                      </a:pPr>
                      <a:r>
                        <a:rPr sz="1250" b="0">
                          <a:solidFill>
                            <a:srgbClr val="16181A"/>
                          </a:solidFill>
                          <a:latin typeface="Arial"/>
                        </a:rPr>
                        <a:t>Entity polish, atmosphere, audio, human playtest</a:t>
                      </a:r>
                    </a:p>
                  </a:txBody>
                  <a:tcPr marL="73152" marR="73152" marT="36576" marB="36576">
                    <a:solidFill>
                      <a:srgbClr val="FCFCFB"/>
                    </a:solidFill>
                  </a:tcPr>
                </a:tc>
                <a:tc>
                  <a:txBody>
                    <a:bodyPr/>
                    <a:lstStyle/>
                    <a:p>
                      <a:pPr>
                        <a:lnSpc>
                          <a:spcPct val="115000"/>
                        </a:lnSpc>
                      </a:pPr>
                      <a:r>
                        <a:rPr sz="1250" b="0">
                          <a:solidFill>
                            <a:srgbClr val="16181A"/>
                          </a:solidFill>
                          <a:latin typeface="Arial"/>
                        </a:rPr>
                        <a:t>Planned</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M6</a:t>
                      </a:r>
                    </a:p>
                  </a:txBody>
                  <a:tcPr marL="73152" marR="73152" marT="36576" marB="36576">
                    <a:solidFill>
                      <a:srgbClr val="FCFCFB"/>
                    </a:solidFill>
                  </a:tcPr>
                </a:tc>
                <a:tc>
                  <a:txBody>
                    <a:bodyPr/>
                    <a:lstStyle/>
                    <a:p>
                      <a:pPr>
                        <a:lnSpc>
                          <a:spcPct val="115000"/>
                        </a:lnSpc>
                      </a:pPr>
                      <a:r>
                        <a:rPr sz="1250" b="0">
                          <a:solidFill>
                            <a:srgbClr val="16181A"/>
                          </a:solidFill>
                          <a:latin typeface="Arial"/>
                        </a:rPr>
                        <a:t>Door motion-sensors — partial observation, so waiting conceals</a:t>
                      </a:r>
                    </a:p>
                  </a:txBody>
                  <a:tcPr marL="73152" marR="73152" marT="36576" marB="36576">
                    <a:solidFill>
                      <a:srgbClr val="FCFCFB"/>
                    </a:solidFill>
                  </a:tcPr>
                </a:tc>
                <a:tc>
                  <a:txBody>
                    <a:bodyPr/>
                    <a:lstStyle/>
                    <a:p>
                      <a:pPr>
                        <a:lnSpc>
                          <a:spcPct val="115000"/>
                        </a:lnSpc>
                      </a:pPr>
                      <a:r>
                        <a:rPr sz="1250" b="0">
                          <a:solidFill>
                            <a:srgbClr val="16181A"/>
                          </a:solidFill>
                          <a:latin typeface="Arial"/>
                        </a:rPr>
                        <a:t>Specified</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M7</a:t>
                      </a:r>
                    </a:p>
                  </a:txBody>
                  <a:tcPr marL="73152" marR="73152" marT="36576" marB="36576">
                    <a:solidFill>
                      <a:srgbClr val="FCFCFB"/>
                    </a:solidFill>
                  </a:tcPr>
                </a:tc>
                <a:tc>
                  <a:txBody>
                    <a:bodyPr/>
                    <a:lstStyle/>
                    <a:p>
                      <a:pPr>
                        <a:lnSpc>
                          <a:spcPct val="115000"/>
                        </a:lnSpc>
                      </a:pPr>
                      <a:r>
                        <a:rPr sz="1250" b="0">
                          <a:solidFill>
                            <a:srgbClr val="16181A"/>
                          </a:solidFill>
                          <a:latin typeface="Arial"/>
                        </a:rPr>
                        <a:t>Polygonal room tiles; side count is the difficulty setting</a:t>
                      </a:r>
                    </a:p>
                  </a:txBody>
                  <a:tcPr marL="73152" marR="73152" marT="36576" marB="36576">
                    <a:solidFill>
                      <a:srgbClr val="FCFCFB"/>
                    </a:solidFill>
                  </a:tcPr>
                </a:tc>
                <a:tc>
                  <a:txBody>
                    <a:bodyPr/>
                    <a:lstStyle/>
                    <a:p>
                      <a:pPr>
                        <a:lnSpc>
                          <a:spcPct val="115000"/>
                        </a:lnSpc>
                      </a:pPr>
                      <a:r>
                        <a:rPr sz="1250" b="0">
                          <a:solidFill>
                            <a:srgbClr val="16181A"/>
                          </a:solidFill>
                          <a:latin typeface="Arial"/>
                        </a:rPr>
                        <a:t>Specified</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M8</a:t>
                      </a:r>
                    </a:p>
                  </a:txBody>
                  <a:tcPr marL="73152" marR="73152" marT="36576" marB="36576">
                    <a:solidFill>
                      <a:srgbClr val="FCFCFB"/>
                    </a:solidFill>
                  </a:tcPr>
                </a:tc>
                <a:tc>
                  <a:txBody>
                    <a:bodyPr/>
                    <a:lstStyle/>
                    <a:p>
                      <a:pPr>
                        <a:lnSpc>
                          <a:spcPct val="115000"/>
                        </a:lnSpc>
                      </a:pPr>
                      <a:r>
                        <a:rPr sz="1250" b="0">
                          <a:solidFill>
                            <a:srgbClr val="16181A"/>
                          </a:solidFill>
                          <a:latin typeface="Arial"/>
                        </a:rPr>
                        <a:t>Outbound register with pre-send tampering; sensor blackouts</a:t>
                      </a:r>
                    </a:p>
                  </a:txBody>
                  <a:tcPr marL="73152" marR="73152" marT="36576" marB="36576">
                    <a:solidFill>
                      <a:srgbClr val="FCFCFB"/>
                    </a:solidFill>
                  </a:tcPr>
                </a:tc>
                <a:tc>
                  <a:txBody>
                    <a:bodyPr/>
                    <a:lstStyle/>
                    <a:p>
                      <a:pPr>
                        <a:lnSpc>
                          <a:spcPct val="115000"/>
                        </a:lnSpc>
                      </a:pPr>
                      <a:r>
                        <a:rPr sz="1250" b="0">
                          <a:solidFill>
                            <a:srgbClr val="16181A"/>
                          </a:solidFill>
                          <a:latin typeface="Arial"/>
                        </a:rPr>
                        <a:t>Specified</a:t>
                      </a:r>
                    </a:p>
                  </a:txBody>
                  <a:tcPr marL="73152" marR="73152" marT="36576" marB="36576">
                    <a:solidFill>
                      <a:srgbClr val="FCFCFB"/>
                    </a:solidFill>
                  </a:tcPr>
                </a:tc>
              </a:tr>
            </a:tbl>
          </a:graphicData>
        </a:graphic>
      </p:graphicFrame>
      <p:sp>
        <p:nvSpPr>
          <p:cNvPr id="6" name="TextBox 5"/>
          <p:cNvSpPr txBox="1"/>
          <p:nvPr/>
        </p:nvSpPr>
        <p:spPr>
          <a:xfrm>
            <a:off x="658368" y="4663440"/>
            <a:ext cx="10881360" cy="1097280"/>
          </a:xfrm>
          <a:prstGeom prst="rect">
            <a:avLst/>
          </a:prstGeom>
          <a:noFill/>
        </p:spPr>
        <p:txBody>
          <a:bodyPr wrap="square" lIns="0" rIns="0" tIns="0" bIns="0">
            <a:spAutoFit/>
          </a:bodyPr>
          <a:lstStyle/>
          <a:p>
            <a:pPr algn="l">
              <a:lnSpc>
                <a:spcPct val="135000"/>
              </a:lnSpc>
              <a:spcAft>
                <a:spcPts val="600"/>
              </a:spcAft>
            </a:pPr>
            <a:r>
              <a:rPr sz="1300" b="0">
                <a:solidFill>
                  <a:srgbClr val="6B7178"/>
                </a:solidFill>
                <a:latin typeface="Arial"/>
              </a:rPr>
              <a:t>Art direction for M3 is settled: a low-poly modular brutalist kit instantiated from the room graph, near-total darkness with a flashlight, heavy fog, and a retro post-processing pass — chosen because it minimises modelling cost while staying coherent. Modularity is not a style choice: rooms are rotated, added and removed at runtime, so they must be prefab-instantiated regardless.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REFERENCES</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1 of 2</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83080"/>
            <a:ext cx="10881360" cy="4572000"/>
          </a:xfrm>
          <a:prstGeom prst="rect">
            <a:avLst/>
          </a:prstGeom>
          <a:noFill/>
        </p:spPr>
        <p:txBody>
          <a:bodyPr wrap="square" lIns="0" rIns="0" tIns="0" bIns="0">
            <a:spAutoFit/>
          </a:bodyPr>
          <a:lstStyle/>
          <a:p>
            <a:pPr>
              <a:lnSpc>
                <a:spcPct val="120000"/>
              </a:lnSpc>
              <a:spcAft>
                <a:spcPts val="700"/>
              </a:spcAft>
            </a:pPr>
            <a:r>
              <a:rPr sz="1200">
                <a:solidFill>
                  <a:srgbClr val="16181A"/>
                </a:solidFill>
                <a:latin typeface="Arial"/>
              </a:rPr>
              <a:t>1.  Lin, Z. et al. (2026). Unlocking Open-Player-Modeling-enhanced Game-Based Learning. arXiv:2603.26915</a:t>
            </a:r>
          </a:p>
          <a:p>
            <a:pPr>
              <a:lnSpc>
                <a:spcPct val="120000"/>
              </a:lnSpc>
              <a:spcAft>
                <a:spcPts val="700"/>
              </a:spcAft>
            </a:pPr>
            <a:r>
              <a:rPr sz="1200">
                <a:solidFill>
                  <a:srgbClr val="16181A"/>
                </a:solidFill>
                <a:latin typeface="Arial"/>
              </a:rPr>
              <a:t>2.  Dehpanah, A. et al. (2021). Player Modeling using Behavioral Signals in Competitive Online Games. arXiv:2112.04379</a:t>
            </a:r>
          </a:p>
          <a:p>
            <a:pPr>
              <a:lnSpc>
                <a:spcPct val="120000"/>
              </a:lnSpc>
              <a:spcAft>
                <a:spcPts val="700"/>
              </a:spcAft>
            </a:pPr>
            <a:r>
              <a:rPr sz="1200">
                <a:solidFill>
                  <a:srgbClr val="16181A"/>
                </a:solidFill>
                <a:latin typeface="Arial"/>
              </a:rPr>
              <a:t>3.  Carlier, S. et al. (2024). Personalization in Serious Games and Gamification for Healthcare. arXiv:2411.18500</a:t>
            </a:r>
          </a:p>
          <a:p>
            <a:pPr>
              <a:lnSpc>
                <a:spcPct val="120000"/>
              </a:lnSpc>
              <a:spcAft>
                <a:spcPts val="700"/>
              </a:spcAft>
            </a:pPr>
            <a:r>
              <a:rPr sz="1200">
                <a:solidFill>
                  <a:srgbClr val="16181A"/>
                </a:solidFill>
                <a:latin typeface="Arial"/>
              </a:rPr>
              <a:t>4.  Halina, E. et al. (2026). Representing and Generating Levels Over Time through Playtrace Reconstructive Partitioning. arXiv:2607.12097</a:t>
            </a:r>
          </a:p>
          <a:p>
            <a:pPr>
              <a:lnSpc>
                <a:spcPct val="120000"/>
              </a:lnSpc>
              <a:spcAft>
                <a:spcPts val="700"/>
              </a:spcAft>
            </a:pPr>
            <a:r>
              <a:rPr sz="1200">
                <a:solidFill>
                  <a:srgbClr val="16181A"/>
                </a:solidFill>
                <a:latin typeface="Arial"/>
              </a:rPr>
              <a:t>5.  Bazzaz, M. (2026). Player Perceptions of Generative AI in Games: A Steam Review Analysis. arXiv:2608.11539</a:t>
            </a:r>
          </a:p>
          <a:p>
            <a:pPr>
              <a:lnSpc>
                <a:spcPct val="120000"/>
              </a:lnSpc>
              <a:spcAft>
                <a:spcPts val="700"/>
              </a:spcAft>
            </a:pPr>
            <a:r>
              <a:rPr sz="1200">
                <a:solidFill>
                  <a:srgbClr val="16181A"/>
                </a:solidFill>
                <a:latin typeface="Arial"/>
              </a:rPr>
              <a:t>6.  Romeo, C. et al. (2025). NTRL: Encounter Generation via RL for DDA in Dungeons and Dragons. arXiv:2506.19530</a:t>
            </a:r>
          </a:p>
          <a:p>
            <a:pPr>
              <a:lnSpc>
                <a:spcPct val="120000"/>
              </a:lnSpc>
              <a:spcAft>
                <a:spcPts val="700"/>
              </a:spcAft>
            </a:pPr>
            <a:r>
              <a:rPr sz="1200">
                <a:solidFill>
                  <a:srgbClr val="16181A"/>
                </a:solidFill>
                <a:latin typeface="Arial"/>
              </a:rPr>
              <a:t>7.  Lopes, P. et al. (2025). Closing the Loop in Affect-Driven Game Adaptation: A Systematic Review. arXiv:2505.01351</a:t>
            </a:r>
          </a:p>
          <a:p>
            <a:pPr>
              <a:lnSpc>
                <a:spcPct val="120000"/>
              </a:lnSpc>
              <a:spcAft>
                <a:spcPts val="700"/>
              </a:spcAft>
            </a:pPr>
            <a:r>
              <a:rPr sz="1200">
                <a:solidFill>
                  <a:srgbClr val="16181A"/>
                </a:solidFill>
                <a:latin typeface="Arial"/>
              </a:rPr>
              <a:t>8.  Cafri, N. et al. (2025). Dynamic Difficulty Adjustment With Brain Waves. arXiv:2504.13965</a:t>
            </a:r>
          </a:p>
          <a:p>
            <a:pPr>
              <a:lnSpc>
                <a:spcPct val="120000"/>
              </a:lnSpc>
              <a:spcAft>
                <a:spcPts val="700"/>
              </a:spcAft>
            </a:pPr>
            <a:r>
              <a:rPr sz="1200">
                <a:solidFill>
                  <a:srgbClr val="16181A"/>
                </a:solidFill>
                <a:latin typeface="Arial"/>
              </a:rPr>
              <a:t>9.  Fuchs, R. et al. (2024). Personalized Dynamic Difficulty Adjustment. arXiv:2408.06818</a:t>
            </a:r>
          </a:p>
          <a:p>
            <a:pPr>
              <a:lnSpc>
                <a:spcPct val="120000"/>
              </a:lnSpc>
              <a:spcAft>
                <a:spcPts val="700"/>
              </a:spcAft>
            </a:pPr>
            <a:r>
              <a:rPr sz="1200">
                <a:solidFill>
                  <a:srgbClr val="16181A"/>
                </a:solidFill>
                <a:latin typeface="Arial"/>
              </a:rPr>
              <a:t>10.  McConnell, M. et al. (2025). From Frustration to Fun: An Adaptive Puzzle Game Powered by Genetic Algorithm. arXiv:2509.23796</a:t>
            </a:r>
          </a:p>
          <a:p>
            <a:pPr>
              <a:lnSpc>
                <a:spcPct val="120000"/>
              </a:lnSpc>
              <a:spcAft>
                <a:spcPts val="700"/>
              </a:spcAft>
            </a:pPr>
            <a:r>
              <a:rPr sz="1200">
                <a:solidFill>
                  <a:srgbClr val="16181A"/>
                </a:solidFill>
                <a:latin typeface="Arial"/>
              </a:rPr>
              <a:t>11.  Jarma Montoya, O. et al. (2026). Atari Games Challenge: Multimodal Player Experience Assessment. arXiv:2605.27261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REFERENCES</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2 of 2</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83080"/>
            <a:ext cx="10881360" cy="4572000"/>
          </a:xfrm>
          <a:prstGeom prst="rect">
            <a:avLst/>
          </a:prstGeom>
          <a:noFill/>
        </p:spPr>
        <p:txBody>
          <a:bodyPr wrap="square" lIns="0" rIns="0" tIns="0" bIns="0">
            <a:spAutoFit/>
          </a:bodyPr>
          <a:lstStyle/>
          <a:p>
            <a:pPr>
              <a:lnSpc>
                <a:spcPct val="120000"/>
              </a:lnSpc>
              <a:spcAft>
                <a:spcPts val="700"/>
              </a:spcAft>
            </a:pPr>
            <a:r>
              <a:rPr sz="1200">
                <a:solidFill>
                  <a:srgbClr val="16181A"/>
                </a:solidFill>
                <a:latin typeface="Arial"/>
              </a:rPr>
              <a:t>12.  Tripathi, P. et al. (2026). AI-Enabled Serious Games: Integrating Intelligence and Adaptivity. arXiv:2605.21962</a:t>
            </a:r>
          </a:p>
          <a:p>
            <a:pPr>
              <a:lnSpc>
                <a:spcPct val="120000"/>
              </a:lnSpc>
              <a:spcAft>
                <a:spcPts val="700"/>
              </a:spcAft>
            </a:pPr>
            <a:r>
              <a:rPr sz="1200">
                <a:solidFill>
                  <a:srgbClr val="16181A"/>
                </a:solidFill>
                <a:latin typeface="Arial"/>
              </a:rPr>
              <a:t>13.  Fiuza Vieira, I. et al. (2026). A Novel Procedural Generation for Level Design of Mansions and Dungeons. arXiv:2606.03857</a:t>
            </a:r>
          </a:p>
          <a:p>
            <a:pPr>
              <a:lnSpc>
                <a:spcPct val="120000"/>
              </a:lnSpc>
              <a:spcAft>
                <a:spcPts val="700"/>
              </a:spcAft>
            </a:pPr>
            <a:r>
              <a:rPr sz="1200">
                <a:solidFill>
                  <a:srgbClr val="16181A"/>
                </a:solidFill>
                <a:latin typeface="Arial"/>
              </a:rPr>
              <a:t>14.  Özkan, M. B. (2025). Procedural Game Level Design with Deep Reinforcement Learning. arXiv:2510.15120</a:t>
            </a:r>
          </a:p>
          <a:p>
            <a:pPr>
              <a:lnSpc>
                <a:spcPct val="120000"/>
              </a:lnSpc>
              <a:spcAft>
                <a:spcPts val="700"/>
              </a:spcAft>
            </a:pPr>
            <a:r>
              <a:rPr sz="1200">
                <a:solidFill>
                  <a:srgbClr val="16181A"/>
                </a:solidFill>
                <a:latin typeface="Arial"/>
              </a:rPr>
              <a:t>15.  Earle, S. et al. (2025). Video Game Level Design as a Multi-Agent Reinforcement Learning Problem. arXiv:2510.04862</a:t>
            </a:r>
          </a:p>
          <a:p>
            <a:pPr>
              <a:lnSpc>
                <a:spcPct val="120000"/>
              </a:lnSpc>
              <a:spcAft>
                <a:spcPts val="700"/>
              </a:spcAft>
            </a:pPr>
            <a:r>
              <a:rPr sz="1200">
                <a:solidFill>
                  <a:srgbClr val="16181A"/>
                </a:solidFill>
                <a:latin typeface="Arial"/>
              </a:rPr>
              <a:t>16.  Begleiter, R., El-Yaniv, R. &amp; Yona, G. (2004). On Prediction Using Variable Order Markov Models. JAIR 22, 385–421. arXiv:1107.0051</a:t>
            </a:r>
          </a:p>
          <a:p>
            <a:pPr>
              <a:lnSpc>
                <a:spcPct val="120000"/>
              </a:lnSpc>
              <a:spcAft>
                <a:spcPts val="700"/>
              </a:spcAft>
            </a:pPr>
            <a:r>
              <a:rPr sz="1200">
                <a:solidFill>
                  <a:srgbClr val="16181A"/>
                </a:solidFill>
                <a:latin typeface="Arial"/>
              </a:rPr>
              <a:t>17.  Wu, Y. et al. (2025). Beyond Regularity: Modeling Chaotic Mobility Patterns for Next Location Prediction. arXiv:2509.11713</a:t>
            </a:r>
          </a:p>
          <a:p>
            <a:pPr>
              <a:lnSpc>
                <a:spcPct val="120000"/>
              </a:lnSpc>
              <a:spcAft>
                <a:spcPts val="700"/>
              </a:spcAft>
            </a:pPr>
            <a:r>
              <a:rPr sz="1200">
                <a:solidFill>
                  <a:srgbClr val="16181A"/>
                </a:solidFill>
                <a:latin typeface="Arial"/>
              </a:rPr>
              <a:t>18.  Deng, B. et al. (2025). STRelay: A Universal Spatio-Temporal Relaying Framework for Location Prediction. arXiv:2508.16620</a:t>
            </a:r>
          </a:p>
          <a:p>
            <a:pPr>
              <a:lnSpc>
                <a:spcPct val="120000"/>
              </a:lnSpc>
              <a:spcAft>
                <a:spcPts val="700"/>
              </a:spcAft>
            </a:pPr>
            <a:r>
              <a:rPr sz="1200">
                <a:solidFill>
                  <a:srgbClr val="16181A"/>
                </a:solidFill>
                <a:latin typeface="Arial"/>
              </a:rPr>
              <a:t>19.  Liu, S. et al. (2025). Mixture-of-Experts for Personalized and Semantic-Aware Next Location Prediction. arXiv:2505.24597</a:t>
            </a:r>
          </a:p>
          <a:p>
            <a:pPr>
              <a:lnSpc>
                <a:spcPct val="120000"/>
              </a:lnSpc>
              <a:spcAft>
                <a:spcPts val="700"/>
              </a:spcAft>
            </a:pPr>
            <a:r>
              <a:rPr sz="1200">
                <a:solidFill>
                  <a:srgbClr val="16181A"/>
                </a:solidFill>
                <a:latin typeface="Arial"/>
              </a:rPr>
              <a:t>20.  Soni, A. et al. (2025). Can We Predict Your Next Move Without Breaking Your Privacy? arXiv:2507.08843</a:t>
            </a:r>
          </a:p>
          <a:p>
            <a:pPr>
              <a:lnSpc>
                <a:spcPct val="120000"/>
              </a:lnSpc>
              <a:spcAft>
                <a:spcPts val="700"/>
              </a:spcAft>
            </a:pPr>
            <a:r>
              <a:rPr sz="1200">
                <a:solidFill>
                  <a:srgbClr val="16181A"/>
                </a:solidFill>
                <a:latin typeface="Arial"/>
              </a:rPr>
              <a:t>21.  Zhang, H. et al. (2024). VRMN-bD: A Multi-modal Natural Behavior Dataset of Immersive Human Fear Responses. arXiv:2401.12133</a:t>
            </a:r>
          </a:p>
          <a:p>
            <a:pPr>
              <a:lnSpc>
                <a:spcPct val="120000"/>
              </a:lnSpc>
              <a:spcAft>
                <a:spcPts val="700"/>
              </a:spcAft>
            </a:pPr>
            <a:r>
              <a:rPr sz="1200">
                <a:solidFill>
                  <a:srgbClr val="16181A"/>
                </a:solidFill>
                <a:latin typeface="Arial"/>
              </a:rPr>
              <a:t>22.  Zhang, H. et al. (2023). Decoding Fear: Exploring User Experiences in Virtual Reality Horror Games. arXiv:2312.15582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