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problem" id="{4a79a6b9-5048-85dc-0d25-90439016a0ae}">
          <p14:sldIdLst>
            <p14:sldId id="257"/>
            <p14:sldId id="258"/>
            <p14:sldId id="259"/>
          </p14:sldIdLst>
        </p14:section>
        <p14:section name="How it works" id="{d90f4d63-a26e-29d3-1d51-6ad39bf08006}">
          <p14:sldIdLst>
            <p14:sldId id="260"/>
            <p14:sldId id="261"/>
            <p14:sldId id="262"/>
            <p14:sldId id="263"/>
          </p14:sldIdLst>
        </p14:section>
        <p14:section name="Results" id="{ecdcc773-3e78-c49a-e1b0-138ab8f141b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The build" id="{838b6a10-724d-58a7-244f-025be0d5bf45}">
          <p14:sldIdLst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antagonist builds a behavioural model of the individual player and acts on it. The game is not a wrapper around the AI; it is the application that makes the AI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that any one of these is unsolved. It is that nobody runs them as one closed loop and then reports it honestly against a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point of the loop is that it gives the antagonist a reason to predict you: you must move between known rooms on a known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separation is not tidiness. Because the director is its own object, we could test it in isolation — and that is how we found the counter-moves were never being called in any measured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an RNN: the honest answer is that we tried three ways to add structure and all three lost to data sparsity. That is a result, and it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backfire at full coverage is the most interesting line on this slide. Cutting a sensor removes a door from the antagonist's hearing, but it also removes it from the set of explanations for silence, which sharpens the filter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panel member attacks one number, it will be this one — they will say the bots are scripted so of course it predicts them. The random control is the answer: same simulator, same pipeline, no signal to find, and the model finds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83.6%. The remaining gap is mostly the player's own randomness, not a modelling failure. Three attempts to close it confirmed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Right-hand chart: waiting is catastrophic — +439% at full coverage. Hiding from a model that has learned you wait is the worst thing you can do. That is the design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newest result and the one to dwell on. It also found a design bug: the shipped build regenerates the facility on re-entry, which is exactly the condition where memory hurts — so the line the game delivers on the death screen is currently false. Report section 7.8.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if asked what does not work. Naming your weakest result before the panel does is worth more than defending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step mode. Walk one room, pause, read the belief panel aloud, then take the next step. Do not try to play it properly in front of the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verification line matters more than the feature list. Anything in this deck can be reproduced with python3 model/evaluate.py.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all four out loud. A panel that hears you name your own limits stops hunting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second-to-last line. The project set out to make a predictive AI the player can feel, and the measurement that it works is the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96926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600"/>
              </a:lnSpc>
              <a:buNone/>
              <a:defRPr lang="en-US" sz="1700" dirty="0">
                <a:solidFill>
                  <a:srgbClr val="FBF9F4"/>
                </a:solidFill>
              </a:defRPr>
            </a:lvl1pPr>
          </a:lstStyle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BF9F4"/>
                </a:solidFill>
              </a:rPr>
              <a:t> 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557784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1900"/>
              </a:lnSpc>
              <a:buNone/>
              <a:defRPr lang="en-US" sz="125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 </a:t>
            </a:r>
            <a:endParaRPr lang="en-US" sz="12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300" kern="0" dirty="0">
                <a:solidFill>
                  <a:srgbClr val="7A7059"/>
                </a:solidFill>
              </a:defRPr>
            </a:lvl1pPr>
          </a:lstStyle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 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4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 txBox="1"/>
          <p:nvPr/>
        </p:nvSpPr>
        <p:spPr>
          <a:xfrm>
            <a:off x="56692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059"/>
                </a:solidFill>
              </a:rPr>
              <a:t>PARITY · BCSE497J · Final Review</a:t>
            </a:r>
            <a:endParaRPr lang="en-US" sz="95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50" dirty="0">
                <a:solidFill>
                  <a:srgbClr val="7A7059"/>
                </a:solidFill>
              </a:defRPr>
            </a:lvl1pPr>
          </a:lstStyle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500" dirty="0">
                <a:solidFill>
                  <a:srgbClr val="7A7059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 txBox="1"/>
          <p:nvPr/>
        </p:nvSpPr>
        <p:spPr>
          <a:xfrm>
            <a:off x="56692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059"/>
                </a:solidFill>
              </a:rPr>
              <a:t>PARITY · BCSE497J · Final Review</a:t>
            </a:r>
            <a:endParaRPr lang="en-US" sz="95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50" dirty="0">
                <a:solidFill>
                  <a:srgbClr val="7A7059"/>
                </a:solidFill>
              </a:defRPr>
            </a:lvl1pPr>
          </a:lstStyle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B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2212848"/>
            <a:ext cx="103327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2500"/>
              </a:lnSpc>
              <a:buNone/>
              <a:defRPr lang="en-US" sz="1500" dirty="0">
                <a:solidFill>
                  <a:srgbClr val="FBF9F4"/>
                </a:solidFill>
              </a:defRPr>
            </a:lvl1pPr>
          </a:lstStyle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F9F4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spc="600" kern="0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96926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BF9F4"/>
                </a:solidFill>
              </a:rPr>
              <a:t>An adaptive horror game driven by online player-trajectory prediction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68680" y="557784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BF9F4"/>
                </a:solidFill>
              </a:rPr>
              <a:t>Shivam Kumar Arya  ·  Parth Jaiswal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B.Tech Computer Science and Engineering (AI &amp; Robotics)  ·  BCSE497J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Vellore Institute of Technology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65960"/>
            <a:ext cx="1005840" cy="32004"/>
          </a:xfrm>
          <a:prstGeom prst="rect">
            <a:avLst/>
          </a:prstGeom>
          <a:solidFill>
            <a:srgbClr val="FFB545"/>
          </a:solidFill>
          <a:ln w="12700">
            <a:solidFill>
              <a:srgbClr val="FFB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983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0 1 0 0 1 1 0 1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Game AI has optimised for competence. Adaptation to the individual player is the less-solved half.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fields, one gap between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Each is mature on its own. What is missing is a system that infers, acts and reshapes the world as one loop — and is measured as 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Player modelling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Infers intent from telemetry.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Rarely drives the antagonist in real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06824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Adaptive AI and DDA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Acts on inference, but usually by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tuning numbers, not by taking decisions.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1920240"/>
            <a:ext cx="3429000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4464" y="2121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Procedural generation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84464" y="254203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Changes the world, but offline 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before the player arrives, not in response.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160520"/>
            <a:ext cx="10936224" cy="1600200"/>
          </a:xfrm>
          <a:prstGeom prst="roundRect">
            <a:avLst>
              <a:gd name="adj" fmla="val 2286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370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214"/>
                </a:solidFill>
              </a:rPr>
              <a:t>The research gap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3659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B0A08"/>
                </a:solidFill>
              </a:rPr>
              <a:t>No published system closes the loop and reports it against controls. PARITY builds the loop, and measures every claim against a baseline that has no model and a player that cannot be modelled.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player is actually doing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Carry eight bits from a codebook to the uplink and transmit. Twice. That is the whole game.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901952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Read a codebook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21945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lit panel in a room gives a keyword and its eight bits.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" y="2926080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9077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Write it down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18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The notebook is freehand and the only record nothing can edit.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3950208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50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3931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Carry it to the uplink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24281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Every door in the facility unlocks together for three seconds, then seals.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" y="4974336"/>
            <a:ext cx="475488" cy="475488"/>
          </a:xfrm>
          <a:prstGeom prst="ellipse">
            <a:avLst/>
          </a:prstGeom>
          <a:solidFill>
            <a:srgbClr val="0B0A08"/>
          </a:solidFill>
          <a:ln w="12700">
            <a:solidFill>
              <a:srgbClr val="0B0A0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974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545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49560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Stage and send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526694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While the byte sits staged and you are away, it may turn one bit over.</a:t>
            </a:r>
            <a:endParaRPr lang="en-US" sz="1250" dirty="0"/>
          </a:p>
        </p:txBody>
      </p:sp>
      <p:pic>
        <p:nvPicPr>
          <p:cNvPr id="20" name="deck_room.png" descr="/home/sh4d0w/Projects/parity/out/deck_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406015"/>
            <a:ext cx="4937760" cy="2777490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Three parts: something that predicts, something that localises, and something that decides what to do about it.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Belief, prediction and action are separate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Keeping them apart is what makes each one measurable on its own — and what let us find that one of them was never being called.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Belief filter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Where are they now?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Bayes forward filter over the room graph, updated from door-sensor events. Silence is evidence too.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6824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62856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Predictor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62856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Where will they go?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variable-order Markov model with Witten-Bell back-off, learning online from the trajectory it infers.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28432" y="1828800"/>
            <a:ext cx="342900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84464" y="20299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A08"/>
                </a:solidFill>
              </a:rPr>
              <a:t>Director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84464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6214"/>
                </a:solidFill>
              </a:rPr>
              <a:t>What should I do?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7432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Intercept, seal a door, rewire the facility, or quietly corrupt a page the player has already copied.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" y="4800600"/>
            <a:ext cx="10936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0A08"/>
                </a:solidFill>
              </a:rPr>
              <a:t>Fairness is a constraint, not a difficulty setting.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7A7059"/>
                </a:solidFill>
              </a:rPr>
              <a:t>The antagonist never reads the player's position directly, never edits a room the player is standing in, and never acts below a confidence gate. Nine invariants assert this over 25 generated facilities.</a:t>
            </a:r>
            <a:endParaRPr lang="en-US" sz="1350" dirty="0"/>
          </a:p>
        </p:txBody>
      </p:sp>
      <p:sp>
        <p:nvSpPr>
          <p:cNvPr id="18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predictor: a variable-order Markov model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Long context when the evidence supports it, short context when it does not — decided per prediction, not per model.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5577840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9933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B0A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Pₒ(x | ctx)  =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B0A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 · fₒ(x | ctx)  +  (1 − w) · Pₒ₋₁(x | ctx[1:])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9748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C(ctx) / (C(ctx) + α)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1.6     max order k = 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Witten-Bell back-off weights a context by how often it has actually been seen, so a rare context defers to its shorter parent instead of guessing from one observation.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8529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Staying put is a first-class action. The candidate set is the neighbouring rooms plus the current room — an earlier version omitted it and inflated accuracy by 28 points.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87705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0B0A08"/>
                </a:solidFill>
              </a:rPr>
              <a:t>It learns online, from the room sequence the belief filter infers, not from ground truth it is never given.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5216" y="3675888"/>
            <a:ext cx="5577840" cy="2084832"/>
          </a:xfrm>
          <a:prstGeom prst="roundRect">
            <a:avLst>
              <a:gd name="adj" fmla="val 1754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6214"/>
                </a:solidFill>
              </a:rPr>
              <a:t>Three attempts to beat it failed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87952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Grid search over α and k — no gain.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Intent tagging on the context — +0.1 points.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An explicit goal-conditioned variant — 56.7% against the plain model's 59.9%.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6694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59"/>
                </a:solidFill>
              </a:rPr>
              <a:t>The variable-order context already encodes what those modules tried to add.</a:t>
            </a:r>
            <a:endParaRPr lang="en-US" sz="1200" dirty="0"/>
          </a:p>
        </p:txBody>
      </p:sp>
      <p:sp>
        <p:nvSpPr>
          <p:cNvPr id="15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see you. It hears doors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antagonist observes motion detectors on doorways, not the player. Everything it believes is inferred from which doors tripped — and which did not.</a:t>
            </a:r>
            <a:endParaRPr lang="en-US" sz="1500" dirty="0"/>
          </a:p>
        </p:txBody>
      </p:sp>
      <p:pic>
        <p:nvPicPr>
          <p:cNvPr id="4" name="fig_localisation.png" descr="/home/sh4d0w/Projects/parity/out/fig_loca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148840"/>
            <a:ext cx="64008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8745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Silence is evidence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220370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If a wired door did not trip, the player did not cross it. The filter rules out those transitions.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32004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Cutting a sensor is counter-play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352958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 dangerous task buys you a dead door — one the antagonist can no longer hear you use.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45262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But it has a sweet spot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485546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At 60% coverage, killing three sensors cuts risk 21%. At full coverage the same move backfires by 91%.</a:t>
            </a:r>
            <a:endParaRPr lang="en-US" sz="12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Every number below is prequential — predicted before it was observed — and reported against a control that cannot be modelled.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predicts where you go next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Top-1 next-room accuracy, mean of 12 held-out facilities. The candidate set is the neighbouring rooms plus staying put.</a:t>
            </a:r>
            <a:endParaRPr lang="en-US" sz="1500" dirty="0"/>
          </a:p>
        </p:txBody>
      </p:sp>
      <p:pic>
        <p:nvPicPr>
          <p:cNvPr id="4" name="fig_accuracy.png" descr="/home/sh4d0w/Projects/parity/out/fig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616" y="1737360"/>
            <a:ext cx="6248400" cy="3200400"/>
          </a:xfrm>
          <a:prstGeom prst="rect">
            <a:avLst/>
          </a:prstGeom>
        </p:spPr>
      </p:pic>
      <p:sp>
        <p:nvSpPr>
          <p:cNvPr id="5" name="stat-against a habitual player, against 60.0% for order-1 Markov"/>
          <p:cNvSpPr txBox="1"/>
          <p:nvPr/>
        </p:nvSpPr>
        <p:spPr>
          <a:xfrm>
            <a:off x="8229600" y="18288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83.6%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542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a habitual player,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60.0% for order-1 Markov</a:t>
            </a:r>
            <a:endParaRPr lang="en-US" sz="1150" dirty="0"/>
          </a:p>
        </p:txBody>
      </p:sp>
      <p:sp>
        <p:nvSpPr>
          <p:cNvPr id="7" name="stat-against a random player — no model scores 26.9%"/>
          <p:cNvSpPr txBox="1"/>
          <p:nvPr/>
        </p:nvSpPr>
        <p:spPr>
          <a:xfrm>
            <a:off x="8229600" y="3291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005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a random player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no model scores 26.9%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" y="5074920"/>
            <a:ext cx="10936224" cy="868680"/>
          </a:xfrm>
          <a:prstGeom prst="roundRect">
            <a:avLst>
              <a:gd name="adj" fmla="val 4211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52303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8A6214"/>
                </a:solidFill>
              </a:rPr>
              <a:t>The control is the row that matters.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B0A08"/>
                </a:solidFill>
              </a:rPr>
              <a:t>Against a player with no habits the model performs identically to having no model at all. The gains are learned behaviour, not leakage from the simulator.</a:t>
            </a:r>
            <a:endParaRPr lang="en-US" sz="13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well trained is it, really?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Accuracy alone does not say whether a model is good — it says how predictable the player is. So we measured the ceiling.</a:t>
            </a:r>
            <a:endParaRPr lang="en-US" sz="1500" dirty="0"/>
          </a:p>
        </p:txBody>
      </p:sp>
      <p:pic>
        <p:nvPicPr>
          <p:cNvPr id="4" name="fig_training.png" descr="/home/sh4d0w/Projects/parity/out/fig_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83080"/>
            <a:ext cx="6949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18120" y="1828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An oracle that cheats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579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Give a predictor the player's internal state — the room it is walking to, whether it is mid-page — and it reaches 91.8%. That is the ceiling.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32004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The model, from behaviour alone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5295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89.0% once settled. That is 97% of the achievable signal, with no access to anything the player knows.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45720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A08"/>
                </a:solidFill>
              </a:rPr>
              <a:t>Against a perfect routine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901184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7059"/>
                </a:solidFill>
              </a:rPr>
              <a:t>100%. When the player is genuinely consistent, it is not approximately right — it is right.</a:t>
            </a:r>
            <a:endParaRPr lang="en-US" sz="120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makes a materially better antagonist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Captures per 1000 moves against an entity that ambushes where the model points, versus no model and versus camping the busiest junction.</a:t>
            </a:r>
            <a:endParaRPr lang="en-US" sz="1500" dirty="0"/>
          </a:p>
        </p:txBody>
      </p:sp>
      <p:pic>
        <p:nvPicPr>
          <p:cNvPr id="4" name="fig_capture.png" descr="/home/sh4d0w/Projects/parity/out/fig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230244"/>
            <a:ext cx="5852160" cy="2854712"/>
          </a:xfrm>
          <a:prstGeom prst="rect">
            <a:avLst/>
          </a:prstGeom>
        </p:spPr>
      </p:pic>
      <p:pic>
        <p:nvPicPr>
          <p:cNvPr id="5" name="fig_counterplay.png" descr="/home/sh4d0w/Projects/parity/out/fig_counter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382066"/>
            <a:ext cx="4983480" cy="255106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216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059"/>
                </a:solidFill>
              </a:rPr>
              <a:t>Captures by antagonist strategy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5577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059"/>
                </a:solidFill>
              </a:rPr>
              <a:t>Captures per objective by what the player tries</a:t>
            </a:r>
            <a:endParaRPr lang="en-US" sz="1150" dirty="0"/>
          </a:p>
        </p:txBody>
      </p:sp>
      <p:sp>
        <p:nvSpPr>
          <p:cNvPr id="9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get better the more you play?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game claims your pages survive and so does its model of you. Twelve consecutive sessions, everything reset but the predictor — each against a control that forgets.</a:t>
            </a:r>
            <a:endParaRPr lang="en-US" sz="1500" dirty="0"/>
          </a:p>
        </p:txBody>
      </p:sp>
      <p:pic>
        <p:nvPicPr>
          <p:cNvPr id="4" name="fig_sessions.png" descr="/home/sh4d0w/Projects/parity/out/fig_s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4284" y="1719072"/>
            <a:ext cx="8118088" cy="3200400"/>
          </a:xfrm>
          <a:prstGeom prst="rect">
            <a:avLst/>
          </a:prstGeom>
        </p:spPr>
      </p:pic>
      <p:sp>
        <p:nvSpPr>
          <p:cNvPr id="5" name="stat-more captures by session 12 when the building stays put"/>
          <p:cNvSpPr txBox="1"/>
          <p:nvPr/>
        </p:nvSpPr>
        <p:spPr>
          <a:xfrm>
            <a:off x="621792" y="48920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+6.9%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56052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more captures by session 12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when the building stays put</a:t>
            </a:r>
            <a:endParaRPr lang="en-US" sz="1150" dirty="0"/>
          </a:p>
        </p:txBody>
      </p:sp>
      <p:sp>
        <p:nvSpPr>
          <p:cNvPr id="7" name="stat-when the building is rewired — carrying the model is worse than forgetting"/>
          <p:cNvSpPr txBox="1"/>
          <p:nvPr/>
        </p:nvSpPr>
        <p:spPr>
          <a:xfrm>
            <a:off x="4160520" y="48920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-14.5%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4160520" y="56052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when the building is rewired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carrying the model is worse than forgetting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0" y="4846320"/>
            <a:ext cx="3749040" cy="1371600"/>
          </a:xfrm>
          <a:prstGeom prst="roundRect">
            <a:avLst>
              <a:gd name="adj" fmla="val 2667"/>
            </a:avLst>
          </a:prstGeom>
          <a:solidFill>
            <a:srgbClr val="FFF6E4"/>
          </a:solidFill>
          <a:ln w="9525">
            <a:solidFill>
              <a:srgbClr val="E8C98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28432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Both controls are flat. The trend is retained learning, not the player settling into a route.</a:t>
            </a:r>
            <a:endParaRPr lang="en-US" sz="125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problem: knowing when you stop to write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Once the player writes realistically — each codebook copied once, not re-copied — pausing becomes rare, and accuracy stops meaning anything.</a:t>
            </a:r>
            <a:endParaRPr lang="en-US" sz="1500" dirty="0"/>
          </a:p>
        </p:txBody>
      </p:sp>
      <p:pic>
        <p:nvPicPr>
          <p:cNvPr id="4" name="fig_dwell.png" descr="/home/sh4d0w/Projects/parity/out/fig_dw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2139919"/>
            <a:ext cx="6035040" cy="2943922"/>
          </a:xfrm>
          <a:prstGeom prst="rect">
            <a:avLst/>
          </a:prstGeom>
        </p:spPr>
      </p:pic>
      <p:sp>
        <p:nvSpPr>
          <p:cNvPr id="5" name="stat-of windows are a pause — so “always move” scores 96%"/>
          <p:cNvSpPr txBox="1"/>
          <p:nvPr/>
        </p:nvSpPr>
        <p:spPr>
          <a:xfrm>
            <a:off x="6995160" y="1828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995160" y="25420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of windows are a pause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so “always move” scores 96%</a:t>
            </a:r>
            <a:endParaRPr lang="en-US" sz="1150" dirty="0"/>
          </a:p>
        </p:txBody>
      </p:sp>
      <p:sp>
        <p:nvSpPr>
          <p:cNvPr id="7" name="stat-recall on the rare event, against 0% for that baseline"/>
          <p:cNvSpPr txBox="1"/>
          <p:nvPr/>
        </p:nvSpPr>
        <p:spPr>
          <a:xfrm>
            <a:off x="9418320" y="1828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5420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recall on the rare event,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against 0% for that baseline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342900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0A08"/>
                </a:solidFill>
              </a:rPr>
              <a:t>Why this is the honest weak spot.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Recall is the right measure for a rare event and 16.8% is not good. Four attempts to improve it, including an explicit first-visit feature, each made it worse: every one split the context and lost more to sparsity than it gained in signal.</a:t>
            </a:r>
            <a:endParaRPr lang="en-US" sz="1250" dirty="0"/>
          </a:p>
        </p:txBody>
      </p:sp>
      <p:sp>
        <p:nvSpPr>
          <p:cNvPr id="11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059"/>
                </a:solidFill>
              </a:rPr>
              <a:t>04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86384" y="301752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game is not a wrapper around the model. It is the thing that makes the model visible while you are losing to 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Playable, in a browser, with the AI on screen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Hand-written WebGL2. 19 rooms, a door clock, synthesised audio, and a panel that narrates what the antagonist believes and why.</a:t>
            </a:r>
            <a:endParaRPr lang="en-US" sz="1500" dirty="0"/>
          </a:p>
        </p:txBody>
      </p:sp>
      <p:pic>
        <p:nvPicPr>
          <p:cNvPr id="4" name="deck_title.png" descr="/home/sh4d0w/Projects/parity/out/deck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931099"/>
            <a:ext cx="3456432" cy="194424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5216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The facility, before you enter</a:t>
            </a:r>
            <a:endParaRPr lang="en-US" sz="1150" dirty="0"/>
          </a:p>
        </p:txBody>
      </p:sp>
      <p:pic>
        <p:nvPicPr>
          <p:cNvPr id="6" name="deck_room.png" descr="/home/sh4d0w/Projects/parity/out/deck_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931099"/>
            <a:ext cx="3456432" cy="194424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06824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A codebook room — the panel you must copy</a:t>
            </a:r>
            <a:endParaRPr lang="en-US" sz="1150" dirty="0"/>
          </a:p>
        </p:txBody>
      </p:sp>
      <p:pic>
        <p:nvPicPr>
          <p:cNvPr id="8" name="deck_hunt.png" descr="/home/sh4d0w/Projects/parity/out/deck_hu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931099"/>
            <a:ext cx="3456432" cy="194424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028432" y="413308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A7059"/>
                </a:solidFill>
              </a:rPr>
              <a:t>It is in the room with you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585216" y="4773168"/>
            <a:ext cx="10936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FB545"/>
                </a:solidFill>
              </a:rPr>
              <a:t>Step mode (P) 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BF9F4"/>
                </a:solidFill>
              </a:rPr>
              <a:t>stops the clock and gives the antagonist exactly one turn per room you enter, so a belief update, a prediction and an interception can each be read out loud instead of raced.</a:t>
            </a:r>
            <a:endParaRPr lang="en-US" sz="1400" dirty="0"/>
          </a:p>
        </p:txBody>
      </p:sp>
      <p:sp>
        <p:nvSpPr>
          <p:cNvPr id="12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shipped, and how it was verified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The model was not touched by the build work — which is itself a claim that had to be checked, not asserted.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56232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5216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828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 new facility every run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17627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Seeded generation, so the layout cannot be memorised between sessions.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63056" y="1856232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3056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1828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An antagonist made of its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56832" y="217627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The figure is built from the prediction it is acting on, shown as an echo.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5216" y="3246120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5216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218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Doors, light and sound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Panels that seal on the clock, lights that react, and audio synthesised at runtime — no asset files.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63056" y="3246120"/>
            <a:ext cx="310896" cy="310896"/>
          </a:xfrm>
          <a:prstGeom prst="ellipse">
            <a:avLst/>
          </a:prstGeom>
          <a:solidFill>
            <a:srgbClr val="FFF0D2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3056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214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3218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A08"/>
                </a:solidFill>
              </a:rPr>
              <a:t>An automated player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7059"/>
                </a:solidFill>
              </a:rPr>
              <a:t>Drives the real build through the real input path, and records a playthrough to video.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5216" y="4846320"/>
            <a:ext cx="10936224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13892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9 / 9 invariants hold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 over 25 generated facilities   ·   </a:t>
            </a:r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automated player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completes the objective on every seed   ·   </a:t>
            </a:r>
            <a:pPr indent="0" marL="0">
              <a:buNone/>
            </a:pPr>
            <a:r>
              <a:rPr lang="en-US" sz="1350" b="1" dirty="0">
                <a:solidFill>
                  <a:srgbClr val="0B0A08"/>
                </a:solidFill>
              </a:rPr>
              <a:t>every figure</a:t>
            </a:r>
            <a:pPr indent="0" marL="0">
              <a:buNone/>
            </a:pPr>
            <a:r>
              <a:rPr lang="en-US" sz="1350" dirty="0">
                <a:solidFill>
                  <a:srgbClr val="7A7059"/>
                </a:solidFill>
              </a:rPr>
              <a:t> regenerates from one command</a:t>
            </a:r>
            <a:endParaRPr lang="en-US" sz="1350" dirty="0"/>
          </a:p>
        </p:txBody>
      </p:sp>
      <p:sp>
        <p:nvSpPr>
          <p:cNvPr id="23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0A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work does not establish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85216" y="11155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Stated plainly, because the limits are a result too.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" y="187452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075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Nobody has played 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44144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Every behavioural parameter — the deviation rate, the writing model — is an assumption. Claims about fear, difficulty and enjoyment are untested.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63056" y="187452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7376" y="2075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The players are scripted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37376" y="244144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A Markov model predicting a scripted agent is a weaker claim than one predicting a person. Human traces are the single highest-value next step.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" y="388620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40873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Memory does not transfer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445312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Retained learning helps in a fixed building and hurts in a regenerated one. The predictor is keyed on room indices, and an index stops meaning the same thing.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63056" y="3886200"/>
            <a:ext cx="530352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ED7C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40873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02F"/>
                </a:solidFill>
              </a:rPr>
              <a:t>Dwell is unsolved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445312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B0A08"/>
                </a:solidFill>
              </a:rPr>
              <a:t>16.8% recall on the moment the player stops to write, after four failed attempts to improve it.</a:t>
            </a:r>
            <a:endParaRPr lang="en-US" sz="1250" dirty="0"/>
          </a:p>
        </p:txBody>
      </p:sp>
      <p:sp>
        <p:nvSpPr>
          <p:cNvPr id="17" name="Text 1"/>
          <p:cNvSpPr/>
          <p:nvPr>
            <p:ph idx="103" hasCustomPrompt="1"/>
          </p:nvPr>
        </p:nvSpPr>
        <p:spPr>
          <a:xfrm>
            <a:off x="11247120" y="6327648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B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stands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2212848"/>
            <a:ext cx="10332720" cy="36118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00" b="1" dirty="0">
                <a:solidFill>
                  <a:srgbClr val="FBF9F4"/>
                </a:solidFill>
              </a:rPr>
              <a:t>A horror antagonist that models the individual player, and a measurement that says how well.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F9F4"/>
                </a:solidFill>
              </a:rPr>
              <a:t>It predicts the next room 83.6% of the time against a habitual player, and 26.7% against one with no habits — which is exactly what having no model scores. The gain is learned behaviour, not leakage. Against an oracle that can see the player's internal state, it reaches 97% of the achievable signal from behaviour alone.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b="1" dirty="0">
                <a:solidFill>
                  <a:srgbClr val="FFB545"/>
                </a:solidFill>
              </a:rPr>
              <a:t>It gets better at catching a returning player, and we now know the one condition where it does not.</a:t>
            </a: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endParaRPr lang="en-US" sz="15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7A7059"/>
                </a:solidFill>
              </a:rPr>
              <a:t>Next: human playtest traces in place of scripted players, and a predictor re-keyed on features that survive a rewired building.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623620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0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github.com/Sh1v4mKum4r/parity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ITY">
  <a:themeElements>
    <a:clrScheme name="PARITY">
      <a:dk1>
        <a:srgbClr val="0B0A08"/>
      </a:dk1>
      <a:lt1>
        <a:srgbClr val="FBF9F4"/>
      </a:lt1>
      <a:dk2>
        <a:srgbClr val="2A251C"/>
      </a:dk2>
      <a:lt2>
        <a:srgbClr val="EDE7DA"/>
      </a:lt2>
      <a:accent1>
        <a:srgbClr val="FFB545"/>
      </a:accent1>
      <a:accent2>
        <a:srgbClr val="C2402F"/>
      </a:accent2>
      <a:accent3>
        <a:srgbClr val="2F7F5E"/>
      </a:accent3>
      <a:accent4>
        <a:srgbClr val="2A78D6"/>
      </a:accent4>
      <a:accent5>
        <a:srgbClr val="7A7059"/>
      </a:accent5>
      <a:accent6>
        <a:srgbClr val="5A4E3A"/>
      </a:accent6>
      <a:hlink>
        <a:srgbClr val="2A78D6"/>
      </a:hlink>
      <a:folHlink>
        <a:srgbClr val="5A4E3A"/>
      </a:folHlink>
    </a:clrScheme>
    <a:fontScheme name="PARI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PARITY — Final Review</dc:title>
  <dc:subject>PptxGenJS Presentation</dc:subject>
  <dc:creator>Shivam Kumar Arya and Parth Jaiswal</dc:creator>
  <cp:lastModifiedBy>Shivam Kumar Arya and Parth Jaiswal</cp:lastModifiedBy>
  <cp:revision>1</cp:revision>
  <dcterms:created xsi:type="dcterms:W3CDTF">2026-10-20T16:50:02Z</dcterms:created>
  <dcterms:modified xsi:type="dcterms:W3CDTF">2026-10-20T16:50:02Z</dcterms:modified>
</cp:coreProperties>
</file>