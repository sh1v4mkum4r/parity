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theme/theme1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Layouts/slideLayout5.xml" ContentType="application/vnd.openxmlformats-officedocument.presentationml.slideLayout+xml"/>
  <Override PartName="/ppt/slideLayouts/slideLayout9.xml" ContentType="application/vnd.openxmlformats-officedocument.presentationml.slideLayout+xml"/>
  <Override PartName="/ppt/notesMasters/notesMaster1.xml" ContentType="application/vnd.openxmlformats-officedocument.presentationml.notesMaster+xml"/>
  <Override PartName="/ppt/presProps.xml" ContentType="application/vnd.openxmlformats-officedocument.presentationml.presProps+xml"/>
  <Override PartName="/ppt/slides/slide17.xml" ContentType="application/vnd.openxmlformats-officedocument.presentationml.slide+xml"/>
  <Override PartName="/ppt/slides/slide7.xml" ContentType="application/vnd.openxmlformats-officedocument.presentationml.slide+xml"/>
  <Override PartName="/ppt/slides/slide16.xml" ContentType="application/vnd.openxmlformats-officedocument.presentationml.slide+xml"/>
  <Override PartName="/ppt/slides/slide1.xml" ContentType="application/vnd.openxmlformats-officedocument.presentationml.slide+xml"/>
  <Override PartName="/ppt/slides/slide18.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15.xml" ContentType="application/vnd.openxmlformats-officedocument.presentationml.slide+xml"/>
  <Override PartName="/ppt/slides/slide14.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12.xml" ContentType="application/vnd.openxmlformats-officedocument.presentationml.slide+xml"/>
  <Override PartName="/ppt/slides/slide29.xml" ContentType="application/vnd.openxmlformats-officedocument.presentationml.slide+xml"/>
  <Override PartName="/ppt/slides/slide5.xml" ContentType="application/vnd.openxmlformats-officedocument.presentationml.slide+xml"/>
  <Override PartName="/ppt/slides/slide2.xml" ContentType="application/vnd.openxmlformats-officedocument.presentationml.slide+xml"/>
  <Override PartName="/ppt/slides/slide23.xml" ContentType="application/vnd.openxmlformats-officedocument.presentationml.slide+xml"/>
  <Override PartName="/ppt/slides/slide4.xml" ContentType="application/vnd.openxmlformats-officedocument.presentationml.slide+xml"/>
  <Override PartName="/ppt/slides/slide9.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5.xml" ContentType="application/vnd.openxmlformats-officedocument.presentationml.slide+xml"/>
  <Override PartName="/ppt/slides/slide19.xml" ContentType="application/vnd.openxmlformats-officedocument.presentationml.slide+xml"/>
  <Override PartName="/ppt/slides/slide13.xml" ContentType="application/vnd.openxmlformats-officedocument.presentationml.slide+xml"/>
  <Override PartName="/ppt/slides/slide11.xml" ContentType="application/vnd.openxmlformats-officedocument.presentationml.slide+xml"/>
  <Override PartName="/ppt/slides/slide6.xml" ContentType="application/vnd.openxmlformats-officedocument.presentationml.slide+xml"/>
  <Override PartName="/ppt/slides/slide10.xml" ContentType="application/vnd.openxmlformats-officedocument.presentationml.slide+xml"/>
  <Override PartName="/ppt/slides/slide24.xml" ContentType="application/vnd.openxmlformats-officedocument.presentationml.slide+xml"/>
  <Override PartName="/ppt/slides/slide8.xml" ContentType="application/vnd.openxmlformats-officedocument.presentationml.slide+xml"/>
  <Override PartName="/ppt/notesSlides/notesSlide12.xml" ContentType="application/vnd.openxmlformats-officedocument.presentationml.notesSlide+xml"/>
  <Override PartName="/ppt/notesSlides/notesSlide9.xml" ContentType="application/vnd.openxmlformats-officedocument.presentationml.notesSlide+xml"/>
  <Override PartName="/ppt/notesSlides/notesSlide5.xml" ContentType="application/vnd.openxmlformats-officedocument.presentationml.notesSlide+xml"/>
  <Override PartName="/ppt/notesSlides/notesSlide4.xml" ContentType="application/vnd.openxmlformats-officedocument.presentationml.notesSlide+xml"/>
  <Override PartName="/ppt/notesSlides/notesSlide11.xml" ContentType="application/vnd.openxmlformats-officedocument.presentationml.notesSlide+xml"/>
  <Override PartName="/ppt/notesSlides/notesSlide8.xml" ContentType="application/vnd.openxmlformats-officedocument.presentationml.notesSlide+xml"/>
  <Override PartName="/ppt/notesSlides/notesSlide3.xml" ContentType="application/vnd.openxmlformats-officedocument.presentationml.notesSlide+xml"/>
  <Override PartName="/ppt/notesSlides/notesSlide2.xml" ContentType="application/vnd.openxmlformats-officedocument.presentationml.notesSlide+xml"/>
  <Override PartName="/ppt/notesSlides/notesSlide13.xml" ContentType="application/vnd.openxmlformats-officedocument.presentationml.notesSlide+xml"/>
  <Override PartName="/ppt/notesSlides/notesSlide1.xml" ContentType="application/vnd.openxmlformats-officedocument.presentationml.notesSlide+xml"/>
  <Override PartName="/ppt/notesSlides/notesSlide27.xml" ContentType="application/vnd.openxmlformats-officedocument.presentationml.notesSlide+xml"/>
  <Override PartName="/ppt/notesSlides/notesSlide25.xml" ContentType="application/vnd.openxmlformats-officedocument.presentationml.notesSlide+xml"/>
  <Override PartName="/ppt/notesSlides/notesSlide24.xml" ContentType="application/vnd.openxmlformats-officedocument.presentationml.notesSlide+xml"/>
  <Override PartName="/ppt/notesSlides/notesSlide7.xml" ContentType="application/vnd.openxmlformats-officedocument.presentationml.notesSlide+xml"/>
  <Override PartName="/ppt/notesSlides/notesSlide28.xml" ContentType="application/vnd.openxmlformats-officedocument.presentationml.notesSlide+xml"/>
  <Override PartName="/ppt/notesSlides/notesSlide21.xml" ContentType="application/vnd.openxmlformats-officedocument.presentationml.notesSlide+xml"/>
  <Override PartName="/ppt/notesSlides/notesSlide26.xml" ContentType="application/vnd.openxmlformats-officedocument.presentationml.notesSlide+xml"/>
  <Override PartName="/ppt/notesSlides/notesSlide23.xml" ContentType="application/vnd.openxmlformats-officedocument.presentationml.notesSlide+xml"/>
  <Override PartName="/ppt/notesSlides/notesSlide16.xml" ContentType="application/vnd.openxmlformats-officedocument.presentationml.notesSlide+xml"/>
  <Override PartName="/ppt/notesSlides/notesSlide10.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18.xml" ContentType="application/vnd.openxmlformats-officedocument.presentationml.notesSlide+xml"/>
  <Override PartName="/ppt/notesSlides/notesSlide17.xml" ContentType="application/vnd.openxmlformats-officedocument.presentationml.notesSlide+xml"/>
  <Override PartName="/ppt/notesSlides/notesSlide6.xml" ContentType="application/vnd.openxmlformats-officedocument.presentationml.notesSlide+xml"/>
  <Override PartName="/ppt/notesSlides/notesSlide22.xml" ContentType="application/vnd.openxmlformats-officedocument.presentationml.notesSlide+xml"/>
  <Override PartName="/ppt/notesSlides/notesSlide15.xml" ContentType="application/vnd.openxmlformats-officedocument.presentationml.notesSlide+xml"/>
  <Override PartName="/ppt/notesSlides/notesSlide14.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Lst>
  <p:sldSz cx="12192000" cy="6858000"/>
  <p:notesSz cx="6858000" cy="9144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1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 name="PlaceHolder 1"/>
          <p:cNvSpPr>
            <a:spLocks noGrp="1"/>
          </p:cNvSpPr>
          <p:nvPr>
            <p:ph type="sldImg"/>
          </p:nvPr>
        </p:nvSpPr>
        <p:spPr>
          <a:xfrm>
            <a:off x="533520" y="764280"/>
            <a:ext cx="6704640" cy="3771360"/>
          </a:xfrm>
          <a:prstGeom prst="rect">
            <a:avLst/>
          </a:prstGeom>
          <a:noFill/>
          <a:ln w="0">
            <a:noFill/>
          </a:ln>
        </p:spPr>
        <p:txBody>
          <a:bodyPr lIns="0" tIns="0" rIns="0" bIns="0" anchor="ctr">
            <a:noAutofit/>
          </a:bodyPr>
          <a:p>
            <a:pPr algn="ctr" defTabSz="457200">
              <a:tabLst>
                <a:tab pos="0" algn="l"/>
              </a:tabLst>
            </a:pPr>
            <a:r>
              <a:rPr lang="en-US" sz="4400" b="0" u="none" strike="noStrike">
                <a:solidFill>
                  <a:schemeClr val="dk1"/>
                </a:solidFill>
                <a:effectLst/>
                <a:uFillTx/>
                <a:latin typeface="Calibri"/>
              </a:rPr>
              <a:t>Click to move the slide</a:t>
            </a:r>
            <a:endParaRPr lang="en-US" sz="4400" b="0" u="none" strike="noStrike">
              <a:solidFill>
                <a:schemeClr val="dk1"/>
              </a:solidFill>
              <a:effectLst/>
              <a:uFillTx/>
              <a:latin typeface="Calibri"/>
            </a:endParaRPr>
          </a:p>
        </p:txBody>
      </p:sp>
      <p:sp>
        <p:nvSpPr>
          <p:cNvPr id="62"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63" name="PlaceHolder 3"/>
          <p:cNvSpPr>
            <a:spLocks noGrp="1"/>
          </p:cNvSpPr>
          <p:nvPr>
            <p:ph type="hdr"/>
          </p:nvPr>
        </p:nvSpPr>
        <p:spPr>
          <a:xfrm>
            <a:off x="0" y="0"/>
            <a:ext cx="3372840" cy="50256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Times New Roman"/>
              </a:rPr>
              <a:t>&lt;header&gt;</a:t>
            </a:r>
            <a:endParaRPr lang="en-US" sz="1400" b="0" u="none" strike="noStrike">
              <a:solidFill>
                <a:srgbClr val="000000"/>
              </a:solidFill>
              <a:effectLst/>
              <a:uFillTx/>
              <a:latin typeface="Times New Roman"/>
            </a:endParaRPr>
          </a:p>
        </p:txBody>
      </p:sp>
      <p:sp>
        <p:nvSpPr>
          <p:cNvPr id="64" name="PlaceHolder 4"/>
          <p:cNvSpPr>
            <a:spLocks noGrp="1"/>
          </p:cNvSpPr>
          <p:nvPr>
            <p:ph type="dt" idx="34"/>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
        <p:nvSpPr>
          <p:cNvPr id="65" name="PlaceHolder 5"/>
          <p:cNvSpPr>
            <a:spLocks noGrp="1"/>
          </p:cNvSpPr>
          <p:nvPr>
            <p:ph type="ftr" idx="35"/>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66" name="PlaceHolder 6"/>
          <p:cNvSpPr>
            <a:spLocks noGrp="1"/>
          </p:cNvSpPr>
          <p:nvPr>
            <p:ph type="sldNum" idx="36"/>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36D2D779-4A95-469E-8E08-89DCB42CD193}" type="slidenum">
              <a:rPr lang="en-US" sz="1400" b="0" u="none" strike="noStrike">
                <a:solidFill>
                  <a:srgbClr val="000000"/>
                </a:solidFill>
                <a:effectLst/>
                <a:uFillTx/>
                <a:latin typeface="Times New Roman"/>
              </a:rPr>
              <a:t>&lt;number&gt;</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_rels/notesSlide24.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
</Relationships>
</file>

<file path=ppt/notesSlides/_rels/notesSlide25.xml.rels><?xml version="1.0" encoding="UTF-8"?>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
</Relationships>
</file>

<file path=ppt/notesSlides/_rels/notesSlide26.xml.rels><?xml version="1.0" encoding="UTF-8"?>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
</Relationships>
</file>

<file path=ppt/notesSlides/_rels/notesSlide27.xml.rels><?xml version="1.0" encoding="UTF-8"?>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
</Relationships>
</file>

<file path=ppt/notesSlides/_rels/notesSlide28.xml.rels><?xml version="1.0" encoding="UTF-8"?>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0" name="PlaceHolder 1"/>
          <p:cNvSpPr>
            <a:spLocks noGrp="1"/>
          </p:cNvSpPr>
          <p:nvPr>
            <p:ph type="sldImg"/>
          </p:nvPr>
        </p:nvSpPr>
        <p:spPr>
          <a:xfrm>
            <a:off x="1143000" y="685800"/>
            <a:ext cx="4571280" cy="3428280"/>
          </a:xfrm>
          <a:prstGeom prst="rect">
            <a:avLst/>
          </a:prstGeom>
          <a:ln w="0">
            <a:noFill/>
          </a:ln>
        </p:spPr>
      </p:sp>
      <p:sp>
        <p:nvSpPr>
          <p:cNvPr id="221"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Pitch: a horror antagonist that builds a live behavioural model of the individual player and acts on its predictions. The model is the project; the game makes it legible.</a:t>
            </a:r>
            <a:endParaRPr lang="en-US" sz="2000" b="0" u="none" strike="noStrike">
              <a:solidFill>
                <a:srgbClr val="000000"/>
              </a:solidFill>
              <a:effectLst/>
              <a:uFillTx/>
              <a:latin typeface="Arial"/>
            </a:endParaRPr>
          </a:p>
        </p:txBody>
      </p:sp>
      <p:sp>
        <p:nvSpPr>
          <p:cNvPr id="222" name="PlaceHolder 3"/>
          <p:cNvSpPr>
            <a:spLocks noGrp="1"/>
          </p:cNvSpPr>
          <p:nvPr>
            <p:ph type="sldNum" idx="37"/>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E4BE6ED9-E31F-446B-BD32-1B7C1D1C0C77}"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3" name="PlaceHolder 1"/>
          <p:cNvSpPr>
            <a:spLocks noGrp="1"/>
          </p:cNvSpPr>
          <p:nvPr>
            <p:ph type="sldImg"/>
          </p:nvPr>
        </p:nvSpPr>
        <p:spPr>
          <a:xfrm>
            <a:off x="1143000" y="685800"/>
            <a:ext cx="4571280" cy="3428280"/>
          </a:xfrm>
          <a:prstGeom prst="rect">
            <a:avLst/>
          </a:prstGeom>
          <a:ln w="0">
            <a:noFill/>
          </a:ln>
        </p:spPr>
      </p:sp>
      <p:sp>
        <p:nvSpPr>
          <p:cNvPr id="224"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Point the panel at where each rubric item is answered. Do not linger.</a:t>
            </a:r>
            <a:endParaRPr lang="en-US" sz="2000" b="0" u="none" strike="noStrike">
              <a:solidFill>
                <a:srgbClr val="000000"/>
              </a:solidFill>
              <a:effectLst/>
              <a:uFillTx/>
              <a:latin typeface="Arial"/>
            </a:endParaRPr>
          </a:p>
        </p:txBody>
      </p:sp>
      <p:sp>
        <p:nvSpPr>
          <p:cNvPr id="225" name="PlaceHolder 3"/>
          <p:cNvSpPr>
            <a:spLocks noGrp="1"/>
          </p:cNvSpPr>
          <p:nvPr>
            <p:ph type="sldNum" idx="38"/>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DA5157DC-5FC0-4970-B6D6-D63B12F50E4C}"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6" name="PlaceHolder 1"/>
          <p:cNvSpPr>
            <a:spLocks noGrp="1"/>
          </p:cNvSpPr>
          <p:nvPr>
            <p:ph type="sldImg"/>
          </p:nvPr>
        </p:nvSpPr>
        <p:spPr>
          <a:xfrm>
            <a:off x="1143000" y="685800"/>
            <a:ext cx="4571280" cy="3428280"/>
          </a:xfrm>
          <a:prstGeom prst="rect">
            <a:avLst/>
          </a:prstGeom>
          <a:ln w="0">
            <a:noFill/>
          </a:ln>
        </p:spPr>
      </p:sp>
      <p:sp>
        <p:nvSpPr>
          <p:cNvPr id="227"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Game AI optimises for agents that PLAY well. Adapting to the specific person is a different, less-solved problem. Horror is where it matters most because the genre dies when the player learns it.</a:t>
            </a:r>
            <a:endParaRPr lang="en-US" sz="2000" b="0" u="none" strike="noStrike">
              <a:solidFill>
                <a:srgbClr val="000000"/>
              </a:solidFill>
              <a:effectLst/>
              <a:uFillTx/>
              <a:latin typeface="Arial"/>
            </a:endParaRPr>
          </a:p>
        </p:txBody>
      </p:sp>
      <p:sp>
        <p:nvSpPr>
          <p:cNvPr id="228" name="PlaceHolder 3"/>
          <p:cNvSpPr>
            <a:spLocks noGrp="1"/>
          </p:cNvSpPr>
          <p:nvPr>
            <p:ph type="sldNum" idx="39"/>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B1BB61E9-2D07-4EB1-B878-424A4EC8B46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9" name="PlaceHolder 1"/>
          <p:cNvSpPr>
            <a:spLocks noGrp="1"/>
          </p:cNvSpPr>
          <p:nvPr>
            <p:ph type="sldImg"/>
          </p:nvPr>
        </p:nvSpPr>
        <p:spPr>
          <a:xfrm>
            <a:off x="1143000" y="685800"/>
            <a:ext cx="4571280" cy="3428280"/>
          </a:xfrm>
          <a:prstGeom prst="rect">
            <a:avLst/>
          </a:prstGeom>
          <a:ln w="0">
            <a:noFill/>
          </a:ln>
        </p:spPr>
      </p:sp>
      <p:sp>
        <p:nvSpPr>
          <p:cNvPr id="230"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Static AI is learnable and stops scaring. Random AI feels unfair. Neither adapts to you. If asked 'isn't this DDA?' — no: DDA tunes difficulty magnitude, this changes WHERE the antagonist chooses to be.</a:t>
            </a:r>
            <a:endParaRPr lang="en-US" sz="2000" b="0" u="none" strike="noStrike">
              <a:solidFill>
                <a:srgbClr val="000000"/>
              </a:solidFill>
              <a:effectLst/>
              <a:uFillTx/>
              <a:latin typeface="Arial"/>
            </a:endParaRPr>
          </a:p>
        </p:txBody>
      </p:sp>
      <p:sp>
        <p:nvSpPr>
          <p:cNvPr id="231" name="PlaceHolder 3"/>
          <p:cNvSpPr>
            <a:spLocks noGrp="1"/>
          </p:cNvSpPr>
          <p:nvPr>
            <p:ph type="sldNum" idx="40"/>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2442BEAF-6982-491C-9746-4CA9E0CD2A75}"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2" name="PlaceHolder 1"/>
          <p:cNvSpPr>
            <a:spLocks noGrp="1"/>
          </p:cNvSpPr>
          <p:nvPr>
            <p:ph type="sldImg"/>
          </p:nvPr>
        </p:nvSpPr>
        <p:spPr>
          <a:xfrm>
            <a:off x="1143000" y="685800"/>
            <a:ext cx="4571280" cy="3428280"/>
          </a:xfrm>
          <a:prstGeom prst="rect">
            <a:avLst/>
          </a:prstGeom>
          <a:ln w="0">
            <a:noFill/>
          </a:ln>
        </p:spPr>
      </p:sp>
      <p:sp>
        <p:nvSpPr>
          <p:cNvPr id="233"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Be explicit that the Godot build is NOT done. Do not let them think a 3D game exists.</a:t>
            </a:r>
            <a:endParaRPr lang="en-US" sz="2000" b="0" u="none" strike="noStrike">
              <a:solidFill>
                <a:srgbClr val="000000"/>
              </a:solidFill>
              <a:effectLst/>
              <a:uFillTx/>
              <a:latin typeface="Arial"/>
            </a:endParaRPr>
          </a:p>
        </p:txBody>
      </p:sp>
      <p:sp>
        <p:nvSpPr>
          <p:cNvPr id="234" name="PlaceHolder 3"/>
          <p:cNvSpPr>
            <a:spLocks noGrp="1"/>
          </p:cNvSpPr>
          <p:nvPr>
            <p:ph type="sldNum" idx="41"/>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A991CCB1-5BFD-4E66-B7F5-95A69E0D5D22}"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5" name="PlaceHolder 1"/>
          <p:cNvSpPr>
            <a:spLocks noGrp="1"/>
          </p:cNvSpPr>
          <p:nvPr>
            <p:ph type="sldImg"/>
          </p:nvPr>
        </p:nvSpPr>
        <p:spPr>
          <a:xfrm>
            <a:off x="1143000" y="685800"/>
            <a:ext cx="4571280" cy="3428280"/>
          </a:xfrm>
          <a:prstGeom prst="rect">
            <a:avLst/>
          </a:prstGeom>
          <a:ln w="0">
            <a:noFill/>
          </a:ln>
        </p:spPr>
      </p:sp>
      <p:sp>
        <p:nvSpPr>
          <p:cNvPr id="236"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22 works, 20 from 2023 or later. State the selection criteria out loud.</a:t>
            </a:r>
            <a:endParaRPr lang="en-US" sz="2000" b="0" u="none" strike="noStrike">
              <a:solidFill>
                <a:srgbClr val="000000"/>
              </a:solidFill>
              <a:effectLst/>
              <a:uFillTx/>
              <a:latin typeface="Arial"/>
            </a:endParaRPr>
          </a:p>
        </p:txBody>
      </p:sp>
      <p:sp>
        <p:nvSpPr>
          <p:cNvPr id="237" name="PlaceHolder 3"/>
          <p:cNvSpPr>
            <a:spLocks noGrp="1"/>
          </p:cNvSpPr>
          <p:nvPr>
            <p:ph type="sldNum" idx="42"/>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E89D578D-7B75-461B-BE1F-4F543F9DBFE6}"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8" name="PlaceHolder 1"/>
          <p:cNvSpPr>
            <a:spLocks noGrp="1"/>
          </p:cNvSpPr>
          <p:nvPr>
            <p:ph type="sldImg"/>
          </p:nvPr>
        </p:nvSpPr>
        <p:spPr>
          <a:xfrm>
            <a:off x="1143000" y="685800"/>
            <a:ext cx="4571280" cy="3428280"/>
          </a:xfrm>
          <a:prstGeom prst="rect">
            <a:avLst/>
          </a:prstGeom>
          <a:ln w="0">
            <a:noFill/>
          </a:ln>
        </p:spPr>
      </p:sp>
      <p:sp>
        <p:nvSpPr>
          <p:cNvPr id="239"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Do not read the table. Name two: Romeo (closest analogue) and Lopes (review that names evaluation as the field's weak point — the gap the bot harness addresses).</a:t>
            </a:r>
            <a:endParaRPr lang="en-US" sz="2000" b="0" u="none" strike="noStrike">
              <a:solidFill>
                <a:srgbClr val="000000"/>
              </a:solidFill>
              <a:effectLst/>
              <a:uFillTx/>
              <a:latin typeface="Arial"/>
            </a:endParaRPr>
          </a:p>
        </p:txBody>
      </p:sp>
      <p:sp>
        <p:nvSpPr>
          <p:cNvPr id="240" name="PlaceHolder 3"/>
          <p:cNvSpPr>
            <a:spLocks noGrp="1"/>
          </p:cNvSpPr>
          <p:nvPr>
            <p:ph type="sldNum" idx="43"/>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E9A9A308-1506-4E38-8132-5F57035F7718}"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1" name="PlaceHolder 1"/>
          <p:cNvSpPr>
            <a:spLocks noGrp="1"/>
          </p:cNvSpPr>
          <p:nvPr>
            <p:ph type="sldImg"/>
          </p:nvPr>
        </p:nvSpPr>
        <p:spPr>
          <a:xfrm>
            <a:off x="1143000" y="685800"/>
            <a:ext cx="4571280" cy="3428280"/>
          </a:xfrm>
          <a:prstGeom prst="rect">
            <a:avLst/>
          </a:prstGeom>
          <a:ln w="0">
            <a:noFill/>
          </a:ln>
        </p:spPr>
      </p:sp>
      <p:sp>
        <p:nvSpPr>
          <p:cNvPr id="242"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Name Begleiter aloud — it is the formal basis of the model. If challenged on a 2004 paper in a 'recent' review: it is the foundational treatment, and four 2025 trajectory-prediction papers beside it are the modern line.</a:t>
            </a:r>
            <a:endParaRPr lang="en-US" sz="2000" b="0" u="none" strike="noStrike">
              <a:solidFill>
                <a:srgbClr val="000000"/>
              </a:solidFill>
              <a:effectLst/>
              <a:uFillTx/>
              <a:latin typeface="Arial"/>
            </a:endParaRPr>
          </a:p>
        </p:txBody>
      </p:sp>
      <p:sp>
        <p:nvSpPr>
          <p:cNvPr id="243" name="PlaceHolder 3"/>
          <p:cNvSpPr>
            <a:spLocks noGrp="1"/>
          </p:cNvSpPr>
          <p:nvPr>
            <p:ph type="sldNum" idx="44"/>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7396D595-B3CF-4F5E-A15E-0EE15537B672}"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4" name="PlaceHolder 1"/>
          <p:cNvSpPr>
            <a:spLocks noGrp="1"/>
          </p:cNvSpPr>
          <p:nvPr>
            <p:ph type="sldImg"/>
          </p:nvPr>
        </p:nvSpPr>
        <p:spPr>
          <a:xfrm>
            <a:off x="1143000" y="685800"/>
            <a:ext cx="4571280" cy="3428280"/>
          </a:xfrm>
          <a:prstGeom prst="rect">
            <a:avLst/>
          </a:prstGeom>
          <a:ln w="0">
            <a:noFill/>
          </a:ln>
        </p:spPr>
      </p:sp>
      <p:sp>
        <p:nvSpPr>
          <p:cNvPr id="245"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Three gaps: DDA adapts parameters not position; trajectory prediction is never used adversarially; adaptation is invisible so it is never evaluated against a control.</a:t>
            </a:r>
            <a:endParaRPr lang="en-US" sz="2000" b="0" u="none" strike="noStrike">
              <a:solidFill>
                <a:srgbClr val="000000"/>
              </a:solidFill>
              <a:effectLst/>
              <a:uFillTx/>
              <a:latin typeface="Arial"/>
            </a:endParaRPr>
          </a:p>
        </p:txBody>
      </p:sp>
      <p:sp>
        <p:nvSpPr>
          <p:cNvPr id="246" name="PlaceHolder 3"/>
          <p:cNvSpPr>
            <a:spLocks noGrp="1"/>
          </p:cNvSpPr>
          <p:nvPr>
            <p:ph type="sldNum" idx="45"/>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8F397F3-1480-4108-BDE7-533669750FA9}"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7" name="PlaceHolder 1"/>
          <p:cNvSpPr>
            <a:spLocks noGrp="1"/>
          </p:cNvSpPr>
          <p:nvPr>
            <p:ph type="sldImg"/>
          </p:nvPr>
        </p:nvSpPr>
        <p:spPr>
          <a:xfrm>
            <a:off x="1143000" y="685800"/>
            <a:ext cx="4571280" cy="3428280"/>
          </a:xfrm>
          <a:prstGeom prst="rect">
            <a:avLst/>
          </a:prstGeom>
          <a:ln w="0">
            <a:noFill/>
          </a:ln>
        </p:spPr>
      </p:sp>
      <p:sp>
        <p:nvSpPr>
          <p:cNvPr id="248"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The clock is the thing to explain well. Lockdown, window, lockdown. You act only when the doors open — and STAYING is one of the choices. That matters: the model must predict whether you move at all, not just where. The antagonist obeys the same clock.</a:t>
            </a:r>
            <a:endParaRPr lang="en-US" sz="2000" b="0" u="none" strike="noStrike">
              <a:solidFill>
                <a:srgbClr val="000000"/>
              </a:solidFill>
              <a:effectLst/>
              <a:uFillTx/>
              <a:latin typeface="Arial"/>
            </a:endParaRPr>
          </a:p>
        </p:txBody>
      </p:sp>
      <p:sp>
        <p:nvSpPr>
          <p:cNvPr id="249" name="PlaceHolder 3"/>
          <p:cNvSpPr>
            <a:spLocks noGrp="1"/>
          </p:cNvSpPr>
          <p:nvPr>
            <p:ph type="sldNum" idx="46"/>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32CE7E6C-D0AE-41BF-BF39-07313C2D4809}"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0" name="PlaceHolder 1"/>
          <p:cNvSpPr>
            <a:spLocks noGrp="1"/>
          </p:cNvSpPr>
          <p:nvPr>
            <p:ph type="sldImg"/>
          </p:nvPr>
        </p:nvSpPr>
        <p:spPr>
          <a:xfrm>
            <a:off x="1143000" y="685800"/>
            <a:ext cx="4571280" cy="3428280"/>
          </a:xfrm>
          <a:prstGeom prst="rect">
            <a:avLst/>
          </a:prstGeom>
          <a:ln w="0">
            <a:noFill/>
          </a:ln>
        </p:spPr>
      </p:sp>
      <p:sp>
        <p:nvSpPr>
          <p:cNvPr id="251"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Walk the equation slowly. w is a confidence weight: the more a context has been seen, the more the model trusts it; otherwise it backs off to shorter context.</a:t>
            </a:r>
            <a:endParaRPr lang="en-US" sz="2000" b="0" u="none" strike="noStrike">
              <a:solidFill>
                <a:srgbClr val="000000"/>
              </a:solidFill>
              <a:effectLst/>
              <a:uFillTx/>
              <a:latin typeface="Arial"/>
            </a:endParaRPr>
          </a:p>
        </p:txBody>
      </p:sp>
      <p:sp>
        <p:nvSpPr>
          <p:cNvPr id="252" name="PlaceHolder 3"/>
          <p:cNvSpPr>
            <a:spLocks noGrp="1"/>
          </p:cNvSpPr>
          <p:nvPr>
            <p:ph type="sldNum" idx="47"/>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B8516AB8-7D7D-4D6F-96C0-69D085AF36DE}"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3" name="PlaceHolder 1"/>
          <p:cNvSpPr>
            <a:spLocks noGrp="1"/>
          </p:cNvSpPr>
          <p:nvPr>
            <p:ph type="sldImg"/>
          </p:nvPr>
        </p:nvSpPr>
        <p:spPr>
          <a:xfrm>
            <a:off x="1143000" y="685800"/>
            <a:ext cx="4571280" cy="3428280"/>
          </a:xfrm>
          <a:prstGeom prst="rect">
            <a:avLst/>
          </a:prstGeom>
          <a:ln w="0">
            <a:noFill/>
          </a:ln>
        </p:spPr>
      </p:sp>
      <p:sp>
        <p:nvSpPr>
          <p:cNvPr id="254"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Predictor outputs beliefs, Director decides what to do. All four counter-moves are implemented AND measured — say so explicitly.</a:t>
            </a:r>
            <a:endParaRPr lang="en-US" sz="2000" b="0" u="none" strike="noStrike">
              <a:solidFill>
                <a:srgbClr val="000000"/>
              </a:solidFill>
              <a:effectLst/>
              <a:uFillTx/>
              <a:latin typeface="Arial"/>
            </a:endParaRPr>
          </a:p>
        </p:txBody>
      </p:sp>
      <p:sp>
        <p:nvSpPr>
          <p:cNvPr id="255" name="PlaceHolder 3"/>
          <p:cNvSpPr>
            <a:spLocks noGrp="1"/>
          </p:cNvSpPr>
          <p:nvPr>
            <p:ph type="sldNum" idx="48"/>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16DF858D-A726-4F72-B3CE-0E050D9C56F4}"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6" name="PlaceHolder 1"/>
          <p:cNvSpPr>
            <a:spLocks noGrp="1"/>
          </p:cNvSpPr>
          <p:nvPr>
            <p:ph type="sldImg"/>
          </p:nvPr>
        </p:nvSpPr>
        <p:spPr>
          <a:xfrm>
            <a:off x="1143000" y="685800"/>
            <a:ext cx="4571280" cy="3428280"/>
          </a:xfrm>
          <a:prstGeom prst="rect">
            <a:avLst/>
          </a:prstGeom>
          <a:ln w="0">
            <a:noFill/>
          </a:ln>
        </p:spPr>
      </p:sp>
      <p:sp>
        <p:nvSpPr>
          <p:cNvPr id="257"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The control is the strongest thing here. Against a random player the model MUST NOT beat baseline. Prequential evaluation means every prediction precedes its outcome — no leakage possible by construction. Note EvasiveBot: I built a bot specifically to try to beat my own AI.</a:t>
            </a:r>
            <a:endParaRPr lang="en-US" sz="2000" b="0" u="none" strike="noStrike">
              <a:solidFill>
                <a:srgbClr val="000000"/>
              </a:solidFill>
              <a:effectLst/>
              <a:uFillTx/>
              <a:latin typeface="Arial"/>
            </a:endParaRPr>
          </a:p>
        </p:txBody>
      </p:sp>
      <p:sp>
        <p:nvSpPr>
          <p:cNvPr id="258" name="PlaceHolder 3"/>
          <p:cNvSpPr>
            <a:spLocks noGrp="1"/>
          </p:cNvSpPr>
          <p:nvPr>
            <p:ph type="sldNum" idx="49"/>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54E719EB-BBEA-4E21-BFF9-523CD4941440}"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9" name="PlaceHolder 1"/>
          <p:cNvSpPr>
            <a:spLocks noGrp="1"/>
          </p:cNvSpPr>
          <p:nvPr>
            <p:ph type="sldImg"/>
          </p:nvPr>
        </p:nvSpPr>
        <p:spPr>
          <a:xfrm>
            <a:off x="1143000" y="685800"/>
            <a:ext cx="4571280" cy="3428280"/>
          </a:xfrm>
          <a:prstGeom prst="rect">
            <a:avLst/>
          </a:prstGeom>
          <a:ln w="0">
            <a:noFill/>
          </a:ln>
        </p:spPr>
      </p:sp>
      <p:sp>
        <p:nvSpPr>
          <p:cNvPr id="260"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Two decisions to defend: Sabotage is the single mutator so every lie is logged and replayable; the Notebook sits outside the loop, which is what makes it the player's counter-move rather than decoration.</a:t>
            </a:r>
            <a:endParaRPr lang="en-US" sz="2000" b="0" u="none" strike="noStrike">
              <a:solidFill>
                <a:srgbClr val="000000"/>
              </a:solidFill>
              <a:effectLst/>
              <a:uFillTx/>
              <a:latin typeface="Arial"/>
            </a:endParaRPr>
          </a:p>
        </p:txBody>
      </p:sp>
      <p:sp>
        <p:nvSpPr>
          <p:cNvPr id="261" name="PlaceHolder 3"/>
          <p:cNvSpPr>
            <a:spLocks noGrp="1"/>
          </p:cNvSpPr>
          <p:nvPr>
            <p:ph type="sldNum" idx="50"/>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6A5348AE-60FD-4CFF-8073-3A60BD8C43E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2" name="PlaceHolder 1"/>
          <p:cNvSpPr>
            <a:spLocks noGrp="1"/>
          </p:cNvSpPr>
          <p:nvPr>
            <p:ph type="sldImg"/>
          </p:nvPr>
        </p:nvSpPr>
        <p:spPr>
          <a:xfrm>
            <a:off x="1143000" y="685800"/>
            <a:ext cx="4571280" cy="3428280"/>
          </a:xfrm>
          <a:prstGeom prst="rect">
            <a:avLst/>
          </a:prstGeom>
          <a:ln w="0">
            <a:noFill/>
          </a:ln>
        </p:spPr>
      </p:sp>
      <p:sp>
        <p:nvSpPr>
          <p:cNvPr id="263"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Skim. It is here as module-level design evidence, not to be read aloud.</a:t>
            </a:r>
            <a:endParaRPr lang="en-US" sz="2000" b="0" u="none" strike="noStrike">
              <a:solidFill>
                <a:srgbClr val="000000"/>
              </a:solidFill>
              <a:effectLst/>
              <a:uFillTx/>
              <a:latin typeface="Arial"/>
            </a:endParaRPr>
          </a:p>
        </p:txBody>
      </p:sp>
      <p:sp>
        <p:nvSpPr>
          <p:cNvPr id="264" name="PlaceHolder 3"/>
          <p:cNvSpPr>
            <a:spLocks noGrp="1"/>
          </p:cNvSpPr>
          <p:nvPr>
            <p:ph type="sldNum" idx="51"/>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DF7E6966-39FF-4053-8F84-8929D1D943BC}"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5" name="PlaceHolder 1"/>
          <p:cNvSpPr>
            <a:spLocks noGrp="1"/>
          </p:cNvSpPr>
          <p:nvPr>
            <p:ph type="sldImg"/>
          </p:nvPr>
        </p:nvSpPr>
        <p:spPr>
          <a:xfrm>
            <a:off x="1143000" y="685800"/>
            <a:ext cx="4571280" cy="3428280"/>
          </a:xfrm>
          <a:prstGeom prst="rect">
            <a:avLst/>
          </a:prstGeom>
          <a:ln w="0">
            <a:noFill/>
          </a:ln>
        </p:spPr>
      </p:sp>
      <p:sp>
        <p:nvSpPr>
          <p:cNvPr id="266"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Lead with the CONTROL column (27/26/27), not the 61%. Explain why the control matters before showing the win. If asked why accuracy is 61% and not higher: because staying is a legal move, and predicting whether someone moves at all is harder than predicting where. An earlier version of this work forbade waiting and scored 90% — that number was inflated and I corrected it.</a:t>
            </a:r>
            <a:endParaRPr lang="en-US" sz="2000" b="0" u="none" strike="noStrike">
              <a:solidFill>
                <a:srgbClr val="000000"/>
              </a:solidFill>
              <a:effectLst/>
              <a:uFillTx/>
              <a:latin typeface="Arial"/>
            </a:endParaRPr>
          </a:p>
        </p:txBody>
      </p:sp>
      <p:sp>
        <p:nvSpPr>
          <p:cNvPr id="267" name="PlaceHolder 3"/>
          <p:cNvSpPr>
            <a:spLocks noGrp="1"/>
          </p:cNvSpPr>
          <p:nvPr>
            <p:ph type="sldNum" idx="52"/>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B2E60935-30FC-4375-A702-4616B1B340A8}"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8" name="PlaceHolder 1"/>
          <p:cNvSpPr>
            <a:spLocks noGrp="1"/>
          </p:cNvSpPr>
          <p:nvPr>
            <p:ph type="sldImg"/>
          </p:nvPr>
        </p:nvSpPr>
        <p:spPr>
          <a:xfrm>
            <a:off x="1143000" y="685800"/>
            <a:ext cx="4571280" cy="3428280"/>
          </a:xfrm>
          <a:prstGeom prst="rect">
            <a:avLst/>
          </a:prstGeom>
          <a:ln w="0">
            <a:noFill/>
          </a:ln>
        </p:spPr>
      </p:sp>
      <p:sp>
        <p:nvSpPr>
          <p:cNvPr id="269"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Cold start: the model is useful within about a minute of play, with no prior data on this player.</a:t>
            </a:r>
            <a:endParaRPr lang="en-US" sz="2000" b="0" u="none" strike="noStrike">
              <a:solidFill>
                <a:srgbClr val="000000"/>
              </a:solidFill>
              <a:effectLst/>
              <a:uFillTx/>
              <a:latin typeface="Arial"/>
            </a:endParaRPr>
          </a:p>
        </p:txBody>
      </p:sp>
      <p:sp>
        <p:nvSpPr>
          <p:cNvPr id="270" name="PlaceHolder 3"/>
          <p:cNvSpPr>
            <a:spLocks noGrp="1"/>
          </p:cNvSpPr>
          <p:nvPr>
            <p:ph type="sldNum" idx="53"/>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A10D1DB3-BE51-4705-AFA3-B09993D024D9}"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1" name="PlaceHolder 1"/>
          <p:cNvSpPr>
            <a:spLocks noGrp="1"/>
          </p:cNvSpPr>
          <p:nvPr>
            <p:ph type="sldImg"/>
          </p:nvPr>
        </p:nvSpPr>
        <p:spPr>
          <a:xfrm>
            <a:off x="1143000" y="685800"/>
            <a:ext cx="4571280" cy="3428280"/>
          </a:xfrm>
          <a:prstGeom prst="rect">
            <a:avLst/>
          </a:prstGeom>
          <a:ln w="0">
            <a:noFill/>
          </a:ln>
        </p:spPr>
      </p:sp>
      <p:sp>
        <p:nvSpPr>
          <p:cNvPr id="272"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Be straight here. Every model-driven antagonist beats the non-learning baselines, but the models are within noise of each other, and five-step lookahead is now slightly worse than one-step. That is expected: rollout error compounds, so lookahead helps an accurate model and hurts an uncertain one. Volunteer this before they find it.</a:t>
            </a:r>
            <a:endParaRPr lang="en-US" sz="2000" b="0" u="none" strike="noStrike">
              <a:solidFill>
                <a:srgbClr val="000000"/>
              </a:solidFill>
              <a:effectLst/>
              <a:uFillTx/>
              <a:latin typeface="Arial"/>
            </a:endParaRPr>
          </a:p>
        </p:txBody>
      </p:sp>
      <p:sp>
        <p:nvSpPr>
          <p:cNvPr id="273" name="PlaceHolder 3"/>
          <p:cNvSpPr>
            <a:spLocks noGrp="1"/>
          </p:cNvSpPr>
          <p:nvPr>
            <p:ph type="sldNum" idx="54"/>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93AF36B-E1EE-42F8-8619-D94D4B7F91C0}"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4" name="PlaceHolder 1"/>
          <p:cNvSpPr>
            <a:spLocks noGrp="1"/>
          </p:cNvSpPr>
          <p:nvPr>
            <p:ph type="sldImg"/>
          </p:nvPr>
        </p:nvSpPr>
        <p:spPr>
          <a:xfrm>
            <a:off x="1143000" y="685800"/>
            <a:ext cx="4571280" cy="3428280"/>
          </a:xfrm>
          <a:prstGeom prst="rect">
            <a:avLst/>
          </a:prstGeom>
          <a:ln w="0">
            <a:noFill/>
          </a:ln>
        </p:spPr>
      </p:sp>
      <p:sp>
        <p:nvSpPr>
          <p:cNvPr id="275"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The answer to 'hub-camping is nearly as good'. It is only nearly as good on a small map. The advantage widens as the facility grows.</a:t>
            </a:r>
            <a:endParaRPr lang="en-US" sz="2000" b="0" u="none" strike="noStrike">
              <a:solidFill>
                <a:srgbClr val="000000"/>
              </a:solidFill>
              <a:effectLst/>
              <a:uFillTx/>
              <a:latin typeface="Arial"/>
            </a:endParaRPr>
          </a:p>
        </p:txBody>
      </p:sp>
      <p:sp>
        <p:nvSpPr>
          <p:cNvPr id="276" name="PlaceHolder 3"/>
          <p:cNvSpPr>
            <a:spLocks noGrp="1"/>
          </p:cNvSpPr>
          <p:nvPr>
            <p:ph type="sldNum" idx="55"/>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F79EEE4-5089-4CB6-8501-D4DC9FE26EB1}"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7" name="PlaceHolder 1"/>
          <p:cNvSpPr>
            <a:spLocks noGrp="1"/>
          </p:cNvSpPr>
          <p:nvPr>
            <p:ph type="sldImg"/>
          </p:nvPr>
        </p:nvSpPr>
        <p:spPr>
          <a:xfrm>
            <a:off x="1143000" y="685800"/>
            <a:ext cx="4571280" cy="3428280"/>
          </a:xfrm>
          <a:prstGeom prst="rect">
            <a:avLst/>
          </a:prstGeom>
          <a:ln w="0">
            <a:noFill/>
          </a:ln>
        </p:spPr>
      </p:sp>
      <p:sp>
        <p:nvSpPr>
          <p:cNvPr id="278"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The entity is REMOVED here — this isolates world editing from hunting. About 60% more moves per objective lap, and every mutation passed a reachability check, so no run was ever soft-locked.</a:t>
            </a:r>
            <a:endParaRPr lang="en-US" sz="2000" b="0" u="none" strike="noStrike">
              <a:solidFill>
                <a:srgbClr val="000000"/>
              </a:solidFill>
              <a:effectLst/>
              <a:uFillTx/>
              <a:latin typeface="Arial"/>
            </a:endParaRPr>
          </a:p>
        </p:txBody>
      </p:sp>
      <p:sp>
        <p:nvSpPr>
          <p:cNvPr id="279" name="PlaceHolder 3"/>
          <p:cNvSpPr>
            <a:spLocks noGrp="1"/>
          </p:cNvSpPr>
          <p:nvPr>
            <p:ph type="sldNum" idx="56"/>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3FBE609D-C948-4658-A13D-47B05753481A}"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0" name="PlaceHolder 1"/>
          <p:cNvSpPr>
            <a:spLocks noGrp="1"/>
          </p:cNvSpPr>
          <p:nvPr>
            <p:ph type="sldImg"/>
          </p:nvPr>
        </p:nvSpPr>
        <p:spPr>
          <a:xfrm>
            <a:off x="1143000" y="685800"/>
            <a:ext cx="4571280" cy="3428280"/>
          </a:xfrm>
          <a:prstGeom prst="rect">
            <a:avLst/>
          </a:prstGeom>
          <a:ln w="0">
            <a:noFill/>
          </a:ln>
        </p:spPr>
      </p:sp>
      <p:sp>
        <p:nvSpPr>
          <p:cNvPr id="281"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Volunteer this. Targeted sabotage gives NO advantage when the player relies on every room equally; it only pays off against uneven habits. Reporting a null is a strength.</a:t>
            </a:r>
            <a:endParaRPr lang="en-US" sz="2000" b="0" u="none" strike="noStrike">
              <a:solidFill>
                <a:srgbClr val="000000"/>
              </a:solidFill>
              <a:effectLst/>
              <a:uFillTx/>
              <a:latin typeface="Arial"/>
            </a:endParaRPr>
          </a:p>
        </p:txBody>
      </p:sp>
      <p:sp>
        <p:nvSpPr>
          <p:cNvPr id="282" name="PlaceHolder 3"/>
          <p:cNvSpPr>
            <a:spLocks noGrp="1"/>
          </p:cNvSpPr>
          <p:nvPr>
            <p:ph type="sldNum" idx="57"/>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6E935AD7-5A60-4EB7-B9D2-770913C870D4}"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3" name="PlaceHolder 1"/>
          <p:cNvSpPr>
            <a:spLocks noGrp="1"/>
          </p:cNvSpPr>
          <p:nvPr>
            <p:ph type="sldImg"/>
          </p:nvPr>
        </p:nvSpPr>
        <p:spPr>
          <a:xfrm>
            <a:off x="1143000" y="685800"/>
            <a:ext cx="4571280" cy="3428280"/>
          </a:xfrm>
          <a:prstGeom prst="rect">
            <a:avLst/>
          </a:prstGeom>
          <a:ln w="0">
            <a:noFill/>
          </a:ln>
        </p:spPr>
      </p:sp>
      <p:sp>
        <p:nvSpPr>
          <p:cNvPr id="284"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The most valuable slide in the deck, and it is a negative result. I built a bot to beat my own AI by waiting. It degrades the model's accuracy but barely reduces capture risk — because the antagonist currently sees everything, so standing still just makes you a stationary target. That diagnosis is what set the next milestone: sense the player through door motion-detectors instead of omniscience, which turns this into partially-observed prediction. If you only defend one slide well, defend this one.</a:t>
            </a:r>
            <a:endParaRPr lang="en-US" sz="2000" b="0" u="none" strike="noStrike">
              <a:solidFill>
                <a:srgbClr val="000000"/>
              </a:solidFill>
              <a:effectLst/>
              <a:uFillTx/>
              <a:latin typeface="Arial"/>
            </a:endParaRPr>
          </a:p>
        </p:txBody>
      </p:sp>
      <p:sp>
        <p:nvSpPr>
          <p:cNvPr id="285" name="PlaceHolder 3"/>
          <p:cNvSpPr>
            <a:spLocks noGrp="1"/>
          </p:cNvSpPr>
          <p:nvPr>
            <p:ph type="sldNum" idx="58"/>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155B1F99-28A6-437C-A11C-213EDF3F914A}"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6" name="PlaceHolder 1"/>
          <p:cNvSpPr>
            <a:spLocks noGrp="1"/>
          </p:cNvSpPr>
          <p:nvPr>
            <p:ph type="sldImg"/>
          </p:nvPr>
        </p:nvSpPr>
        <p:spPr>
          <a:xfrm>
            <a:off x="1143000" y="685800"/>
            <a:ext cx="4571280" cy="3428280"/>
          </a:xfrm>
          <a:prstGeom prst="rect">
            <a:avLst/>
          </a:prstGeom>
          <a:ln w="0">
            <a:noFill/>
          </a:ln>
        </p:spPr>
      </p:sp>
      <p:sp>
        <p:nvSpPr>
          <p:cNvPr id="287"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This slide exists because someone asked whether the time a player spends in their notebook is itself something to learn. It is — and the model already had. Lead with the plain-rooms bar: 100%, because it learned you never linger where there is nothing to record. The codebook bar at 67% is the honest one: it knows you may be writing, not when you will finish. Also say that an explicit dwell model made things slightly WORSE, because the sequence model already captures dwell once staying is a legal action.</a:t>
            </a:r>
            <a:endParaRPr lang="en-US" sz="2000" b="0" u="none" strike="noStrike">
              <a:solidFill>
                <a:srgbClr val="000000"/>
              </a:solidFill>
              <a:effectLst/>
              <a:uFillTx/>
              <a:latin typeface="Arial"/>
            </a:endParaRPr>
          </a:p>
        </p:txBody>
      </p:sp>
      <p:sp>
        <p:nvSpPr>
          <p:cNvPr id="288" name="PlaceHolder 3"/>
          <p:cNvSpPr>
            <a:spLocks noGrp="1"/>
          </p:cNvSpPr>
          <p:nvPr>
            <p:ph type="sldNum" idx="59"/>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64BEB8BB-4BB4-4829-8C82-3C658D9DC047}"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9" name="PlaceHolder 1"/>
          <p:cNvSpPr>
            <a:spLocks noGrp="1"/>
          </p:cNvSpPr>
          <p:nvPr>
            <p:ph type="sldImg"/>
          </p:nvPr>
        </p:nvSpPr>
        <p:spPr>
          <a:xfrm>
            <a:off x="1143000" y="685800"/>
            <a:ext cx="4571280" cy="3428280"/>
          </a:xfrm>
          <a:prstGeom prst="rect">
            <a:avLst/>
          </a:prstGeom>
          <a:ln w="0">
            <a:noFill/>
          </a:ln>
        </p:spPr>
      </p:sp>
      <p:sp>
        <p:nvSpPr>
          <p:cNvPr id="290"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Nine invariants, 25 facilities, all passing. The two that matter: uplink reachable after mutation (the AI can never soft-lock you) and VOMM approximating uniform on a random player (no leakage). Offer to run it live — it takes seconds.</a:t>
            </a:r>
            <a:endParaRPr lang="en-US" sz="2000" b="0" u="none" strike="noStrike">
              <a:solidFill>
                <a:srgbClr val="000000"/>
              </a:solidFill>
              <a:effectLst/>
              <a:uFillTx/>
              <a:latin typeface="Arial"/>
            </a:endParaRPr>
          </a:p>
        </p:txBody>
      </p:sp>
      <p:sp>
        <p:nvSpPr>
          <p:cNvPr id="291" name="PlaceHolder 3"/>
          <p:cNvSpPr>
            <a:spLocks noGrp="1"/>
          </p:cNvSpPr>
          <p:nvPr>
            <p:ph type="sldNum" idx="60"/>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3F824F8E-AD4E-4C70-BEB5-59FA4FD7CF6A}"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2" name="PlaceHolder 1"/>
          <p:cNvSpPr>
            <a:spLocks noGrp="1"/>
          </p:cNvSpPr>
          <p:nvPr>
            <p:ph type="sldImg"/>
          </p:nvPr>
        </p:nvSpPr>
        <p:spPr>
          <a:xfrm>
            <a:off x="1143000" y="685800"/>
            <a:ext cx="4571280" cy="3428280"/>
          </a:xfrm>
          <a:prstGeom prst="rect">
            <a:avLst/>
          </a:prstGeom>
          <a:ln w="0">
            <a:noFill/>
          </a:ln>
        </p:spPr>
      </p:sp>
      <p:sp>
        <p:nvSpPr>
          <p:cNvPr id="293"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Walk through it. Say what it is honestly: an art-direction study, not the game — hand-written WebGL so it runs offline on any laptop with no engine installed. Point out that the hexagonal cells ARE the room graph the model plays on, and that side count is the difficulty setting. The whole look is darkness, fog and a post-process pass, chosen because it minimises modelling cost.</a:t>
            </a:r>
            <a:endParaRPr lang="en-US" sz="2000" b="0" u="none" strike="noStrike">
              <a:solidFill>
                <a:srgbClr val="000000"/>
              </a:solidFill>
              <a:effectLst/>
              <a:uFillTx/>
              <a:latin typeface="Arial"/>
            </a:endParaRPr>
          </a:p>
        </p:txBody>
      </p:sp>
      <p:sp>
        <p:nvSpPr>
          <p:cNvPr id="294" name="PlaceHolder 3"/>
          <p:cNvSpPr>
            <a:spLocks noGrp="1"/>
          </p:cNvSpPr>
          <p:nvPr>
            <p:ph type="sldNum" idx="61"/>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29A941BA-DB10-49F1-AEC8-A096E1684869}"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5" name="PlaceHolder 1"/>
          <p:cNvSpPr>
            <a:spLocks noGrp="1"/>
          </p:cNvSpPr>
          <p:nvPr>
            <p:ph type="sldImg"/>
          </p:nvPr>
        </p:nvSpPr>
        <p:spPr>
          <a:xfrm>
            <a:off x="1143000" y="685800"/>
            <a:ext cx="4571280" cy="3428280"/>
          </a:xfrm>
          <a:prstGeom prst="rect">
            <a:avLst/>
          </a:prstGeom>
          <a:ln w="0">
            <a:noFill/>
          </a:ln>
        </p:spPr>
      </p:sp>
      <p:sp>
        <p:nvSpPr>
          <p:cNvPr id="296"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M0 to M2 done, M3 next; the 3D game does not exist yet. M6 to M8 are specified from the design work: door sensors and partial observation, polygonal room tiles where side count IS the difficulty setting, and the outbound register the AI can tamper with before you send. Say that the negative result on slide 22 is what prioritised M6.</a:t>
            </a:r>
            <a:endParaRPr lang="en-US" sz="2000" b="0" u="none" strike="noStrike">
              <a:solidFill>
                <a:srgbClr val="000000"/>
              </a:solidFill>
              <a:effectLst/>
              <a:uFillTx/>
              <a:latin typeface="Arial"/>
            </a:endParaRPr>
          </a:p>
        </p:txBody>
      </p:sp>
      <p:sp>
        <p:nvSpPr>
          <p:cNvPr id="297" name="PlaceHolder 3"/>
          <p:cNvSpPr>
            <a:spLocks noGrp="1"/>
          </p:cNvSpPr>
          <p:nvPr>
            <p:ph type="sldNum" idx="62"/>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E2E7F73D-5D00-4A7E-A0E2-F5F66C5D8E38}"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8" name="PlaceHolder 1"/>
          <p:cNvSpPr>
            <a:spLocks noGrp="1"/>
          </p:cNvSpPr>
          <p:nvPr>
            <p:ph type="sldImg"/>
          </p:nvPr>
        </p:nvSpPr>
        <p:spPr>
          <a:xfrm>
            <a:off x="1143000" y="685800"/>
            <a:ext cx="4571280" cy="3428280"/>
          </a:xfrm>
          <a:prstGeom prst="rect">
            <a:avLst/>
          </a:prstGeom>
          <a:ln w="0">
            <a:noFill/>
          </a:ln>
        </p:spPr>
      </p:sp>
      <p:sp>
        <p:nvSpPr>
          <p:cNvPr id="299"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References 1 to 11.</a:t>
            </a:r>
            <a:endParaRPr lang="en-US" sz="2000" b="0" u="none" strike="noStrike">
              <a:solidFill>
                <a:srgbClr val="000000"/>
              </a:solidFill>
              <a:effectLst/>
              <a:uFillTx/>
              <a:latin typeface="Arial"/>
            </a:endParaRPr>
          </a:p>
        </p:txBody>
      </p:sp>
      <p:sp>
        <p:nvSpPr>
          <p:cNvPr id="300" name="PlaceHolder 3"/>
          <p:cNvSpPr>
            <a:spLocks noGrp="1"/>
          </p:cNvSpPr>
          <p:nvPr>
            <p:ph type="sldNum" idx="63"/>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E3FF97CF-F0A4-4CDE-A290-7EFDA4B8C34F}"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1" name="PlaceHolder 1"/>
          <p:cNvSpPr>
            <a:spLocks noGrp="1"/>
          </p:cNvSpPr>
          <p:nvPr>
            <p:ph type="sldImg"/>
          </p:nvPr>
        </p:nvSpPr>
        <p:spPr>
          <a:xfrm>
            <a:off x="1143000" y="685800"/>
            <a:ext cx="4571280" cy="3428280"/>
          </a:xfrm>
          <a:prstGeom prst="rect">
            <a:avLst/>
          </a:prstGeom>
          <a:ln w="0">
            <a:noFill/>
          </a:ln>
        </p:spPr>
      </p:sp>
      <p:sp>
        <p:nvSpPr>
          <p:cNvPr id="302"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References 12 to 22.</a:t>
            </a:r>
            <a:endParaRPr lang="en-US" sz="2000" b="0" u="none" strike="noStrike">
              <a:solidFill>
                <a:srgbClr val="000000"/>
              </a:solidFill>
              <a:effectLst/>
              <a:uFillTx/>
              <a:latin typeface="Arial"/>
            </a:endParaRPr>
          </a:p>
        </p:txBody>
      </p:sp>
      <p:sp>
        <p:nvSpPr>
          <p:cNvPr id="303" name="PlaceHolder 3"/>
          <p:cNvSpPr>
            <a:spLocks noGrp="1"/>
          </p:cNvSpPr>
          <p:nvPr>
            <p:ph type="sldNum" idx="64"/>
          </p:nvPr>
        </p:nvSpPr>
        <p:spPr>
          <a:xfrm>
            <a:off x="3884760" y="8685360"/>
            <a:ext cx="297108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9A3A6D6B-CD03-4C30-B6BA-3AFF0EF78093}"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dt" idx="1"/>
          </p:nvPr>
        </p:nvSpPr>
        <p:spPr>
          <a:xfrm>
            <a:off x="457200" y="6356520"/>
            <a:ext cx="2133000" cy="36432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3" name="PlaceHolder 2"/>
          <p:cNvSpPr>
            <a:spLocks noGrp="1"/>
          </p:cNvSpPr>
          <p:nvPr>
            <p:ph type="ftr" idx="2"/>
          </p:nvPr>
        </p:nvSpPr>
        <p:spPr>
          <a:xfrm>
            <a:off x="3124080" y="6356520"/>
            <a:ext cx="289476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4" name="PlaceHolder 3"/>
          <p:cNvSpPr>
            <a:spLocks noGrp="1"/>
          </p:cNvSpPr>
          <p:nvPr>
            <p:ph type="sldNum" idx="3"/>
          </p:nvPr>
        </p:nvSpPr>
        <p:spPr>
          <a:xfrm>
            <a:off x="6553080" y="6356520"/>
            <a:ext cx="213300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295A62E6-2AC9-48D3-9504-E273630EAA28}"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
        <p:nvSpPr>
          <p:cNvPr id="5" name="PlaceHolder 4"/>
          <p:cNvSpPr>
            <a:spLocks noGrp="1"/>
          </p:cNvSpPr>
          <p:nvPr>
            <p:ph type="title"/>
          </p:nvPr>
        </p:nvSpPr>
        <p:spPr>
          <a:xfrm>
            <a:off x="609480" y="273600"/>
            <a:ext cx="10971720" cy="1144440"/>
          </a:xfrm>
          <a:prstGeom prst="rect">
            <a:avLst/>
          </a:prstGeom>
          <a:noFill/>
          <a:ln w="0">
            <a:noFill/>
          </a:ln>
        </p:spPr>
        <p:txBody>
          <a:bodyPr lIns="0" tIns="0" rIns="0" bIns="0" anchor="ctr">
            <a:noAutofit/>
          </a:bodyPr>
          <a:lstStyle>
            <a:lvl1pPr indent="0" algn="ctr" defTabSz="457200">
              <a:lnSpc>
                <a:spcPct val="100000"/>
              </a:lnSpc>
              <a:buNone/>
              <a:tabLst>
                <a:tab pos="0" algn="l"/>
              </a:tabLst>
              <a:defRPr lang="en-US" sz="4400" b="0" u="none" strike="noStrike">
                <a:solidFill>
                  <a:schemeClr val="dk1"/>
                </a:solidFill>
                <a:effectLst/>
                <a:uFillTx/>
                <a:latin typeface="Calibri"/>
              </a:defRPr>
            </a:lvl1pPr>
          </a:lstStyle>
          <a:p>
            <a:pPr indent="0" algn="ctr" defTabSz="457200">
              <a:lnSpc>
                <a:spcPct val="100000"/>
              </a:lnSpc>
              <a:buNone/>
              <a:tabLst>
                <a:tab pos="0" algn="l"/>
              </a:tabLst>
            </a:pPr>
            <a:r>
              <a:rPr lang="en-US" sz="4400" b="0" u="none" strike="noStrike">
                <a:solidFill>
                  <a:schemeClr val="dk1"/>
                </a:solidFill>
                <a:effectLst/>
                <a:uFillTx/>
                <a:latin typeface="Calibri"/>
              </a:rPr>
              <a:t>Clic</a:t>
            </a:r>
            <a:r>
              <a:rPr lang="en-US" sz="4400" b="0" u="none" strike="noStrike">
                <a:solidFill>
                  <a:schemeClr val="dk1"/>
                </a:solidFill>
                <a:effectLst/>
                <a:uFillTx/>
                <a:latin typeface="Calibri"/>
              </a:rPr>
              <a:t>k to </a:t>
            </a:r>
            <a:r>
              <a:rPr lang="en-US" sz="4400" b="0" u="none" strike="noStrike">
                <a:solidFill>
                  <a:schemeClr val="dk1"/>
                </a:solidFill>
                <a:effectLst/>
                <a:uFillTx/>
                <a:latin typeface="Calibri"/>
              </a:rPr>
              <a:t>edit </a:t>
            </a:r>
            <a:r>
              <a:rPr lang="en-US" sz="4400" b="0" u="none" strike="noStrike">
                <a:solidFill>
                  <a:schemeClr val="dk1"/>
                </a:solidFill>
                <a:effectLst/>
                <a:uFillTx/>
                <a:latin typeface="Calibri"/>
              </a:rPr>
              <a:t>the </a:t>
            </a:r>
            <a:r>
              <a:rPr lang="en-US" sz="4400" b="0" u="none" strike="noStrike">
                <a:solidFill>
                  <a:schemeClr val="dk1"/>
                </a:solidFill>
                <a:effectLst/>
                <a:uFillTx/>
                <a:latin typeface="Calibri"/>
              </a:rPr>
              <a:t>title </a:t>
            </a:r>
            <a:r>
              <a:rPr lang="en-US" sz="4400" b="0" u="none" strike="noStrike">
                <a:solidFill>
                  <a:schemeClr val="dk1"/>
                </a:solidFill>
                <a:effectLst/>
                <a:uFillTx/>
                <a:latin typeface="Calibri"/>
              </a:rPr>
              <a:t>text </a:t>
            </a:r>
            <a:r>
              <a:rPr lang="en-US" sz="4400" b="0" u="none" strike="noStrike">
                <a:solidFill>
                  <a:schemeClr val="dk1"/>
                </a:solidFill>
                <a:effectLst/>
                <a:uFillTx/>
                <a:latin typeface="Calibri"/>
              </a:rPr>
              <a:t>for</a:t>
            </a:r>
            <a:r>
              <a:rPr lang="en-US" sz="4400" b="0" u="none" strike="noStrike">
                <a:solidFill>
                  <a:schemeClr val="dk1"/>
                </a:solidFill>
                <a:effectLst/>
                <a:uFillTx/>
                <a:latin typeface="Calibri"/>
              </a:rPr>
              <a:t>ma</a:t>
            </a:r>
            <a:r>
              <a:rPr lang="en-US" sz="4400" b="0" u="none" strike="noStrike">
                <a:solidFill>
                  <a:schemeClr val="dk1"/>
                </a:solidFill>
                <a:effectLst/>
                <a:uFillTx/>
                <a:latin typeface="Calibri"/>
              </a:rPr>
              <a:t>t</a:t>
            </a:r>
            <a:endParaRPr lang="en-US" sz="4400" b="0" u="none" strike="noStrike">
              <a:solidFill>
                <a:schemeClr val="dk1"/>
              </a:solidFill>
              <a:effectLst/>
              <a:uFillTx/>
              <a:latin typeface="Calibri"/>
            </a:endParaRPr>
          </a:p>
        </p:txBody>
      </p:sp>
      <p:sp>
        <p:nvSpPr>
          <p:cNvPr id="6" name="PlaceHolder 5"/>
          <p:cNvSpPr>
            <a:spLocks noGrp="1"/>
          </p:cNvSpPr>
          <p:nvPr>
            <p:ph type="body"/>
          </p:nvPr>
        </p:nvSpPr>
        <p:spPr>
          <a:xfrm>
            <a:off x="609480" y="1604520"/>
            <a:ext cx="10971720" cy="3976920"/>
          </a:xfrm>
          <a:prstGeom prst="rect">
            <a:avLst/>
          </a:prstGeom>
          <a:noFill/>
          <a:ln w="0">
            <a:noFill/>
          </a:ln>
        </p:spPr>
        <p:txBody>
          <a:bodyPr lIns="0" tIns="0" rIns="0" bIns="0" anchor="t">
            <a:norm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SzPct val="75000"/>
              <a:buFont typeface="Symbol" charset="2"/>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SzPct val="45000"/>
              <a:buFont typeface="Wingdings" charset="2"/>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SzPct val="75000"/>
              <a:buFont typeface="Symbol" charset="2"/>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SzPct val="45000"/>
              <a:buFont typeface="Wingdings" charset="2"/>
              <a:buChar char=""/>
              <a:defRPr lang="en-US" sz="2000" b="0" u="none" strike="noStrike">
                <a:solidFill>
                  <a:schemeClr val="dk1"/>
                </a:solidFill>
                <a:effectLst/>
                <a:uFillTx/>
                <a:latin typeface="Calibri"/>
              </a:defRPr>
            </a:lvl5pPr>
            <a:lvl6pPr lvl="5" algn="l" defTabSz="457200">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defTabSz="457200">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864000" lvl="1" indent="-324000" algn="l" defTabSz="457200">
              <a:lnSpc>
                <a:spcPct val="100000"/>
              </a:lnSpc>
              <a:spcBef>
                <a:spcPts val="561"/>
              </a:spcBef>
              <a:buClr>
                <a:srgbClr val="000000"/>
              </a:buClr>
              <a:buSzPct val="75000"/>
              <a:buFont typeface="Symbol" charset="2"/>
              <a:buChar char=""/>
            </a:pPr>
            <a:r>
              <a:rPr lang="en-US" sz="2800" b="0" u="none" strike="noStrike">
                <a:solidFill>
                  <a:schemeClr val="dk1"/>
                </a:solidFill>
                <a:effectLst/>
                <a:uFillTx/>
                <a:latin typeface="Calibri"/>
              </a:rPr>
              <a:t>Second Outline Level</a:t>
            </a:r>
            <a:endParaRPr lang="en-US" sz="2800" b="0" u="none" strike="noStrike">
              <a:solidFill>
                <a:schemeClr val="dk1"/>
              </a:solidFill>
              <a:effectLst/>
              <a:uFillTx/>
              <a:latin typeface="Calibri"/>
            </a:endParaRPr>
          </a:p>
          <a:p>
            <a:pPr marL="1296000" lvl="2" indent="-288000" algn="l" defTabSz="457200">
              <a:lnSpc>
                <a:spcPct val="100000"/>
              </a:lnSpc>
              <a:spcBef>
                <a:spcPts val="479"/>
              </a:spcBef>
              <a:buClr>
                <a:srgbClr val="000000"/>
              </a:buClr>
              <a:buSzPct val="45000"/>
              <a:buFont typeface="Wingdings" charset="2"/>
              <a:buChar char=""/>
            </a:pPr>
            <a:r>
              <a:rPr lang="en-US" sz="2400" b="0" u="none" strike="noStrike">
                <a:solidFill>
                  <a:schemeClr val="dk1"/>
                </a:solidFill>
                <a:effectLst/>
                <a:uFillTx/>
                <a:latin typeface="Calibri"/>
              </a:rPr>
              <a:t>Third Outline Level</a:t>
            </a:r>
            <a:endParaRPr lang="en-US" sz="2400" b="0" u="none" strike="noStrike">
              <a:solidFill>
                <a:schemeClr val="dk1"/>
              </a:solidFill>
              <a:effectLst/>
              <a:uFillTx/>
              <a:latin typeface="Calibri"/>
            </a:endParaRPr>
          </a:p>
          <a:p>
            <a:pPr marL="1728000" lvl="3" indent="-216000" algn="l" defTabSz="457200">
              <a:lnSpc>
                <a:spcPct val="100000"/>
              </a:lnSpc>
              <a:spcBef>
                <a:spcPts val="400"/>
              </a:spcBef>
              <a:buClr>
                <a:srgbClr val="000000"/>
              </a:buClr>
              <a:buSzPct val="75000"/>
              <a:buFont typeface="Symbol" charset="2"/>
              <a:buChar char=""/>
            </a:pPr>
            <a:r>
              <a:rPr lang="en-US" sz="2000" b="0" u="none" strike="noStrike">
                <a:solidFill>
                  <a:schemeClr val="dk1"/>
                </a:solidFill>
                <a:effectLst/>
                <a:uFillTx/>
                <a:latin typeface="Calibri"/>
              </a:rPr>
              <a:t>Fourth Outline Level</a:t>
            </a:r>
            <a:endParaRPr lang="en-US" sz="2000" b="0" u="none" strike="noStrike">
              <a:solidFill>
                <a:schemeClr val="dk1"/>
              </a:solidFill>
              <a:effectLst/>
              <a:uFillTx/>
              <a:latin typeface="Calibri"/>
            </a:endParaRPr>
          </a:p>
          <a:p>
            <a:pPr marL="2160000" lvl="4" indent="-216000" algn="l" defTabSz="457200">
              <a:lnSpc>
                <a:spcPct val="100000"/>
              </a:lnSpc>
              <a:spcBef>
                <a:spcPts val="400"/>
              </a:spcBef>
              <a:buClr>
                <a:srgbClr val="000000"/>
              </a:buClr>
              <a:buSzPct val="45000"/>
              <a:buFont typeface="Wingdings" charset="2"/>
              <a:buChar char=""/>
            </a:pPr>
            <a:r>
              <a:rPr lang="en-US" sz="2000" b="0" u="none" strike="noStrike">
                <a:solidFill>
                  <a:schemeClr val="dk1"/>
                </a:solidFill>
                <a:effectLst/>
                <a:uFillTx/>
                <a:latin typeface="Calibri"/>
              </a:rPr>
              <a:t>Fifth Outline Level</a:t>
            </a:r>
            <a:endParaRPr lang="en-US" sz="2000" b="0" u="none" strike="noStrike">
              <a:solidFill>
                <a:schemeClr val="dk1"/>
              </a:solidFill>
              <a:effectLst/>
              <a:uFillTx/>
              <a:latin typeface="Calibri"/>
            </a:endParaRPr>
          </a:p>
          <a:p>
            <a:pPr marL="2592000" lvl="5" indent="-216000" algn="l" defTabSz="457200">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endParaRPr lang="en-US" sz="2000" b="0" u="none" strike="noStrike">
              <a:solidFill>
                <a:schemeClr val="dk1"/>
              </a:solidFill>
              <a:effectLst/>
              <a:uFillTx/>
              <a:latin typeface="Calibri"/>
            </a:endParaRPr>
          </a:p>
          <a:p>
            <a:pPr marL="3024000" lvl="6" indent="-216000" algn="l" defTabSz="457200">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endParaRPr lang="en-US" sz="2000" b="0" u="none" strike="noStrike">
              <a:solidFill>
                <a:schemeClr val="dk1"/>
              </a:solidFill>
              <a:effectLst/>
              <a:uFillTx/>
              <a:latin typeface="Calibri"/>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bg>
      <p:bgPr>
        <a:solidFill>
          <a:srgbClr val="FFFFFF"/>
        </a:solidFill>
      </p:bgPr>
    </p:bg>
    <p:spTree>
      <p:nvGrpSpPr>
        <p:cNvPr id="1" name=""/>
        <p:cNvGrpSpPr/>
        <p:nvPr/>
      </p:nvGrpSpPr>
      <p:grpSpPr>
        <a:xfrm>
          <a:off x="0" y="0"/>
          <a:ext cx="0" cy="0"/>
          <a:chOff x="0" y="0"/>
          <a:chExt cx="0" cy="0"/>
        </a:xfrm>
      </p:grpSpPr>
      <p:sp>
        <p:nvSpPr>
          <p:cNvPr id="7" name="PlaceHolder 1"/>
          <p:cNvSpPr>
            <a:spLocks noGrp="1"/>
          </p:cNvSpPr>
          <p:nvPr>
            <p:ph type="title"/>
          </p:nvPr>
        </p:nvSpPr>
        <p:spPr>
          <a:xfrm>
            <a:off x="457200" y="272880"/>
            <a:ext cx="3007440" cy="1161360"/>
          </a:xfrm>
          <a:prstGeom prst="rect">
            <a:avLst/>
          </a:prstGeom>
          <a:noFill/>
          <a:ln w="0">
            <a:noFill/>
          </a:ln>
        </p:spPr>
        <p:txBody>
          <a:bodyPr lIns="91440" tIns="45720" rIns="91440" bIns="45720" anchor="b">
            <a:noAutofit/>
          </a:bodyPr>
          <a:lstStyle>
            <a:lvl1pPr indent="0" algn="l" defTabSz="457200">
              <a:lnSpc>
                <a:spcPct val="100000"/>
              </a:lnSpc>
              <a:buNone/>
              <a:tabLst>
                <a:tab pos="0" algn="l"/>
              </a:tabLst>
              <a:defRPr lang="en-US" sz="2000" b="1" u="none" strike="noStrike">
                <a:solidFill>
                  <a:schemeClr val="dk1"/>
                </a:solidFill>
                <a:effectLst/>
                <a:uFillTx/>
                <a:latin typeface="Calibri"/>
              </a:defRPr>
            </a:lvl1pPr>
          </a:lstStyle>
          <a:p>
            <a:pPr indent="0" algn="l" defTabSz="457200">
              <a:lnSpc>
                <a:spcPct val="100000"/>
              </a:lnSpc>
              <a:buNone/>
              <a:tabLst>
                <a:tab pos="0" algn="l"/>
              </a:tabLst>
            </a:pPr>
            <a:r>
              <a:rPr lang="en-US" sz="2000" b="1" u="none" strike="noStrike">
                <a:solidFill>
                  <a:schemeClr val="dk1"/>
                </a:solidFill>
                <a:effectLst/>
                <a:uFillTx/>
                <a:latin typeface="Calibri"/>
              </a:rPr>
              <a:t>Click to </a:t>
            </a:r>
            <a:r>
              <a:rPr lang="en-US" sz="2000" b="1" u="none" strike="noStrike">
                <a:solidFill>
                  <a:schemeClr val="dk1"/>
                </a:solidFill>
                <a:effectLst/>
                <a:uFillTx/>
                <a:latin typeface="Calibri"/>
              </a:rPr>
              <a:t>edit </a:t>
            </a:r>
            <a:r>
              <a:rPr lang="en-US" sz="2000" b="1" u="none" strike="noStrike">
                <a:solidFill>
                  <a:schemeClr val="dk1"/>
                </a:solidFill>
                <a:effectLst/>
                <a:uFillTx/>
                <a:latin typeface="Calibri"/>
              </a:rPr>
              <a:t>Master </a:t>
            </a:r>
            <a:r>
              <a:rPr lang="en-US" sz="2000" b="1" u="none" strike="noStrike">
                <a:solidFill>
                  <a:schemeClr val="dk1"/>
                </a:solidFill>
                <a:effectLst/>
                <a:uFillTx/>
                <a:latin typeface="Calibri"/>
              </a:rPr>
              <a:t>title </a:t>
            </a:r>
            <a:r>
              <a:rPr lang="en-US" sz="2000" b="1" u="none" strike="noStrike">
                <a:solidFill>
                  <a:schemeClr val="dk1"/>
                </a:solidFill>
                <a:effectLst/>
                <a:uFillTx/>
                <a:latin typeface="Calibri"/>
              </a:rPr>
              <a:t>style</a:t>
            </a:r>
            <a:endParaRPr lang="en-US" sz="2000" b="1" u="none" strike="noStrike">
              <a:solidFill>
                <a:schemeClr val="dk1"/>
              </a:solidFill>
              <a:effectLst/>
              <a:uFillTx/>
              <a:latin typeface="Calibri"/>
            </a:endParaRPr>
          </a:p>
        </p:txBody>
      </p:sp>
      <p:sp>
        <p:nvSpPr>
          <p:cNvPr id="8" name="PlaceHolder 2"/>
          <p:cNvSpPr>
            <a:spLocks noGrp="1"/>
          </p:cNvSpPr>
          <p:nvPr>
            <p:ph type="body"/>
          </p:nvPr>
        </p:nvSpPr>
        <p:spPr>
          <a:xfrm>
            <a:off x="3575160" y="272880"/>
            <a:ext cx="5110920" cy="585252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9" name="PlaceHolder 3"/>
          <p:cNvSpPr>
            <a:spLocks noGrp="1"/>
          </p:cNvSpPr>
          <p:nvPr>
            <p:ph type="body"/>
          </p:nvPr>
        </p:nvSpPr>
        <p:spPr>
          <a:xfrm>
            <a:off x="457200" y="1434960"/>
            <a:ext cx="3007440" cy="469044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endParaRPr lang="en-US" sz="1400" b="0" u="none" strike="noStrike">
              <a:solidFill>
                <a:schemeClr val="dk1"/>
              </a:solidFill>
              <a:effectLst/>
              <a:uFillTx/>
              <a:latin typeface="Calibri"/>
            </a:endParaRPr>
          </a:p>
        </p:txBody>
      </p:sp>
      <p:sp>
        <p:nvSpPr>
          <p:cNvPr id="10" name="PlaceHolder 4"/>
          <p:cNvSpPr>
            <a:spLocks noGrp="1"/>
          </p:cNvSpPr>
          <p:nvPr>
            <p:ph type="dt" idx="4"/>
          </p:nvPr>
        </p:nvSpPr>
        <p:spPr>
          <a:xfrm>
            <a:off x="457200" y="6356520"/>
            <a:ext cx="2133000" cy="36432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11" name="PlaceHolder 5"/>
          <p:cNvSpPr>
            <a:spLocks noGrp="1"/>
          </p:cNvSpPr>
          <p:nvPr>
            <p:ph type="ftr" idx="5"/>
          </p:nvPr>
        </p:nvSpPr>
        <p:spPr>
          <a:xfrm>
            <a:off x="3124080" y="6356520"/>
            <a:ext cx="289476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2" name="PlaceHolder 6"/>
          <p:cNvSpPr>
            <a:spLocks noGrp="1"/>
          </p:cNvSpPr>
          <p:nvPr>
            <p:ph type="sldNum" idx="6"/>
          </p:nvPr>
        </p:nvSpPr>
        <p:spPr>
          <a:xfrm>
            <a:off x="6553080" y="6356520"/>
            <a:ext cx="213300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71741EC8-0A8E-482E-A11D-2DE5276866E0}"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bg>
      <p:bgPr>
        <a:solidFill>
          <a:srgbClr val="FFFFFF"/>
        </a:solidFill>
      </p:bgPr>
    </p:bg>
    <p:spTree>
      <p:nvGrpSpPr>
        <p:cNvPr id="1" name=""/>
        <p:cNvGrpSpPr/>
        <p:nvPr/>
      </p:nvGrpSpPr>
      <p:grpSpPr>
        <a:xfrm>
          <a:off x="0" y="0"/>
          <a:ext cx="0" cy="0"/>
          <a:chOff x="0" y="0"/>
          <a:chExt cx="0" cy="0"/>
        </a:xfrm>
      </p:grpSpPr>
      <p:sp>
        <p:nvSpPr>
          <p:cNvPr id="13" name="PlaceHolder 1"/>
          <p:cNvSpPr>
            <a:spLocks noGrp="1"/>
          </p:cNvSpPr>
          <p:nvPr>
            <p:ph type="title"/>
          </p:nvPr>
        </p:nvSpPr>
        <p:spPr>
          <a:xfrm>
            <a:off x="1792440" y="4800600"/>
            <a:ext cx="5485680" cy="565920"/>
          </a:xfrm>
          <a:prstGeom prst="rect">
            <a:avLst/>
          </a:prstGeom>
          <a:noFill/>
          <a:ln w="0">
            <a:noFill/>
          </a:ln>
        </p:spPr>
        <p:txBody>
          <a:bodyPr lIns="91440" tIns="45720" rIns="91440" bIns="45720" anchor="b">
            <a:noAutofit/>
          </a:bodyPr>
          <a:lstStyle>
            <a:lvl1pPr indent="0" algn="l" defTabSz="457200">
              <a:lnSpc>
                <a:spcPct val="100000"/>
              </a:lnSpc>
              <a:buNone/>
              <a:tabLst>
                <a:tab pos="0" algn="l"/>
              </a:tabLst>
              <a:defRPr lang="en-US" sz="2000" b="1" u="none" strike="noStrike">
                <a:solidFill>
                  <a:schemeClr val="dk1"/>
                </a:solidFill>
                <a:effectLst/>
                <a:uFillTx/>
                <a:latin typeface="Calibri"/>
              </a:defRPr>
            </a:lvl1pPr>
          </a:lstStyle>
          <a:p>
            <a:pPr indent="0" algn="l" defTabSz="457200">
              <a:lnSpc>
                <a:spcPct val="100000"/>
              </a:lnSpc>
              <a:buNone/>
              <a:tabLst>
                <a:tab pos="0" algn="l"/>
              </a:tabLst>
            </a:pPr>
            <a:r>
              <a:rPr lang="en-US" sz="2000" b="1" u="none" strike="noStrike">
                <a:solidFill>
                  <a:schemeClr val="dk1"/>
                </a:solidFill>
                <a:effectLst/>
                <a:uFillTx/>
                <a:latin typeface="Calibri"/>
              </a:rPr>
              <a:t>Click to </a:t>
            </a:r>
            <a:r>
              <a:rPr lang="en-US" sz="2000" b="1" u="none" strike="noStrike">
                <a:solidFill>
                  <a:schemeClr val="dk1"/>
                </a:solidFill>
                <a:effectLst/>
                <a:uFillTx/>
                <a:latin typeface="Calibri"/>
              </a:rPr>
              <a:t>edit </a:t>
            </a:r>
            <a:r>
              <a:rPr lang="en-US" sz="2000" b="1" u="none" strike="noStrike">
                <a:solidFill>
                  <a:schemeClr val="dk1"/>
                </a:solidFill>
                <a:effectLst/>
                <a:uFillTx/>
                <a:latin typeface="Calibri"/>
              </a:rPr>
              <a:t>Master </a:t>
            </a:r>
            <a:r>
              <a:rPr lang="en-US" sz="2000" b="1" u="none" strike="noStrike">
                <a:solidFill>
                  <a:schemeClr val="dk1"/>
                </a:solidFill>
                <a:effectLst/>
                <a:uFillTx/>
                <a:latin typeface="Calibri"/>
              </a:rPr>
              <a:t>title </a:t>
            </a:r>
            <a:r>
              <a:rPr lang="en-US" sz="2000" b="1" u="none" strike="noStrike">
                <a:solidFill>
                  <a:schemeClr val="dk1"/>
                </a:solidFill>
                <a:effectLst/>
                <a:uFillTx/>
                <a:latin typeface="Calibri"/>
              </a:rPr>
              <a:t>style</a:t>
            </a:r>
            <a:endParaRPr lang="en-US" sz="2000" b="1" u="none" strike="noStrike">
              <a:solidFill>
                <a:schemeClr val="dk1"/>
              </a:solidFill>
              <a:effectLst/>
              <a:uFillTx/>
              <a:latin typeface="Calibri"/>
            </a:endParaRPr>
          </a:p>
        </p:txBody>
      </p:sp>
      <p:sp>
        <p:nvSpPr>
          <p:cNvPr id="14" name="PlaceHolder 2"/>
          <p:cNvSpPr>
            <a:spLocks noGrp="1"/>
          </p:cNvSpPr>
          <p:nvPr>
            <p:ph type="body"/>
          </p:nvPr>
        </p:nvSpPr>
        <p:spPr>
          <a:xfrm>
            <a:off x="1792440" y="612720"/>
            <a:ext cx="5485680" cy="4114080"/>
          </a:xfrm>
          <a:prstGeom prst="rect">
            <a:avLst/>
          </a:prstGeom>
          <a:noFill/>
          <a:ln w="0">
            <a:noFill/>
          </a:ln>
        </p:spPr>
        <p:txBody>
          <a:bodyPr lIns="90000" tIns="45000" rIns="90000" bIns="45000" anchor="t">
            <a:noAutofit/>
          </a:bodyPr>
          <a:lstStyle>
            <a:lvl1pPr algn="l" defTabSz="457200">
              <a:lnSpc>
                <a:spcPct val="100000"/>
              </a:lnSpc>
              <a:spcBef>
                <a:spcPts val="281"/>
              </a:spcBef>
              <a:buClr>
                <a:srgbClr val="000000"/>
              </a:buClr>
              <a:buFont typeface="Arial"/>
              <a:buChar char="•"/>
              <a:tabLst>
                <a:tab pos="0" algn="l"/>
              </a:tabLst>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SzPct val="75000"/>
              <a:buFont typeface="Symbol" charset="2"/>
              <a:buChar char=""/>
              <a:tabLst>
                <a:tab pos="0" algn="l"/>
              </a:tabLst>
              <a:defRPr lang="en-US" sz="3200" b="0" u="none" strike="noStrike">
                <a:solidFill>
                  <a:schemeClr val="dk1"/>
                </a:solidFill>
                <a:effectLst/>
                <a:uFillTx/>
                <a:latin typeface="Calibri"/>
              </a:defRPr>
            </a:lvl2pPr>
            <a:lvl3pPr lvl="2" algn="l" defTabSz="457200">
              <a:lnSpc>
                <a:spcPct val="100000"/>
              </a:lnSpc>
              <a:spcBef>
                <a:spcPts val="479"/>
              </a:spcBef>
              <a:buClr>
                <a:srgbClr val="000000"/>
              </a:buClr>
              <a:buSzPct val="45000"/>
              <a:buFont typeface="Wingdings" charset="2"/>
              <a:buChar char=""/>
              <a:tabLst>
                <a:tab pos="0" algn="l"/>
              </a:tabLst>
              <a:defRPr lang="en-US" sz="3200" b="0" u="none" strike="noStrike">
                <a:solidFill>
                  <a:schemeClr val="dk1"/>
                </a:solidFill>
                <a:effectLst/>
                <a:uFillTx/>
                <a:latin typeface="Calibri"/>
              </a:defRPr>
            </a:lvl3pPr>
            <a:lvl4pPr lvl="3" algn="l" defTabSz="457200">
              <a:lnSpc>
                <a:spcPct val="100000"/>
              </a:lnSpc>
              <a:spcBef>
                <a:spcPts val="400"/>
              </a:spcBef>
              <a:buClr>
                <a:srgbClr val="000000"/>
              </a:buClr>
              <a:buSzPct val="75000"/>
              <a:buFont typeface="Symbol" charset="2"/>
              <a:buChar char=""/>
              <a:tabLst>
                <a:tab pos="0" algn="l"/>
              </a:tabLst>
              <a:defRPr lang="en-US" sz="3200" b="0" u="none" strike="noStrike">
                <a:solidFill>
                  <a:schemeClr val="dk1"/>
                </a:solidFill>
                <a:effectLst/>
                <a:uFillTx/>
                <a:latin typeface="Calibri"/>
              </a:defRPr>
            </a:lvl4pPr>
            <a:lvl5pPr lvl="4" algn="l" defTabSz="457200">
              <a:lnSpc>
                <a:spcPct val="100000"/>
              </a:lnSpc>
              <a:spcBef>
                <a:spcPts val="400"/>
              </a:spcBef>
              <a:buClr>
                <a:srgbClr val="000000"/>
              </a:buClr>
              <a:buSzPct val="45000"/>
              <a:buFont typeface="Wingdings" charset="2"/>
              <a:buChar char=""/>
              <a:tabLst>
                <a:tab pos="0" algn="l"/>
              </a:tabLst>
              <a:defRPr lang="en-US" sz="3200" b="0" u="none" strike="noStrike">
                <a:solidFill>
                  <a:schemeClr val="dk1"/>
                </a:solidFill>
                <a:effectLst/>
                <a:uFillTx/>
                <a:latin typeface="Calibri"/>
              </a:defRPr>
            </a:lvl5pPr>
            <a:lvl6pPr lvl="5" algn="l" defTabSz="457200">
              <a:lnSpc>
                <a:spcPct val="100000"/>
              </a:lnSpc>
              <a:spcBef>
                <a:spcPts val="283"/>
              </a:spcBef>
              <a:buClr>
                <a:srgbClr val="000000"/>
              </a:buClr>
              <a:buSzPct val="45000"/>
              <a:buFont typeface="Wingdings" charset="2"/>
              <a:buChar char=""/>
              <a:tabLst>
                <a:tab pos="0" algn="l"/>
              </a:tabLst>
              <a:defRPr lang="en-US" sz="3200" b="0" u="none" strike="noStrike">
                <a:solidFill>
                  <a:schemeClr val="dk1"/>
                </a:solidFill>
                <a:effectLst/>
                <a:uFillTx/>
                <a:latin typeface="Calibri"/>
              </a:defRPr>
            </a:lvl6pPr>
            <a:lvl7pPr lvl="6" algn="l" defTabSz="457200">
              <a:lnSpc>
                <a:spcPct val="100000"/>
              </a:lnSpc>
              <a:spcBef>
                <a:spcPts val="283"/>
              </a:spcBef>
              <a:buClr>
                <a:srgbClr val="000000"/>
              </a:buClr>
              <a:buSzPct val="45000"/>
              <a:buFont typeface="Wingdings" charset="2"/>
              <a:buChar char=""/>
              <a:tabLst>
                <a:tab pos="0" algn="l"/>
              </a:tabLst>
              <a:defRPr lang="en-US" sz="3200" b="0" u="none" strike="noStrike">
                <a:solidFill>
                  <a:schemeClr val="dk1"/>
                </a:solidFill>
                <a:effectLst/>
                <a:uFillTx/>
                <a:latin typeface="Calibri"/>
              </a:defRPr>
            </a:lvl7pPr>
          </a:lstStyle>
          <a:p>
            <a:pPr marL="432000" indent="-324000" algn="l" defTabSz="457200">
              <a:lnSpc>
                <a:spcPct val="100000"/>
              </a:lnSpc>
              <a:spcBef>
                <a:spcPts val="281"/>
              </a:spcBef>
              <a:buClr>
                <a:srgbClr val="000000"/>
              </a:buClr>
              <a:buFont typeface="Arial"/>
              <a:buChar char="•"/>
              <a:tabLst>
                <a:tab pos="0" algn="l"/>
              </a:tabLst>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457200" lvl="1" indent="-324000" algn="l" defTabSz="457200">
              <a:lnSpc>
                <a:spcPct val="100000"/>
              </a:lnSpc>
              <a:spcBef>
                <a:spcPts val="561"/>
              </a:spcBef>
              <a:buClr>
                <a:srgbClr val="000000"/>
              </a:buClr>
              <a:buSzPct val="75000"/>
              <a:buFont typeface="Symbol" charset="2"/>
              <a:buChar char=""/>
              <a:tabLst>
                <a:tab pos="0" algn="l"/>
              </a:tabLst>
            </a:pPr>
            <a:r>
              <a:rPr lang="en-US" sz="3200" b="0" u="none" strike="noStrike">
                <a:solidFill>
                  <a:schemeClr val="dk1"/>
                </a:solidFill>
                <a:effectLst/>
                <a:uFillTx/>
                <a:latin typeface="Calibri"/>
              </a:rPr>
              <a:t>Second Outline Level</a:t>
            </a:r>
            <a:endParaRPr lang="en-US" sz="3200" b="0" u="none" strike="noStrike">
              <a:solidFill>
                <a:schemeClr val="dk1"/>
              </a:solidFill>
              <a:effectLst/>
              <a:uFillTx/>
              <a:latin typeface="Calibri"/>
            </a:endParaRPr>
          </a:p>
          <a:p>
            <a:pPr marL="914400" lvl="2" indent="-288000" algn="l" defTabSz="457200">
              <a:lnSpc>
                <a:spcPct val="100000"/>
              </a:lnSpc>
              <a:spcBef>
                <a:spcPts val="479"/>
              </a:spcBef>
              <a:buClr>
                <a:srgbClr val="000000"/>
              </a:buClr>
              <a:buSzPct val="45000"/>
              <a:buFont typeface="Wingdings" charset="2"/>
              <a:buChar char=""/>
              <a:tabLst>
                <a:tab pos="0" algn="l"/>
              </a:tabLst>
            </a:pPr>
            <a:r>
              <a:rPr lang="en-US" sz="3200" b="0" u="none" strike="noStrike">
                <a:solidFill>
                  <a:schemeClr val="dk1"/>
                </a:solidFill>
                <a:effectLst/>
                <a:uFillTx/>
                <a:latin typeface="Calibri"/>
              </a:rPr>
              <a:t>Third Outline Level</a:t>
            </a:r>
            <a:endParaRPr lang="en-US" sz="3200" b="0" u="none" strike="noStrike">
              <a:solidFill>
                <a:schemeClr val="dk1"/>
              </a:solidFill>
              <a:effectLst/>
              <a:uFillTx/>
              <a:latin typeface="Calibri"/>
            </a:endParaRPr>
          </a:p>
          <a:p>
            <a:pPr marL="1371600" lvl="3" indent="-216000" algn="l" defTabSz="457200">
              <a:lnSpc>
                <a:spcPct val="100000"/>
              </a:lnSpc>
              <a:spcBef>
                <a:spcPts val="400"/>
              </a:spcBef>
              <a:buClr>
                <a:srgbClr val="000000"/>
              </a:buClr>
              <a:buSzPct val="75000"/>
              <a:buFont typeface="Symbol" charset="2"/>
              <a:buChar char=""/>
              <a:tabLst>
                <a:tab pos="0" algn="l"/>
              </a:tabLst>
            </a:pPr>
            <a:r>
              <a:rPr lang="en-US" sz="3200" b="0" u="none" strike="noStrike">
                <a:solidFill>
                  <a:schemeClr val="dk1"/>
                </a:solidFill>
                <a:effectLst/>
                <a:uFillTx/>
                <a:latin typeface="Calibri"/>
              </a:rPr>
              <a:t>Fourth Outline Level</a:t>
            </a:r>
            <a:endParaRPr lang="en-US" sz="3200" b="0" u="none" strike="noStrike">
              <a:solidFill>
                <a:schemeClr val="dk1"/>
              </a:solidFill>
              <a:effectLst/>
              <a:uFillTx/>
              <a:latin typeface="Calibri"/>
            </a:endParaRPr>
          </a:p>
          <a:p>
            <a:pPr marL="1828800" lvl="4" indent="-216000" algn="l" defTabSz="457200">
              <a:lnSpc>
                <a:spcPct val="100000"/>
              </a:lnSpc>
              <a:spcBef>
                <a:spcPts val="400"/>
              </a:spcBef>
              <a:buClr>
                <a:srgbClr val="000000"/>
              </a:buClr>
              <a:buSzPct val="45000"/>
              <a:buFont typeface="Wingdings" charset="2"/>
              <a:buChar char=""/>
              <a:tabLst>
                <a:tab pos="0" algn="l"/>
              </a:tabLst>
            </a:pPr>
            <a:r>
              <a:rPr lang="en-US" sz="3200" b="0" u="none" strike="noStrike">
                <a:solidFill>
                  <a:schemeClr val="dk1"/>
                </a:solidFill>
                <a:effectLst/>
                <a:uFillTx/>
                <a:latin typeface="Calibri"/>
              </a:rPr>
              <a:t>Fifth Outline Level</a:t>
            </a:r>
            <a:endParaRPr lang="en-US" sz="3200" b="0" u="none" strike="noStrike">
              <a:solidFill>
                <a:schemeClr val="dk1"/>
              </a:solidFill>
              <a:effectLst/>
              <a:uFillTx/>
              <a:latin typeface="Calibri"/>
            </a:endParaRPr>
          </a:p>
          <a:p>
            <a:pPr marL="2286000" lvl="5" indent="-216000" algn="l" defTabSz="457200">
              <a:lnSpc>
                <a:spcPct val="100000"/>
              </a:lnSpc>
              <a:spcBef>
                <a:spcPts val="283"/>
              </a:spcBef>
              <a:buClr>
                <a:srgbClr val="000000"/>
              </a:buClr>
              <a:buSzPct val="45000"/>
              <a:buFont typeface="Wingdings" charset="2"/>
              <a:buChar char=""/>
              <a:tabLst>
                <a:tab pos="0" algn="l"/>
              </a:tabLst>
            </a:pPr>
            <a:r>
              <a:rPr lang="en-US" sz="3200" b="0" u="none" strike="noStrike">
                <a:solidFill>
                  <a:schemeClr val="dk1"/>
                </a:solidFill>
                <a:effectLst/>
                <a:uFillTx/>
                <a:latin typeface="Calibri"/>
              </a:rPr>
              <a:t>Sixth Outline Level</a:t>
            </a:r>
            <a:endParaRPr lang="en-US" sz="3200" b="0" u="none" strike="noStrike">
              <a:solidFill>
                <a:schemeClr val="dk1"/>
              </a:solidFill>
              <a:effectLst/>
              <a:uFillTx/>
              <a:latin typeface="Calibri"/>
            </a:endParaRPr>
          </a:p>
          <a:p>
            <a:pPr marL="2743200" lvl="6" indent="-216000" algn="l" defTabSz="457200">
              <a:lnSpc>
                <a:spcPct val="100000"/>
              </a:lnSpc>
              <a:spcBef>
                <a:spcPts val="283"/>
              </a:spcBef>
              <a:buClr>
                <a:srgbClr val="000000"/>
              </a:buClr>
              <a:buSzPct val="45000"/>
              <a:buFont typeface="Wingdings" charset="2"/>
              <a:buChar char=""/>
              <a:tabLst>
                <a:tab pos="0" algn="l"/>
              </a:tabLst>
            </a:pPr>
            <a:r>
              <a:rPr lang="en-US" sz="3200" b="0" u="none" strike="noStrike">
                <a:solidFill>
                  <a:schemeClr val="dk1"/>
                </a:solidFill>
                <a:effectLst/>
                <a:uFillTx/>
                <a:latin typeface="Calibri"/>
              </a:rPr>
              <a:t>Seventh Outline Level</a:t>
            </a:r>
            <a:endParaRPr lang="en-US" sz="3200" b="0" u="none" strike="noStrike">
              <a:solidFill>
                <a:schemeClr val="dk1"/>
              </a:solidFill>
              <a:effectLst/>
              <a:uFillTx/>
              <a:latin typeface="Calibri"/>
            </a:endParaRPr>
          </a:p>
        </p:txBody>
      </p:sp>
      <p:sp>
        <p:nvSpPr>
          <p:cNvPr id="15" name="PlaceHolder 3"/>
          <p:cNvSpPr>
            <a:spLocks noGrp="1"/>
          </p:cNvSpPr>
          <p:nvPr>
            <p:ph type="body"/>
          </p:nvPr>
        </p:nvSpPr>
        <p:spPr>
          <a:xfrm>
            <a:off x="1792440" y="5367240"/>
            <a:ext cx="5485680" cy="80424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endParaRPr lang="en-US" sz="1400" b="0" u="none" strike="noStrike">
              <a:solidFill>
                <a:schemeClr val="dk1"/>
              </a:solidFill>
              <a:effectLst/>
              <a:uFillTx/>
              <a:latin typeface="Calibri"/>
            </a:endParaRPr>
          </a:p>
        </p:txBody>
      </p:sp>
      <p:sp>
        <p:nvSpPr>
          <p:cNvPr id="16" name="PlaceHolder 4"/>
          <p:cNvSpPr>
            <a:spLocks noGrp="1"/>
          </p:cNvSpPr>
          <p:nvPr>
            <p:ph type="dt" idx="7"/>
          </p:nvPr>
        </p:nvSpPr>
        <p:spPr>
          <a:xfrm>
            <a:off x="457200" y="6356520"/>
            <a:ext cx="2133000" cy="36432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17" name="PlaceHolder 5"/>
          <p:cNvSpPr>
            <a:spLocks noGrp="1"/>
          </p:cNvSpPr>
          <p:nvPr>
            <p:ph type="ftr" idx="8"/>
          </p:nvPr>
        </p:nvSpPr>
        <p:spPr>
          <a:xfrm>
            <a:off x="3124080" y="6356520"/>
            <a:ext cx="289476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8" name="PlaceHolder 6"/>
          <p:cNvSpPr>
            <a:spLocks noGrp="1"/>
          </p:cNvSpPr>
          <p:nvPr>
            <p:ph type="sldNum" idx="9"/>
          </p:nvPr>
        </p:nvSpPr>
        <p:spPr>
          <a:xfrm>
            <a:off x="6553080" y="6356520"/>
            <a:ext cx="213300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6D89EFE6-58D0-4DD2-B4A3-11F9E2FD04C3}"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bg>
      <p:bgPr>
        <a:solidFill>
          <a:srgbClr val="FFFFFF"/>
        </a:solidFill>
      </p:bgPr>
    </p:bg>
    <p:spTree>
      <p:nvGrpSpPr>
        <p:cNvPr id="1" name=""/>
        <p:cNvGrpSpPr/>
        <p:nvPr/>
      </p:nvGrpSpPr>
      <p:grpSpPr>
        <a:xfrm>
          <a:off x="0" y="0"/>
          <a:ext cx="0" cy="0"/>
          <a:chOff x="0" y="0"/>
          <a:chExt cx="0" cy="0"/>
        </a:xfrm>
      </p:grpSpPr>
      <p:sp>
        <p:nvSpPr>
          <p:cNvPr id="19" name="PlaceHolder 1"/>
          <p:cNvSpPr>
            <a:spLocks noGrp="1"/>
          </p:cNvSpPr>
          <p:nvPr>
            <p:ph type="title"/>
          </p:nvPr>
        </p:nvSpPr>
        <p:spPr>
          <a:xfrm>
            <a:off x="685800" y="2130480"/>
            <a:ext cx="7771680" cy="146916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en-US" sz="4400" b="0" u="none" strike="noStrike">
                <a:solidFill>
                  <a:schemeClr val="dk1"/>
                </a:solidFill>
                <a:effectLst/>
                <a:uFillTx/>
                <a:latin typeface="Calibri"/>
              </a:defRPr>
            </a:lvl1pPr>
          </a:lstStyle>
          <a:p>
            <a:pPr indent="0" algn="ctr" defTabSz="457200">
              <a:lnSpc>
                <a:spcPct val="100000"/>
              </a:lnSpc>
              <a:buNone/>
              <a:tabLst>
                <a:tab pos="0" algn="l"/>
              </a:tabLst>
            </a:pPr>
            <a:r>
              <a:rPr lang="en-US" sz="4400" b="0" u="none" strike="noStrike">
                <a:solidFill>
                  <a:schemeClr val="dk1"/>
                </a:solidFill>
                <a:effectLst/>
                <a:uFillTx/>
                <a:latin typeface="Calibri"/>
              </a:rPr>
              <a:t>Clic</a:t>
            </a:r>
            <a:r>
              <a:rPr lang="en-US" sz="4400" b="0" u="none" strike="noStrike">
                <a:solidFill>
                  <a:schemeClr val="dk1"/>
                </a:solidFill>
                <a:effectLst/>
                <a:uFillTx/>
                <a:latin typeface="Calibri"/>
              </a:rPr>
              <a:t>k to </a:t>
            </a:r>
            <a:r>
              <a:rPr lang="en-US" sz="4400" b="0" u="none" strike="noStrike">
                <a:solidFill>
                  <a:schemeClr val="dk1"/>
                </a:solidFill>
                <a:effectLst/>
                <a:uFillTx/>
                <a:latin typeface="Calibri"/>
              </a:rPr>
              <a:t>edit </a:t>
            </a:r>
            <a:r>
              <a:rPr lang="en-US" sz="4400" b="0" u="none" strike="noStrike">
                <a:solidFill>
                  <a:schemeClr val="dk1"/>
                </a:solidFill>
                <a:effectLst/>
                <a:uFillTx/>
                <a:latin typeface="Calibri"/>
              </a:rPr>
              <a:t>Ma</a:t>
            </a:r>
            <a:r>
              <a:rPr lang="en-US" sz="4400" b="0" u="none" strike="noStrike">
                <a:solidFill>
                  <a:schemeClr val="dk1"/>
                </a:solidFill>
                <a:effectLst/>
                <a:uFillTx/>
                <a:latin typeface="Calibri"/>
              </a:rPr>
              <a:t>ster </a:t>
            </a:r>
            <a:r>
              <a:rPr lang="en-US" sz="4400" b="0" u="none" strike="noStrike">
                <a:solidFill>
                  <a:schemeClr val="dk1"/>
                </a:solidFill>
                <a:effectLst/>
                <a:uFillTx/>
                <a:latin typeface="Calibri"/>
              </a:rPr>
              <a:t>title </a:t>
            </a:r>
            <a:r>
              <a:rPr lang="en-US" sz="4400" b="0" u="none" strike="noStrike">
                <a:solidFill>
                  <a:schemeClr val="dk1"/>
                </a:solidFill>
                <a:effectLst/>
                <a:uFillTx/>
                <a:latin typeface="Calibri"/>
              </a:rPr>
              <a:t>styl</a:t>
            </a:r>
            <a:r>
              <a:rPr lang="en-US" sz="4400" b="0" u="none" strike="noStrike">
                <a:solidFill>
                  <a:schemeClr val="dk1"/>
                </a:solidFill>
                <a:effectLst/>
                <a:uFillTx/>
                <a:latin typeface="Calibri"/>
              </a:rPr>
              <a:t>e</a:t>
            </a:r>
            <a:endParaRPr lang="en-US" sz="4400" b="0" u="none" strike="noStrike">
              <a:solidFill>
                <a:schemeClr val="dk1"/>
              </a:solidFill>
              <a:effectLst/>
              <a:uFillTx/>
              <a:latin typeface="Calibri"/>
            </a:endParaRPr>
          </a:p>
        </p:txBody>
      </p:sp>
      <p:sp>
        <p:nvSpPr>
          <p:cNvPr id="20" name="PlaceHolder 2"/>
          <p:cNvSpPr>
            <a:spLocks noGrp="1"/>
          </p:cNvSpPr>
          <p:nvPr>
            <p:ph type="dt" idx="10"/>
          </p:nvPr>
        </p:nvSpPr>
        <p:spPr>
          <a:xfrm>
            <a:off x="457200" y="6356520"/>
            <a:ext cx="2133000" cy="36432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21" name="PlaceHolder 3"/>
          <p:cNvSpPr>
            <a:spLocks noGrp="1"/>
          </p:cNvSpPr>
          <p:nvPr>
            <p:ph type="ftr" idx="11"/>
          </p:nvPr>
        </p:nvSpPr>
        <p:spPr>
          <a:xfrm>
            <a:off x="3124080" y="6356520"/>
            <a:ext cx="289476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2" name="PlaceHolder 4"/>
          <p:cNvSpPr>
            <a:spLocks noGrp="1"/>
          </p:cNvSpPr>
          <p:nvPr>
            <p:ph type="sldNum" idx="12"/>
          </p:nvPr>
        </p:nvSpPr>
        <p:spPr>
          <a:xfrm>
            <a:off x="6553080" y="6356520"/>
            <a:ext cx="213300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7B0C11DE-478F-4F76-90E7-D02337CD4199}"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bg>
      <p:bgPr>
        <a:solidFill>
          <a:srgbClr val="FFFFFF"/>
        </a:solidFill>
      </p:bgPr>
    </p:bg>
    <p:spTree>
      <p:nvGrpSpPr>
        <p:cNvPr id="1" name=""/>
        <p:cNvGrpSpPr/>
        <p:nvPr/>
      </p:nvGrpSpPr>
      <p:grpSpPr>
        <a:xfrm>
          <a:off x="0" y="0"/>
          <a:ext cx="0" cy="0"/>
          <a:chOff x="0" y="0"/>
          <a:chExt cx="0" cy="0"/>
        </a:xfrm>
      </p:grpSpPr>
      <p:sp>
        <p:nvSpPr>
          <p:cNvPr id="23" name="PlaceHolder 1"/>
          <p:cNvSpPr>
            <a:spLocks noGrp="1"/>
          </p:cNvSpPr>
          <p:nvPr>
            <p:ph type="title"/>
          </p:nvPr>
        </p:nvSpPr>
        <p:spPr>
          <a:xfrm>
            <a:off x="457200" y="274680"/>
            <a:ext cx="8228880" cy="114228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en-US" sz="4400" b="0" u="none" strike="noStrike">
                <a:solidFill>
                  <a:schemeClr val="dk1"/>
                </a:solidFill>
                <a:effectLst/>
                <a:uFillTx/>
                <a:latin typeface="Calibri"/>
              </a:defRPr>
            </a:lvl1pPr>
          </a:lstStyle>
          <a:p>
            <a:pPr indent="0" algn="ctr" defTabSz="457200">
              <a:lnSpc>
                <a:spcPct val="100000"/>
              </a:lnSpc>
              <a:buNone/>
              <a:tabLst>
                <a:tab pos="0" algn="l"/>
              </a:tabLst>
            </a:pPr>
            <a:r>
              <a:rPr lang="en-US" sz="4400" b="0" u="none" strike="noStrike">
                <a:solidFill>
                  <a:schemeClr val="dk1"/>
                </a:solidFill>
                <a:effectLst/>
                <a:uFillTx/>
                <a:latin typeface="Calibri"/>
              </a:rPr>
              <a:t>Clic</a:t>
            </a:r>
            <a:r>
              <a:rPr lang="en-US" sz="4400" b="0" u="none" strike="noStrike">
                <a:solidFill>
                  <a:schemeClr val="dk1"/>
                </a:solidFill>
                <a:effectLst/>
                <a:uFillTx/>
                <a:latin typeface="Calibri"/>
              </a:rPr>
              <a:t>k to </a:t>
            </a:r>
            <a:r>
              <a:rPr lang="en-US" sz="4400" b="0" u="none" strike="noStrike">
                <a:solidFill>
                  <a:schemeClr val="dk1"/>
                </a:solidFill>
                <a:effectLst/>
                <a:uFillTx/>
                <a:latin typeface="Calibri"/>
              </a:rPr>
              <a:t>edit </a:t>
            </a:r>
            <a:r>
              <a:rPr lang="en-US" sz="4400" b="0" u="none" strike="noStrike">
                <a:solidFill>
                  <a:schemeClr val="dk1"/>
                </a:solidFill>
                <a:effectLst/>
                <a:uFillTx/>
                <a:latin typeface="Calibri"/>
              </a:rPr>
              <a:t>Ma</a:t>
            </a:r>
            <a:r>
              <a:rPr lang="en-US" sz="4400" b="0" u="none" strike="noStrike">
                <a:solidFill>
                  <a:schemeClr val="dk1"/>
                </a:solidFill>
                <a:effectLst/>
                <a:uFillTx/>
                <a:latin typeface="Calibri"/>
              </a:rPr>
              <a:t>ster </a:t>
            </a:r>
            <a:r>
              <a:rPr lang="en-US" sz="4400" b="0" u="none" strike="noStrike">
                <a:solidFill>
                  <a:schemeClr val="dk1"/>
                </a:solidFill>
                <a:effectLst/>
                <a:uFillTx/>
                <a:latin typeface="Calibri"/>
              </a:rPr>
              <a:t>title </a:t>
            </a:r>
            <a:r>
              <a:rPr lang="en-US" sz="4400" b="0" u="none" strike="noStrike">
                <a:solidFill>
                  <a:schemeClr val="dk1"/>
                </a:solidFill>
                <a:effectLst/>
                <a:uFillTx/>
                <a:latin typeface="Calibri"/>
              </a:rPr>
              <a:t>styl</a:t>
            </a:r>
            <a:r>
              <a:rPr lang="en-US" sz="4400" b="0" u="none" strike="noStrike">
                <a:solidFill>
                  <a:schemeClr val="dk1"/>
                </a:solidFill>
                <a:effectLst/>
                <a:uFillTx/>
                <a:latin typeface="Calibri"/>
              </a:rPr>
              <a:t>e</a:t>
            </a:r>
            <a:endParaRPr lang="en-US" sz="4400" b="0" u="none" strike="noStrike">
              <a:solidFill>
                <a:schemeClr val="dk1"/>
              </a:solidFill>
              <a:effectLst/>
              <a:uFillTx/>
              <a:latin typeface="Calibri"/>
            </a:endParaRPr>
          </a:p>
        </p:txBody>
      </p:sp>
      <p:sp>
        <p:nvSpPr>
          <p:cNvPr id="24" name="PlaceHolder 2"/>
          <p:cNvSpPr>
            <a:spLocks noGrp="1"/>
          </p:cNvSpPr>
          <p:nvPr>
            <p:ph type="body"/>
          </p:nvPr>
        </p:nvSpPr>
        <p:spPr>
          <a:xfrm>
            <a:off x="457200" y="1600200"/>
            <a:ext cx="8228880" cy="4525200"/>
          </a:xfrm>
          <a:prstGeom prst="rect">
            <a:avLst/>
          </a:prstGeom>
          <a:noFill/>
          <a:ln w="0">
            <a:noFill/>
          </a:ln>
        </p:spPr>
        <p:txBody>
          <a:bodyPr lIns="91440" tIns="45720" rIns="91440" bIns="45720" anchor="t" vert="eaVe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25" name="PlaceHolder 3"/>
          <p:cNvSpPr>
            <a:spLocks noGrp="1"/>
          </p:cNvSpPr>
          <p:nvPr>
            <p:ph type="dt" idx="13"/>
          </p:nvPr>
        </p:nvSpPr>
        <p:spPr>
          <a:xfrm>
            <a:off x="457200" y="6356520"/>
            <a:ext cx="2133000" cy="36432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26" name="PlaceHolder 4"/>
          <p:cNvSpPr>
            <a:spLocks noGrp="1"/>
          </p:cNvSpPr>
          <p:nvPr>
            <p:ph type="ftr" idx="14"/>
          </p:nvPr>
        </p:nvSpPr>
        <p:spPr>
          <a:xfrm>
            <a:off x="3124080" y="6356520"/>
            <a:ext cx="289476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7" name="PlaceHolder 5"/>
          <p:cNvSpPr>
            <a:spLocks noGrp="1"/>
          </p:cNvSpPr>
          <p:nvPr>
            <p:ph type="sldNum" idx="15"/>
          </p:nvPr>
        </p:nvSpPr>
        <p:spPr>
          <a:xfrm>
            <a:off x="6553080" y="6356520"/>
            <a:ext cx="213300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814710E8-C6DE-4587-A049-FE781225F071}"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bg>
      <p:bgPr>
        <a:solidFill>
          <a:srgbClr val="FFFFFF"/>
        </a:solidFill>
      </p:bgPr>
    </p:bg>
    <p:spTree>
      <p:nvGrpSpPr>
        <p:cNvPr id="1" name=""/>
        <p:cNvGrpSpPr/>
        <p:nvPr/>
      </p:nvGrpSpPr>
      <p:grpSpPr>
        <a:xfrm>
          <a:off x="0" y="0"/>
          <a:ext cx="0" cy="0"/>
          <a:chOff x="0" y="0"/>
          <a:chExt cx="0" cy="0"/>
        </a:xfrm>
      </p:grpSpPr>
      <p:sp>
        <p:nvSpPr>
          <p:cNvPr id="28" name="PlaceHolder 1"/>
          <p:cNvSpPr>
            <a:spLocks noGrp="1"/>
          </p:cNvSpPr>
          <p:nvPr>
            <p:ph type="title"/>
          </p:nvPr>
        </p:nvSpPr>
        <p:spPr>
          <a:xfrm>
            <a:off x="6629400" y="274680"/>
            <a:ext cx="2056680" cy="5850720"/>
          </a:xfrm>
          <a:prstGeom prst="rect">
            <a:avLst/>
          </a:prstGeom>
          <a:noFill/>
          <a:ln w="0">
            <a:noFill/>
          </a:ln>
        </p:spPr>
        <p:txBody>
          <a:bodyPr lIns="91440" tIns="45720" rIns="91440" bIns="45720" anchor="ctr" vert="eaVert">
            <a:noAutofit/>
          </a:bodyPr>
          <a:lstStyle>
            <a:lvl1pPr indent="0" algn="ctr" defTabSz="457200">
              <a:lnSpc>
                <a:spcPct val="100000"/>
              </a:lnSpc>
              <a:buNone/>
              <a:tabLst>
                <a:tab pos="0" algn="l"/>
              </a:tabLst>
              <a:defRPr lang="en-US" sz="4400" b="0" u="none" strike="noStrike">
                <a:solidFill>
                  <a:schemeClr val="dk1"/>
                </a:solidFill>
                <a:effectLst/>
                <a:uFillTx/>
                <a:latin typeface="Calibri"/>
              </a:defRPr>
            </a:lvl1pPr>
          </a:lstStyle>
          <a:p>
            <a:pPr indent="0" algn="ctr" defTabSz="457200">
              <a:lnSpc>
                <a:spcPct val="100000"/>
              </a:lnSpc>
              <a:buNone/>
              <a:tabLst>
                <a:tab pos="0" algn="l"/>
              </a:tabLst>
            </a:pPr>
            <a:r>
              <a:rPr lang="en-US" sz="4400" b="0" u="none" strike="noStrike">
                <a:solidFill>
                  <a:schemeClr val="dk1"/>
                </a:solidFill>
                <a:effectLst/>
                <a:uFillTx/>
                <a:latin typeface="Calibri"/>
              </a:rPr>
              <a:t>C</a:t>
            </a:r>
            <a:r>
              <a:rPr lang="en-US" sz="4400" b="0" u="none" strike="noStrike">
                <a:solidFill>
                  <a:schemeClr val="dk1"/>
                </a:solidFill>
                <a:effectLst/>
                <a:uFillTx/>
                <a:latin typeface="Calibri"/>
              </a:rPr>
              <a:t>li</a:t>
            </a:r>
            <a:r>
              <a:rPr lang="en-US" sz="4400" b="0" u="none" strike="noStrike">
                <a:solidFill>
                  <a:schemeClr val="dk1"/>
                </a:solidFill>
                <a:effectLst/>
                <a:uFillTx/>
                <a:latin typeface="Calibri"/>
              </a:rPr>
              <a:t>c</a:t>
            </a:r>
            <a:r>
              <a:rPr lang="en-US" sz="4400" b="0" u="none" strike="noStrike">
                <a:solidFill>
                  <a:schemeClr val="dk1"/>
                </a:solidFill>
                <a:effectLst/>
                <a:uFillTx/>
                <a:latin typeface="Calibri"/>
              </a:rPr>
              <a:t>k </a:t>
            </a:r>
            <a:r>
              <a:rPr lang="en-US" sz="4400" b="0" u="none" strike="noStrike">
                <a:solidFill>
                  <a:schemeClr val="dk1"/>
                </a:solidFill>
                <a:effectLst/>
                <a:uFillTx/>
                <a:latin typeface="Calibri"/>
              </a:rPr>
              <a:t>t</a:t>
            </a:r>
            <a:r>
              <a:rPr lang="en-US" sz="4400" b="0" u="none" strike="noStrike">
                <a:solidFill>
                  <a:schemeClr val="dk1"/>
                </a:solidFill>
                <a:effectLst/>
                <a:uFillTx/>
                <a:latin typeface="Calibri"/>
              </a:rPr>
              <a:t>o</a:t>
            </a:r>
            <a:r>
              <a:rPr lang="en-US" sz="4400" b="0" u="none" strike="noStrike">
                <a:solidFill>
                  <a:schemeClr val="dk1"/>
                </a:solidFill>
                <a:effectLst/>
                <a:uFillTx/>
                <a:latin typeface="Calibri"/>
              </a:rPr>
              <a:t> </a:t>
            </a:r>
            <a:r>
              <a:rPr lang="en-US" sz="4400" b="0" u="none" strike="noStrike">
                <a:solidFill>
                  <a:schemeClr val="dk1"/>
                </a:solidFill>
                <a:effectLst/>
                <a:uFillTx/>
                <a:latin typeface="Calibri"/>
              </a:rPr>
              <a:t>e</a:t>
            </a:r>
            <a:r>
              <a:rPr lang="en-US" sz="4400" b="0" u="none" strike="noStrike">
                <a:solidFill>
                  <a:schemeClr val="dk1"/>
                </a:solidFill>
                <a:effectLst/>
                <a:uFillTx/>
                <a:latin typeface="Calibri"/>
              </a:rPr>
              <a:t>d</a:t>
            </a:r>
            <a:r>
              <a:rPr lang="en-US" sz="4400" b="0" u="none" strike="noStrike">
                <a:solidFill>
                  <a:schemeClr val="dk1"/>
                </a:solidFill>
                <a:effectLst/>
                <a:uFillTx/>
                <a:latin typeface="Calibri"/>
              </a:rPr>
              <a:t>i</a:t>
            </a:r>
            <a:r>
              <a:rPr lang="en-US" sz="4400" b="0" u="none" strike="noStrike">
                <a:solidFill>
                  <a:schemeClr val="dk1"/>
                </a:solidFill>
                <a:effectLst/>
                <a:uFillTx/>
                <a:latin typeface="Calibri"/>
              </a:rPr>
              <a:t>t </a:t>
            </a:r>
            <a:r>
              <a:rPr lang="en-US" sz="4400" b="0" u="none" strike="noStrike">
                <a:solidFill>
                  <a:schemeClr val="dk1"/>
                </a:solidFill>
                <a:effectLst/>
                <a:uFillTx/>
                <a:latin typeface="Calibri"/>
              </a:rPr>
              <a:t>M</a:t>
            </a:r>
            <a:r>
              <a:rPr lang="en-US" sz="4400" b="0" u="none" strike="noStrike">
                <a:solidFill>
                  <a:schemeClr val="dk1"/>
                </a:solidFill>
                <a:effectLst/>
                <a:uFillTx/>
                <a:latin typeface="Calibri"/>
              </a:rPr>
              <a:t>a</a:t>
            </a:r>
            <a:r>
              <a:rPr lang="en-US" sz="4400" b="0" u="none" strike="noStrike">
                <a:solidFill>
                  <a:schemeClr val="dk1"/>
                </a:solidFill>
                <a:effectLst/>
                <a:uFillTx/>
                <a:latin typeface="Calibri"/>
              </a:rPr>
              <a:t>s</a:t>
            </a:r>
            <a:r>
              <a:rPr lang="en-US" sz="4400" b="0" u="none" strike="noStrike">
                <a:solidFill>
                  <a:schemeClr val="dk1"/>
                </a:solidFill>
                <a:effectLst/>
                <a:uFillTx/>
                <a:latin typeface="Calibri"/>
              </a:rPr>
              <a:t>t</a:t>
            </a:r>
            <a:r>
              <a:rPr lang="en-US" sz="4400" b="0" u="none" strike="noStrike">
                <a:solidFill>
                  <a:schemeClr val="dk1"/>
                </a:solidFill>
                <a:effectLst/>
                <a:uFillTx/>
                <a:latin typeface="Calibri"/>
              </a:rPr>
              <a:t>e</a:t>
            </a:r>
            <a:r>
              <a:rPr lang="en-US" sz="4400" b="0" u="none" strike="noStrike">
                <a:solidFill>
                  <a:schemeClr val="dk1"/>
                </a:solidFill>
                <a:effectLst/>
                <a:uFillTx/>
                <a:latin typeface="Calibri"/>
              </a:rPr>
              <a:t>r </a:t>
            </a:r>
            <a:r>
              <a:rPr lang="en-US" sz="4400" b="0" u="none" strike="noStrike">
                <a:solidFill>
                  <a:schemeClr val="dk1"/>
                </a:solidFill>
                <a:effectLst/>
                <a:uFillTx/>
                <a:latin typeface="Calibri"/>
              </a:rPr>
              <a:t>t</a:t>
            </a:r>
            <a:r>
              <a:rPr lang="en-US" sz="4400" b="0" u="none" strike="noStrike">
                <a:solidFill>
                  <a:schemeClr val="dk1"/>
                </a:solidFill>
                <a:effectLst/>
                <a:uFillTx/>
                <a:latin typeface="Calibri"/>
              </a:rPr>
              <a:t>i</a:t>
            </a:r>
            <a:r>
              <a:rPr lang="en-US" sz="4400" b="0" u="none" strike="noStrike">
                <a:solidFill>
                  <a:schemeClr val="dk1"/>
                </a:solidFill>
                <a:effectLst/>
                <a:uFillTx/>
                <a:latin typeface="Calibri"/>
              </a:rPr>
              <a:t>t</a:t>
            </a:r>
            <a:r>
              <a:rPr lang="en-US" sz="4400" b="0" u="none" strike="noStrike">
                <a:solidFill>
                  <a:schemeClr val="dk1"/>
                </a:solidFill>
                <a:effectLst/>
                <a:uFillTx/>
                <a:latin typeface="Calibri"/>
              </a:rPr>
              <a:t>l</a:t>
            </a:r>
            <a:r>
              <a:rPr lang="en-US" sz="4400" b="0" u="none" strike="noStrike">
                <a:solidFill>
                  <a:schemeClr val="dk1"/>
                </a:solidFill>
                <a:effectLst/>
                <a:uFillTx/>
                <a:latin typeface="Calibri"/>
              </a:rPr>
              <a:t>e</a:t>
            </a:r>
            <a:r>
              <a:rPr lang="en-US" sz="4400" b="0" u="none" strike="noStrike">
                <a:solidFill>
                  <a:schemeClr val="dk1"/>
                </a:solidFill>
                <a:effectLst/>
                <a:uFillTx/>
                <a:latin typeface="Calibri"/>
              </a:rPr>
              <a:t> </a:t>
            </a:r>
            <a:r>
              <a:rPr lang="en-US" sz="4400" b="0" u="none" strike="noStrike">
                <a:solidFill>
                  <a:schemeClr val="dk1"/>
                </a:solidFill>
                <a:effectLst/>
                <a:uFillTx/>
                <a:latin typeface="Calibri"/>
              </a:rPr>
              <a:t>s</a:t>
            </a:r>
            <a:r>
              <a:rPr lang="en-US" sz="4400" b="0" u="none" strike="noStrike">
                <a:solidFill>
                  <a:schemeClr val="dk1"/>
                </a:solidFill>
                <a:effectLst/>
                <a:uFillTx/>
                <a:latin typeface="Calibri"/>
              </a:rPr>
              <a:t>t</a:t>
            </a:r>
            <a:r>
              <a:rPr lang="en-US" sz="4400" b="0" u="none" strike="noStrike">
                <a:solidFill>
                  <a:schemeClr val="dk1"/>
                </a:solidFill>
                <a:effectLst/>
                <a:uFillTx/>
                <a:latin typeface="Calibri"/>
              </a:rPr>
              <a:t>y</a:t>
            </a:r>
            <a:r>
              <a:rPr lang="en-US" sz="4400" b="0" u="none" strike="noStrike">
                <a:solidFill>
                  <a:schemeClr val="dk1"/>
                </a:solidFill>
                <a:effectLst/>
                <a:uFillTx/>
                <a:latin typeface="Calibri"/>
              </a:rPr>
              <a:t>l</a:t>
            </a:r>
            <a:r>
              <a:rPr lang="en-US" sz="4400" b="0" u="none" strike="noStrike">
                <a:solidFill>
                  <a:schemeClr val="dk1"/>
                </a:solidFill>
                <a:effectLst/>
                <a:uFillTx/>
                <a:latin typeface="Calibri"/>
              </a:rPr>
              <a:t>e</a:t>
            </a:r>
            <a:endParaRPr lang="en-US" sz="4400" b="0" u="none" strike="noStrike">
              <a:solidFill>
                <a:schemeClr val="dk1"/>
              </a:solidFill>
              <a:effectLst/>
              <a:uFillTx/>
              <a:latin typeface="Calibri"/>
            </a:endParaRPr>
          </a:p>
        </p:txBody>
      </p:sp>
      <p:sp>
        <p:nvSpPr>
          <p:cNvPr id="29" name="PlaceHolder 2"/>
          <p:cNvSpPr>
            <a:spLocks noGrp="1"/>
          </p:cNvSpPr>
          <p:nvPr>
            <p:ph type="body"/>
          </p:nvPr>
        </p:nvSpPr>
        <p:spPr>
          <a:xfrm>
            <a:off x="457200" y="274680"/>
            <a:ext cx="6019200" cy="5850720"/>
          </a:xfrm>
          <a:prstGeom prst="rect">
            <a:avLst/>
          </a:prstGeom>
          <a:noFill/>
          <a:ln w="0">
            <a:noFill/>
          </a:ln>
        </p:spPr>
        <p:txBody>
          <a:bodyPr lIns="91440" tIns="45720" rIns="91440" bIns="45720" anchor="t" vert="eaVe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30" name="PlaceHolder 3"/>
          <p:cNvSpPr>
            <a:spLocks noGrp="1"/>
          </p:cNvSpPr>
          <p:nvPr>
            <p:ph type="dt" idx="16"/>
          </p:nvPr>
        </p:nvSpPr>
        <p:spPr>
          <a:xfrm>
            <a:off x="457200" y="6356520"/>
            <a:ext cx="2133000" cy="36432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31" name="PlaceHolder 4"/>
          <p:cNvSpPr>
            <a:spLocks noGrp="1"/>
          </p:cNvSpPr>
          <p:nvPr>
            <p:ph type="ftr" idx="17"/>
          </p:nvPr>
        </p:nvSpPr>
        <p:spPr>
          <a:xfrm>
            <a:off x="3124080" y="6356520"/>
            <a:ext cx="289476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32" name="PlaceHolder 5"/>
          <p:cNvSpPr>
            <a:spLocks noGrp="1"/>
          </p:cNvSpPr>
          <p:nvPr>
            <p:ph type="sldNum" idx="18"/>
          </p:nvPr>
        </p:nvSpPr>
        <p:spPr>
          <a:xfrm>
            <a:off x="6553080" y="6356520"/>
            <a:ext cx="213300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A2FC76D7-A4A1-48FD-80E1-1AE4C5FD3AFE}"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bg>
      <p:bgPr>
        <a:solidFill>
          <a:srgbClr val="FFFFFF"/>
        </a:solidFill>
      </p:bgPr>
    </p:bg>
    <p:spTree>
      <p:nvGrpSpPr>
        <p:cNvPr id="1" name=""/>
        <p:cNvGrpSpPr/>
        <p:nvPr/>
      </p:nvGrpSpPr>
      <p:grpSpPr>
        <a:xfrm>
          <a:off x="0" y="0"/>
          <a:ext cx="0" cy="0"/>
          <a:chOff x="0" y="0"/>
          <a:chExt cx="0" cy="0"/>
        </a:xfrm>
      </p:grpSpPr>
      <p:sp>
        <p:nvSpPr>
          <p:cNvPr id="33" name="PlaceHolder 1"/>
          <p:cNvSpPr>
            <a:spLocks noGrp="1"/>
          </p:cNvSpPr>
          <p:nvPr>
            <p:ph type="title"/>
          </p:nvPr>
        </p:nvSpPr>
        <p:spPr>
          <a:xfrm>
            <a:off x="457200" y="274680"/>
            <a:ext cx="8228880" cy="114228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en-US" sz="4400" b="0" u="none" strike="noStrike">
                <a:solidFill>
                  <a:schemeClr val="dk1"/>
                </a:solidFill>
                <a:effectLst/>
                <a:uFillTx/>
                <a:latin typeface="Calibri"/>
              </a:defRPr>
            </a:lvl1pPr>
          </a:lstStyle>
          <a:p>
            <a:pPr indent="0" algn="ctr" defTabSz="457200">
              <a:lnSpc>
                <a:spcPct val="100000"/>
              </a:lnSpc>
              <a:buNone/>
              <a:tabLst>
                <a:tab pos="0" algn="l"/>
              </a:tabLst>
            </a:pPr>
            <a:r>
              <a:rPr lang="en-US" sz="4400" b="0" u="none" strike="noStrike">
                <a:solidFill>
                  <a:schemeClr val="dk1"/>
                </a:solidFill>
                <a:effectLst/>
                <a:uFillTx/>
                <a:latin typeface="Calibri"/>
              </a:rPr>
              <a:t>Clic</a:t>
            </a:r>
            <a:r>
              <a:rPr lang="en-US" sz="4400" b="0" u="none" strike="noStrike">
                <a:solidFill>
                  <a:schemeClr val="dk1"/>
                </a:solidFill>
                <a:effectLst/>
                <a:uFillTx/>
                <a:latin typeface="Calibri"/>
              </a:rPr>
              <a:t>k to </a:t>
            </a:r>
            <a:r>
              <a:rPr lang="en-US" sz="4400" b="0" u="none" strike="noStrike">
                <a:solidFill>
                  <a:schemeClr val="dk1"/>
                </a:solidFill>
                <a:effectLst/>
                <a:uFillTx/>
                <a:latin typeface="Calibri"/>
              </a:rPr>
              <a:t>edit </a:t>
            </a:r>
            <a:r>
              <a:rPr lang="en-US" sz="4400" b="0" u="none" strike="noStrike">
                <a:solidFill>
                  <a:schemeClr val="dk1"/>
                </a:solidFill>
                <a:effectLst/>
                <a:uFillTx/>
                <a:latin typeface="Calibri"/>
              </a:rPr>
              <a:t>Ma</a:t>
            </a:r>
            <a:r>
              <a:rPr lang="en-US" sz="4400" b="0" u="none" strike="noStrike">
                <a:solidFill>
                  <a:schemeClr val="dk1"/>
                </a:solidFill>
                <a:effectLst/>
                <a:uFillTx/>
                <a:latin typeface="Calibri"/>
              </a:rPr>
              <a:t>ster </a:t>
            </a:r>
            <a:r>
              <a:rPr lang="en-US" sz="4400" b="0" u="none" strike="noStrike">
                <a:solidFill>
                  <a:schemeClr val="dk1"/>
                </a:solidFill>
                <a:effectLst/>
                <a:uFillTx/>
                <a:latin typeface="Calibri"/>
              </a:rPr>
              <a:t>title </a:t>
            </a:r>
            <a:r>
              <a:rPr lang="en-US" sz="4400" b="0" u="none" strike="noStrike">
                <a:solidFill>
                  <a:schemeClr val="dk1"/>
                </a:solidFill>
                <a:effectLst/>
                <a:uFillTx/>
                <a:latin typeface="Calibri"/>
              </a:rPr>
              <a:t>styl</a:t>
            </a:r>
            <a:r>
              <a:rPr lang="en-US" sz="4400" b="0" u="none" strike="noStrike">
                <a:solidFill>
                  <a:schemeClr val="dk1"/>
                </a:solidFill>
                <a:effectLst/>
                <a:uFillTx/>
                <a:latin typeface="Calibri"/>
              </a:rPr>
              <a:t>e</a:t>
            </a:r>
            <a:endParaRPr lang="en-US" sz="4400" b="0" u="none" strike="noStrike">
              <a:solidFill>
                <a:schemeClr val="dk1"/>
              </a:solidFill>
              <a:effectLst/>
              <a:uFillTx/>
              <a:latin typeface="Calibri"/>
            </a:endParaRPr>
          </a:p>
        </p:txBody>
      </p:sp>
      <p:sp>
        <p:nvSpPr>
          <p:cNvPr id="34" name="PlaceHolder 2"/>
          <p:cNvSpPr>
            <a:spLocks noGrp="1"/>
          </p:cNvSpPr>
          <p:nvPr>
            <p:ph type="body"/>
          </p:nvPr>
        </p:nvSpPr>
        <p:spPr>
          <a:xfrm>
            <a:off x="457200" y="1600200"/>
            <a:ext cx="8228880" cy="452520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35" name="PlaceHolder 3"/>
          <p:cNvSpPr>
            <a:spLocks noGrp="1"/>
          </p:cNvSpPr>
          <p:nvPr>
            <p:ph type="dt" idx="19"/>
          </p:nvPr>
        </p:nvSpPr>
        <p:spPr>
          <a:xfrm>
            <a:off x="457200" y="6356520"/>
            <a:ext cx="2133000" cy="36432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36" name="PlaceHolder 4"/>
          <p:cNvSpPr>
            <a:spLocks noGrp="1"/>
          </p:cNvSpPr>
          <p:nvPr>
            <p:ph type="ftr" idx="20"/>
          </p:nvPr>
        </p:nvSpPr>
        <p:spPr>
          <a:xfrm>
            <a:off x="3124080" y="6356520"/>
            <a:ext cx="289476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37" name="PlaceHolder 5"/>
          <p:cNvSpPr>
            <a:spLocks noGrp="1"/>
          </p:cNvSpPr>
          <p:nvPr>
            <p:ph type="sldNum" idx="21"/>
          </p:nvPr>
        </p:nvSpPr>
        <p:spPr>
          <a:xfrm>
            <a:off x="6553080" y="6356520"/>
            <a:ext cx="213300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B9D931A7-B1A2-4449-AE5B-EF75AB80D7AB}"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bg>
      <p:bgPr>
        <a:solidFill>
          <a:srgbClr val="FFFFFF"/>
        </a:solidFill>
      </p:bgPr>
    </p:bg>
    <p:spTree>
      <p:nvGrpSpPr>
        <p:cNvPr id="1" name=""/>
        <p:cNvGrpSpPr/>
        <p:nvPr/>
      </p:nvGrpSpPr>
      <p:grpSpPr>
        <a:xfrm>
          <a:off x="0" y="0"/>
          <a:ext cx="0" cy="0"/>
          <a:chOff x="0" y="0"/>
          <a:chExt cx="0" cy="0"/>
        </a:xfrm>
      </p:grpSpPr>
      <p:sp>
        <p:nvSpPr>
          <p:cNvPr id="38" name="PlaceHolder 1"/>
          <p:cNvSpPr>
            <a:spLocks noGrp="1"/>
          </p:cNvSpPr>
          <p:nvPr>
            <p:ph type="title"/>
          </p:nvPr>
        </p:nvSpPr>
        <p:spPr>
          <a:xfrm>
            <a:off x="722160" y="4406760"/>
            <a:ext cx="7771680" cy="1361520"/>
          </a:xfrm>
          <a:prstGeom prst="rect">
            <a:avLst/>
          </a:prstGeom>
          <a:noFill/>
          <a:ln w="0">
            <a:noFill/>
          </a:ln>
        </p:spPr>
        <p:txBody>
          <a:bodyPr lIns="91440" tIns="45720" rIns="91440" bIns="45720" anchor="t">
            <a:noAutofit/>
          </a:bodyPr>
          <a:lstStyle>
            <a:lvl1pPr indent="0" algn="l" defTabSz="457200">
              <a:lnSpc>
                <a:spcPct val="100000"/>
              </a:lnSpc>
              <a:buNone/>
              <a:tabLst>
                <a:tab pos="0" algn="l"/>
              </a:tabLst>
              <a:defRPr lang="en-US" sz="4000" b="1" u="none" strike="noStrike" cap="all">
                <a:solidFill>
                  <a:schemeClr val="dk1"/>
                </a:solidFill>
                <a:effectLst/>
                <a:uFillTx/>
                <a:latin typeface="Calibri"/>
              </a:defRPr>
            </a:lvl1pPr>
          </a:lstStyle>
          <a:p>
            <a:pPr indent="0" algn="l" defTabSz="457200">
              <a:lnSpc>
                <a:spcPct val="100000"/>
              </a:lnSpc>
              <a:buNone/>
              <a:tabLst>
                <a:tab pos="0" algn="l"/>
              </a:tabLst>
            </a:pPr>
            <a:r>
              <a:rPr lang="en-US" sz="4000" b="1" u="none" strike="noStrike" cap="all">
                <a:solidFill>
                  <a:schemeClr val="dk1"/>
                </a:solidFill>
                <a:effectLst/>
                <a:uFillTx/>
                <a:latin typeface="Calibri"/>
              </a:rPr>
              <a:t>Click to edit Master title style</a:t>
            </a:r>
            <a:endParaRPr lang="en-US" sz="4000" b="1" u="none" strike="noStrike" cap="all">
              <a:solidFill>
                <a:schemeClr val="dk1"/>
              </a:solidFill>
              <a:effectLst/>
              <a:uFillTx/>
              <a:latin typeface="Calibri"/>
            </a:endParaRPr>
          </a:p>
        </p:txBody>
      </p:sp>
      <p:sp>
        <p:nvSpPr>
          <p:cNvPr id="39" name="PlaceHolder 2"/>
          <p:cNvSpPr>
            <a:spLocks noGrp="1"/>
          </p:cNvSpPr>
          <p:nvPr>
            <p:ph type="body"/>
          </p:nvPr>
        </p:nvSpPr>
        <p:spPr>
          <a:xfrm>
            <a:off x="722160" y="2906640"/>
            <a:ext cx="7771680" cy="1499400"/>
          </a:xfrm>
          <a:prstGeom prst="rect">
            <a:avLst/>
          </a:prstGeom>
          <a:noFill/>
          <a:ln w="0">
            <a:noFill/>
          </a:ln>
        </p:spPr>
        <p:txBody>
          <a:bodyPr lIns="91440" tIns="45720" rIns="91440" bIns="45720" anchor="b">
            <a:noAutofit/>
          </a:bodyPr>
          <a:lstStyle>
            <a:lvl1pPr indent="0" algn="l" defTabSz="457200">
              <a:lnSpc>
                <a:spcPct val="100000"/>
              </a:lnSpc>
              <a:spcBef>
                <a:spcPts val="400"/>
              </a:spcBef>
              <a:buNone/>
              <a:tabLst>
                <a:tab pos="0" algn="l"/>
              </a:tabLst>
              <a:defRPr lang="en-US" sz="2000" b="0" u="none" strike="noStrike">
                <a:solidFill>
                  <a:schemeClr val="dk1">
                    <a:tint val="75000"/>
                  </a:schemeClr>
                </a:solidFill>
                <a:effectLst/>
                <a:uFillTx/>
                <a:latin typeface="Calibri"/>
              </a:defRPr>
            </a:lvl1pPr>
          </a:lstStyle>
          <a:p>
            <a:pPr indent="0" algn="l" defTabSz="457200">
              <a:lnSpc>
                <a:spcPct val="100000"/>
              </a:lnSpc>
              <a:spcBef>
                <a:spcPts val="400"/>
              </a:spcBef>
              <a:buNone/>
              <a:tabLst>
                <a:tab pos="0" algn="l"/>
              </a:tabLst>
            </a:pPr>
            <a:r>
              <a:rPr lang="en-US" sz="2000" b="0" u="none" strike="noStrike">
                <a:solidFill>
                  <a:schemeClr val="dk1">
                    <a:tint val="75000"/>
                  </a:schemeClr>
                </a:solidFill>
                <a:effectLst/>
                <a:uFillTx/>
                <a:latin typeface="Calibri"/>
              </a:rPr>
              <a:t>Click to edit Master text styles</a:t>
            </a:r>
            <a:endParaRPr lang="en-US" sz="2000" b="0" u="none" strike="noStrike">
              <a:solidFill>
                <a:schemeClr val="dk1">
                  <a:tint val="75000"/>
                </a:schemeClr>
              </a:solidFill>
              <a:effectLst/>
              <a:uFillTx/>
              <a:latin typeface="Calibri"/>
            </a:endParaRPr>
          </a:p>
        </p:txBody>
      </p:sp>
      <p:sp>
        <p:nvSpPr>
          <p:cNvPr id="40" name="PlaceHolder 3"/>
          <p:cNvSpPr>
            <a:spLocks noGrp="1"/>
          </p:cNvSpPr>
          <p:nvPr>
            <p:ph type="dt" idx="22"/>
          </p:nvPr>
        </p:nvSpPr>
        <p:spPr>
          <a:xfrm>
            <a:off x="457200" y="6356520"/>
            <a:ext cx="2133000" cy="36432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1" name="PlaceHolder 4"/>
          <p:cNvSpPr>
            <a:spLocks noGrp="1"/>
          </p:cNvSpPr>
          <p:nvPr>
            <p:ph type="ftr" idx="23"/>
          </p:nvPr>
        </p:nvSpPr>
        <p:spPr>
          <a:xfrm>
            <a:off x="3124080" y="6356520"/>
            <a:ext cx="289476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42" name="PlaceHolder 5"/>
          <p:cNvSpPr>
            <a:spLocks noGrp="1"/>
          </p:cNvSpPr>
          <p:nvPr>
            <p:ph type="sldNum" idx="24"/>
          </p:nvPr>
        </p:nvSpPr>
        <p:spPr>
          <a:xfrm>
            <a:off x="6553080" y="6356520"/>
            <a:ext cx="213300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A62514D5-D46B-44EE-9D9D-F5C275EA48E7}"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bg>
      <p:bgPr>
        <a:solidFill>
          <a:srgbClr val="FFFFFF"/>
        </a:solidFill>
      </p:bgPr>
    </p:bg>
    <p:spTree>
      <p:nvGrpSpPr>
        <p:cNvPr id="1" name=""/>
        <p:cNvGrpSpPr/>
        <p:nvPr/>
      </p:nvGrpSpPr>
      <p:grpSpPr>
        <a:xfrm>
          <a:off x="0" y="0"/>
          <a:ext cx="0" cy="0"/>
          <a:chOff x="0" y="0"/>
          <a:chExt cx="0" cy="0"/>
        </a:xfrm>
      </p:grpSpPr>
      <p:sp>
        <p:nvSpPr>
          <p:cNvPr id="43" name="PlaceHolder 1"/>
          <p:cNvSpPr>
            <a:spLocks noGrp="1"/>
          </p:cNvSpPr>
          <p:nvPr>
            <p:ph type="title"/>
          </p:nvPr>
        </p:nvSpPr>
        <p:spPr>
          <a:xfrm>
            <a:off x="457200" y="274680"/>
            <a:ext cx="8228880" cy="114228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en-US" sz="4400" b="0" u="none" strike="noStrike">
                <a:solidFill>
                  <a:schemeClr val="dk1"/>
                </a:solidFill>
                <a:effectLst/>
                <a:uFillTx/>
                <a:latin typeface="Calibri"/>
              </a:defRPr>
            </a:lvl1pPr>
          </a:lstStyle>
          <a:p>
            <a:pPr indent="0" algn="ctr" defTabSz="457200">
              <a:lnSpc>
                <a:spcPct val="100000"/>
              </a:lnSpc>
              <a:buNone/>
              <a:tabLst>
                <a:tab pos="0" algn="l"/>
              </a:tabLst>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44" name="PlaceHolder 2"/>
          <p:cNvSpPr>
            <a:spLocks noGrp="1"/>
          </p:cNvSpPr>
          <p:nvPr>
            <p:ph type="body"/>
          </p:nvPr>
        </p:nvSpPr>
        <p:spPr>
          <a:xfrm>
            <a:off x="457200" y="1600200"/>
            <a:ext cx="4037760" cy="452520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chemeClr val="dk1"/>
              </a:solidFill>
              <a:effectLst/>
              <a:uFillTx/>
              <a:latin typeface="Calibri"/>
            </a:endParaRP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chemeClr val="dk1"/>
              </a:solidFill>
              <a:effectLst/>
              <a:uFillTx/>
              <a:latin typeface="Calibri"/>
            </a:endParaRP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chemeClr val="dk1"/>
              </a:solidFill>
              <a:effectLst/>
              <a:uFillTx/>
              <a:latin typeface="Calibri"/>
            </a:endParaRP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chemeClr val="dk1"/>
              </a:solidFill>
              <a:effectLst/>
              <a:uFillTx/>
              <a:latin typeface="Calibri"/>
            </a:endParaRP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chemeClr val="dk1"/>
              </a:solidFill>
              <a:effectLst/>
              <a:uFillTx/>
              <a:latin typeface="Calibri"/>
            </a:endParaRPr>
          </a:p>
        </p:txBody>
      </p:sp>
      <p:sp>
        <p:nvSpPr>
          <p:cNvPr id="45" name="PlaceHolder 3"/>
          <p:cNvSpPr>
            <a:spLocks noGrp="1"/>
          </p:cNvSpPr>
          <p:nvPr>
            <p:ph type="body"/>
          </p:nvPr>
        </p:nvSpPr>
        <p:spPr>
          <a:xfrm>
            <a:off x="4648320" y="1600200"/>
            <a:ext cx="4037760" cy="452520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chemeClr val="dk1"/>
              </a:solidFill>
              <a:effectLst/>
              <a:uFillTx/>
              <a:latin typeface="Calibri"/>
            </a:endParaRP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chemeClr val="dk1"/>
              </a:solidFill>
              <a:effectLst/>
              <a:uFillTx/>
              <a:latin typeface="Calibri"/>
            </a:endParaRP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chemeClr val="dk1"/>
              </a:solidFill>
              <a:effectLst/>
              <a:uFillTx/>
              <a:latin typeface="Calibri"/>
            </a:endParaRP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chemeClr val="dk1"/>
              </a:solidFill>
              <a:effectLst/>
              <a:uFillTx/>
              <a:latin typeface="Calibri"/>
            </a:endParaRP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chemeClr val="dk1"/>
              </a:solidFill>
              <a:effectLst/>
              <a:uFillTx/>
              <a:latin typeface="Calibri"/>
            </a:endParaRPr>
          </a:p>
        </p:txBody>
      </p:sp>
      <p:sp>
        <p:nvSpPr>
          <p:cNvPr id="46" name="PlaceHolder 4"/>
          <p:cNvSpPr>
            <a:spLocks noGrp="1"/>
          </p:cNvSpPr>
          <p:nvPr>
            <p:ph type="dt" idx="25"/>
          </p:nvPr>
        </p:nvSpPr>
        <p:spPr>
          <a:xfrm>
            <a:off x="457200" y="6356520"/>
            <a:ext cx="2133000" cy="36432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7" name="PlaceHolder 5"/>
          <p:cNvSpPr>
            <a:spLocks noGrp="1"/>
          </p:cNvSpPr>
          <p:nvPr>
            <p:ph type="ftr" idx="26"/>
          </p:nvPr>
        </p:nvSpPr>
        <p:spPr>
          <a:xfrm>
            <a:off x="3124080" y="6356520"/>
            <a:ext cx="289476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48" name="PlaceHolder 6"/>
          <p:cNvSpPr>
            <a:spLocks noGrp="1"/>
          </p:cNvSpPr>
          <p:nvPr>
            <p:ph type="sldNum" idx="27"/>
          </p:nvPr>
        </p:nvSpPr>
        <p:spPr>
          <a:xfrm>
            <a:off x="6553080" y="6356520"/>
            <a:ext cx="213300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AFC37754-D971-4645-B1B9-A872207D82C2}"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bg>
      <p:bgPr>
        <a:solidFill>
          <a:srgbClr val="FFFFFF"/>
        </a:solidFill>
      </p:bgPr>
    </p:bg>
    <p:spTree>
      <p:nvGrpSpPr>
        <p:cNvPr id="1" name=""/>
        <p:cNvGrpSpPr/>
        <p:nvPr/>
      </p:nvGrpSpPr>
      <p:grpSpPr>
        <a:xfrm>
          <a:off x="0" y="0"/>
          <a:ext cx="0" cy="0"/>
          <a:chOff x="0" y="0"/>
          <a:chExt cx="0" cy="0"/>
        </a:xfrm>
      </p:grpSpPr>
      <p:sp>
        <p:nvSpPr>
          <p:cNvPr id="49" name="PlaceHolder 1"/>
          <p:cNvSpPr>
            <a:spLocks noGrp="1"/>
          </p:cNvSpPr>
          <p:nvPr>
            <p:ph type="title"/>
          </p:nvPr>
        </p:nvSpPr>
        <p:spPr>
          <a:xfrm>
            <a:off x="457200" y="274680"/>
            <a:ext cx="8228880" cy="114228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en-US" sz="4400" b="0" u="none" strike="noStrike">
                <a:solidFill>
                  <a:schemeClr val="dk1"/>
                </a:solidFill>
                <a:effectLst/>
                <a:uFillTx/>
                <a:latin typeface="Calibri"/>
              </a:defRPr>
            </a:lvl1pPr>
          </a:lstStyle>
          <a:p>
            <a:pPr indent="0" algn="ctr" defTabSz="457200">
              <a:lnSpc>
                <a:spcPct val="100000"/>
              </a:lnSpc>
              <a:buNone/>
              <a:tabLst>
                <a:tab pos="0" algn="l"/>
              </a:tabLst>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50" name="PlaceHolder 2"/>
          <p:cNvSpPr>
            <a:spLocks noGrp="1"/>
          </p:cNvSpPr>
          <p:nvPr>
            <p:ph type="body"/>
          </p:nvPr>
        </p:nvSpPr>
        <p:spPr>
          <a:xfrm>
            <a:off x="457200" y="1535040"/>
            <a:ext cx="4039560" cy="63900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51" name="PlaceHolder 3"/>
          <p:cNvSpPr>
            <a:spLocks noGrp="1"/>
          </p:cNvSpPr>
          <p:nvPr>
            <p:ph type="body"/>
          </p:nvPr>
        </p:nvSpPr>
        <p:spPr>
          <a:xfrm>
            <a:off x="457200" y="2174760"/>
            <a:ext cx="4039560" cy="395064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endParaRPr lang="en-US" sz="2000" b="0" u="none" strike="noStrike">
              <a:solidFill>
                <a:schemeClr val="dk1"/>
              </a:solidFill>
              <a:effectLst/>
              <a:uFillTx/>
              <a:latin typeface="Calibri"/>
            </a:endParaRP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endParaRPr lang="en-US" sz="1800" b="0" u="none" strike="noStrike">
              <a:solidFill>
                <a:schemeClr val="dk1"/>
              </a:solidFill>
              <a:effectLst/>
              <a:uFillTx/>
              <a:latin typeface="Calibri"/>
            </a:endParaRP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endParaRPr lang="en-US" sz="1600" b="0" u="none" strike="noStrike">
              <a:solidFill>
                <a:schemeClr val="dk1"/>
              </a:solidFill>
              <a:effectLst/>
              <a:uFillTx/>
              <a:latin typeface="Calibri"/>
            </a:endParaRP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endParaRPr lang="en-US" sz="1600" b="0" u="none" strike="noStrike">
              <a:solidFill>
                <a:schemeClr val="dk1"/>
              </a:solidFill>
              <a:effectLst/>
              <a:uFillTx/>
              <a:latin typeface="Calibri"/>
            </a:endParaRPr>
          </a:p>
        </p:txBody>
      </p:sp>
      <p:sp>
        <p:nvSpPr>
          <p:cNvPr id="52" name="PlaceHolder 4"/>
          <p:cNvSpPr>
            <a:spLocks noGrp="1"/>
          </p:cNvSpPr>
          <p:nvPr>
            <p:ph type="body"/>
          </p:nvPr>
        </p:nvSpPr>
        <p:spPr>
          <a:xfrm>
            <a:off x="4645080" y="1535040"/>
            <a:ext cx="4041000" cy="63900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53" name="PlaceHolder 5"/>
          <p:cNvSpPr>
            <a:spLocks noGrp="1"/>
          </p:cNvSpPr>
          <p:nvPr>
            <p:ph type="body"/>
          </p:nvPr>
        </p:nvSpPr>
        <p:spPr>
          <a:xfrm>
            <a:off x="4645080" y="2174760"/>
            <a:ext cx="4041000" cy="395064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endParaRPr lang="en-US" sz="2000" b="0" u="none" strike="noStrike">
              <a:solidFill>
                <a:schemeClr val="dk1"/>
              </a:solidFill>
              <a:effectLst/>
              <a:uFillTx/>
              <a:latin typeface="Calibri"/>
            </a:endParaRP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endParaRPr lang="en-US" sz="1800" b="0" u="none" strike="noStrike">
              <a:solidFill>
                <a:schemeClr val="dk1"/>
              </a:solidFill>
              <a:effectLst/>
              <a:uFillTx/>
              <a:latin typeface="Calibri"/>
            </a:endParaRP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endParaRPr lang="en-US" sz="1600" b="0" u="none" strike="noStrike">
              <a:solidFill>
                <a:schemeClr val="dk1"/>
              </a:solidFill>
              <a:effectLst/>
              <a:uFillTx/>
              <a:latin typeface="Calibri"/>
            </a:endParaRP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endParaRPr lang="en-US" sz="1600" b="0" u="none" strike="noStrike">
              <a:solidFill>
                <a:schemeClr val="dk1"/>
              </a:solidFill>
              <a:effectLst/>
              <a:uFillTx/>
              <a:latin typeface="Calibri"/>
            </a:endParaRPr>
          </a:p>
        </p:txBody>
      </p:sp>
      <p:sp>
        <p:nvSpPr>
          <p:cNvPr id="54" name="PlaceHolder 6"/>
          <p:cNvSpPr>
            <a:spLocks noGrp="1"/>
          </p:cNvSpPr>
          <p:nvPr>
            <p:ph type="dt" idx="28"/>
          </p:nvPr>
        </p:nvSpPr>
        <p:spPr>
          <a:xfrm>
            <a:off x="457200" y="6356520"/>
            <a:ext cx="2133000" cy="36432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55" name="PlaceHolder 7"/>
          <p:cNvSpPr>
            <a:spLocks noGrp="1"/>
          </p:cNvSpPr>
          <p:nvPr>
            <p:ph type="ftr" idx="29"/>
          </p:nvPr>
        </p:nvSpPr>
        <p:spPr>
          <a:xfrm>
            <a:off x="3124080" y="6356520"/>
            <a:ext cx="289476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56" name="PlaceHolder 8"/>
          <p:cNvSpPr>
            <a:spLocks noGrp="1"/>
          </p:cNvSpPr>
          <p:nvPr>
            <p:ph type="sldNum" idx="30"/>
          </p:nvPr>
        </p:nvSpPr>
        <p:spPr>
          <a:xfrm>
            <a:off x="6553080" y="6356520"/>
            <a:ext cx="213300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61EECFC7-EC0A-4B9B-B1B6-F071E865C18A}"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bg>
      <p:bgPr>
        <a:solidFill>
          <a:srgbClr val="FFFFFF"/>
        </a:solidFill>
      </p:bgPr>
    </p:bg>
    <p:spTree>
      <p:nvGrpSpPr>
        <p:cNvPr id="1" name=""/>
        <p:cNvGrpSpPr/>
        <p:nvPr/>
      </p:nvGrpSpPr>
      <p:grpSpPr>
        <a:xfrm>
          <a:off x="0" y="0"/>
          <a:ext cx="0" cy="0"/>
          <a:chOff x="0" y="0"/>
          <a:chExt cx="0" cy="0"/>
        </a:xfrm>
      </p:grpSpPr>
      <p:sp>
        <p:nvSpPr>
          <p:cNvPr id="57" name="PlaceHolder 1"/>
          <p:cNvSpPr>
            <a:spLocks noGrp="1"/>
          </p:cNvSpPr>
          <p:nvPr>
            <p:ph type="title"/>
          </p:nvPr>
        </p:nvSpPr>
        <p:spPr>
          <a:xfrm>
            <a:off x="457200" y="274680"/>
            <a:ext cx="8228880" cy="114228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en-US" sz="4400" b="0" u="none" strike="noStrike">
                <a:solidFill>
                  <a:schemeClr val="dk1"/>
                </a:solidFill>
                <a:effectLst/>
                <a:uFillTx/>
                <a:latin typeface="Calibri"/>
              </a:defRPr>
            </a:lvl1pPr>
          </a:lstStyle>
          <a:p>
            <a:pPr indent="0" algn="ctr" defTabSz="457200">
              <a:lnSpc>
                <a:spcPct val="100000"/>
              </a:lnSpc>
              <a:buNone/>
              <a:tabLst>
                <a:tab pos="0" algn="l"/>
              </a:tabLst>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58" name="PlaceHolder 2"/>
          <p:cNvSpPr>
            <a:spLocks noGrp="1"/>
          </p:cNvSpPr>
          <p:nvPr>
            <p:ph type="dt" idx="31"/>
          </p:nvPr>
        </p:nvSpPr>
        <p:spPr>
          <a:xfrm>
            <a:off x="457200" y="6356520"/>
            <a:ext cx="2133000" cy="36432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59" name="PlaceHolder 3"/>
          <p:cNvSpPr>
            <a:spLocks noGrp="1"/>
          </p:cNvSpPr>
          <p:nvPr>
            <p:ph type="ftr" idx="32"/>
          </p:nvPr>
        </p:nvSpPr>
        <p:spPr>
          <a:xfrm>
            <a:off x="3124080" y="6356520"/>
            <a:ext cx="289476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60" name="PlaceHolder 4"/>
          <p:cNvSpPr>
            <a:spLocks noGrp="1"/>
          </p:cNvSpPr>
          <p:nvPr>
            <p:ph type="sldNum" idx="33"/>
          </p:nvPr>
        </p:nvSpPr>
        <p:spPr>
          <a:xfrm>
            <a:off x="6553080" y="6356520"/>
            <a:ext cx="213300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7E1463B3-0863-4B7C-9559-76B517067A8F}"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 Id="rId3"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Relationship Id="rId3"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Relationship Id="rId3"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xml"/><Relationship Id="rId3"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1.xml"/><Relationship Id="rId3"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1.xml"/><Relationship Id="rId3" Type="http://schemas.openxmlformats.org/officeDocument/2006/relationships/notesSlide" Target="../notesSlides/notesSlide26.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1.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CFB"/>
        </a:solidFill>
      </p:bgPr>
    </p:bg>
    <p:spTree>
      <p:nvGrpSpPr>
        <p:cNvPr id="1" name=""/>
        <p:cNvGrpSpPr/>
        <p:nvPr/>
      </p:nvGrpSpPr>
      <p:grpSpPr>
        <a:xfrm>
          <a:off x="0" y="0"/>
          <a:ext cx="0" cy="0"/>
          <a:chOff x="0" y="0"/>
          <a:chExt cx="0" cy="0"/>
        </a:xfrm>
      </p:grpSpPr>
      <p:sp>
        <p:nvSpPr>
          <p:cNvPr id="67" name="Rectangle 1"/>
          <p:cNvSpPr/>
          <p:nvPr/>
        </p:nvSpPr>
        <p:spPr>
          <a:xfrm>
            <a:off x="0" y="0"/>
            <a:ext cx="163800" cy="6857280"/>
          </a:xfrm>
          <a:prstGeom prst="rect">
            <a:avLst/>
          </a:prstGeom>
          <a:solidFill>
            <a:srgbClr val="2A78D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82080" tIns="45000" rIns="82080" bIns="45000" anchor="ctr">
            <a:noAutofit/>
          </a:bodyPr>
          <a:p>
            <a:endParaRPr lang="en-US" sz="1800" b="0" u="none" strike="noStrike">
              <a:solidFill>
                <a:schemeClr val="lt1"/>
              </a:solidFill>
              <a:effectLst/>
              <a:uFillTx/>
              <a:latin typeface="Calibri"/>
            </a:endParaRPr>
          </a:p>
        </p:txBody>
      </p:sp>
      <p:sp>
        <p:nvSpPr>
          <p:cNvPr id="68" name="TextBox 2"/>
          <p:cNvSpPr/>
          <p:nvPr/>
        </p:nvSpPr>
        <p:spPr>
          <a:xfrm>
            <a:off x="868680" y="1874520"/>
            <a:ext cx="10514880" cy="913680"/>
          </a:xfrm>
          <a:prstGeom prst="rect">
            <a:avLst/>
          </a:prstGeom>
          <a:noFill/>
          <a:ln w="0">
            <a:noFill/>
          </a:ln>
        </p:spPr>
        <p:style>
          <a:lnRef idx="0"/>
          <a:fillRef idx="0"/>
          <a:effectRef idx="0"/>
          <a:fontRef idx="minor"/>
        </p:style>
        <p:txBody>
          <a:bodyPr lIns="0" tIns="0" rIns="0" bIns="0" anchor="t">
            <a:spAutoFit/>
          </a:bodyPr>
          <a:p>
            <a:pPr defTabSz="457200">
              <a:lnSpc>
                <a:spcPct val="125000"/>
              </a:lnSpc>
              <a:spcAft>
                <a:spcPts val="601"/>
              </a:spcAft>
            </a:pPr>
            <a:r>
              <a:rPr lang="en-US" sz="5800" b="1" u="none" strike="noStrike">
                <a:solidFill>
                  <a:srgbClr val="16181A"/>
                </a:solidFill>
                <a:effectLst/>
                <a:uFillTx/>
                <a:latin typeface="Arial"/>
              </a:rPr>
              <a:t>PARITY</a:t>
            </a:r>
            <a:endParaRPr lang="en-US" sz="5800" b="0" u="none" strike="noStrike">
              <a:solidFill>
                <a:srgbClr val="000000"/>
              </a:solidFill>
              <a:effectLst/>
              <a:uFillTx/>
              <a:latin typeface="Arial"/>
            </a:endParaRPr>
          </a:p>
        </p:txBody>
      </p:sp>
      <p:sp>
        <p:nvSpPr>
          <p:cNvPr id="69" name="TextBox 3"/>
          <p:cNvSpPr/>
          <p:nvPr/>
        </p:nvSpPr>
        <p:spPr>
          <a:xfrm>
            <a:off x="868680" y="2880360"/>
            <a:ext cx="10057680" cy="822240"/>
          </a:xfrm>
          <a:prstGeom prst="rect">
            <a:avLst/>
          </a:prstGeom>
          <a:noFill/>
          <a:ln w="0">
            <a:noFill/>
          </a:ln>
        </p:spPr>
        <p:style>
          <a:lnRef idx="0"/>
          <a:fillRef idx="0"/>
          <a:effectRef idx="0"/>
          <a:fontRef idx="minor"/>
        </p:style>
        <p:txBody>
          <a:bodyPr lIns="0" tIns="0" rIns="0" bIns="0" anchor="t">
            <a:spAutoFit/>
          </a:bodyPr>
          <a:p>
            <a:pPr defTabSz="457200">
              <a:lnSpc>
                <a:spcPct val="135000"/>
              </a:lnSpc>
              <a:spcAft>
                <a:spcPts val="601"/>
              </a:spcAft>
            </a:pPr>
            <a:r>
              <a:rPr lang="en-US" sz="2100" b="0" u="none" strike="noStrike">
                <a:solidFill>
                  <a:srgbClr val="6B7178"/>
                </a:solidFill>
                <a:effectLst/>
                <a:uFillTx/>
                <a:latin typeface="Arial"/>
              </a:rPr>
              <a:t>An Adaptive Horror Game Driven by</a:t>
            </a:r>
            <a:endParaRPr lang="en-US" sz="2100" b="0" u="none" strike="noStrike">
              <a:solidFill>
                <a:srgbClr val="000000"/>
              </a:solidFill>
              <a:effectLst/>
              <a:uFillTx/>
              <a:latin typeface="Arial"/>
            </a:endParaRPr>
          </a:p>
          <a:p>
            <a:pPr defTabSz="457200">
              <a:lnSpc>
                <a:spcPct val="135000"/>
              </a:lnSpc>
              <a:spcAft>
                <a:spcPts val="601"/>
              </a:spcAft>
            </a:pPr>
            <a:r>
              <a:rPr lang="en-US" sz="2100" b="0" u="none" strike="noStrike">
                <a:solidFill>
                  <a:srgbClr val="6B7178"/>
                </a:solidFill>
                <a:effectLst/>
                <a:uFillTx/>
                <a:latin typeface="Arial"/>
              </a:rPr>
              <a:t>Online Player-Trajectory Prediction</a:t>
            </a:r>
            <a:endParaRPr lang="en-US" sz="2100" b="0" u="none" strike="noStrike">
              <a:solidFill>
                <a:srgbClr val="000000"/>
              </a:solidFill>
              <a:effectLst/>
              <a:uFillTx/>
              <a:latin typeface="Arial"/>
            </a:endParaRPr>
          </a:p>
        </p:txBody>
      </p:sp>
      <p:sp>
        <p:nvSpPr>
          <p:cNvPr id="70" name="Rectangle 4"/>
          <p:cNvSpPr/>
          <p:nvPr/>
        </p:nvSpPr>
        <p:spPr>
          <a:xfrm>
            <a:off x="896040" y="3977640"/>
            <a:ext cx="2193840" cy="26640"/>
          </a:xfrm>
          <a:prstGeom prst="rect">
            <a:avLst/>
          </a:prstGeom>
          <a:solidFill>
            <a:srgbClr val="2A78D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17640" rIns="90000" bIns="-17640" anchor="ctr">
            <a:noAutofit/>
          </a:bodyPr>
          <a:p>
            <a:endParaRPr lang="en-US" sz="1800" b="0" u="none" strike="noStrike">
              <a:solidFill>
                <a:schemeClr val="lt1"/>
              </a:solidFill>
              <a:effectLst/>
              <a:uFillTx/>
              <a:latin typeface="Calibri"/>
            </a:endParaRPr>
          </a:p>
        </p:txBody>
      </p:sp>
      <p:sp>
        <p:nvSpPr>
          <p:cNvPr id="71" name="TextBox 5"/>
          <p:cNvSpPr/>
          <p:nvPr/>
        </p:nvSpPr>
        <p:spPr>
          <a:xfrm>
            <a:off x="868680" y="4260960"/>
            <a:ext cx="10057680" cy="1418040"/>
          </a:xfrm>
          <a:prstGeom prst="rect">
            <a:avLst/>
          </a:prstGeom>
          <a:noFill/>
          <a:ln w="0">
            <a:noFill/>
          </a:ln>
        </p:spPr>
        <p:style>
          <a:lnRef idx="0"/>
          <a:fillRef idx="0"/>
          <a:effectRef idx="0"/>
          <a:fontRef idx="minor"/>
        </p:style>
        <p:txBody>
          <a:bodyPr lIns="0" tIns="0" rIns="0" bIns="0" anchor="t">
            <a:spAutoFit/>
          </a:bodyPr>
          <a:p>
            <a:pPr defTabSz="457200">
              <a:lnSpc>
                <a:spcPct val="150000"/>
              </a:lnSpc>
              <a:spcAft>
                <a:spcPts val="601"/>
              </a:spcAft>
            </a:pPr>
            <a:r>
              <a:rPr lang="en-US" sz="1300" b="0" u="none" strike="noStrike">
                <a:solidFill>
                  <a:srgbClr val="6B7178"/>
                </a:solidFill>
                <a:effectLst/>
                <a:uFillTx/>
                <a:latin typeface="Arial"/>
              </a:rPr>
              <a:t>Shivam Kumar Arya 23BRS1357</a:t>
            </a:r>
            <a:endParaRPr lang="en-US" sz="1300" b="0" u="none" strike="noStrike">
              <a:solidFill>
                <a:srgbClr val="000000"/>
              </a:solidFill>
              <a:effectLst/>
              <a:uFillTx/>
              <a:latin typeface="Arial"/>
            </a:endParaRPr>
          </a:p>
          <a:p>
            <a:pPr defTabSz="457200">
              <a:lnSpc>
                <a:spcPct val="150000"/>
              </a:lnSpc>
              <a:spcAft>
                <a:spcPts val="601"/>
              </a:spcAft>
            </a:pPr>
            <a:r>
              <a:rPr lang="en-US" sz="1300" b="0" u="none" strike="noStrike">
                <a:solidFill>
                  <a:srgbClr val="6B7178"/>
                </a:solidFill>
                <a:effectLst/>
                <a:uFillTx/>
                <a:latin typeface="Arial"/>
              </a:rPr>
              <a:t>Parth Jaiswal 23BRS1323</a:t>
            </a:r>
            <a:endParaRPr lang="en-US" sz="1300" b="0" u="none" strike="noStrike">
              <a:solidFill>
                <a:srgbClr val="000000"/>
              </a:solidFill>
              <a:effectLst/>
              <a:uFillTx/>
              <a:latin typeface="Arial"/>
            </a:endParaRPr>
          </a:p>
          <a:p>
            <a:pPr defTabSz="457200">
              <a:lnSpc>
                <a:spcPct val="150000"/>
              </a:lnSpc>
              <a:spcAft>
                <a:spcPts val="601"/>
              </a:spcAft>
            </a:pPr>
            <a:r>
              <a:rPr lang="en-US" sz="1300" b="0" u="none" strike="noStrike">
                <a:solidFill>
                  <a:srgbClr val="6B7178"/>
                </a:solidFill>
                <a:effectLst/>
                <a:uFillTx/>
                <a:latin typeface="Arial"/>
              </a:rPr>
              <a:t>Arkodeep mukhopahpay 23BRS1385</a:t>
            </a:r>
            <a:endParaRPr lang="en-US" sz="1300" b="0" u="none" strike="noStrike">
              <a:solidFill>
                <a:srgbClr val="000000"/>
              </a:solidFill>
              <a:effectLst/>
              <a:uFillTx/>
              <a:latin typeface="Arial"/>
            </a:endParaRPr>
          </a:p>
          <a:p>
            <a:pPr defTabSz="457200">
              <a:lnSpc>
                <a:spcPct val="150000"/>
              </a:lnSpc>
              <a:spcAft>
                <a:spcPts val="601"/>
              </a:spcAft>
            </a:pPr>
            <a:r>
              <a:rPr lang="en-US" sz="1300" b="0" u="none" strike="noStrike">
                <a:solidFill>
                  <a:srgbClr val="6B7178"/>
                </a:solidFill>
                <a:effectLst/>
                <a:uFillTx/>
                <a:latin typeface="Arial"/>
              </a:rPr>
              <a:t>Vellore Institute of Technology  ·  Project Review  ·  18 August 2026</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CFB"/>
        </a:solidFill>
      </p:bgPr>
    </p:bg>
    <p:spTree>
      <p:nvGrpSpPr>
        <p:cNvPr id="1" name=""/>
        <p:cNvGrpSpPr/>
        <p:nvPr/>
      </p:nvGrpSpPr>
      <p:grpSpPr>
        <a:xfrm>
          <a:off x="0" y="0"/>
          <a:ext cx="0" cy="0"/>
          <a:chOff x="0" y="0"/>
          <a:chExt cx="0" cy="0"/>
        </a:xfrm>
      </p:grpSpPr>
      <p:sp>
        <p:nvSpPr>
          <p:cNvPr id="72" name="TextBox 1"/>
          <p:cNvSpPr/>
          <p:nvPr/>
        </p:nvSpPr>
        <p:spPr>
          <a:xfrm>
            <a:off x="658440" y="420480"/>
            <a:ext cx="10880640" cy="273600"/>
          </a:xfrm>
          <a:prstGeom prst="rect">
            <a:avLst/>
          </a:prstGeom>
          <a:noFill/>
          <a:ln w="0">
            <a:noFill/>
          </a:ln>
        </p:spPr>
        <p:style>
          <a:lnRef idx="0"/>
          <a:fillRef idx="0"/>
          <a:effectRef idx="0"/>
          <a:fontRef idx="minor"/>
        </p:style>
        <p:txBody>
          <a:bodyPr lIns="0" tIns="0" rIns="0" bIns="0" anchor="t">
            <a:spAutoFit/>
          </a:bodyPr>
          <a:p>
            <a:pPr defTabSz="457200">
              <a:lnSpc>
                <a:spcPct val="125000"/>
              </a:lnSpc>
              <a:spcAft>
                <a:spcPts val="601"/>
              </a:spcAft>
            </a:pPr>
            <a:r>
              <a:rPr lang="en-US" sz="1050" b="1" u="none" strike="noStrike">
                <a:solidFill>
                  <a:srgbClr val="2A78D6"/>
                </a:solidFill>
                <a:effectLst/>
                <a:uFillTx/>
                <a:latin typeface="Arial"/>
              </a:rPr>
              <a:t>WHAT THIS REVIEW COVERS</a:t>
            </a:r>
            <a:endParaRPr lang="en-US" sz="1050" b="0" u="none" strike="noStrike">
              <a:solidFill>
                <a:srgbClr val="000000"/>
              </a:solidFill>
              <a:effectLst/>
              <a:uFillTx/>
              <a:latin typeface="Arial"/>
            </a:endParaRPr>
          </a:p>
        </p:txBody>
      </p:sp>
      <p:sp>
        <p:nvSpPr>
          <p:cNvPr id="73" name="TextBox 2"/>
          <p:cNvSpPr/>
          <p:nvPr/>
        </p:nvSpPr>
        <p:spPr>
          <a:xfrm>
            <a:off x="658440" y="749880"/>
            <a:ext cx="10880640" cy="822240"/>
          </a:xfrm>
          <a:prstGeom prst="rect">
            <a:avLst/>
          </a:prstGeom>
          <a:noFill/>
          <a:ln w="0">
            <a:noFill/>
          </a:ln>
        </p:spPr>
        <p:style>
          <a:lnRef idx="0"/>
          <a:fillRef idx="0"/>
          <a:effectRef idx="0"/>
          <a:fontRef idx="minor"/>
        </p:style>
        <p:txBody>
          <a:bodyPr lIns="0" tIns="0" rIns="0" bIns="0" anchor="t">
            <a:spAutoFit/>
          </a:bodyPr>
          <a:p>
            <a:pPr defTabSz="457200">
              <a:lnSpc>
                <a:spcPct val="125000"/>
              </a:lnSpc>
              <a:spcAft>
                <a:spcPts val="601"/>
              </a:spcAft>
            </a:pPr>
            <a:r>
              <a:rPr lang="en-US" sz="2800" b="1" u="none" strike="noStrike">
                <a:solidFill>
                  <a:srgbClr val="16181A"/>
                </a:solidFill>
                <a:effectLst/>
                <a:uFillTx/>
                <a:latin typeface="Arial"/>
              </a:rPr>
              <a:t>Mapped to the marking rubric</a:t>
            </a:r>
            <a:endParaRPr lang="en-US" sz="2800" b="0" u="none" strike="noStrike">
              <a:solidFill>
                <a:srgbClr val="000000"/>
              </a:solidFill>
              <a:effectLst/>
              <a:uFillTx/>
              <a:latin typeface="Arial"/>
            </a:endParaRPr>
          </a:p>
        </p:txBody>
      </p:sp>
      <p:sp>
        <p:nvSpPr>
          <p:cNvPr id="74" name="Rectangle 3"/>
          <p:cNvSpPr/>
          <p:nvPr/>
        </p:nvSpPr>
        <p:spPr>
          <a:xfrm>
            <a:off x="658440" y="1481400"/>
            <a:ext cx="10880640" cy="17640"/>
          </a:xfrm>
          <a:prstGeom prst="rect">
            <a:avLst/>
          </a:prstGeom>
          <a:solidFill>
            <a:srgbClr val="D8DCE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6640" rIns="90000" bIns="-26640" anchor="ctr">
            <a:noAutofit/>
          </a:bodyPr>
          <a:p>
            <a:endParaRPr lang="en-US" sz="1800" b="0" u="none" strike="noStrike">
              <a:solidFill>
                <a:schemeClr val="lt1"/>
              </a:solidFill>
              <a:effectLst/>
              <a:uFillTx/>
              <a:latin typeface="Calibri"/>
            </a:endParaRPr>
          </a:p>
        </p:txBody>
      </p:sp>
      <p:graphicFrame>
        <p:nvGraphicFramePr>
          <p:cNvPr id="75" name="Table 4"/>
          <p:cNvGraphicFramePr/>
          <p:nvPr/>
        </p:nvGraphicFramePr>
        <p:xfrm>
          <a:off x="658440" y="1783080"/>
          <a:ext cx="10881000" cy="2429640"/>
        </p:xfrm>
        <a:graphic>
          <a:graphicData uri="http://schemas.openxmlformats.org/drawingml/2006/table">
            <a:tbl>
              <a:tblPr/>
              <a:tblGrid>
                <a:gridCol w="3931920"/>
                <a:gridCol w="3657600"/>
                <a:gridCol w="3291840"/>
              </a:tblGrid>
              <a:tr h="383760">
                <a:tc>
                  <a:txBody>
                    <a:bodyPr lIns="73080" tIns="36360" rIns="73080" bIns="36360" anchor="t">
                      <a:noAutofit/>
                    </a:bodyPr>
                    <a:p>
                      <a:pPr defTabSz="457200">
                        <a:lnSpc>
                          <a:spcPct val="115000"/>
                        </a:lnSpc>
                      </a:pPr>
                      <a:r>
                        <a:rPr lang="en-US" sz="950" b="1" u="none" strike="noStrike">
                          <a:solidFill>
                            <a:srgbClr val="6B7178"/>
                          </a:solidFill>
                          <a:effectLst/>
                          <a:uFillTx/>
                          <a:latin typeface="Arial"/>
                        </a:rPr>
                        <a:t>Rubric</a:t>
                      </a:r>
                      <a:endParaRPr lang="en-US" sz="9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4F6F8"/>
                    </a:solidFill>
                  </a:tcPr>
                </a:tc>
                <a:tc>
                  <a:txBody>
                    <a:bodyPr lIns="73080" tIns="36360" rIns="73080" bIns="36360" anchor="t">
                      <a:noAutofit/>
                    </a:bodyPr>
                    <a:p>
                      <a:pPr defTabSz="457200">
                        <a:lnSpc>
                          <a:spcPct val="115000"/>
                        </a:lnSpc>
                      </a:pPr>
                      <a:r>
                        <a:rPr lang="en-US" sz="950" b="1" u="none" strike="noStrike">
                          <a:solidFill>
                            <a:srgbClr val="6B7178"/>
                          </a:solidFill>
                          <a:effectLst/>
                          <a:uFillTx/>
                          <a:latin typeface="Arial"/>
                        </a:rPr>
                        <a:t>Where it is answered</a:t>
                      </a:r>
                      <a:endParaRPr lang="en-US" sz="9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4F6F8"/>
                    </a:solidFill>
                  </a:tcPr>
                </a:tc>
                <a:tc>
                  <a:txBody>
                    <a:bodyPr lIns="73080" tIns="36360" rIns="73080" bIns="36360" anchor="t">
                      <a:noAutofit/>
                    </a:bodyPr>
                    <a:p>
                      <a:pPr defTabSz="457200">
                        <a:lnSpc>
                          <a:spcPct val="115000"/>
                        </a:lnSpc>
                      </a:pPr>
                      <a:r>
                        <a:rPr lang="en-US" sz="950" b="1" u="none" strike="noStrike">
                          <a:solidFill>
                            <a:srgbClr val="6B7178"/>
                          </a:solidFill>
                          <a:effectLst/>
                          <a:uFillTx/>
                          <a:latin typeface="Arial"/>
                        </a:rPr>
                        <a:t>Evidence</a:t>
                      </a:r>
                      <a:endParaRPr lang="en-US" sz="9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4F6F8"/>
                    </a:solidFill>
                  </a:tcPr>
                </a:tc>
              </a:tr>
              <a:tr h="383760">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Knowledge on domain / problem statement</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Sections 1–3 of this deck</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Gap analysis over 22 works</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Literature review (min. 15 recent papers)</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Sections 4–7</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22 works, 20 from 2023 or later</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Design of proposed methodology</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Sections 8–11</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Formal model + evaluation protocol</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Module description / system design</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Sections 12–13</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8 modules, implemented and tested</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Beyond the rubric</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Sections 14–25</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Ten experiments, 9 invariants, two live demos</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bl>
          </a:graphicData>
        </a:graphic>
      </p:graphicFrame>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CFB"/>
        </a:solidFill>
      </p:bgPr>
    </p:bg>
    <p:spTree>
      <p:nvGrpSpPr>
        <p:cNvPr id="1" name=""/>
        <p:cNvGrpSpPr/>
        <p:nvPr/>
      </p:nvGrpSpPr>
      <p:grpSpPr>
        <a:xfrm>
          <a:off x="0" y="0"/>
          <a:ext cx="0" cy="0"/>
          <a:chOff x="0" y="0"/>
          <a:chExt cx="0" cy="0"/>
        </a:xfrm>
      </p:grpSpPr>
      <p:sp>
        <p:nvSpPr>
          <p:cNvPr id="76" name="TextBox 1"/>
          <p:cNvSpPr/>
          <p:nvPr/>
        </p:nvSpPr>
        <p:spPr>
          <a:xfrm>
            <a:off x="658440" y="420480"/>
            <a:ext cx="10880640" cy="273600"/>
          </a:xfrm>
          <a:prstGeom prst="rect">
            <a:avLst/>
          </a:prstGeom>
          <a:noFill/>
          <a:ln w="0">
            <a:noFill/>
          </a:ln>
        </p:spPr>
        <p:style>
          <a:lnRef idx="0"/>
          <a:fillRef idx="0"/>
          <a:effectRef idx="0"/>
          <a:fontRef idx="minor"/>
        </p:style>
        <p:txBody>
          <a:bodyPr lIns="0" tIns="0" rIns="0" bIns="0" anchor="t">
            <a:spAutoFit/>
          </a:bodyPr>
          <a:p>
            <a:pPr defTabSz="457200">
              <a:lnSpc>
                <a:spcPct val="125000"/>
              </a:lnSpc>
              <a:spcAft>
                <a:spcPts val="601"/>
              </a:spcAft>
            </a:pPr>
            <a:r>
              <a:rPr lang="en-US" sz="1050" b="1" u="none" strike="noStrike">
                <a:solidFill>
                  <a:srgbClr val="2A78D6"/>
                </a:solidFill>
                <a:effectLst/>
                <a:uFillTx/>
                <a:latin typeface="Arial"/>
              </a:rPr>
              <a:t>1 · DOMAIN</a:t>
            </a:r>
            <a:endParaRPr lang="en-US" sz="1050" b="0" u="none" strike="noStrike">
              <a:solidFill>
                <a:srgbClr val="000000"/>
              </a:solidFill>
              <a:effectLst/>
              <a:uFillTx/>
              <a:latin typeface="Arial"/>
            </a:endParaRPr>
          </a:p>
        </p:txBody>
      </p:sp>
      <p:sp>
        <p:nvSpPr>
          <p:cNvPr id="77" name="TextBox 2"/>
          <p:cNvSpPr/>
          <p:nvPr/>
        </p:nvSpPr>
        <p:spPr>
          <a:xfrm>
            <a:off x="658440" y="749880"/>
            <a:ext cx="10880640" cy="822240"/>
          </a:xfrm>
          <a:prstGeom prst="rect">
            <a:avLst/>
          </a:prstGeom>
          <a:noFill/>
          <a:ln w="0">
            <a:noFill/>
          </a:ln>
        </p:spPr>
        <p:style>
          <a:lnRef idx="0"/>
          <a:fillRef idx="0"/>
          <a:effectRef idx="0"/>
          <a:fontRef idx="minor"/>
        </p:style>
        <p:txBody>
          <a:bodyPr lIns="0" tIns="0" rIns="0" bIns="0" anchor="t">
            <a:spAutoFit/>
          </a:bodyPr>
          <a:p>
            <a:pPr defTabSz="457200">
              <a:lnSpc>
                <a:spcPct val="125000"/>
              </a:lnSpc>
              <a:spcAft>
                <a:spcPts val="601"/>
              </a:spcAft>
            </a:pPr>
            <a:r>
              <a:rPr lang="en-US" sz="2800" b="1" u="none" strike="noStrike">
                <a:solidFill>
                  <a:srgbClr val="16181A"/>
                </a:solidFill>
                <a:effectLst/>
                <a:uFillTx/>
                <a:latin typeface="Arial"/>
              </a:rPr>
              <a:t>Game AI has optimised for competence, not adaptation</a:t>
            </a:r>
            <a:endParaRPr lang="en-US" sz="2800" b="0" u="none" strike="noStrike">
              <a:solidFill>
                <a:srgbClr val="000000"/>
              </a:solidFill>
              <a:effectLst/>
              <a:uFillTx/>
              <a:latin typeface="Arial"/>
            </a:endParaRPr>
          </a:p>
        </p:txBody>
      </p:sp>
      <p:sp>
        <p:nvSpPr>
          <p:cNvPr id="78" name="Rectangle 3"/>
          <p:cNvSpPr/>
          <p:nvPr/>
        </p:nvSpPr>
        <p:spPr>
          <a:xfrm>
            <a:off x="658440" y="1481400"/>
            <a:ext cx="10880640" cy="17640"/>
          </a:xfrm>
          <a:prstGeom prst="rect">
            <a:avLst/>
          </a:prstGeom>
          <a:solidFill>
            <a:srgbClr val="D8DCE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6640" rIns="90000" bIns="-26640" anchor="ctr">
            <a:noAutofit/>
          </a:bodyPr>
          <a:p>
            <a:endParaRPr lang="en-US" sz="1800" b="0" u="none" strike="noStrike">
              <a:solidFill>
                <a:schemeClr val="lt1"/>
              </a:solidFill>
              <a:effectLst/>
              <a:uFillTx/>
              <a:latin typeface="Calibri"/>
            </a:endParaRPr>
          </a:p>
        </p:txBody>
      </p:sp>
      <p:sp>
        <p:nvSpPr>
          <p:cNvPr id="79" name="TextBox 4"/>
          <p:cNvSpPr/>
          <p:nvPr/>
        </p:nvSpPr>
        <p:spPr>
          <a:xfrm>
            <a:off x="658440" y="1783080"/>
            <a:ext cx="10880640" cy="4479840"/>
          </a:xfrm>
          <a:prstGeom prst="rect">
            <a:avLst/>
          </a:prstGeom>
          <a:noFill/>
          <a:ln w="0">
            <a:noFill/>
          </a:ln>
        </p:spPr>
        <p:style>
          <a:lnRef idx="0"/>
          <a:fillRef idx="0"/>
          <a:effectRef idx="0"/>
          <a:fontRef idx="minor"/>
        </p:style>
        <p:txBody>
          <a:bodyPr lIns="0" tIns="0" rIns="0" bIns="0" anchor="t">
            <a:spAutoFit/>
          </a:bodyPr>
          <a:p>
            <a:pPr defTabSz="457200">
              <a:lnSpc>
                <a:spcPct val="130000"/>
              </a:lnSpc>
              <a:spcAft>
                <a:spcPts val="1301"/>
              </a:spcAft>
            </a:pPr>
            <a:r>
              <a:rPr lang="en-US" sz="1500" b="1" u="none" strike="noStrike">
                <a:solidFill>
                  <a:srgbClr val="16181A"/>
                </a:solidFill>
                <a:effectLst/>
                <a:uFillTx/>
                <a:latin typeface="Arial"/>
              </a:rPr>
              <a:t>Player modelling —  </a:t>
            </a:r>
            <a:r>
              <a:rPr lang="en-US" sz="1500" b="0" u="none" strike="noStrike">
                <a:solidFill>
                  <a:srgbClr val="6B7178"/>
                </a:solidFill>
                <a:effectLst/>
                <a:uFillTx/>
                <a:latin typeface="Arial"/>
              </a:rPr>
              <a:t>inferring player intent and state from behavioural telemetry.</a:t>
            </a:r>
            <a:endParaRPr lang="en-US" sz="1500" b="0" u="none" strike="noStrike">
              <a:solidFill>
                <a:srgbClr val="000000"/>
              </a:solidFill>
              <a:effectLst/>
              <a:uFillTx/>
              <a:latin typeface="Arial"/>
            </a:endParaRPr>
          </a:p>
          <a:p>
            <a:pPr defTabSz="457200">
              <a:lnSpc>
                <a:spcPct val="130000"/>
              </a:lnSpc>
              <a:spcAft>
                <a:spcPts val="1301"/>
              </a:spcAft>
            </a:pPr>
            <a:r>
              <a:rPr lang="en-US" sz="1500" b="1" u="none" strike="noStrike">
                <a:solidFill>
                  <a:srgbClr val="16181A"/>
                </a:solidFill>
                <a:effectLst/>
                <a:uFillTx/>
                <a:latin typeface="Arial"/>
              </a:rPr>
              <a:t>Adaptive AI and DDA —  </a:t>
            </a:r>
            <a:r>
              <a:rPr lang="en-US" sz="1500" b="0" u="none" strike="noStrike">
                <a:solidFill>
                  <a:srgbClr val="6B7178"/>
                </a:solidFill>
                <a:effectLst/>
                <a:uFillTx/>
                <a:latin typeface="Arial"/>
              </a:rPr>
              <a:t>acting on that inference to reshape the experience.</a:t>
            </a:r>
            <a:endParaRPr lang="en-US" sz="1500" b="0" u="none" strike="noStrike">
              <a:solidFill>
                <a:srgbClr val="000000"/>
              </a:solidFill>
              <a:effectLst/>
              <a:uFillTx/>
              <a:latin typeface="Arial"/>
            </a:endParaRPr>
          </a:p>
          <a:p>
            <a:pPr defTabSz="457200">
              <a:lnSpc>
                <a:spcPct val="130000"/>
              </a:lnSpc>
              <a:spcAft>
                <a:spcPts val="1301"/>
              </a:spcAft>
            </a:pPr>
            <a:r>
              <a:rPr lang="en-US" sz="1500" b="1" u="none" strike="noStrike">
                <a:solidFill>
                  <a:srgbClr val="16181A"/>
                </a:solidFill>
                <a:effectLst/>
                <a:uFillTx/>
                <a:latin typeface="Arial"/>
              </a:rPr>
              <a:t>Procedural generation —  </a:t>
            </a:r>
            <a:r>
              <a:rPr lang="en-US" sz="1500" b="0" u="none" strike="noStrike">
                <a:solidFill>
                  <a:srgbClr val="6B7178"/>
                </a:solidFill>
                <a:effectLst/>
                <a:uFillTx/>
                <a:latin typeface="Arial"/>
              </a:rPr>
              <a:t>changing the world itself, not only the agents in it.</a:t>
            </a:r>
            <a:endParaRPr lang="en-US" sz="1500" b="0" u="none" strike="noStrike">
              <a:solidFill>
                <a:srgbClr val="000000"/>
              </a:solidFill>
              <a:effectLst/>
              <a:uFillTx/>
              <a:latin typeface="Arial"/>
            </a:endParaRPr>
          </a:p>
          <a:p>
            <a:pPr defTabSz="457200">
              <a:lnSpc>
                <a:spcPct val="130000"/>
              </a:lnSpc>
              <a:spcAft>
                <a:spcPts val="1301"/>
              </a:spcAft>
            </a:pPr>
            <a:endParaRPr lang="en-US" sz="1500" b="0" u="none" strike="noStrike">
              <a:solidFill>
                <a:srgbClr val="000000"/>
              </a:solidFill>
              <a:effectLst/>
              <a:uFillTx/>
              <a:latin typeface="Arial"/>
            </a:endParaRPr>
          </a:p>
          <a:p>
            <a:pPr defTabSz="457200">
              <a:lnSpc>
                <a:spcPct val="130000"/>
              </a:lnSpc>
              <a:spcAft>
                <a:spcPts val="1301"/>
              </a:spcAft>
            </a:pPr>
            <a:r>
              <a:rPr lang="en-US" sz="1500" b="1" u="none" strike="noStrike">
                <a:solidFill>
                  <a:srgbClr val="16181A"/>
                </a:solidFill>
                <a:effectLst/>
                <a:uFillTx/>
                <a:latin typeface="Arial"/>
              </a:rPr>
              <a:t>Horror is where this matters most, and is least explored.  </a:t>
            </a:r>
            <a:endParaRPr lang="en-US" sz="1500" b="0" u="none" strike="noStrike">
              <a:solidFill>
                <a:srgbClr val="000000"/>
              </a:solidFill>
              <a:effectLst/>
              <a:uFillTx/>
              <a:latin typeface="Arial"/>
            </a:endParaRPr>
          </a:p>
          <a:p>
            <a:pPr defTabSz="457200">
              <a:lnSpc>
                <a:spcPct val="130000"/>
              </a:lnSpc>
              <a:spcAft>
                <a:spcPts val="1301"/>
              </a:spcAft>
            </a:pPr>
            <a:r>
              <a:rPr lang="en-US" sz="1500" b="0" u="none" strike="noStrike">
                <a:solidFill>
                  <a:srgbClr val="16181A"/>
                </a:solidFill>
                <a:effectLst/>
                <a:uFillTx/>
                <a:latin typeface="Arial"/>
              </a:rPr>
              <a:t>Horror depends on uncertainty. Every horror game degrades as the player learns it: routes get memorised, spawns get learned, the monster becomes a timing puzzle.</a:t>
            </a:r>
            <a:endParaRPr lang="en-US" sz="1500" b="0" u="none" strike="noStrike">
              <a:solidFill>
                <a:srgbClr val="000000"/>
              </a:solidFill>
              <a:effectLst/>
              <a:uFillTx/>
              <a:latin typeface="Arial"/>
            </a:endParaRPr>
          </a:p>
          <a:p>
            <a:pPr defTabSz="457200">
              <a:lnSpc>
                <a:spcPct val="130000"/>
              </a:lnSpc>
              <a:spcAft>
                <a:spcPts val="1301"/>
              </a:spcAft>
            </a:pPr>
            <a:r>
              <a:rPr lang="en-US" sz="1500" b="0" u="none" strike="noStrike">
                <a:solidFill>
                  <a:srgbClr val="16181A"/>
                </a:solidFill>
                <a:effectLst/>
                <a:uFillTx/>
                <a:latin typeface="Arial"/>
              </a:rPr>
              <a:t>The genre's central failure mode is that mastery destroys the product.</a:t>
            </a:r>
            <a:endParaRPr lang="en-US" sz="15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CFB"/>
        </a:solidFill>
      </p:bgPr>
    </p:bg>
    <p:spTree>
      <p:nvGrpSpPr>
        <p:cNvPr id="1" name=""/>
        <p:cNvGrpSpPr/>
        <p:nvPr/>
      </p:nvGrpSpPr>
      <p:grpSpPr>
        <a:xfrm>
          <a:off x="0" y="0"/>
          <a:ext cx="0" cy="0"/>
          <a:chOff x="0" y="0"/>
          <a:chExt cx="0" cy="0"/>
        </a:xfrm>
      </p:grpSpPr>
      <p:sp>
        <p:nvSpPr>
          <p:cNvPr id="80" name="TextBox 1"/>
          <p:cNvSpPr/>
          <p:nvPr/>
        </p:nvSpPr>
        <p:spPr>
          <a:xfrm>
            <a:off x="658440" y="420480"/>
            <a:ext cx="10880640" cy="273600"/>
          </a:xfrm>
          <a:prstGeom prst="rect">
            <a:avLst/>
          </a:prstGeom>
          <a:noFill/>
          <a:ln w="0">
            <a:noFill/>
          </a:ln>
        </p:spPr>
        <p:style>
          <a:lnRef idx="0"/>
          <a:fillRef idx="0"/>
          <a:effectRef idx="0"/>
          <a:fontRef idx="minor"/>
        </p:style>
        <p:txBody>
          <a:bodyPr lIns="0" tIns="0" rIns="0" bIns="0" anchor="t">
            <a:spAutoFit/>
          </a:bodyPr>
          <a:p>
            <a:pPr defTabSz="457200">
              <a:lnSpc>
                <a:spcPct val="125000"/>
              </a:lnSpc>
              <a:spcAft>
                <a:spcPts val="601"/>
              </a:spcAft>
            </a:pPr>
            <a:r>
              <a:rPr lang="en-US" sz="1050" b="1" u="none" strike="noStrike">
                <a:solidFill>
                  <a:srgbClr val="2A78D6"/>
                </a:solidFill>
                <a:effectLst/>
                <a:uFillTx/>
                <a:latin typeface="Arial"/>
              </a:rPr>
              <a:t>2 · PROBLEM STATEMENT</a:t>
            </a:r>
            <a:endParaRPr lang="en-US" sz="1050" b="0" u="none" strike="noStrike">
              <a:solidFill>
                <a:srgbClr val="000000"/>
              </a:solidFill>
              <a:effectLst/>
              <a:uFillTx/>
              <a:latin typeface="Arial"/>
            </a:endParaRPr>
          </a:p>
        </p:txBody>
      </p:sp>
      <p:sp>
        <p:nvSpPr>
          <p:cNvPr id="81" name="TextBox 2"/>
          <p:cNvSpPr/>
          <p:nvPr/>
        </p:nvSpPr>
        <p:spPr>
          <a:xfrm>
            <a:off x="658440" y="749880"/>
            <a:ext cx="10880640" cy="822240"/>
          </a:xfrm>
          <a:prstGeom prst="rect">
            <a:avLst/>
          </a:prstGeom>
          <a:noFill/>
          <a:ln w="0">
            <a:noFill/>
          </a:ln>
        </p:spPr>
        <p:style>
          <a:lnRef idx="0"/>
          <a:fillRef idx="0"/>
          <a:effectRef idx="0"/>
          <a:fontRef idx="minor"/>
        </p:style>
        <p:txBody>
          <a:bodyPr lIns="0" tIns="0" rIns="0" bIns="0" anchor="t">
            <a:spAutoFit/>
          </a:bodyPr>
          <a:p>
            <a:pPr defTabSz="457200">
              <a:lnSpc>
                <a:spcPct val="125000"/>
              </a:lnSpc>
              <a:spcAft>
                <a:spcPts val="601"/>
              </a:spcAft>
            </a:pPr>
            <a:r>
              <a:rPr lang="en-US" sz="2800" b="1" u="none" strike="noStrike">
                <a:solidFill>
                  <a:srgbClr val="16181A"/>
                </a:solidFill>
                <a:effectLst/>
                <a:uFillTx/>
                <a:latin typeface="Arial"/>
              </a:rPr>
              <a:t>Static AI is learnable. Random AI is unfair.</a:t>
            </a:r>
            <a:endParaRPr lang="en-US" sz="2800" b="0" u="none" strike="noStrike">
              <a:solidFill>
                <a:srgbClr val="000000"/>
              </a:solidFill>
              <a:effectLst/>
              <a:uFillTx/>
              <a:latin typeface="Arial"/>
            </a:endParaRPr>
          </a:p>
        </p:txBody>
      </p:sp>
      <p:sp>
        <p:nvSpPr>
          <p:cNvPr id="82" name="Rectangle 3"/>
          <p:cNvSpPr/>
          <p:nvPr/>
        </p:nvSpPr>
        <p:spPr>
          <a:xfrm>
            <a:off x="658440" y="1481400"/>
            <a:ext cx="10880640" cy="17640"/>
          </a:xfrm>
          <a:prstGeom prst="rect">
            <a:avLst/>
          </a:prstGeom>
          <a:solidFill>
            <a:srgbClr val="D8DCE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6640" rIns="90000" bIns="-26640" anchor="ctr">
            <a:noAutofit/>
          </a:bodyPr>
          <a:p>
            <a:endParaRPr lang="en-US" sz="1800" b="0" u="none" strike="noStrike">
              <a:solidFill>
                <a:schemeClr val="lt1"/>
              </a:solidFill>
              <a:effectLst/>
              <a:uFillTx/>
              <a:latin typeface="Calibri"/>
            </a:endParaRPr>
          </a:p>
        </p:txBody>
      </p:sp>
      <p:sp>
        <p:nvSpPr>
          <p:cNvPr id="83" name="Rectangle 4"/>
          <p:cNvSpPr/>
          <p:nvPr/>
        </p:nvSpPr>
        <p:spPr>
          <a:xfrm>
            <a:off x="658440" y="1828800"/>
            <a:ext cx="45000" cy="2148120"/>
          </a:xfrm>
          <a:prstGeom prst="rect">
            <a:avLst/>
          </a:prstGeom>
          <a:solidFill>
            <a:srgbClr val="2A78D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22680" tIns="45000" rIns="22680" bIns="45000" anchor="ctr">
            <a:noAutofit/>
          </a:bodyPr>
          <a:p>
            <a:endParaRPr lang="en-US" sz="1800" b="0" u="none" strike="noStrike">
              <a:solidFill>
                <a:schemeClr val="lt1"/>
              </a:solidFill>
              <a:effectLst/>
              <a:uFillTx/>
              <a:latin typeface="Calibri"/>
            </a:endParaRPr>
          </a:p>
        </p:txBody>
      </p:sp>
      <p:sp>
        <p:nvSpPr>
          <p:cNvPr id="84" name="TextBox 5"/>
          <p:cNvSpPr/>
          <p:nvPr/>
        </p:nvSpPr>
        <p:spPr>
          <a:xfrm>
            <a:off x="960120" y="1847160"/>
            <a:ext cx="10423440" cy="2148120"/>
          </a:xfrm>
          <a:prstGeom prst="rect">
            <a:avLst/>
          </a:prstGeom>
          <a:noFill/>
          <a:ln w="0">
            <a:noFill/>
          </a:ln>
        </p:spPr>
        <p:style>
          <a:lnRef idx="0"/>
          <a:fillRef idx="0"/>
          <a:effectRef idx="0"/>
          <a:fontRef idx="minor"/>
        </p:style>
        <p:txBody>
          <a:bodyPr lIns="0" tIns="0" rIns="0" bIns="0" anchor="t">
            <a:spAutoFit/>
          </a:bodyPr>
          <a:p>
            <a:pPr defTabSz="457200">
              <a:lnSpc>
                <a:spcPct val="135000"/>
              </a:lnSpc>
              <a:spcAft>
                <a:spcPts val="1001"/>
              </a:spcAft>
            </a:pPr>
            <a:r>
              <a:rPr lang="en-US" sz="1400" b="0" u="none" strike="noStrike">
                <a:solidFill>
                  <a:srgbClr val="16181A"/>
                </a:solidFill>
                <a:effectLst/>
                <a:uFillTx/>
                <a:latin typeface="Arial"/>
              </a:rPr>
              <a:t>Existing horror antagonists are static or randomised. Static AI is learnable and stops being frightening. Randomised AI is unlearnable and therefore reads as unfair rather than intelligent. Neither adapts to the specific player.</a:t>
            </a:r>
            <a:endParaRPr lang="en-US" sz="1400" b="0" u="none" strike="noStrike">
              <a:solidFill>
                <a:srgbClr val="000000"/>
              </a:solidFill>
              <a:effectLst/>
              <a:uFillTx/>
              <a:latin typeface="Arial"/>
            </a:endParaRPr>
          </a:p>
          <a:p>
            <a:pPr defTabSz="457200">
              <a:lnSpc>
                <a:spcPct val="135000"/>
              </a:lnSpc>
              <a:spcAft>
                <a:spcPts val="1001"/>
              </a:spcAft>
            </a:pPr>
            <a:r>
              <a:rPr lang="en-US" sz="1400" b="0" u="none" strike="noStrike">
                <a:solidFill>
                  <a:srgbClr val="16181A"/>
                </a:solidFill>
                <a:effectLst/>
                <a:uFillTx/>
                <a:latin typeface="Arial"/>
              </a:rPr>
              <a:t>PARITY proposes a third option: an antagonist that builds an online behavioural model of the individual player and acts on its predictions — intercepting where the player is going rather than chasing where they are, and degrading the information the player has come to depend on.</a:t>
            </a:r>
            <a:endParaRPr lang="en-US" sz="1400" b="0" u="none" strike="noStrike">
              <a:solidFill>
                <a:srgbClr val="000000"/>
              </a:solidFill>
              <a:effectLst/>
              <a:uFillTx/>
              <a:latin typeface="Arial"/>
            </a:endParaRPr>
          </a:p>
        </p:txBody>
      </p:sp>
      <p:graphicFrame>
        <p:nvGraphicFramePr>
          <p:cNvPr id="85" name="Table 6"/>
          <p:cNvGraphicFramePr/>
          <p:nvPr/>
        </p:nvGraphicFramePr>
        <p:xfrm>
          <a:off x="658440" y="4316040"/>
          <a:ext cx="10881000" cy="1918800"/>
        </p:xfrm>
        <a:graphic>
          <a:graphicData uri="http://schemas.openxmlformats.org/drawingml/2006/table">
            <a:tbl>
              <a:tblPr/>
              <a:tblGrid>
                <a:gridCol w="2377440"/>
                <a:gridCol w="8503920"/>
              </a:tblGrid>
              <a:tr h="383760">
                <a:tc>
                  <a:txBody>
                    <a:bodyPr lIns="73080" tIns="36360" rIns="73080" bIns="36360" anchor="t">
                      <a:noAutofit/>
                    </a:bodyPr>
                    <a:p>
                      <a:pPr defTabSz="457200">
                        <a:lnSpc>
                          <a:spcPct val="115000"/>
                        </a:lnSpc>
                      </a:pPr>
                      <a:r>
                        <a:rPr lang="en-US" sz="950" b="1" u="none" strike="noStrike">
                          <a:solidFill>
                            <a:srgbClr val="6B7178"/>
                          </a:solidFill>
                          <a:effectLst/>
                          <a:uFillTx/>
                          <a:latin typeface="Arial"/>
                        </a:rPr>
                        <a:t>Challenge</a:t>
                      </a:r>
                      <a:endParaRPr lang="en-US" sz="9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4F6F8"/>
                    </a:solidFill>
                  </a:tcPr>
                </a:tc>
                <a:tc>
                  <a:txBody>
                    <a:bodyPr lIns="73080" tIns="36360" rIns="73080" bIns="36360" anchor="t">
                      <a:noAutofit/>
                    </a:bodyPr>
                    <a:p>
                      <a:pPr defTabSz="457200">
                        <a:lnSpc>
                          <a:spcPct val="115000"/>
                        </a:lnSpc>
                      </a:pPr>
                      <a:r>
                        <a:rPr lang="en-US" sz="950" b="1" u="none" strike="noStrike">
                          <a:solidFill>
                            <a:srgbClr val="6B7178"/>
                          </a:solidFill>
                          <a:effectLst/>
                          <a:uFillTx/>
                          <a:latin typeface="Arial"/>
                        </a:rPr>
                        <a:t>Why it is hard here</a:t>
                      </a:r>
                      <a:endParaRPr lang="en-US" sz="9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4F6F8"/>
                    </a:solidFill>
                  </a:tcPr>
                </a:tc>
              </a:tr>
              <a:tr h="383760">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Cold start</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Must be interesting in the first two minutes, with no prior data on this player</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Legibility</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A model the player cannot perceive is, to the player, no model at all</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Fairness</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An antagonist that is merely stronger is not scarier — it is unfair</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Evaluation</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'Is it scary?' does not scale to the playtesting a solo project can do</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bl>
          </a:graphicData>
        </a:graphic>
      </p:graphicFrame>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CFB"/>
        </a:solidFill>
      </p:bgPr>
    </p:bg>
    <p:spTree>
      <p:nvGrpSpPr>
        <p:cNvPr id="1" name=""/>
        <p:cNvGrpSpPr/>
        <p:nvPr/>
      </p:nvGrpSpPr>
      <p:grpSpPr>
        <a:xfrm>
          <a:off x="0" y="0"/>
          <a:ext cx="0" cy="0"/>
          <a:chOff x="0" y="0"/>
          <a:chExt cx="0" cy="0"/>
        </a:xfrm>
      </p:grpSpPr>
      <p:sp>
        <p:nvSpPr>
          <p:cNvPr id="86" name="TextBox 1"/>
          <p:cNvSpPr/>
          <p:nvPr/>
        </p:nvSpPr>
        <p:spPr>
          <a:xfrm>
            <a:off x="658440" y="420480"/>
            <a:ext cx="10880640" cy="273600"/>
          </a:xfrm>
          <a:prstGeom prst="rect">
            <a:avLst/>
          </a:prstGeom>
          <a:noFill/>
          <a:ln w="0">
            <a:noFill/>
          </a:ln>
        </p:spPr>
        <p:style>
          <a:lnRef idx="0"/>
          <a:fillRef idx="0"/>
          <a:effectRef idx="0"/>
          <a:fontRef idx="minor"/>
        </p:style>
        <p:txBody>
          <a:bodyPr lIns="0" tIns="0" rIns="0" bIns="0" anchor="t">
            <a:spAutoFit/>
          </a:bodyPr>
          <a:p>
            <a:pPr defTabSz="457200">
              <a:lnSpc>
                <a:spcPct val="125000"/>
              </a:lnSpc>
              <a:spcAft>
                <a:spcPts val="601"/>
              </a:spcAft>
            </a:pPr>
            <a:r>
              <a:rPr lang="en-US" sz="1050" b="1" u="none" strike="noStrike">
                <a:solidFill>
                  <a:srgbClr val="2A78D6"/>
                </a:solidFill>
                <a:effectLst/>
                <a:uFillTx/>
                <a:latin typeface="Arial"/>
              </a:rPr>
              <a:t>3 · AIM AND OBJECTIVES</a:t>
            </a:r>
            <a:endParaRPr lang="en-US" sz="1050" b="0" u="none" strike="noStrike">
              <a:solidFill>
                <a:srgbClr val="000000"/>
              </a:solidFill>
              <a:effectLst/>
              <a:uFillTx/>
              <a:latin typeface="Arial"/>
            </a:endParaRPr>
          </a:p>
        </p:txBody>
      </p:sp>
      <p:sp>
        <p:nvSpPr>
          <p:cNvPr id="87" name="TextBox 2"/>
          <p:cNvSpPr/>
          <p:nvPr/>
        </p:nvSpPr>
        <p:spPr>
          <a:xfrm>
            <a:off x="658440" y="749880"/>
            <a:ext cx="10880640" cy="822240"/>
          </a:xfrm>
          <a:prstGeom prst="rect">
            <a:avLst/>
          </a:prstGeom>
          <a:noFill/>
          <a:ln w="0">
            <a:noFill/>
          </a:ln>
        </p:spPr>
        <p:style>
          <a:lnRef idx="0"/>
          <a:fillRef idx="0"/>
          <a:effectRef idx="0"/>
          <a:fontRef idx="minor"/>
        </p:style>
        <p:txBody>
          <a:bodyPr lIns="0" tIns="0" rIns="0" bIns="0" anchor="t">
            <a:spAutoFit/>
          </a:bodyPr>
          <a:p>
            <a:pPr defTabSz="457200">
              <a:lnSpc>
                <a:spcPct val="125000"/>
              </a:lnSpc>
              <a:spcAft>
                <a:spcPts val="601"/>
              </a:spcAft>
            </a:pPr>
            <a:r>
              <a:rPr lang="en-US" sz="2800" b="1" u="none" strike="noStrike">
                <a:solidFill>
                  <a:srgbClr val="16181A"/>
                </a:solidFill>
                <a:effectLst/>
                <a:uFillTx/>
                <a:latin typeface="Arial"/>
              </a:rPr>
              <a:t>Demonstrate that the model both learns and matters</a:t>
            </a:r>
            <a:endParaRPr lang="en-US" sz="2800" b="0" u="none" strike="noStrike">
              <a:solidFill>
                <a:srgbClr val="000000"/>
              </a:solidFill>
              <a:effectLst/>
              <a:uFillTx/>
              <a:latin typeface="Arial"/>
            </a:endParaRPr>
          </a:p>
        </p:txBody>
      </p:sp>
      <p:sp>
        <p:nvSpPr>
          <p:cNvPr id="88" name="Rectangle 3"/>
          <p:cNvSpPr/>
          <p:nvPr/>
        </p:nvSpPr>
        <p:spPr>
          <a:xfrm>
            <a:off x="658440" y="1481400"/>
            <a:ext cx="10880640" cy="17640"/>
          </a:xfrm>
          <a:prstGeom prst="rect">
            <a:avLst/>
          </a:prstGeom>
          <a:solidFill>
            <a:srgbClr val="D8DCE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6640" rIns="90000" bIns="-26640" anchor="ctr">
            <a:noAutofit/>
          </a:bodyPr>
          <a:p>
            <a:endParaRPr lang="en-US" sz="1800" b="0" u="none" strike="noStrike">
              <a:solidFill>
                <a:schemeClr val="lt1"/>
              </a:solidFill>
              <a:effectLst/>
              <a:uFillTx/>
              <a:latin typeface="Calibri"/>
            </a:endParaRPr>
          </a:p>
        </p:txBody>
      </p:sp>
      <p:sp>
        <p:nvSpPr>
          <p:cNvPr id="89" name="TextBox 4"/>
          <p:cNvSpPr/>
          <p:nvPr/>
        </p:nvSpPr>
        <p:spPr>
          <a:xfrm>
            <a:off x="658440" y="1783080"/>
            <a:ext cx="10880640" cy="547920"/>
          </a:xfrm>
          <a:prstGeom prst="rect">
            <a:avLst/>
          </a:prstGeom>
          <a:noFill/>
          <a:ln w="0">
            <a:noFill/>
          </a:ln>
        </p:spPr>
        <p:style>
          <a:lnRef idx="0"/>
          <a:fillRef idx="0"/>
          <a:effectRef idx="0"/>
          <a:fontRef idx="minor"/>
        </p:style>
        <p:txBody>
          <a:bodyPr lIns="0" tIns="0" rIns="0" bIns="0" anchor="t">
            <a:spAutoFit/>
          </a:bodyPr>
          <a:p>
            <a:pPr defTabSz="457200">
              <a:lnSpc>
                <a:spcPct val="135000"/>
              </a:lnSpc>
              <a:spcAft>
                <a:spcPts val="601"/>
              </a:spcAft>
            </a:pPr>
            <a:r>
              <a:rPr lang="en-US" sz="1500" b="0" u="none" strike="noStrike">
                <a:solidFill>
                  <a:srgbClr val="6B7178"/>
                </a:solidFill>
                <a:effectLst/>
                <a:uFillTx/>
                <a:latin typeface="Arial"/>
              </a:rPr>
              <a:t>Aim — build a first-person horror game whose antagonist is driven by a live, per-player predictive model, and demonstrate quantitatively that the model both learns and changes the game.</a:t>
            </a:r>
            <a:endParaRPr lang="en-US" sz="1500" b="0" u="none" strike="noStrike">
              <a:solidFill>
                <a:srgbClr val="000000"/>
              </a:solidFill>
              <a:effectLst/>
              <a:uFillTx/>
              <a:latin typeface="Arial"/>
            </a:endParaRPr>
          </a:p>
        </p:txBody>
      </p:sp>
      <p:graphicFrame>
        <p:nvGraphicFramePr>
          <p:cNvPr id="90" name="Table 5"/>
          <p:cNvGraphicFramePr/>
          <p:nvPr/>
        </p:nvGraphicFramePr>
        <p:xfrm>
          <a:off x="658440" y="2697480"/>
          <a:ext cx="10881000" cy="3453840"/>
        </p:xfrm>
        <a:graphic>
          <a:graphicData uri="http://schemas.openxmlformats.org/drawingml/2006/table">
            <a:tbl>
              <a:tblPr/>
              <a:tblGrid>
                <a:gridCol w="594360"/>
                <a:gridCol w="8275320"/>
                <a:gridCol w="2011680"/>
              </a:tblGrid>
              <a:tr h="383760">
                <a:tc>
                  <a:txBody>
                    <a:bodyPr lIns="73080" tIns="36360" rIns="73080" bIns="36360" anchor="t">
                      <a:noAutofit/>
                    </a:bodyPr>
                    <a:p>
                      <a:pPr defTabSz="457200">
                        <a:lnSpc>
                          <a:spcPct val="115000"/>
                        </a:lnSpc>
                      </a:pPr>
                      <a:r>
                        <a:rPr lang="en-US" sz="950" b="1" u="none" strike="noStrike">
                          <a:solidFill>
                            <a:srgbClr val="6B7178"/>
                          </a:solidFill>
                          <a:effectLst/>
                          <a:uFillTx/>
                          <a:latin typeface="Arial"/>
                        </a:rPr>
                        <a:t>#</a:t>
                      </a:r>
                      <a:endParaRPr lang="en-US" sz="9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4F6F8"/>
                    </a:solidFill>
                  </a:tcPr>
                </a:tc>
                <a:tc>
                  <a:txBody>
                    <a:bodyPr lIns="73080" tIns="36360" rIns="73080" bIns="36360" anchor="t">
                      <a:noAutofit/>
                    </a:bodyPr>
                    <a:p>
                      <a:pPr defTabSz="457200">
                        <a:lnSpc>
                          <a:spcPct val="115000"/>
                        </a:lnSpc>
                      </a:pPr>
                      <a:r>
                        <a:rPr lang="en-US" sz="950" b="1" u="none" strike="noStrike">
                          <a:solidFill>
                            <a:srgbClr val="6B7178"/>
                          </a:solidFill>
                          <a:effectLst/>
                          <a:uFillTx/>
                          <a:latin typeface="Arial"/>
                        </a:rPr>
                        <a:t>Objective</a:t>
                      </a:r>
                      <a:endParaRPr lang="en-US" sz="9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4F6F8"/>
                    </a:solidFill>
                  </a:tcPr>
                </a:tc>
                <a:tc>
                  <a:txBody>
                    <a:bodyPr lIns="73080" tIns="36360" rIns="73080" bIns="36360" anchor="t">
                      <a:noAutofit/>
                    </a:bodyPr>
                    <a:p>
                      <a:pPr defTabSz="457200">
                        <a:lnSpc>
                          <a:spcPct val="115000"/>
                        </a:lnSpc>
                      </a:pPr>
                      <a:r>
                        <a:rPr lang="en-US" sz="950" b="1" u="none" strike="noStrike">
                          <a:solidFill>
                            <a:srgbClr val="6B7178"/>
                          </a:solidFill>
                          <a:effectLst/>
                          <a:uFillTx/>
                          <a:latin typeface="Arial"/>
                        </a:rPr>
                        <a:t>Status</a:t>
                      </a:r>
                      <a:endParaRPr lang="en-US" sz="9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4F6F8"/>
                    </a:solidFill>
                  </a:tcPr>
                </a:tc>
              </a:tr>
              <a:tr h="383760">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O1</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Formalise the facility as a mutable room graph with runtime topology edits</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Done</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O2</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Online next-room predictor that learns from the first move</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Done</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O3</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Beat a no-model control and an order-1 Markov baseline</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Done</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O4</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Learn nothing from a random player (no leakage)</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Done</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O5</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Show better prediction yields a more dangerous antagonist</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Done</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O6</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Implement and measure all four Director counter-moves</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Done</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O7</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Make the model legible to the player in-game</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Demo built</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O8</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Ship the first-person Godot vertical slice</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In progress</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bl>
          </a:graphicData>
        </a:graphic>
      </p:graphicFrame>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CFB"/>
        </a:solidFill>
      </p:bgPr>
    </p:bg>
    <p:spTree>
      <p:nvGrpSpPr>
        <p:cNvPr id="1" name=""/>
        <p:cNvGrpSpPr/>
        <p:nvPr/>
      </p:nvGrpSpPr>
      <p:grpSpPr>
        <a:xfrm>
          <a:off x="0" y="0"/>
          <a:ext cx="0" cy="0"/>
          <a:chOff x="0" y="0"/>
          <a:chExt cx="0" cy="0"/>
        </a:xfrm>
      </p:grpSpPr>
      <p:sp>
        <p:nvSpPr>
          <p:cNvPr id="91" name="TextBox 1"/>
          <p:cNvSpPr/>
          <p:nvPr/>
        </p:nvSpPr>
        <p:spPr>
          <a:xfrm>
            <a:off x="658440" y="420480"/>
            <a:ext cx="10880640" cy="273600"/>
          </a:xfrm>
          <a:prstGeom prst="rect">
            <a:avLst/>
          </a:prstGeom>
          <a:noFill/>
          <a:ln w="0">
            <a:noFill/>
          </a:ln>
        </p:spPr>
        <p:style>
          <a:lnRef idx="0"/>
          <a:fillRef idx="0"/>
          <a:effectRef idx="0"/>
          <a:fontRef idx="minor"/>
        </p:style>
        <p:txBody>
          <a:bodyPr lIns="0" tIns="0" rIns="0" bIns="0" anchor="t">
            <a:spAutoFit/>
          </a:bodyPr>
          <a:p>
            <a:pPr defTabSz="457200">
              <a:lnSpc>
                <a:spcPct val="125000"/>
              </a:lnSpc>
              <a:spcAft>
                <a:spcPts val="601"/>
              </a:spcAft>
            </a:pPr>
            <a:r>
              <a:rPr lang="en-US" sz="1050" b="1" u="none" strike="noStrike">
                <a:solidFill>
                  <a:srgbClr val="2A78D6"/>
                </a:solidFill>
                <a:effectLst/>
                <a:uFillTx/>
                <a:latin typeface="Arial"/>
              </a:rPr>
              <a:t>4 · LITERATURE REVIEW</a:t>
            </a:r>
            <a:endParaRPr lang="en-US" sz="1050" b="0" u="none" strike="noStrike">
              <a:solidFill>
                <a:srgbClr val="000000"/>
              </a:solidFill>
              <a:effectLst/>
              <a:uFillTx/>
              <a:latin typeface="Arial"/>
            </a:endParaRPr>
          </a:p>
        </p:txBody>
      </p:sp>
      <p:sp>
        <p:nvSpPr>
          <p:cNvPr id="92" name="TextBox 2"/>
          <p:cNvSpPr/>
          <p:nvPr/>
        </p:nvSpPr>
        <p:spPr>
          <a:xfrm>
            <a:off x="658440" y="749880"/>
            <a:ext cx="10880640" cy="822240"/>
          </a:xfrm>
          <a:prstGeom prst="rect">
            <a:avLst/>
          </a:prstGeom>
          <a:noFill/>
          <a:ln w="0">
            <a:noFill/>
          </a:ln>
        </p:spPr>
        <p:style>
          <a:lnRef idx="0"/>
          <a:fillRef idx="0"/>
          <a:effectRef idx="0"/>
          <a:fontRef idx="minor"/>
        </p:style>
        <p:txBody>
          <a:bodyPr lIns="0" tIns="0" rIns="0" bIns="0" anchor="t">
            <a:spAutoFit/>
          </a:bodyPr>
          <a:p>
            <a:pPr defTabSz="457200">
              <a:lnSpc>
                <a:spcPct val="125000"/>
              </a:lnSpc>
              <a:spcAft>
                <a:spcPts val="601"/>
              </a:spcAft>
            </a:pPr>
            <a:r>
              <a:rPr lang="en-US" sz="2800" b="1" u="none" strike="noStrike">
                <a:solidFill>
                  <a:srgbClr val="16181A"/>
                </a:solidFill>
                <a:effectLst/>
                <a:uFillTx/>
                <a:latin typeface="Arial"/>
              </a:rPr>
              <a:t>22 works · 20 published 2023 or later</a:t>
            </a:r>
            <a:endParaRPr lang="en-US" sz="2800" b="0" u="none" strike="noStrike">
              <a:solidFill>
                <a:srgbClr val="000000"/>
              </a:solidFill>
              <a:effectLst/>
              <a:uFillTx/>
              <a:latin typeface="Arial"/>
            </a:endParaRPr>
          </a:p>
        </p:txBody>
      </p:sp>
      <p:sp>
        <p:nvSpPr>
          <p:cNvPr id="93" name="Rectangle 3"/>
          <p:cNvSpPr/>
          <p:nvPr/>
        </p:nvSpPr>
        <p:spPr>
          <a:xfrm>
            <a:off x="658440" y="1481400"/>
            <a:ext cx="10880640" cy="17640"/>
          </a:xfrm>
          <a:prstGeom prst="rect">
            <a:avLst/>
          </a:prstGeom>
          <a:solidFill>
            <a:srgbClr val="D8DCE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6640" rIns="90000" bIns="-26640" anchor="ctr">
            <a:noAutofit/>
          </a:bodyPr>
          <a:p>
            <a:endParaRPr lang="en-US" sz="1800" b="0" u="none" strike="noStrike">
              <a:solidFill>
                <a:schemeClr val="lt1"/>
              </a:solidFill>
              <a:effectLst/>
              <a:uFillTx/>
              <a:latin typeface="Calibri"/>
            </a:endParaRPr>
          </a:p>
        </p:txBody>
      </p:sp>
      <p:graphicFrame>
        <p:nvGraphicFramePr>
          <p:cNvPr id="94" name="Table 4"/>
          <p:cNvGraphicFramePr/>
          <p:nvPr/>
        </p:nvGraphicFramePr>
        <p:xfrm>
          <a:off x="658440" y="1783080"/>
          <a:ext cx="10881000" cy="2302560"/>
        </p:xfrm>
        <a:graphic>
          <a:graphicData uri="http://schemas.openxmlformats.org/drawingml/2006/table">
            <a:tbl>
              <a:tblPr/>
              <a:tblGrid>
                <a:gridCol w="4114800"/>
                <a:gridCol w="1005840"/>
                <a:gridCol w="5760720"/>
              </a:tblGrid>
              <a:tr h="383760">
                <a:tc>
                  <a:txBody>
                    <a:bodyPr lIns="73080" tIns="36360" rIns="73080" bIns="36360" anchor="t">
                      <a:noAutofit/>
                    </a:bodyPr>
                    <a:p>
                      <a:pPr defTabSz="457200">
                        <a:lnSpc>
                          <a:spcPct val="115000"/>
                        </a:lnSpc>
                      </a:pPr>
                      <a:r>
                        <a:rPr lang="en-US" sz="950" b="1" u="none" strike="noStrike">
                          <a:solidFill>
                            <a:srgbClr val="6B7178"/>
                          </a:solidFill>
                          <a:effectLst/>
                          <a:uFillTx/>
                          <a:latin typeface="Arial"/>
                        </a:rPr>
                        <a:t>Theme</a:t>
                      </a:r>
                      <a:endParaRPr lang="en-US" sz="9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4F6F8"/>
                    </a:solidFill>
                  </a:tcPr>
                </a:tc>
                <a:tc>
                  <a:txBody>
                    <a:bodyPr lIns="73080" tIns="36360" rIns="73080" bIns="36360" anchor="t">
                      <a:noAutofit/>
                    </a:bodyPr>
                    <a:p>
                      <a:pPr defTabSz="457200">
                        <a:lnSpc>
                          <a:spcPct val="115000"/>
                        </a:lnSpc>
                      </a:pPr>
                      <a:r>
                        <a:rPr lang="en-US" sz="950" b="1" u="none" strike="noStrike">
                          <a:solidFill>
                            <a:srgbClr val="6B7178"/>
                          </a:solidFill>
                          <a:effectLst/>
                          <a:uFillTx/>
                          <a:latin typeface="Arial"/>
                        </a:rPr>
                        <a:t>Works</a:t>
                      </a:r>
                      <a:endParaRPr lang="en-US" sz="9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4F6F8"/>
                    </a:solidFill>
                  </a:tcPr>
                </a:tc>
                <a:tc>
                  <a:txBody>
                    <a:bodyPr lIns="73080" tIns="36360" rIns="73080" bIns="36360" anchor="t">
                      <a:noAutofit/>
                    </a:bodyPr>
                    <a:p>
                      <a:pPr defTabSz="457200">
                        <a:lnSpc>
                          <a:spcPct val="115000"/>
                        </a:lnSpc>
                      </a:pPr>
                      <a:r>
                        <a:rPr lang="en-US" sz="950" b="1" u="none" strike="noStrike">
                          <a:solidFill>
                            <a:srgbClr val="6B7178"/>
                          </a:solidFill>
                          <a:effectLst/>
                          <a:uFillTx/>
                          <a:latin typeface="Arial"/>
                        </a:rPr>
                        <a:t>What it settles for this project</a:t>
                      </a:r>
                      <a:endParaRPr lang="en-US" sz="9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4F6F8"/>
                    </a:solidFill>
                  </a:tcPr>
                </a:tc>
              </a:tr>
              <a:tr h="383760">
                <a:tc>
                  <a:txBody>
                    <a:bodyPr lIns="73080" tIns="36360" rIns="73080" bIns="36360" anchor="t">
                      <a:noAutofit/>
                    </a:bodyPr>
                    <a:p>
                      <a:pPr defTabSz="457200">
                        <a:lnSpc>
                          <a:spcPct val="115000"/>
                        </a:lnSpc>
                      </a:pPr>
                      <a:r>
                        <a:rPr lang="en-US" sz="1300" b="0" u="none" strike="noStrike">
                          <a:solidFill>
                            <a:srgbClr val="16181A"/>
                          </a:solidFill>
                          <a:effectLst/>
                          <a:uFillTx/>
                          <a:latin typeface="Arial"/>
                        </a:rPr>
                        <a:t>Player modelling &amp; behaviour prediction</a:t>
                      </a:r>
                      <a:endParaRPr lang="en-US" sz="13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300" b="0" u="none" strike="noStrike">
                          <a:solidFill>
                            <a:srgbClr val="16181A"/>
                          </a:solidFill>
                          <a:effectLst/>
                          <a:uFillTx/>
                          <a:latin typeface="Arial"/>
                        </a:rPr>
                        <a:t>5</a:t>
                      </a:r>
                      <a:endParaRPr lang="en-US" sz="13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300" b="0" u="none" strike="noStrike">
                          <a:solidFill>
                            <a:srgbClr val="16181A"/>
                          </a:solidFill>
                          <a:effectLst/>
                          <a:uFillTx/>
                          <a:latin typeface="Arial"/>
                        </a:rPr>
                        <a:t>Behavioural signals alone suffice; models should be inspectable</a:t>
                      </a:r>
                      <a:endParaRPr lang="en-US" sz="13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300" b="0" u="none" strike="noStrike">
                          <a:solidFill>
                            <a:srgbClr val="16181A"/>
                          </a:solidFill>
                          <a:effectLst/>
                          <a:uFillTx/>
                          <a:latin typeface="Arial"/>
                        </a:rPr>
                        <a:t>Adaptive game AI &amp; dynamic difficulty</a:t>
                      </a:r>
                      <a:endParaRPr lang="en-US" sz="13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300" b="0" u="none" strike="noStrike">
                          <a:solidFill>
                            <a:srgbClr val="16181A"/>
                          </a:solidFill>
                          <a:effectLst/>
                          <a:uFillTx/>
                          <a:latin typeface="Arial"/>
                        </a:rPr>
                        <a:t>7</a:t>
                      </a:r>
                      <a:endParaRPr lang="en-US" sz="13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300" b="0" u="none" strike="noStrike">
                          <a:solidFill>
                            <a:srgbClr val="16181A"/>
                          </a:solidFill>
                          <a:effectLst/>
                          <a:uFillTx/>
                          <a:latin typeface="Arial"/>
                        </a:rPr>
                        <a:t>State of the art adapts parameters, rarely placement</a:t>
                      </a:r>
                      <a:endParaRPr lang="en-US" sz="13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300" b="0" u="none" strike="noStrike">
                          <a:solidFill>
                            <a:srgbClr val="16181A"/>
                          </a:solidFill>
                          <a:effectLst/>
                          <a:uFillTx/>
                          <a:latin typeface="Arial"/>
                        </a:rPr>
                        <a:t>Procedural generation of mutable levels</a:t>
                      </a:r>
                      <a:endParaRPr lang="en-US" sz="13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300" b="0" u="none" strike="noStrike">
                          <a:solidFill>
                            <a:srgbClr val="16181A"/>
                          </a:solidFill>
                          <a:effectLst/>
                          <a:uFillTx/>
                          <a:latin typeface="Arial"/>
                        </a:rPr>
                        <a:t>3</a:t>
                      </a:r>
                      <a:endParaRPr lang="en-US" sz="13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300" b="0" u="none" strike="noStrike">
                          <a:solidFill>
                            <a:srgbClr val="16181A"/>
                          </a:solidFill>
                          <a:effectLst/>
                          <a:uFillTx/>
                          <a:latin typeface="Arial"/>
                        </a:rPr>
                        <a:t>Graph-based generation with connectivity guarantees</a:t>
                      </a:r>
                      <a:endParaRPr lang="en-US" sz="13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300" b="0" u="none" strike="noStrike">
                          <a:solidFill>
                            <a:srgbClr val="16181A"/>
                          </a:solidFill>
                          <a:effectLst/>
                          <a:uFillTx/>
                          <a:latin typeface="Arial"/>
                        </a:rPr>
                        <a:t>Sequence &amp; next-location prediction</a:t>
                      </a:r>
                      <a:endParaRPr lang="en-US" sz="13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300" b="0" u="none" strike="noStrike">
                          <a:solidFill>
                            <a:srgbClr val="16181A"/>
                          </a:solidFill>
                          <a:effectLst/>
                          <a:uFillTx/>
                          <a:latin typeface="Arial"/>
                        </a:rPr>
                        <a:t>5</a:t>
                      </a:r>
                      <a:endParaRPr lang="en-US" sz="13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300" b="0" u="none" strike="noStrike">
                          <a:solidFill>
                            <a:srgbClr val="16181A"/>
                          </a:solidFill>
                          <a:effectLst/>
                          <a:uFillTx/>
                          <a:latin typeface="Arial"/>
                        </a:rPr>
                        <a:t>The methodological core — VOMM and its successors</a:t>
                      </a:r>
                      <a:endParaRPr lang="en-US" sz="13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300" b="0" u="none" strike="noStrike">
                          <a:solidFill>
                            <a:srgbClr val="16181A"/>
                          </a:solidFill>
                          <a:effectLst/>
                          <a:uFillTx/>
                          <a:latin typeface="Arial"/>
                        </a:rPr>
                        <a:t>Fear as a measurable experience</a:t>
                      </a:r>
                      <a:endParaRPr lang="en-US" sz="13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300" b="0" u="none" strike="noStrike">
                          <a:solidFill>
                            <a:srgbClr val="16181A"/>
                          </a:solidFill>
                          <a:effectLst/>
                          <a:uFillTx/>
                          <a:latin typeface="Arial"/>
                        </a:rPr>
                        <a:t>2</a:t>
                      </a:r>
                      <a:endParaRPr lang="en-US" sz="13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300" b="0" u="none" strike="noStrike">
                          <a:solidFill>
                            <a:srgbClr val="16181A"/>
                          </a:solidFill>
                          <a:effectLst/>
                          <a:uFillTx/>
                          <a:latin typeface="Arial"/>
                        </a:rPr>
                        <a:t>Unfairness destroys fear; behaviour reveals fear</a:t>
                      </a:r>
                      <a:endParaRPr lang="en-US" sz="13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bl>
          </a:graphicData>
        </a:graphic>
      </p:graphicFrame>
      <p:sp>
        <p:nvSpPr>
          <p:cNvPr id="95" name="TextBox 5"/>
          <p:cNvSpPr/>
          <p:nvPr/>
        </p:nvSpPr>
        <p:spPr>
          <a:xfrm>
            <a:off x="658440" y="4754880"/>
            <a:ext cx="10880640" cy="1279440"/>
          </a:xfrm>
          <a:prstGeom prst="rect">
            <a:avLst/>
          </a:prstGeom>
          <a:noFill/>
          <a:ln w="0">
            <a:noFill/>
          </a:ln>
        </p:spPr>
        <p:style>
          <a:lnRef idx="0"/>
          <a:fillRef idx="0"/>
          <a:effectRef idx="0"/>
          <a:fontRef idx="minor"/>
        </p:style>
        <p:txBody>
          <a:bodyPr lIns="0" tIns="0" rIns="0" bIns="0" anchor="t">
            <a:spAutoFit/>
          </a:bodyPr>
          <a:p>
            <a:pPr defTabSz="457200">
              <a:lnSpc>
                <a:spcPct val="135000"/>
              </a:lnSpc>
              <a:spcAft>
                <a:spcPts val="601"/>
              </a:spcAft>
            </a:pPr>
            <a:r>
              <a:rPr lang="en-US" sz="1250" b="0" u="none" strike="noStrike">
                <a:solidFill>
                  <a:srgbClr val="6B7178"/>
                </a:solidFill>
                <a:effectLst/>
                <a:uFillTx/>
                <a:latin typeface="Arial"/>
              </a:rPr>
              <a:t>Selection criteria — peer-reviewed or arXiv-indexed work addressing player behaviour prediction, runtime game adaptation, or discrete-trajectory prediction. Priority given to 2023-2026 publications; one foundational 2004 work is retained because it is the formal basis of the proposed model.</a:t>
            </a:r>
            <a:endParaRPr lang="en-US" sz="12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CFB"/>
        </a:solidFill>
      </p:bgPr>
    </p:bg>
    <p:spTree>
      <p:nvGrpSpPr>
        <p:cNvPr id="1" name=""/>
        <p:cNvGrpSpPr/>
        <p:nvPr/>
      </p:nvGrpSpPr>
      <p:grpSpPr>
        <a:xfrm>
          <a:off x="0" y="0"/>
          <a:ext cx="0" cy="0"/>
          <a:chOff x="0" y="0"/>
          <a:chExt cx="0" cy="0"/>
        </a:xfrm>
      </p:grpSpPr>
      <p:sp>
        <p:nvSpPr>
          <p:cNvPr id="96" name="TextBox 1"/>
          <p:cNvSpPr/>
          <p:nvPr/>
        </p:nvSpPr>
        <p:spPr>
          <a:xfrm>
            <a:off x="658440" y="420480"/>
            <a:ext cx="10880640" cy="273600"/>
          </a:xfrm>
          <a:prstGeom prst="rect">
            <a:avLst/>
          </a:prstGeom>
          <a:noFill/>
          <a:ln w="0">
            <a:noFill/>
          </a:ln>
        </p:spPr>
        <p:style>
          <a:lnRef idx="0"/>
          <a:fillRef idx="0"/>
          <a:effectRef idx="0"/>
          <a:fontRef idx="minor"/>
        </p:style>
        <p:txBody>
          <a:bodyPr lIns="0" tIns="0" rIns="0" bIns="0" anchor="t">
            <a:spAutoFit/>
          </a:bodyPr>
          <a:p>
            <a:pPr defTabSz="457200">
              <a:lnSpc>
                <a:spcPct val="125000"/>
              </a:lnSpc>
              <a:spcAft>
                <a:spcPts val="601"/>
              </a:spcAft>
            </a:pPr>
            <a:r>
              <a:rPr lang="en-US" sz="1050" b="1" u="none" strike="noStrike">
                <a:solidFill>
                  <a:srgbClr val="2A78D6"/>
                </a:solidFill>
                <a:effectLst/>
                <a:uFillTx/>
                <a:latin typeface="Arial"/>
              </a:rPr>
              <a:t>5 · LITERATURE REVIEW</a:t>
            </a:r>
            <a:endParaRPr lang="en-US" sz="1050" b="0" u="none" strike="noStrike">
              <a:solidFill>
                <a:srgbClr val="000000"/>
              </a:solidFill>
              <a:effectLst/>
              <a:uFillTx/>
              <a:latin typeface="Arial"/>
            </a:endParaRPr>
          </a:p>
        </p:txBody>
      </p:sp>
      <p:sp>
        <p:nvSpPr>
          <p:cNvPr id="97" name="TextBox 2"/>
          <p:cNvSpPr/>
          <p:nvPr/>
        </p:nvSpPr>
        <p:spPr>
          <a:xfrm>
            <a:off x="658440" y="749880"/>
            <a:ext cx="10880640" cy="822240"/>
          </a:xfrm>
          <a:prstGeom prst="rect">
            <a:avLst/>
          </a:prstGeom>
          <a:noFill/>
          <a:ln w="0">
            <a:noFill/>
          </a:ln>
        </p:spPr>
        <p:style>
          <a:lnRef idx="0"/>
          <a:fillRef idx="0"/>
          <a:effectRef idx="0"/>
          <a:fontRef idx="minor"/>
        </p:style>
        <p:txBody>
          <a:bodyPr lIns="0" tIns="0" rIns="0" bIns="0" anchor="t">
            <a:spAutoFit/>
          </a:bodyPr>
          <a:p>
            <a:pPr defTabSz="457200">
              <a:lnSpc>
                <a:spcPct val="125000"/>
              </a:lnSpc>
              <a:spcAft>
                <a:spcPts val="601"/>
              </a:spcAft>
            </a:pPr>
            <a:r>
              <a:rPr lang="en-US" sz="2800" b="1" u="none" strike="noStrike">
                <a:solidFill>
                  <a:srgbClr val="16181A"/>
                </a:solidFill>
                <a:effectLst/>
                <a:uFillTx/>
                <a:latin typeface="Arial"/>
              </a:rPr>
              <a:t>Player modelling and adaptive game AI</a:t>
            </a:r>
            <a:endParaRPr lang="en-US" sz="2800" b="0" u="none" strike="noStrike">
              <a:solidFill>
                <a:srgbClr val="000000"/>
              </a:solidFill>
              <a:effectLst/>
              <a:uFillTx/>
              <a:latin typeface="Arial"/>
            </a:endParaRPr>
          </a:p>
        </p:txBody>
      </p:sp>
      <p:sp>
        <p:nvSpPr>
          <p:cNvPr id="98" name="Rectangle 3"/>
          <p:cNvSpPr/>
          <p:nvPr/>
        </p:nvSpPr>
        <p:spPr>
          <a:xfrm>
            <a:off x="658440" y="1481400"/>
            <a:ext cx="10880640" cy="17640"/>
          </a:xfrm>
          <a:prstGeom prst="rect">
            <a:avLst/>
          </a:prstGeom>
          <a:solidFill>
            <a:srgbClr val="D8DCE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6640" rIns="90000" bIns="-26640" anchor="ctr">
            <a:noAutofit/>
          </a:bodyPr>
          <a:p>
            <a:endParaRPr lang="en-US" sz="1800" b="0" u="none" strike="noStrike">
              <a:solidFill>
                <a:schemeClr val="lt1"/>
              </a:solidFill>
              <a:effectLst/>
              <a:uFillTx/>
              <a:latin typeface="Calibri"/>
            </a:endParaRPr>
          </a:p>
        </p:txBody>
      </p:sp>
      <p:graphicFrame>
        <p:nvGraphicFramePr>
          <p:cNvPr id="99" name="Table 4"/>
          <p:cNvGraphicFramePr/>
          <p:nvPr/>
        </p:nvGraphicFramePr>
        <p:xfrm>
          <a:off x="658440" y="1783080"/>
          <a:ext cx="10881000" cy="3453840"/>
        </p:xfrm>
        <a:graphic>
          <a:graphicData uri="http://schemas.openxmlformats.org/drawingml/2006/table">
            <a:tbl>
              <a:tblPr/>
              <a:tblGrid>
                <a:gridCol w="5852160"/>
                <a:gridCol w="548640"/>
                <a:gridCol w="4480560"/>
              </a:tblGrid>
              <a:tr h="383760">
                <a:tc>
                  <a:txBody>
                    <a:bodyPr lIns="73080" tIns="36360" rIns="73080" bIns="36360" anchor="t">
                      <a:noAutofit/>
                    </a:bodyPr>
                    <a:p>
                      <a:pPr defTabSz="457200">
                        <a:lnSpc>
                          <a:spcPct val="115000"/>
                        </a:lnSpc>
                      </a:pPr>
                      <a:r>
                        <a:rPr lang="en-US" sz="900" b="1" u="none" strike="noStrike">
                          <a:solidFill>
                            <a:srgbClr val="6B7178"/>
                          </a:solidFill>
                          <a:effectLst/>
                          <a:uFillTx/>
                          <a:latin typeface="Arial"/>
                        </a:rPr>
                        <a:t>Work</a:t>
                      </a:r>
                      <a:endParaRPr lang="en-US" sz="9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4F6F8"/>
                    </a:solidFill>
                  </a:tcPr>
                </a:tc>
                <a:tc>
                  <a:txBody>
                    <a:bodyPr lIns="73080" tIns="36360" rIns="73080" bIns="36360" anchor="t">
                      <a:noAutofit/>
                    </a:bodyPr>
                    <a:p>
                      <a:pPr defTabSz="457200">
                        <a:lnSpc>
                          <a:spcPct val="115000"/>
                        </a:lnSpc>
                      </a:pPr>
                      <a:r>
                        <a:rPr lang="en-US" sz="900" b="1" u="none" strike="noStrike">
                          <a:solidFill>
                            <a:srgbClr val="6B7178"/>
                          </a:solidFill>
                          <a:effectLst/>
                          <a:uFillTx/>
                          <a:latin typeface="Arial"/>
                        </a:rPr>
                        <a:t>Yr</a:t>
                      </a:r>
                      <a:endParaRPr lang="en-US" sz="9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4F6F8"/>
                    </a:solidFill>
                  </a:tcPr>
                </a:tc>
                <a:tc>
                  <a:txBody>
                    <a:bodyPr lIns="73080" tIns="36360" rIns="73080" bIns="36360" anchor="t">
                      <a:noAutofit/>
                    </a:bodyPr>
                    <a:p>
                      <a:pPr defTabSz="457200">
                        <a:lnSpc>
                          <a:spcPct val="115000"/>
                        </a:lnSpc>
                      </a:pPr>
                      <a:r>
                        <a:rPr lang="en-US" sz="900" b="1" u="none" strike="noStrike">
                          <a:solidFill>
                            <a:srgbClr val="6B7178"/>
                          </a:solidFill>
                          <a:effectLst/>
                          <a:uFillTx/>
                          <a:latin typeface="Arial"/>
                        </a:rPr>
                        <a:t>Relevance</a:t>
                      </a:r>
                      <a:endParaRPr lang="en-US" sz="9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4F6F8"/>
                    </a:solidFill>
                  </a:tcPr>
                </a:tc>
              </a:tr>
              <a:tr h="383760">
                <a:tc>
                  <a:txBody>
                    <a:bodyPr lIns="73080" tIns="36360" rIns="73080" bIns="36360" anchor="t">
                      <a:noAutofit/>
                    </a:bodyPr>
                    <a:p>
                      <a:pPr defTabSz="457200">
                        <a:lnSpc>
                          <a:spcPct val="115000"/>
                        </a:lnSpc>
                      </a:pPr>
                      <a:r>
                        <a:rPr lang="en-US" sz="1150" b="0" u="none" strike="noStrike">
                          <a:solidFill>
                            <a:srgbClr val="16181A"/>
                          </a:solidFill>
                          <a:effectLst/>
                          <a:uFillTx/>
                          <a:latin typeface="Arial"/>
                        </a:rPr>
                        <a:t>Lin et al., Open Player Modeling (2603.26915)</a:t>
                      </a:r>
                      <a:endParaRPr lang="en-US" sz="11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150" b="0" u="none" strike="noStrike">
                          <a:solidFill>
                            <a:srgbClr val="16181A"/>
                          </a:solidFill>
                          <a:effectLst/>
                          <a:uFillTx/>
                          <a:latin typeface="Arial"/>
                        </a:rPr>
                        <a:t>26</a:t>
                      </a:r>
                      <a:endParaRPr lang="en-US" sz="11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150" b="0" u="none" strike="noStrike">
                          <a:solidFill>
                            <a:srgbClr val="16181A"/>
                          </a:solidFill>
                          <a:effectLst/>
                          <a:uFillTx/>
                          <a:latin typeface="Arial"/>
                        </a:rPr>
                        <a:t>Player models should be inspectable — motivates our overlay</a:t>
                      </a:r>
                      <a:endParaRPr lang="en-US" sz="11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150" b="0" u="none" strike="noStrike">
                          <a:solidFill>
                            <a:srgbClr val="16181A"/>
                          </a:solidFill>
                          <a:effectLst/>
                          <a:uFillTx/>
                          <a:latin typeface="Arial"/>
                        </a:rPr>
                        <a:t>Halina et al., Playtrace Reconstructive Partitioning (2607.12097)</a:t>
                      </a:r>
                      <a:endParaRPr lang="en-US" sz="11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150" b="0" u="none" strike="noStrike">
                          <a:solidFill>
                            <a:srgbClr val="16181A"/>
                          </a:solidFill>
                          <a:effectLst/>
                          <a:uFillTx/>
                          <a:latin typeface="Arial"/>
                        </a:rPr>
                        <a:t>26</a:t>
                      </a:r>
                      <a:endParaRPr lang="en-US" sz="11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150" b="0" u="none" strike="noStrike">
                          <a:solidFill>
                            <a:srgbClr val="16181A"/>
                          </a:solidFill>
                          <a:effectLst/>
                          <a:uFillTx/>
                          <a:latin typeface="Arial"/>
                        </a:rPr>
                        <a:t>Playtraces as the level's primary representation</a:t>
                      </a:r>
                      <a:endParaRPr lang="en-US" sz="11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150" b="0" u="none" strike="noStrike">
                          <a:solidFill>
                            <a:srgbClr val="16181A"/>
                          </a:solidFill>
                          <a:effectLst/>
                          <a:uFillTx/>
                          <a:latin typeface="Arial"/>
                        </a:rPr>
                        <a:t>Carlier et al., Personalization in Serious Games (2411.18500)</a:t>
                      </a:r>
                      <a:endParaRPr lang="en-US" sz="11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150" b="0" u="none" strike="noStrike">
                          <a:solidFill>
                            <a:srgbClr val="16181A"/>
                          </a:solidFill>
                          <a:effectLst/>
                          <a:uFillTx/>
                          <a:latin typeface="Arial"/>
                        </a:rPr>
                        <a:t>24</a:t>
                      </a:r>
                      <a:endParaRPr lang="en-US" sz="11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150" b="0" u="none" strike="noStrike">
                          <a:solidFill>
                            <a:srgbClr val="16181A"/>
                          </a:solidFill>
                          <a:effectLst/>
                          <a:uFillTx/>
                          <a:latin typeface="Arial"/>
                        </a:rPr>
                        <a:t>Model/method/adaptation split mirrors our architecture</a:t>
                      </a:r>
                      <a:endParaRPr lang="en-US" sz="11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150" b="0" u="none" strike="noStrike">
                          <a:solidFill>
                            <a:srgbClr val="16181A"/>
                          </a:solidFill>
                          <a:effectLst/>
                          <a:uFillTx/>
                          <a:latin typeface="Arial"/>
                        </a:rPr>
                        <a:t>Dehpanah et al., Player Modeling from Behavioral Signals (2112.04379)</a:t>
                      </a:r>
                      <a:endParaRPr lang="en-US" sz="11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150" b="0" u="none" strike="noStrike">
                          <a:solidFill>
                            <a:srgbClr val="16181A"/>
                          </a:solidFill>
                          <a:effectLst/>
                          <a:uFillTx/>
                          <a:latin typeface="Arial"/>
                        </a:rPr>
                        <a:t>21</a:t>
                      </a:r>
                      <a:endParaRPr lang="en-US" sz="11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150" b="0" u="none" strike="noStrike">
                          <a:solidFill>
                            <a:srgbClr val="16181A"/>
                          </a:solidFill>
                          <a:effectLst/>
                          <a:uFillTx/>
                          <a:latin typeface="Arial"/>
                        </a:rPr>
                        <a:t>Raw behaviour suffices — no biometrics needed</a:t>
                      </a:r>
                      <a:endParaRPr lang="en-US" sz="11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150" b="0" u="none" strike="noStrike">
                          <a:solidFill>
                            <a:srgbClr val="16181A"/>
                          </a:solidFill>
                          <a:effectLst/>
                          <a:uFillTx/>
                          <a:latin typeface="Arial"/>
                        </a:rPr>
                        <a:t>Romeo et al., NTRL: RL for DDA in D&amp;D (2506.19530)</a:t>
                      </a:r>
                      <a:endParaRPr lang="en-US" sz="11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150" b="0" u="none" strike="noStrike">
                          <a:solidFill>
                            <a:srgbClr val="16181A"/>
                          </a:solidFill>
                          <a:effectLst/>
                          <a:uFillTx/>
                          <a:latin typeface="Arial"/>
                        </a:rPr>
                        <a:t>25</a:t>
                      </a:r>
                      <a:endParaRPr lang="en-US" sz="11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150" b="0" u="none" strike="noStrike">
                          <a:solidFill>
                            <a:srgbClr val="16181A"/>
                          </a:solidFill>
                          <a:effectLst/>
                          <a:uFillTx/>
                          <a:latin typeface="Arial"/>
                        </a:rPr>
                        <a:t>Closest analogue — adapts encounters, not stats</a:t>
                      </a:r>
                      <a:endParaRPr lang="en-US" sz="11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150" b="0" u="none" strike="noStrike">
                          <a:solidFill>
                            <a:srgbClr val="16181A"/>
                          </a:solidFill>
                          <a:effectLst/>
                          <a:uFillTx/>
                          <a:latin typeface="Arial"/>
                        </a:rPr>
                        <a:t>Lopes et al., Affect-Driven Game Adaptation review (2505.01351)</a:t>
                      </a:r>
                      <a:endParaRPr lang="en-US" sz="11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150" b="0" u="none" strike="noStrike">
                          <a:solidFill>
                            <a:srgbClr val="16181A"/>
                          </a:solidFill>
                          <a:effectLst/>
                          <a:uFillTx/>
                          <a:latin typeface="Arial"/>
                        </a:rPr>
                        <a:t>25</a:t>
                      </a:r>
                      <a:endParaRPr lang="en-US" sz="11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150" b="0" u="none" strike="noStrike">
                          <a:solidFill>
                            <a:srgbClr val="16181A"/>
                          </a:solidFill>
                          <a:effectLst/>
                          <a:uFillTx/>
                          <a:latin typeface="Arial"/>
                        </a:rPr>
                        <a:t>Identifies evaluation as the field's weak point</a:t>
                      </a:r>
                      <a:endParaRPr lang="en-US" sz="11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150" b="0" u="none" strike="noStrike">
                          <a:solidFill>
                            <a:srgbClr val="16181A"/>
                          </a:solidFill>
                          <a:effectLst/>
                          <a:uFillTx/>
                          <a:latin typeface="Arial"/>
                        </a:rPr>
                        <a:t>Fuchs et al., Personalized DDA (2408.06818)</a:t>
                      </a:r>
                      <a:endParaRPr lang="en-US" sz="11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150" b="0" u="none" strike="noStrike">
                          <a:solidFill>
                            <a:srgbClr val="16181A"/>
                          </a:solidFill>
                          <a:effectLst/>
                          <a:uFillTx/>
                          <a:latin typeface="Arial"/>
                        </a:rPr>
                        <a:t>24</a:t>
                      </a:r>
                      <a:endParaRPr lang="en-US" sz="11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150" b="0" u="none" strike="noStrike">
                          <a:solidFill>
                            <a:srgbClr val="16181A"/>
                          </a:solidFill>
                          <a:effectLst/>
                          <a:uFillTx/>
                          <a:latin typeface="Arial"/>
                        </a:rPr>
                        <a:t>Imitation + RL personalisation; far heavier to train</a:t>
                      </a:r>
                      <a:endParaRPr lang="en-US" sz="11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150" b="0" u="none" strike="noStrike">
                          <a:solidFill>
                            <a:srgbClr val="16181A"/>
                          </a:solidFill>
                          <a:effectLst/>
                          <a:uFillTx/>
                          <a:latin typeface="Arial"/>
                        </a:rPr>
                        <a:t>Cafri et al., DDA with Brain Waves (2504.13965)</a:t>
                      </a:r>
                      <a:endParaRPr lang="en-US" sz="11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150" b="0" u="none" strike="noStrike">
                          <a:solidFill>
                            <a:srgbClr val="16181A"/>
                          </a:solidFill>
                          <a:effectLst/>
                          <a:uFillTx/>
                          <a:latin typeface="Arial"/>
                        </a:rPr>
                        <a:t>25</a:t>
                      </a:r>
                      <a:endParaRPr lang="en-US" sz="11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150" b="0" u="none" strike="noStrike">
                          <a:solidFill>
                            <a:srgbClr val="16181A"/>
                          </a:solidFill>
                          <a:effectLst/>
                          <a:uFillTx/>
                          <a:latin typeface="Arial"/>
                        </a:rPr>
                        <a:t>Biometric branch — we deliberately avoid extra hardware</a:t>
                      </a:r>
                      <a:endParaRPr lang="en-US" sz="11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bl>
          </a:graphicData>
        </a:graphic>
      </p:graphicFrame>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CFB"/>
        </a:solidFill>
      </p:bgPr>
    </p:bg>
    <p:spTree>
      <p:nvGrpSpPr>
        <p:cNvPr id="1" name=""/>
        <p:cNvGrpSpPr/>
        <p:nvPr/>
      </p:nvGrpSpPr>
      <p:grpSpPr>
        <a:xfrm>
          <a:off x="0" y="0"/>
          <a:ext cx="0" cy="0"/>
          <a:chOff x="0" y="0"/>
          <a:chExt cx="0" cy="0"/>
        </a:xfrm>
      </p:grpSpPr>
      <p:sp>
        <p:nvSpPr>
          <p:cNvPr id="100" name="TextBox 1"/>
          <p:cNvSpPr/>
          <p:nvPr/>
        </p:nvSpPr>
        <p:spPr>
          <a:xfrm>
            <a:off x="658440" y="420480"/>
            <a:ext cx="10880640" cy="273600"/>
          </a:xfrm>
          <a:prstGeom prst="rect">
            <a:avLst/>
          </a:prstGeom>
          <a:noFill/>
          <a:ln w="0">
            <a:noFill/>
          </a:ln>
        </p:spPr>
        <p:style>
          <a:lnRef idx="0"/>
          <a:fillRef idx="0"/>
          <a:effectRef idx="0"/>
          <a:fontRef idx="minor"/>
        </p:style>
        <p:txBody>
          <a:bodyPr lIns="0" tIns="0" rIns="0" bIns="0" anchor="t">
            <a:spAutoFit/>
          </a:bodyPr>
          <a:p>
            <a:pPr defTabSz="457200">
              <a:lnSpc>
                <a:spcPct val="125000"/>
              </a:lnSpc>
              <a:spcAft>
                <a:spcPts val="601"/>
              </a:spcAft>
            </a:pPr>
            <a:r>
              <a:rPr lang="en-US" sz="1050" b="1" u="none" strike="noStrike">
                <a:solidFill>
                  <a:srgbClr val="2A78D6"/>
                </a:solidFill>
                <a:effectLst/>
                <a:uFillTx/>
                <a:latin typeface="Arial"/>
              </a:rPr>
              <a:t>6 · LITERATURE REVIEW</a:t>
            </a:r>
            <a:endParaRPr lang="en-US" sz="1050" b="0" u="none" strike="noStrike">
              <a:solidFill>
                <a:srgbClr val="000000"/>
              </a:solidFill>
              <a:effectLst/>
              <a:uFillTx/>
              <a:latin typeface="Arial"/>
            </a:endParaRPr>
          </a:p>
        </p:txBody>
      </p:sp>
      <p:sp>
        <p:nvSpPr>
          <p:cNvPr id="101" name="TextBox 2"/>
          <p:cNvSpPr/>
          <p:nvPr/>
        </p:nvSpPr>
        <p:spPr>
          <a:xfrm>
            <a:off x="658440" y="749880"/>
            <a:ext cx="10880640" cy="822240"/>
          </a:xfrm>
          <a:prstGeom prst="rect">
            <a:avLst/>
          </a:prstGeom>
          <a:noFill/>
          <a:ln w="0">
            <a:noFill/>
          </a:ln>
        </p:spPr>
        <p:style>
          <a:lnRef idx="0"/>
          <a:fillRef idx="0"/>
          <a:effectRef idx="0"/>
          <a:fontRef idx="minor"/>
        </p:style>
        <p:txBody>
          <a:bodyPr lIns="0" tIns="0" rIns="0" bIns="0" anchor="t">
            <a:spAutoFit/>
          </a:bodyPr>
          <a:p>
            <a:pPr defTabSz="457200">
              <a:lnSpc>
                <a:spcPct val="125000"/>
              </a:lnSpc>
              <a:spcAft>
                <a:spcPts val="601"/>
              </a:spcAft>
            </a:pPr>
            <a:r>
              <a:rPr lang="en-US" sz="2800" b="1" u="none" strike="noStrike">
                <a:solidFill>
                  <a:srgbClr val="16181A"/>
                </a:solidFill>
                <a:effectLst/>
                <a:uFillTx/>
                <a:latin typeface="Arial"/>
              </a:rPr>
              <a:t>Level generation and trajectory prediction</a:t>
            </a:r>
            <a:endParaRPr lang="en-US" sz="2800" b="0" u="none" strike="noStrike">
              <a:solidFill>
                <a:srgbClr val="000000"/>
              </a:solidFill>
              <a:effectLst/>
              <a:uFillTx/>
              <a:latin typeface="Arial"/>
            </a:endParaRPr>
          </a:p>
        </p:txBody>
      </p:sp>
      <p:sp>
        <p:nvSpPr>
          <p:cNvPr id="102" name="Rectangle 3"/>
          <p:cNvSpPr/>
          <p:nvPr/>
        </p:nvSpPr>
        <p:spPr>
          <a:xfrm>
            <a:off x="658440" y="1481400"/>
            <a:ext cx="10880640" cy="17640"/>
          </a:xfrm>
          <a:prstGeom prst="rect">
            <a:avLst/>
          </a:prstGeom>
          <a:solidFill>
            <a:srgbClr val="D8DCE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6640" rIns="90000" bIns="-26640" anchor="ctr">
            <a:noAutofit/>
          </a:bodyPr>
          <a:p>
            <a:endParaRPr lang="en-US" sz="1800" b="0" u="none" strike="noStrike">
              <a:solidFill>
                <a:schemeClr val="lt1"/>
              </a:solidFill>
              <a:effectLst/>
              <a:uFillTx/>
              <a:latin typeface="Calibri"/>
            </a:endParaRPr>
          </a:p>
        </p:txBody>
      </p:sp>
      <p:graphicFrame>
        <p:nvGraphicFramePr>
          <p:cNvPr id="103" name="Table 4"/>
          <p:cNvGraphicFramePr/>
          <p:nvPr/>
        </p:nvGraphicFramePr>
        <p:xfrm>
          <a:off x="658440" y="1783080"/>
          <a:ext cx="10881000" cy="4221360"/>
        </p:xfrm>
        <a:graphic>
          <a:graphicData uri="http://schemas.openxmlformats.org/drawingml/2006/table">
            <a:tbl>
              <a:tblPr/>
              <a:tblGrid>
                <a:gridCol w="5852160"/>
                <a:gridCol w="548640"/>
                <a:gridCol w="4480560"/>
              </a:tblGrid>
              <a:tr h="383760">
                <a:tc>
                  <a:txBody>
                    <a:bodyPr lIns="73080" tIns="36360" rIns="73080" bIns="36360" anchor="t">
                      <a:noAutofit/>
                    </a:bodyPr>
                    <a:p>
                      <a:pPr defTabSz="457200">
                        <a:lnSpc>
                          <a:spcPct val="115000"/>
                        </a:lnSpc>
                      </a:pPr>
                      <a:r>
                        <a:rPr lang="en-US" sz="900" b="1" u="none" strike="noStrike">
                          <a:solidFill>
                            <a:srgbClr val="6B7178"/>
                          </a:solidFill>
                          <a:effectLst/>
                          <a:uFillTx/>
                          <a:latin typeface="Arial"/>
                        </a:rPr>
                        <a:t>Work</a:t>
                      </a:r>
                      <a:endParaRPr lang="en-US" sz="9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4F6F8"/>
                    </a:solidFill>
                  </a:tcPr>
                </a:tc>
                <a:tc>
                  <a:txBody>
                    <a:bodyPr lIns="73080" tIns="36360" rIns="73080" bIns="36360" anchor="t">
                      <a:noAutofit/>
                    </a:bodyPr>
                    <a:p>
                      <a:pPr defTabSz="457200">
                        <a:lnSpc>
                          <a:spcPct val="115000"/>
                        </a:lnSpc>
                      </a:pPr>
                      <a:r>
                        <a:rPr lang="en-US" sz="900" b="1" u="none" strike="noStrike">
                          <a:solidFill>
                            <a:srgbClr val="6B7178"/>
                          </a:solidFill>
                          <a:effectLst/>
                          <a:uFillTx/>
                          <a:latin typeface="Arial"/>
                        </a:rPr>
                        <a:t>Yr</a:t>
                      </a:r>
                      <a:endParaRPr lang="en-US" sz="9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4F6F8"/>
                    </a:solidFill>
                  </a:tcPr>
                </a:tc>
                <a:tc>
                  <a:txBody>
                    <a:bodyPr lIns="73080" tIns="36360" rIns="73080" bIns="36360" anchor="t">
                      <a:noAutofit/>
                    </a:bodyPr>
                    <a:p>
                      <a:pPr defTabSz="457200">
                        <a:lnSpc>
                          <a:spcPct val="115000"/>
                        </a:lnSpc>
                      </a:pPr>
                      <a:r>
                        <a:rPr lang="en-US" sz="900" b="1" u="none" strike="noStrike">
                          <a:solidFill>
                            <a:srgbClr val="6B7178"/>
                          </a:solidFill>
                          <a:effectLst/>
                          <a:uFillTx/>
                          <a:latin typeface="Arial"/>
                        </a:rPr>
                        <a:t>Relevance</a:t>
                      </a:r>
                      <a:endParaRPr lang="en-US" sz="9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4F6F8"/>
                    </a:solidFill>
                  </a:tcPr>
                </a:tc>
              </a:tr>
              <a:tr h="383760">
                <a:tc>
                  <a:txBody>
                    <a:bodyPr lIns="73080" tIns="36360" rIns="73080" bIns="36360" anchor="t">
                      <a:noAutofit/>
                    </a:bodyPr>
                    <a:p>
                      <a:pPr defTabSz="457200">
                        <a:lnSpc>
                          <a:spcPct val="115000"/>
                        </a:lnSpc>
                      </a:pPr>
                      <a:r>
                        <a:rPr lang="en-US" sz="1100" b="0" u="none" strike="noStrike">
                          <a:solidFill>
                            <a:srgbClr val="16181A"/>
                          </a:solidFill>
                          <a:effectLst/>
                          <a:uFillTx/>
                          <a:latin typeface="Arial"/>
                        </a:rPr>
                        <a:t>Fiuza Vieira et al., Mansions and Dungeons generation (2606.03857)</a:t>
                      </a:r>
                      <a:endParaRPr lang="en-US" sz="11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100" b="0" u="none" strike="noStrike">
                          <a:solidFill>
                            <a:srgbClr val="16181A"/>
                          </a:solidFill>
                          <a:effectLst/>
                          <a:uFillTx/>
                          <a:latin typeface="Arial"/>
                        </a:rPr>
                        <a:t>26</a:t>
                      </a:r>
                      <a:endParaRPr lang="en-US" sz="11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100" b="0" u="none" strike="noStrike">
                          <a:solidFill>
                            <a:srgbClr val="16181A"/>
                          </a:solidFill>
                          <a:effectLst/>
                          <a:uFillTx/>
                          <a:latin typeface="Arial"/>
                        </a:rPr>
                        <a:t>Graph generation of exactly our building type</a:t>
                      </a:r>
                      <a:endParaRPr lang="en-US" sz="11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100" b="0" u="none" strike="noStrike">
                          <a:solidFill>
                            <a:srgbClr val="16181A"/>
                          </a:solidFill>
                          <a:effectLst/>
                          <a:uFillTx/>
                          <a:latin typeface="Arial"/>
                        </a:rPr>
                        <a:t>Earle et al., Level Design as Multi-Agent RL (2510.04862)</a:t>
                      </a:r>
                      <a:endParaRPr lang="en-US" sz="11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100" b="0" u="none" strike="noStrike">
                          <a:solidFill>
                            <a:srgbClr val="16181A"/>
                          </a:solidFill>
                          <a:effectLst/>
                          <a:uFillTx/>
                          <a:latin typeface="Arial"/>
                        </a:rPr>
                        <a:t>25</a:t>
                      </a:r>
                      <a:endParaRPr lang="en-US" sz="11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100" b="0" u="none" strike="noStrike">
                          <a:solidFill>
                            <a:srgbClr val="16181A"/>
                          </a:solidFill>
                          <a:effectLst/>
                          <a:uFillTx/>
                          <a:latin typeface="Arial"/>
                        </a:rPr>
                        <a:t>Framing for a Director that edits the level at runtime</a:t>
                      </a:r>
                      <a:endParaRPr lang="en-US" sz="11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100" b="0" u="none" strike="noStrike">
                          <a:solidFill>
                            <a:srgbClr val="16181A"/>
                          </a:solidFill>
                          <a:effectLst/>
                          <a:uFillTx/>
                          <a:latin typeface="Arial"/>
                        </a:rPr>
                        <a:t>Özkan, Procedural Level Design with Deep RL (2510.15120)</a:t>
                      </a:r>
                      <a:endParaRPr lang="en-US" sz="11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100" b="0" u="none" strike="noStrike">
                          <a:solidFill>
                            <a:srgbClr val="16181A"/>
                          </a:solidFill>
                          <a:effectLst/>
                          <a:uFillTx/>
                          <a:latin typeface="Arial"/>
                        </a:rPr>
                        <a:t>25</a:t>
                      </a:r>
                      <a:endParaRPr lang="en-US" sz="11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100" b="0" u="none" strike="noStrike">
                          <a:solidFill>
                            <a:srgbClr val="16181A"/>
                          </a:solidFill>
                          <a:effectLst/>
                          <a:uFillTx/>
                          <a:latin typeface="Arial"/>
                        </a:rPr>
                        <a:t>Contrast to our constraint-checked mutation</a:t>
                      </a:r>
                      <a:endParaRPr lang="en-US" sz="11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100" b="0" u="none" strike="noStrike">
                          <a:solidFill>
                            <a:srgbClr val="16181A"/>
                          </a:solidFill>
                          <a:effectLst/>
                          <a:uFillTx/>
                          <a:latin typeface="Arial"/>
                        </a:rPr>
                        <a:t>Begleiter, El-Yaniv &amp; Yona, Variable Order Markov Models, JAIR 22</a:t>
                      </a:r>
                      <a:endParaRPr lang="en-US" sz="11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100" b="0" u="none" strike="noStrike">
                          <a:solidFill>
                            <a:srgbClr val="16181A"/>
                          </a:solidFill>
                          <a:effectLst/>
                          <a:uFillTx/>
                          <a:latin typeface="Arial"/>
                        </a:rPr>
                        <a:t>04</a:t>
                      </a:r>
                      <a:endParaRPr lang="en-US" sz="11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100" b="0" u="none" strike="noStrike">
                          <a:solidFill>
                            <a:srgbClr val="16181A"/>
                          </a:solidFill>
                          <a:effectLst/>
                          <a:uFillTx/>
                          <a:latin typeface="Arial"/>
                        </a:rPr>
                        <a:t>FOUNDATIONAL — the formal basis of our predictor</a:t>
                      </a:r>
                      <a:endParaRPr lang="en-US" sz="11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100" b="0" u="none" strike="noStrike">
                          <a:solidFill>
                            <a:srgbClr val="16181A"/>
                          </a:solidFill>
                          <a:effectLst/>
                          <a:uFillTx/>
                          <a:latin typeface="Arial"/>
                        </a:rPr>
                        <a:t>Wu et al., Beyond Regularity: chaotic mobility (2509.11713)</a:t>
                      </a:r>
                      <a:endParaRPr lang="en-US" sz="11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100" b="0" u="none" strike="noStrike">
                          <a:solidFill>
                            <a:srgbClr val="16181A"/>
                          </a:solidFill>
                          <a:effectLst/>
                          <a:uFillTx/>
                          <a:latin typeface="Arial"/>
                        </a:rPr>
                        <a:t>25</a:t>
                      </a:r>
                      <a:endParaRPr lang="en-US" sz="11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100" b="0" u="none" strike="noStrike">
                          <a:solidFill>
                            <a:srgbClr val="16181A"/>
                          </a:solidFill>
                          <a:effectLst/>
                          <a:uFillTx/>
                          <a:latin typeface="Arial"/>
                        </a:rPr>
                        <a:t>Same task shape; handles irregular trajectories</a:t>
                      </a:r>
                      <a:endParaRPr lang="en-US" sz="11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100" b="0" u="none" strike="noStrike">
                          <a:solidFill>
                            <a:srgbClr val="16181A"/>
                          </a:solidFill>
                          <a:effectLst/>
                          <a:uFillTx/>
                          <a:latin typeface="Arial"/>
                        </a:rPr>
                        <a:t>Deng et al., STRelay location prediction (2508.16620)</a:t>
                      </a:r>
                      <a:endParaRPr lang="en-US" sz="11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100" b="0" u="none" strike="noStrike">
                          <a:solidFill>
                            <a:srgbClr val="16181A"/>
                          </a:solidFill>
                          <a:effectLst/>
                          <a:uFillTx/>
                          <a:latin typeface="Arial"/>
                        </a:rPr>
                        <a:t>25</a:t>
                      </a:r>
                      <a:endParaRPr lang="en-US" sz="11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100" b="0" u="none" strike="noStrike">
                          <a:solidFill>
                            <a:srgbClr val="16181A"/>
                          </a:solidFill>
                          <a:effectLst/>
                          <a:uFillTx/>
                          <a:latin typeface="Arial"/>
                        </a:rPr>
                        <a:t>The natural upgrade path from VOMM</a:t>
                      </a:r>
                      <a:endParaRPr lang="en-US" sz="11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100" b="0" u="none" strike="noStrike">
                          <a:solidFill>
                            <a:srgbClr val="16181A"/>
                          </a:solidFill>
                          <a:effectLst/>
                          <a:uFillTx/>
                          <a:latin typeface="Arial"/>
                        </a:rPr>
                        <a:t>Liu et al., MoE Personalized Next-Location (2505.24597)</a:t>
                      </a:r>
                      <a:endParaRPr lang="en-US" sz="11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100" b="0" u="none" strike="noStrike">
                          <a:solidFill>
                            <a:srgbClr val="16181A"/>
                          </a:solidFill>
                          <a:effectLst/>
                          <a:uFillTx/>
                          <a:latin typeface="Arial"/>
                        </a:rPr>
                        <a:t>25</a:t>
                      </a:r>
                      <a:endParaRPr lang="en-US" sz="11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100" b="0" u="none" strike="noStrike">
                          <a:solidFill>
                            <a:srgbClr val="16181A"/>
                          </a:solidFill>
                          <a:effectLst/>
                          <a:uFillTx/>
                          <a:latin typeface="Arial"/>
                        </a:rPr>
                        <a:t>Per-individual personalisation of prediction</a:t>
                      </a:r>
                      <a:endParaRPr lang="en-US" sz="11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100" b="0" u="none" strike="noStrike">
                          <a:solidFill>
                            <a:srgbClr val="16181A"/>
                          </a:solidFill>
                          <a:effectLst/>
                          <a:uFillTx/>
                          <a:latin typeface="Arial"/>
                        </a:rPr>
                        <a:t>Soni et al., Predicting Your Next Move &amp; Privacy (2507.08843)</a:t>
                      </a:r>
                      <a:endParaRPr lang="en-US" sz="11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100" b="0" u="none" strike="noStrike">
                          <a:solidFill>
                            <a:srgbClr val="16181A"/>
                          </a:solidFill>
                          <a:effectLst/>
                          <a:uFillTx/>
                          <a:latin typeface="Arial"/>
                        </a:rPr>
                        <a:t>25</a:t>
                      </a:r>
                      <a:endParaRPr lang="en-US" sz="11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100" b="0" u="none" strike="noStrike">
                          <a:solidFill>
                            <a:srgbClr val="16181A"/>
                          </a:solidFill>
                          <a:effectLst/>
                          <a:uFillTx/>
                          <a:latin typeface="Arial"/>
                        </a:rPr>
                        <a:t>Privacy framing for a persisted per-player model</a:t>
                      </a:r>
                      <a:endParaRPr lang="en-US" sz="11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100" b="0" u="none" strike="noStrike">
                          <a:solidFill>
                            <a:srgbClr val="16181A"/>
                          </a:solidFill>
                          <a:effectLst/>
                          <a:uFillTx/>
                          <a:latin typeface="Arial"/>
                        </a:rPr>
                        <a:t>Zhang et al., VRMN-bD fear-response dataset (2401.12133)</a:t>
                      </a:r>
                      <a:endParaRPr lang="en-US" sz="11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100" b="0" u="none" strike="noStrike">
                          <a:solidFill>
                            <a:srgbClr val="16181A"/>
                          </a:solidFill>
                          <a:effectLst/>
                          <a:uFillTx/>
                          <a:latin typeface="Arial"/>
                        </a:rPr>
                        <a:t>24</a:t>
                      </a:r>
                      <a:endParaRPr lang="en-US" sz="11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100" b="0" u="none" strike="noStrike">
                          <a:solidFill>
                            <a:srgbClr val="16181A"/>
                          </a:solidFill>
                          <a:effectLst/>
                          <a:uFillTx/>
                          <a:latin typeface="Arial"/>
                        </a:rPr>
                        <a:t>Fear is detectable in ordinary behavioural signals</a:t>
                      </a:r>
                      <a:endParaRPr lang="en-US" sz="11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100" b="0" u="none" strike="noStrike">
                          <a:solidFill>
                            <a:srgbClr val="16181A"/>
                          </a:solidFill>
                          <a:effectLst/>
                          <a:uFillTx/>
                          <a:latin typeface="Arial"/>
                        </a:rPr>
                        <a:t>Zhang et al., Decoding Fear in VR horror (2312.15582)</a:t>
                      </a:r>
                      <a:endParaRPr lang="en-US" sz="11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100" b="0" u="none" strike="noStrike">
                          <a:solidFill>
                            <a:srgbClr val="16181A"/>
                          </a:solidFill>
                          <a:effectLst/>
                          <a:uFillTx/>
                          <a:latin typeface="Arial"/>
                        </a:rPr>
                        <a:t>23</a:t>
                      </a:r>
                      <a:endParaRPr lang="en-US" sz="11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100" b="0" u="none" strike="noStrike">
                          <a:solidFill>
                            <a:srgbClr val="16181A"/>
                          </a:solidFill>
                          <a:effectLst/>
                          <a:uFillTx/>
                          <a:latin typeface="Arial"/>
                        </a:rPr>
                        <a:t>Sources the constraint that unfairness destroys fear</a:t>
                      </a:r>
                      <a:endParaRPr lang="en-US" sz="11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bl>
          </a:graphicData>
        </a:graphic>
      </p:graphicFrame>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CFB"/>
        </a:solidFill>
      </p:bgPr>
    </p:bg>
    <p:spTree>
      <p:nvGrpSpPr>
        <p:cNvPr id="1" name=""/>
        <p:cNvGrpSpPr/>
        <p:nvPr/>
      </p:nvGrpSpPr>
      <p:grpSpPr>
        <a:xfrm>
          <a:off x="0" y="0"/>
          <a:ext cx="0" cy="0"/>
          <a:chOff x="0" y="0"/>
          <a:chExt cx="0" cy="0"/>
        </a:xfrm>
      </p:grpSpPr>
      <p:sp>
        <p:nvSpPr>
          <p:cNvPr id="104" name="TextBox 1"/>
          <p:cNvSpPr/>
          <p:nvPr/>
        </p:nvSpPr>
        <p:spPr>
          <a:xfrm>
            <a:off x="658440" y="420480"/>
            <a:ext cx="10880640" cy="273600"/>
          </a:xfrm>
          <a:prstGeom prst="rect">
            <a:avLst/>
          </a:prstGeom>
          <a:noFill/>
          <a:ln w="0">
            <a:noFill/>
          </a:ln>
        </p:spPr>
        <p:style>
          <a:lnRef idx="0"/>
          <a:fillRef idx="0"/>
          <a:effectRef idx="0"/>
          <a:fontRef idx="minor"/>
        </p:style>
        <p:txBody>
          <a:bodyPr lIns="0" tIns="0" rIns="0" bIns="0" anchor="t">
            <a:spAutoFit/>
          </a:bodyPr>
          <a:p>
            <a:pPr defTabSz="457200">
              <a:lnSpc>
                <a:spcPct val="125000"/>
              </a:lnSpc>
              <a:spcAft>
                <a:spcPts val="601"/>
              </a:spcAft>
            </a:pPr>
            <a:r>
              <a:rPr lang="en-US" sz="1050" b="1" u="none" strike="noStrike">
                <a:solidFill>
                  <a:srgbClr val="2A78D6"/>
                </a:solidFill>
                <a:effectLst/>
                <a:uFillTx/>
                <a:latin typeface="Arial"/>
              </a:rPr>
              <a:t>7 · RESEARCH GAP</a:t>
            </a:r>
            <a:endParaRPr lang="en-US" sz="1050" b="0" u="none" strike="noStrike">
              <a:solidFill>
                <a:srgbClr val="000000"/>
              </a:solidFill>
              <a:effectLst/>
              <a:uFillTx/>
              <a:latin typeface="Arial"/>
            </a:endParaRPr>
          </a:p>
        </p:txBody>
      </p:sp>
      <p:sp>
        <p:nvSpPr>
          <p:cNvPr id="105" name="TextBox 2"/>
          <p:cNvSpPr/>
          <p:nvPr/>
        </p:nvSpPr>
        <p:spPr>
          <a:xfrm>
            <a:off x="658440" y="749880"/>
            <a:ext cx="10880640" cy="822240"/>
          </a:xfrm>
          <a:prstGeom prst="rect">
            <a:avLst/>
          </a:prstGeom>
          <a:noFill/>
          <a:ln w="0">
            <a:noFill/>
          </a:ln>
        </p:spPr>
        <p:style>
          <a:lnRef idx="0"/>
          <a:fillRef idx="0"/>
          <a:effectRef idx="0"/>
          <a:fontRef idx="minor"/>
        </p:style>
        <p:txBody>
          <a:bodyPr lIns="0" tIns="0" rIns="0" bIns="0" anchor="t">
            <a:spAutoFit/>
          </a:bodyPr>
          <a:p>
            <a:pPr defTabSz="457200">
              <a:lnSpc>
                <a:spcPct val="125000"/>
              </a:lnSpc>
              <a:spcAft>
                <a:spcPts val="601"/>
              </a:spcAft>
            </a:pPr>
            <a:r>
              <a:rPr lang="en-US" sz="2800" b="1" u="none" strike="noStrike">
                <a:solidFill>
                  <a:srgbClr val="16181A"/>
                </a:solidFill>
                <a:effectLst/>
                <a:uFillTx/>
                <a:latin typeface="Arial"/>
              </a:rPr>
              <a:t>Three gaps, consistent across the literature</a:t>
            </a:r>
            <a:endParaRPr lang="en-US" sz="2800" b="0" u="none" strike="noStrike">
              <a:solidFill>
                <a:srgbClr val="000000"/>
              </a:solidFill>
              <a:effectLst/>
              <a:uFillTx/>
              <a:latin typeface="Arial"/>
            </a:endParaRPr>
          </a:p>
        </p:txBody>
      </p:sp>
      <p:sp>
        <p:nvSpPr>
          <p:cNvPr id="106" name="Rectangle 3"/>
          <p:cNvSpPr/>
          <p:nvPr/>
        </p:nvSpPr>
        <p:spPr>
          <a:xfrm>
            <a:off x="658440" y="1481400"/>
            <a:ext cx="10880640" cy="17640"/>
          </a:xfrm>
          <a:prstGeom prst="rect">
            <a:avLst/>
          </a:prstGeom>
          <a:solidFill>
            <a:srgbClr val="D8DCE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6640" rIns="90000" bIns="-26640" anchor="ctr">
            <a:noAutofit/>
          </a:bodyPr>
          <a:p>
            <a:endParaRPr lang="en-US" sz="1800" b="0" u="none" strike="noStrike">
              <a:solidFill>
                <a:schemeClr val="lt1"/>
              </a:solidFill>
              <a:effectLst/>
              <a:uFillTx/>
              <a:latin typeface="Calibri"/>
            </a:endParaRPr>
          </a:p>
        </p:txBody>
      </p:sp>
      <p:sp>
        <p:nvSpPr>
          <p:cNvPr id="107" name="TextBox 4"/>
          <p:cNvSpPr/>
          <p:nvPr/>
        </p:nvSpPr>
        <p:spPr>
          <a:xfrm>
            <a:off x="658440" y="1783080"/>
            <a:ext cx="10880640" cy="4479840"/>
          </a:xfrm>
          <a:prstGeom prst="rect">
            <a:avLst/>
          </a:prstGeom>
          <a:noFill/>
          <a:ln w="0">
            <a:noFill/>
          </a:ln>
        </p:spPr>
        <p:style>
          <a:lnRef idx="0"/>
          <a:fillRef idx="0"/>
          <a:effectRef idx="0"/>
          <a:fontRef idx="minor"/>
        </p:style>
        <p:txBody>
          <a:bodyPr lIns="0" tIns="0" rIns="0" bIns="0" anchor="t">
            <a:spAutoFit/>
          </a:bodyPr>
          <a:p>
            <a:pPr defTabSz="457200">
              <a:lnSpc>
                <a:spcPct val="130000"/>
              </a:lnSpc>
              <a:spcAft>
                <a:spcPts val="1500"/>
              </a:spcAft>
            </a:pPr>
            <a:r>
              <a:rPr lang="en-US" sz="1450" b="1" u="none" strike="noStrike">
                <a:solidFill>
                  <a:srgbClr val="16181A"/>
                </a:solidFill>
                <a:effectLst/>
                <a:uFillTx/>
                <a:latin typeface="Arial"/>
              </a:rPr>
              <a:t>1 · DDA adapts parameters, not position.  </a:t>
            </a:r>
            <a:r>
              <a:rPr lang="en-US" sz="1450" b="0" u="none" strike="noStrike">
                <a:solidFill>
                  <a:srgbClr val="6B7178"/>
                </a:solidFill>
                <a:effectLst/>
                <a:uFillTx/>
                <a:latin typeface="Arial"/>
              </a:rPr>
              <a:t>The literature overwhelmingly tunes difficulty magnitude — enemy health, encounter budget, puzzle complexity. Almost none adapt where the antagonist chooses to be, from a model of the individual player.</a:t>
            </a:r>
            <a:endParaRPr lang="en-US" sz="1450" b="0" u="none" strike="noStrike">
              <a:solidFill>
                <a:srgbClr val="000000"/>
              </a:solidFill>
              <a:effectLst/>
              <a:uFillTx/>
              <a:latin typeface="Arial"/>
            </a:endParaRPr>
          </a:p>
          <a:p>
            <a:pPr defTabSz="457200">
              <a:lnSpc>
                <a:spcPct val="130000"/>
              </a:lnSpc>
              <a:spcAft>
                <a:spcPts val="1500"/>
              </a:spcAft>
            </a:pPr>
            <a:r>
              <a:rPr lang="en-US" sz="1450" b="1" u="none" strike="noStrike">
                <a:solidFill>
                  <a:srgbClr val="16181A"/>
                </a:solidFill>
                <a:effectLst/>
                <a:uFillTx/>
                <a:latin typeface="Arial"/>
              </a:rPr>
              <a:t>2 · Next-location prediction is never used adversarially.  </a:t>
            </a:r>
            <a:r>
              <a:rPr lang="en-US" sz="1450" b="0" u="none" strike="noStrike">
                <a:solidFill>
                  <a:srgbClr val="6B7178"/>
                </a:solidFill>
                <a:effectLst/>
                <a:uFillTx/>
                <a:latin typeface="Arial"/>
              </a:rPr>
              <a:t>Trajectory prediction is mature, but is applied to service delivery and urban analytics. Its use as a real-time adversary against the person being predicted is unexplored.</a:t>
            </a:r>
            <a:endParaRPr lang="en-US" sz="1450" b="0" u="none" strike="noStrike">
              <a:solidFill>
                <a:srgbClr val="000000"/>
              </a:solidFill>
              <a:effectLst/>
              <a:uFillTx/>
              <a:latin typeface="Arial"/>
            </a:endParaRPr>
          </a:p>
          <a:p>
            <a:pPr defTabSz="457200">
              <a:lnSpc>
                <a:spcPct val="130000"/>
              </a:lnSpc>
              <a:spcAft>
                <a:spcPts val="1500"/>
              </a:spcAft>
            </a:pPr>
            <a:r>
              <a:rPr lang="en-US" sz="1450" b="1" u="none" strike="noStrike">
                <a:solidFill>
                  <a:srgbClr val="16181A"/>
                </a:solidFill>
                <a:effectLst/>
                <a:uFillTx/>
                <a:latin typeface="Arial"/>
              </a:rPr>
              <a:t>3 · Adaptation is invisible, and therefore unevaluated.  </a:t>
            </a:r>
            <a:r>
              <a:rPr lang="en-US" sz="1450" b="0" u="none" strike="noStrike">
                <a:solidFill>
                  <a:srgbClr val="6B7178"/>
                </a:solidFill>
                <a:effectLst/>
                <a:uFillTx/>
                <a:latin typeface="Arial"/>
              </a:rPr>
              <a:t>Lopes et al. (2025) identify evaluation as the weak point. Adaptive systems are rarely surfaced to the player or measured against a no-model control.</a:t>
            </a:r>
            <a:endParaRPr lang="en-US" sz="1450" b="0" u="none" strike="noStrike">
              <a:solidFill>
                <a:srgbClr val="000000"/>
              </a:solidFill>
              <a:effectLst/>
              <a:uFillTx/>
              <a:latin typeface="Arial"/>
            </a:endParaRPr>
          </a:p>
        </p:txBody>
      </p:sp>
      <p:sp>
        <p:nvSpPr>
          <p:cNvPr id="108" name="Rectangle 5"/>
          <p:cNvSpPr/>
          <p:nvPr/>
        </p:nvSpPr>
        <p:spPr>
          <a:xfrm>
            <a:off x="658440" y="5257800"/>
            <a:ext cx="10880640" cy="913680"/>
          </a:xfrm>
          <a:prstGeom prst="rect">
            <a:avLst/>
          </a:prstGeom>
          <a:solidFill>
            <a:srgbClr val="F1F6FC"/>
          </a:solidFill>
          <a:ln w="12700">
            <a:solidFill>
              <a:srgbClr val="2A78D6"/>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09" name="TextBox 6"/>
          <p:cNvSpPr/>
          <p:nvPr/>
        </p:nvSpPr>
        <p:spPr>
          <a:xfrm>
            <a:off x="914400" y="5468040"/>
            <a:ext cx="10332000" cy="639360"/>
          </a:xfrm>
          <a:prstGeom prst="rect">
            <a:avLst/>
          </a:prstGeom>
          <a:noFill/>
          <a:ln w="0">
            <a:noFill/>
          </a:ln>
        </p:spPr>
        <p:style>
          <a:lnRef idx="0"/>
          <a:fillRef idx="0"/>
          <a:effectRef idx="0"/>
          <a:fontRef idx="minor"/>
        </p:style>
        <p:txBody>
          <a:bodyPr lIns="0" tIns="0" rIns="0" bIns="0" anchor="t">
            <a:spAutoFit/>
          </a:bodyPr>
          <a:p>
            <a:pPr defTabSz="457200">
              <a:lnSpc>
                <a:spcPct val="130000"/>
              </a:lnSpc>
              <a:spcAft>
                <a:spcPts val="601"/>
              </a:spcAft>
            </a:pPr>
            <a:r>
              <a:rPr lang="en-US" sz="1350" b="0" u="none" strike="noStrike">
                <a:solidFill>
                  <a:srgbClr val="16181A"/>
                </a:solidFill>
                <a:effectLst/>
                <a:uFillTx/>
                <a:latin typeface="Arial"/>
              </a:rPr>
              <a:t>PARITY addresses all three: online trajectory prediction applied adversarially, adapting antagonist placement and world state rather than parameters, evaluated against explicit controls with the model on screen.</a:t>
            </a:r>
            <a:endParaRPr lang="en-US" sz="13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CFB"/>
        </a:solidFill>
      </p:bgPr>
    </p:bg>
    <p:spTree>
      <p:nvGrpSpPr>
        <p:cNvPr id="1" name=""/>
        <p:cNvGrpSpPr/>
        <p:nvPr/>
      </p:nvGrpSpPr>
      <p:grpSpPr>
        <a:xfrm>
          <a:off x="0" y="0"/>
          <a:ext cx="0" cy="0"/>
          <a:chOff x="0" y="0"/>
          <a:chExt cx="0" cy="0"/>
        </a:xfrm>
      </p:grpSpPr>
      <p:sp>
        <p:nvSpPr>
          <p:cNvPr id="110" name="TextBox 1"/>
          <p:cNvSpPr/>
          <p:nvPr/>
        </p:nvSpPr>
        <p:spPr>
          <a:xfrm>
            <a:off x="658440" y="420480"/>
            <a:ext cx="10880640" cy="273600"/>
          </a:xfrm>
          <a:prstGeom prst="rect">
            <a:avLst/>
          </a:prstGeom>
          <a:noFill/>
          <a:ln w="0">
            <a:noFill/>
          </a:ln>
        </p:spPr>
        <p:style>
          <a:lnRef idx="0"/>
          <a:fillRef idx="0"/>
          <a:effectRef idx="0"/>
          <a:fontRef idx="minor"/>
        </p:style>
        <p:txBody>
          <a:bodyPr lIns="0" tIns="0" rIns="0" bIns="0" anchor="t">
            <a:spAutoFit/>
          </a:bodyPr>
          <a:p>
            <a:pPr defTabSz="457200">
              <a:lnSpc>
                <a:spcPct val="125000"/>
              </a:lnSpc>
              <a:spcAft>
                <a:spcPts val="601"/>
              </a:spcAft>
            </a:pPr>
            <a:r>
              <a:rPr lang="en-US" sz="1050" b="1" u="none" strike="noStrike">
                <a:solidFill>
                  <a:srgbClr val="2A78D6"/>
                </a:solidFill>
                <a:effectLst/>
                <a:uFillTx/>
                <a:latin typeface="Arial"/>
              </a:rPr>
              <a:t>8 · METHODOLOGY — FORMALISATION</a:t>
            </a:r>
            <a:endParaRPr lang="en-US" sz="1050" b="0" u="none" strike="noStrike">
              <a:solidFill>
                <a:srgbClr val="000000"/>
              </a:solidFill>
              <a:effectLst/>
              <a:uFillTx/>
              <a:latin typeface="Arial"/>
            </a:endParaRPr>
          </a:p>
        </p:txBody>
      </p:sp>
      <p:sp>
        <p:nvSpPr>
          <p:cNvPr id="111" name="TextBox 2"/>
          <p:cNvSpPr/>
          <p:nvPr/>
        </p:nvSpPr>
        <p:spPr>
          <a:xfrm>
            <a:off x="658440" y="749880"/>
            <a:ext cx="10880640" cy="822240"/>
          </a:xfrm>
          <a:prstGeom prst="rect">
            <a:avLst/>
          </a:prstGeom>
          <a:noFill/>
          <a:ln w="0">
            <a:noFill/>
          </a:ln>
        </p:spPr>
        <p:style>
          <a:lnRef idx="0"/>
          <a:fillRef idx="0"/>
          <a:effectRef idx="0"/>
          <a:fontRef idx="minor"/>
        </p:style>
        <p:txBody>
          <a:bodyPr lIns="0" tIns="0" rIns="0" bIns="0" anchor="t">
            <a:spAutoFit/>
          </a:bodyPr>
          <a:p>
            <a:pPr defTabSz="457200">
              <a:lnSpc>
                <a:spcPct val="125000"/>
              </a:lnSpc>
              <a:spcAft>
                <a:spcPts val="601"/>
              </a:spcAft>
            </a:pPr>
            <a:r>
              <a:rPr lang="en-US" sz="2800" b="1" u="none" strike="noStrike">
                <a:solidFill>
                  <a:srgbClr val="16181A"/>
                </a:solidFill>
                <a:effectLst/>
                <a:uFillTx/>
                <a:latin typeface="Arial"/>
              </a:rPr>
              <a:t>Prediction over a room graph</a:t>
            </a:r>
            <a:endParaRPr lang="en-US" sz="2800" b="0" u="none" strike="noStrike">
              <a:solidFill>
                <a:srgbClr val="000000"/>
              </a:solidFill>
              <a:effectLst/>
              <a:uFillTx/>
              <a:latin typeface="Arial"/>
            </a:endParaRPr>
          </a:p>
        </p:txBody>
      </p:sp>
      <p:sp>
        <p:nvSpPr>
          <p:cNvPr id="112" name="Rectangle 3"/>
          <p:cNvSpPr/>
          <p:nvPr/>
        </p:nvSpPr>
        <p:spPr>
          <a:xfrm>
            <a:off x="658440" y="1481400"/>
            <a:ext cx="10880640" cy="17640"/>
          </a:xfrm>
          <a:prstGeom prst="rect">
            <a:avLst/>
          </a:prstGeom>
          <a:solidFill>
            <a:srgbClr val="D8DCE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6640" rIns="90000" bIns="-26640" anchor="ctr">
            <a:noAutofit/>
          </a:bodyPr>
          <a:p>
            <a:endParaRPr lang="en-US" sz="1800" b="0" u="none" strike="noStrike">
              <a:solidFill>
                <a:schemeClr val="lt1"/>
              </a:solidFill>
              <a:effectLst/>
              <a:uFillTx/>
              <a:latin typeface="Calibri"/>
            </a:endParaRPr>
          </a:p>
        </p:txBody>
      </p:sp>
      <p:sp>
        <p:nvSpPr>
          <p:cNvPr id="113" name="TextBox 4"/>
          <p:cNvSpPr/>
          <p:nvPr/>
        </p:nvSpPr>
        <p:spPr>
          <a:xfrm>
            <a:off x="658440" y="1783080"/>
            <a:ext cx="10880640" cy="4479840"/>
          </a:xfrm>
          <a:prstGeom prst="rect">
            <a:avLst/>
          </a:prstGeom>
          <a:noFill/>
          <a:ln w="0">
            <a:noFill/>
          </a:ln>
        </p:spPr>
        <p:style>
          <a:lnRef idx="0"/>
          <a:fillRef idx="0"/>
          <a:effectRef idx="0"/>
          <a:fontRef idx="minor"/>
        </p:style>
        <p:txBody>
          <a:bodyPr lIns="0" tIns="0" rIns="0" bIns="0" anchor="t">
            <a:spAutoFit/>
          </a:bodyPr>
          <a:p>
            <a:pPr defTabSz="457200">
              <a:lnSpc>
                <a:spcPct val="130000"/>
              </a:lnSpc>
              <a:spcAft>
                <a:spcPts val="1301"/>
              </a:spcAft>
            </a:pPr>
            <a:r>
              <a:rPr lang="en-US" sz="1500" b="0" u="none" strike="noStrike">
                <a:solidFill>
                  <a:srgbClr val="16181A"/>
                </a:solidFill>
                <a:effectLst/>
                <a:uFillTx/>
                <a:latin typeface="Arial"/>
              </a:rPr>
              <a:t>The facility is an undirected graph G = (V, E): rooms are vertices, doors are edges. The player produces a trajectory h = (v₁, v₂, …, vₜ).</a:t>
            </a:r>
            <a:endParaRPr lang="en-US" sz="1500" b="0" u="none" strike="noStrike">
              <a:solidFill>
                <a:srgbClr val="000000"/>
              </a:solidFill>
              <a:effectLst/>
              <a:uFillTx/>
              <a:latin typeface="Arial"/>
            </a:endParaRPr>
          </a:p>
          <a:p>
            <a:pPr defTabSz="457200">
              <a:lnSpc>
                <a:spcPct val="130000"/>
              </a:lnSpc>
              <a:spcAft>
                <a:spcPts val="1301"/>
              </a:spcAft>
            </a:pPr>
            <a:r>
              <a:rPr lang="en-US" sz="1500" b="1" u="none" strike="noStrike">
                <a:solidFill>
                  <a:srgbClr val="16181A"/>
                </a:solidFill>
                <a:effectLst/>
                <a:uFillTx/>
                <a:latin typeface="Arial"/>
              </a:rPr>
              <a:t>The clock —  </a:t>
            </a:r>
            <a:r>
              <a:rPr lang="en-US" sz="1500" b="0" u="none" strike="noStrike">
                <a:solidFill>
                  <a:srgbClr val="6B7178"/>
                </a:solidFill>
                <a:effectLst/>
                <a:uFillTx/>
                <a:latin typeface="Arial"/>
              </a:rPr>
              <a:t>lockdown, then a short window when every door unlocks, then lockdown. Decisions happen only at windows. Sealed in between, the player draws, copies codebooks and stages the register — in real time.</a:t>
            </a:r>
            <a:endParaRPr lang="en-US" sz="1500" b="0" u="none" strike="noStrike">
              <a:solidFill>
                <a:srgbClr val="000000"/>
              </a:solidFill>
              <a:effectLst/>
              <a:uFillTx/>
              <a:latin typeface="Arial"/>
            </a:endParaRPr>
          </a:p>
          <a:p>
            <a:pPr defTabSz="457200">
              <a:lnSpc>
                <a:spcPct val="130000"/>
              </a:lnSpc>
              <a:spcAft>
                <a:spcPts val="1301"/>
              </a:spcAft>
            </a:pPr>
            <a:r>
              <a:rPr lang="en-US" sz="1500" b="1" u="none" strike="noStrike">
                <a:solidFill>
                  <a:srgbClr val="16181A"/>
                </a:solidFill>
                <a:effectLst/>
                <a:uFillTx/>
                <a:latin typeface="Arial"/>
              </a:rPr>
              <a:t>Prediction task —  </a:t>
            </a:r>
            <a:r>
              <a:rPr lang="en-US" sz="1500" b="0" u="none" strike="noStrike">
                <a:solidFill>
                  <a:srgbClr val="6B7178"/>
                </a:solidFill>
                <a:effectLst/>
                <a:uFillTx/>
                <a:latin typeface="Arial"/>
              </a:rPr>
              <a:t>at each window the player takes a door OR declines to move. Estimate P(v(t+1) = c | h) over N(vₜ) ∪ {vₜ}.</a:t>
            </a:r>
            <a:endParaRPr lang="en-US" sz="1500" b="0" u="none" strike="noStrike">
              <a:solidFill>
                <a:srgbClr val="000000"/>
              </a:solidFill>
              <a:effectLst/>
              <a:uFillTx/>
              <a:latin typeface="Arial"/>
            </a:endParaRPr>
          </a:p>
          <a:p>
            <a:pPr defTabSz="457200">
              <a:lnSpc>
                <a:spcPct val="130000"/>
              </a:lnSpc>
              <a:spcAft>
                <a:spcPts val="1301"/>
              </a:spcAft>
            </a:pPr>
            <a:r>
              <a:rPr lang="en-US" sz="1500" b="1" u="none" strike="noStrike">
                <a:solidFill>
                  <a:srgbClr val="16181A"/>
                </a:solidFill>
                <a:effectLst/>
                <a:uFillTx/>
                <a:latin typeface="Arial"/>
              </a:rPr>
              <a:t>Staying is a first-class action —  </a:t>
            </a:r>
            <a:r>
              <a:rPr lang="en-US" sz="1500" b="0" u="none" strike="noStrike">
                <a:solidFill>
                  <a:srgbClr val="6B7178"/>
                </a:solidFill>
                <a:effectLst/>
                <a:uFillTx/>
                <a:latin typeface="Arial"/>
              </a:rPr>
              <a:t>not the absence of one. Players linger where there is something to record, so dwell is informative. The antagonist obeys the same clock, so lockdown is safe and all danger is at the window.</a:t>
            </a:r>
            <a:endParaRPr lang="en-US" sz="1500" b="0" u="none" strike="noStrike">
              <a:solidFill>
                <a:srgbClr val="000000"/>
              </a:solidFill>
              <a:effectLst/>
              <a:uFillTx/>
              <a:latin typeface="Arial"/>
            </a:endParaRPr>
          </a:p>
        </p:txBody>
      </p:sp>
      <p:sp>
        <p:nvSpPr>
          <p:cNvPr id="114" name="Rectangle 5"/>
          <p:cNvSpPr/>
          <p:nvPr/>
        </p:nvSpPr>
        <p:spPr>
          <a:xfrm>
            <a:off x="658440" y="3154680"/>
            <a:ext cx="10880640" cy="1873800"/>
          </a:xfrm>
          <a:prstGeom prst="rect">
            <a:avLst/>
          </a:prstGeom>
          <a:solidFill>
            <a:srgbClr val="F4F6F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15" name="TextBox 6"/>
          <p:cNvSpPr/>
          <p:nvPr/>
        </p:nvSpPr>
        <p:spPr>
          <a:xfrm>
            <a:off x="960120" y="3346560"/>
            <a:ext cx="10332000" cy="1553760"/>
          </a:xfrm>
          <a:prstGeom prst="rect">
            <a:avLst/>
          </a:prstGeom>
          <a:noFill/>
          <a:ln w="0">
            <a:noFill/>
          </a:ln>
        </p:spPr>
        <p:style>
          <a:lnRef idx="0"/>
          <a:fillRef idx="0"/>
          <a:effectRef idx="0"/>
          <a:fontRef idx="minor"/>
        </p:style>
        <p:txBody>
          <a:bodyPr lIns="0" tIns="0" rIns="0" bIns="0" anchor="t">
            <a:spAutoFit/>
          </a:bodyPr>
          <a:p>
            <a:pPr defTabSz="457200">
              <a:lnSpc>
                <a:spcPct val="132000"/>
              </a:lnSpc>
              <a:spcAft>
                <a:spcPts val="799"/>
              </a:spcAft>
            </a:pPr>
            <a:r>
              <a:rPr lang="en-US" sz="1350" b="0" u="none" strike="noStrike">
                <a:solidFill>
                  <a:srgbClr val="16181A"/>
                </a:solidFill>
                <a:effectLst/>
                <a:uFillTx/>
                <a:latin typeface="Arial"/>
              </a:rPr>
              <a:t>Why an order-1 Markov model is structurally insufficient</a:t>
            </a:r>
            <a:endParaRPr lang="en-US" sz="1350" b="0" u="none" strike="noStrike">
              <a:solidFill>
                <a:srgbClr val="000000"/>
              </a:solidFill>
              <a:effectLst/>
              <a:uFillTx/>
              <a:latin typeface="Arial"/>
            </a:endParaRPr>
          </a:p>
          <a:p>
            <a:pPr defTabSz="457200">
              <a:lnSpc>
                <a:spcPct val="132000"/>
              </a:lnSpc>
              <a:spcAft>
                <a:spcPts val="799"/>
              </a:spcAft>
            </a:pPr>
            <a:endParaRPr lang="en-US" sz="1350" b="0" u="none" strike="noStrike">
              <a:solidFill>
                <a:srgbClr val="000000"/>
              </a:solidFill>
              <a:effectLst/>
              <a:uFillTx/>
              <a:latin typeface="Arial"/>
            </a:endParaRPr>
          </a:p>
          <a:p>
            <a:pPr defTabSz="457200">
              <a:lnSpc>
                <a:spcPct val="132000"/>
              </a:lnSpc>
              <a:spcAft>
                <a:spcPts val="799"/>
              </a:spcAft>
            </a:pPr>
            <a:r>
              <a:rPr lang="en-US" sz="1350" b="0" u="none" strike="noStrike">
                <a:solidFill>
                  <a:srgbClr val="16181A"/>
                </a:solidFill>
                <a:effectLst/>
                <a:uFillTx/>
                <a:latin typeface="Arial"/>
              </a:rPr>
              <a:t>Real players run routes, so the same room has different successors depending on how it was entered. In our test facility, one room appears five times in a habitual circuit with four different successors. Order-1 cannot separate them. Longer context resolves it — but long contexts are sparse.</a:t>
            </a:r>
            <a:endParaRPr lang="en-US" sz="1350" b="0" u="none" strike="noStrike">
              <a:solidFill>
                <a:srgbClr val="000000"/>
              </a:solidFill>
              <a:effectLst/>
              <a:uFillTx/>
              <a:latin typeface="Arial"/>
            </a:endParaRPr>
          </a:p>
        </p:txBody>
      </p:sp>
      <p:sp>
        <p:nvSpPr>
          <p:cNvPr id="116" name="TextBox 7"/>
          <p:cNvSpPr/>
          <p:nvPr/>
        </p:nvSpPr>
        <p:spPr>
          <a:xfrm>
            <a:off x="658440" y="5230440"/>
            <a:ext cx="10880640" cy="730800"/>
          </a:xfrm>
          <a:prstGeom prst="rect">
            <a:avLst/>
          </a:prstGeom>
          <a:noFill/>
          <a:ln w="0">
            <a:noFill/>
          </a:ln>
        </p:spPr>
        <p:style>
          <a:lnRef idx="0"/>
          <a:fillRef idx="0"/>
          <a:effectRef idx="0"/>
          <a:fontRef idx="minor"/>
        </p:style>
        <p:txBody>
          <a:bodyPr lIns="0" tIns="0" rIns="0" bIns="0" anchor="t">
            <a:spAutoFit/>
          </a:bodyPr>
          <a:p>
            <a:pPr defTabSz="457200">
              <a:lnSpc>
                <a:spcPct val="125000"/>
              </a:lnSpc>
              <a:spcAft>
                <a:spcPts val="601"/>
              </a:spcAft>
            </a:pPr>
            <a:r>
              <a:rPr lang="en-US" sz="1600" b="1" u="none" strike="noStrike">
                <a:solidFill>
                  <a:srgbClr val="2A78D6"/>
                </a:solidFill>
                <a:effectLst/>
                <a:uFillTx/>
                <a:latin typeface="Arial"/>
              </a:rPr>
              <a:t>A variable-order Markov model with back-off resolves both pressures at once.</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CFB"/>
        </a:solidFill>
      </p:bgPr>
    </p:bg>
    <p:spTree>
      <p:nvGrpSpPr>
        <p:cNvPr id="1" name=""/>
        <p:cNvGrpSpPr/>
        <p:nvPr/>
      </p:nvGrpSpPr>
      <p:grpSpPr>
        <a:xfrm>
          <a:off x="0" y="0"/>
          <a:ext cx="0" cy="0"/>
          <a:chOff x="0" y="0"/>
          <a:chExt cx="0" cy="0"/>
        </a:xfrm>
      </p:grpSpPr>
      <p:sp>
        <p:nvSpPr>
          <p:cNvPr id="117" name="TextBox 1"/>
          <p:cNvSpPr/>
          <p:nvPr/>
        </p:nvSpPr>
        <p:spPr>
          <a:xfrm>
            <a:off x="658440" y="420480"/>
            <a:ext cx="10880640" cy="273600"/>
          </a:xfrm>
          <a:prstGeom prst="rect">
            <a:avLst/>
          </a:prstGeom>
          <a:noFill/>
          <a:ln w="0">
            <a:noFill/>
          </a:ln>
        </p:spPr>
        <p:style>
          <a:lnRef idx="0"/>
          <a:fillRef idx="0"/>
          <a:effectRef idx="0"/>
          <a:fontRef idx="minor"/>
        </p:style>
        <p:txBody>
          <a:bodyPr lIns="0" tIns="0" rIns="0" bIns="0" anchor="t">
            <a:spAutoFit/>
          </a:bodyPr>
          <a:p>
            <a:pPr defTabSz="457200">
              <a:lnSpc>
                <a:spcPct val="125000"/>
              </a:lnSpc>
              <a:spcAft>
                <a:spcPts val="601"/>
              </a:spcAft>
            </a:pPr>
            <a:r>
              <a:rPr lang="en-US" sz="1050" b="1" u="none" strike="noStrike">
                <a:solidFill>
                  <a:srgbClr val="2A78D6"/>
                </a:solidFill>
                <a:effectLst/>
                <a:uFillTx/>
                <a:latin typeface="Arial"/>
              </a:rPr>
              <a:t>9 · METHODOLOGY — THE MODEL</a:t>
            </a:r>
            <a:endParaRPr lang="en-US" sz="1050" b="0" u="none" strike="noStrike">
              <a:solidFill>
                <a:srgbClr val="000000"/>
              </a:solidFill>
              <a:effectLst/>
              <a:uFillTx/>
              <a:latin typeface="Arial"/>
            </a:endParaRPr>
          </a:p>
        </p:txBody>
      </p:sp>
      <p:sp>
        <p:nvSpPr>
          <p:cNvPr id="118" name="TextBox 2"/>
          <p:cNvSpPr/>
          <p:nvPr/>
        </p:nvSpPr>
        <p:spPr>
          <a:xfrm>
            <a:off x="658440" y="749880"/>
            <a:ext cx="10880640" cy="822240"/>
          </a:xfrm>
          <a:prstGeom prst="rect">
            <a:avLst/>
          </a:prstGeom>
          <a:noFill/>
          <a:ln w="0">
            <a:noFill/>
          </a:ln>
        </p:spPr>
        <p:style>
          <a:lnRef idx="0"/>
          <a:fillRef idx="0"/>
          <a:effectRef idx="0"/>
          <a:fontRef idx="minor"/>
        </p:style>
        <p:txBody>
          <a:bodyPr lIns="0" tIns="0" rIns="0" bIns="0" anchor="t">
            <a:spAutoFit/>
          </a:bodyPr>
          <a:p>
            <a:pPr defTabSz="457200">
              <a:lnSpc>
                <a:spcPct val="125000"/>
              </a:lnSpc>
              <a:spcAft>
                <a:spcPts val="601"/>
              </a:spcAft>
            </a:pPr>
            <a:r>
              <a:rPr lang="en-US" sz="2800" b="1" u="none" strike="noStrike">
                <a:solidFill>
                  <a:srgbClr val="16181A"/>
                </a:solidFill>
                <a:effectLst/>
                <a:uFillTx/>
                <a:latin typeface="Arial"/>
              </a:rPr>
              <a:t>Variable-order Markov with Witten-Bell back-off</a:t>
            </a:r>
            <a:endParaRPr lang="en-US" sz="2800" b="0" u="none" strike="noStrike">
              <a:solidFill>
                <a:srgbClr val="000000"/>
              </a:solidFill>
              <a:effectLst/>
              <a:uFillTx/>
              <a:latin typeface="Arial"/>
            </a:endParaRPr>
          </a:p>
        </p:txBody>
      </p:sp>
      <p:sp>
        <p:nvSpPr>
          <p:cNvPr id="119" name="Rectangle 3"/>
          <p:cNvSpPr/>
          <p:nvPr/>
        </p:nvSpPr>
        <p:spPr>
          <a:xfrm>
            <a:off x="658440" y="1481400"/>
            <a:ext cx="10880640" cy="17640"/>
          </a:xfrm>
          <a:prstGeom prst="rect">
            <a:avLst/>
          </a:prstGeom>
          <a:solidFill>
            <a:srgbClr val="D8DCE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6640" rIns="90000" bIns="-26640" anchor="ctr">
            <a:noAutofit/>
          </a:bodyPr>
          <a:p>
            <a:endParaRPr lang="en-US" sz="1800" b="0" u="none" strike="noStrike">
              <a:solidFill>
                <a:schemeClr val="lt1"/>
              </a:solidFill>
              <a:effectLst/>
              <a:uFillTx/>
              <a:latin typeface="Calibri"/>
            </a:endParaRPr>
          </a:p>
        </p:txBody>
      </p:sp>
      <p:sp>
        <p:nvSpPr>
          <p:cNvPr id="120" name="Rectangle 4"/>
          <p:cNvSpPr/>
          <p:nvPr/>
        </p:nvSpPr>
        <p:spPr>
          <a:xfrm>
            <a:off x="658440" y="1828800"/>
            <a:ext cx="10880640" cy="1370880"/>
          </a:xfrm>
          <a:prstGeom prst="rect">
            <a:avLst/>
          </a:prstGeom>
          <a:solidFill>
            <a:srgbClr val="16181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21" name="TextBox 5"/>
          <p:cNvSpPr/>
          <p:nvPr/>
        </p:nvSpPr>
        <p:spPr>
          <a:xfrm>
            <a:off x="1005840" y="2057400"/>
            <a:ext cx="10240560" cy="1005120"/>
          </a:xfrm>
          <a:prstGeom prst="rect">
            <a:avLst/>
          </a:prstGeom>
          <a:noFill/>
          <a:ln w="0">
            <a:noFill/>
          </a:ln>
        </p:spPr>
        <p:style>
          <a:lnRef idx="0"/>
          <a:fillRef idx="0"/>
          <a:effectRef idx="0"/>
          <a:fontRef idx="minor"/>
        </p:style>
        <p:txBody>
          <a:bodyPr lIns="0" tIns="0" rIns="0" bIns="0" anchor="t">
            <a:spAutoFit/>
          </a:bodyPr>
          <a:p>
            <a:pPr defTabSz="457200">
              <a:lnSpc>
                <a:spcPct val="160000"/>
              </a:lnSpc>
              <a:spcAft>
                <a:spcPts val="400"/>
              </a:spcAft>
            </a:pPr>
            <a:r>
              <a:rPr lang="en-US" sz="1600" b="0" u="none" strike="noStrike">
                <a:solidFill>
                  <a:srgbClr val="FFFFFF"/>
                </a:solidFill>
                <a:effectLst/>
                <a:uFillTx/>
                <a:latin typeface="Consolas"/>
              </a:rPr>
              <a:t>P_o(x | ctx)  =  w · f_o(x | ctx)  +  (1 − w) · P_(o−1)(x | ctx[1:])</a:t>
            </a:r>
            <a:endParaRPr lang="en-US" sz="1600" b="0" u="none" strike="noStrike">
              <a:solidFill>
                <a:srgbClr val="000000"/>
              </a:solidFill>
              <a:effectLst/>
              <a:uFillTx/>
              <a:latin typeface="Arial"/>
            </a:endParaRPr>
          </a:p>
          <a:p>
            <a:pPr defTabSz="457200">
              <a:lnSpc>
                <a:spcPct val="160000"/>
              </a:lnSpc>
              <a:spcAft>
                <a:spcPts val="400"/>
              </a:spcAft>
            </a:pPr>
            <a:r>
              <a:rPr lang="en-US" sz="1600" b="0" u="none" strike="noStrike">
                <a:solidFill>
                  <a:srgbClr val="FFFFFF"/>
                </a:solidFill>
                <a:effectLst/>
                <a:uFillTx/>
                <a:latin typeface="Consolas"/>
              </a:rPr>
              <a:t>w  =  C(ctx) / (C(ctx) + α)                    α = 1.6,  k = 4</a:t>
            </a:r>
            <a:endParaRPr lang="en-US" sz="1600" b="0" u="none" strike="noStrike">
              <a:solidFill>
                <a:srgbClr val="000000"/>
              </a:solidFill>
              <a:effectLst/>
              <a:uFillTx/>
              <a:latin typeface="Arial"/>
            </a:endParaRPr>
          </a:p>
        </p:txBody>
      </p:sp>
      <p:sp>
        <p:nvSpPr>
          <p:cNvPr id="122" name="TextBox 6"/>
          <p:cNvSpPr/>
          <p:nvPr/>
        </p:nvSpPr>
        <p:spPr>
          <a:xfrm>
            <a:off x="658440" y="3401640"/>
            <a:ext cx="10880640" cy="365040"/>
          </a:xfrm>
          <a:prstGeom prst="rect">
            <a:avLst/>
          </a:prstGeom>
          <a:noFill/>
          <a:ln w="0">
            <a:noFill/>
          </a:ln>
        </p:spPr>
        <p:style>
          <a:lnRef idx="0"/>
          <a:fillRef idx="0"/>
          <a:effectRef idx="0"/>
          <a:fontRef idx="minor"/>
        </p:style>
        <p:txBody>
          <a:bodyPr lIns="0" tIns="0" rIns="0" bIns="0" anchor="t">
            <a:spAutoFit/>
          </a:bodyPr>
          <a:p>
            <a:pPr defTabSz="457200">
              <a:lnSpc>
                <a:spcPct val="130000"/>
              </a:lnSpc>
              <a:spcAft>
                <a:spcPts val="601"/>
              </a:spcAft>
            </a:pPr>
            <a:r>
              <a:rPr lang="en-US" sz="1350" b="0" u="none" strike="noStrike">
                <a:solidFill>
                  <a:srgbClr val="6B7178"/>
                </a:solidFill>
                <a:effectLst/>
                <a:uFillTx/>
                <a:latin typeface="Arial"/>
              </a:rPr>
              <a:t>Interpolate from the longest available context down to uniform. Long contexts dominate once well-supported, and decay gracefully when they are not.</a:t>
            </a:r>
            <a:endParaRPr lang="en-US" sz="1350" b="0" u="none" strike="noStrike">
              <a:solidFill>
                <a:srgbClr val="000000"/>
              </a:solidFill>
              <a:effectLst/>
              <a:uFillTx/>
              <a:latin typeface="Arial"/>
            </a:endParaRPr>
          </a:p>
        </p:txBody>
      </p:sp>
      <p:graphicFrame>
        <p:nvGraphicFramePr>
          <p:cNvPr id="123" name="Table 7"/>
          <p:cNvGraphicFramePr/>
          <p:nvPr/>
        </p:nvGraphicFramePr>
        <p:xfrm>
          <a:off x="658440" y="4114800"/>
          <a:ext cx="10881000" cy="1918800"/>
        </p:xfrm>
        <a:graphic>
          <a:graphicData uri="http://schemas.openxmlformats.org/drawingml/2006/table">
            <a:tbl>
              <a:tblPr/>
              <a:tblGrid>
                <a:gridCol w="3566160"/>
                <a:gridCol w="7315200"/>
              </a:tblGrid>
              <a:tr h="383760">
                <a:tc>
                  <a:txBody>
                    <a:bodyPr lIns="73080" tIns="36360" rIns="73080" bIns="36360" anchor="t">
                      <a:noAutofit/>
                    </a:bodyPr>
                    <a:p>
                      <a:pPr defTabSz="457200">
                        <a:lnSpc>
                          <a:spcPct val="115000"/>
                        </a:lnSpc>
                      </a:pPr>
                      <a:r>
                        <a:rPr lang="en-US" sz="950" b="1" u="none" strike="noStrike">
                          <a:solidFill>
                            <a:srgbClr val="6B7178"/>
                          </a:solidFill>
                          <a:effectLst/>
                          <a:uFillTx/>
                          <a:latin typeface="Arial"/>
                        </a:rPr>
                        <a:t>Property</a:t>
                      </a:r>
                      <a:endParaRPr lang="en-US" sz="9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4F6F8"/>
                    </a:solidFill>
                  </a:tcPr>
                </a:tc>
                <a:tc>
                  <a:txBody>
                    <a:bodyPr lIns="73080" tIns="36360" rIns="73080" bIns="36360" anchor="t">
                      <a:noAutofit/>
                    </a:bodyPr>
                    <a:p>
                      <a:pPr defTabSz="457200">
                        <a:lnSpc>
                          <a:spcPct val="115000"/>
                        </a:lnSpc>
                      </a:pPr>
                      <a:r>
                        <a:rPr lang="en-US" sz="950" b="1" u="none" strike="noStrike">
                          <a:solidFill>
                            <a:srgbClr val="6B7178"/>
                          </a:solidFill>
                          <a:effectLst/>
                          <a:uFillTx/>
                          <a:latin typeface="Arial"/>
                        </a:rPr>
                        <a:t>Why it matters for this application</a:t>
                      </a:r>
                      <a:endParaRPr lang="en-US" sz="9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4F6F8"/>
                    </a:solidFill>
                  </a:tcPr>
                </a:tc>
              </a:tr>
              <a:tr h="383760">
                <a:tc>
                  <a:txBody>
                    <a:bodyPr lIns="73080" tIns="36360" rIns="73080" bIns="36360" anchor="t">
                      <a:noAutofit/>
                    </a:bodyPr>
                    <a:p>
                      <a:pPr defTabSz="457200">
                        <a:lnSpc>
                          <a:spcPct val="115000"/>
                        </a:lnSpc>
                      </a:pPr>
                      <a:r>
                        <a:rPr lang="en-US" sz="1300" b="0" u="none" strike="noStrike">
                          <a:solidFill>
                            <a:srgbClr val="16181A"/>
                          </a:solidFill>
                          <a:effectLst/>
                          <a:uFillTx/>
                          <a:latin typeface="Arial"/>
                        </a:rPr>
                        <a:t>Learns online from the first move</a:t>
                      </a:r>
                      <a:endParaRPr lang="en-US" sz="13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300" b="0" u="none" strike="noStrike">
                          <a:solidFill>
                            <a:srgbClr val="16181A"/>
                          </a:solidFill>
                          <a:effectLst/>
                          <a:uFillTx/>
                          <a:latin typeface="Arial"/>
                        </a:rPr>
                        <a:t>No pre-training corpus — solves the cold-start problem</a:t>
                      </a:r>
                      <a:endParaRPr lang="en-US" sz="13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300" b="0" u="none" strike="noStrike">
                          <a:solidFill>
                            <a:srgbClr val="16181A"/>
                          </a:solidFill>
                          <a:effectLst/>
                          <a:uFillTx/>
                          <a:latin typeface="Arial"/>
                        </a:rPr>
                        <a:t>Persists across runs</a:t>
                      </a:r>
                      <a:endParaRPr lang="en-US" sz="13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300" b="0" u="none" strike="noStrike">
                          <a:solidFill>
                            <a:srgbClr val="16181A"/>
                          </a:solidFill>
                          <a:effectLst/>
                          <a:uFillTx/>
                          <a:latin typeface="Arial"/>
                        </a:rPr>
                        <a:t>The antagonist remembers you between deaths, as your notebook does</a:t>
                      </a:r>
                      <a:endParaRPr lang="en-US" sz="13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300" b="0" u="none" strike="noStrike">
                          <a:solidFill>
                            <a:srgbClr val="16181A"/>
                          </a:solidFill>
                          <a:effectLst/>
                          <a:uFillTx/>
                          <a:latin typeface="Arial"/>
                        </a:rPr>
                        <a:t>Inspectable</a:t>
                      </a:r>
                      <a:endParaRPr lang="en-US" sz="13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300" b="0" u="none" strike="noStrike">
                          <a:solidFill>
                            <a:srgbClr val="16181A"/>
                          </a:solidFill>
                          <a:effectLst/>
                          <a:uFillTx/>
                          <a:latin typeface="Arial"/>
                        </a:rPr>
                        <a:t>Every prediction decomposes to 'context → outcome, n observations'</a:t>
                      </a:r>
                      <a:endParaRPr lang="en-US" sz="13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300" b="0" u="none" strike="noStrike">
                          <a:solidFill>
                            <a:srgbClr val="16181A"/>
                          </a:solidFill>
                          <a:effectLst/>
                          <a:uFillTx/>
                          <a:latin typeface="Arial"/>
                        </a:rPr>
                        <a:t>Cheap</a:t>
                      </a:r>
                      <a:endParaRPr lang="en-US" sz="13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300" b="0" u="none" strike="noStrike">
                          <a:solidFill>
                            <a:srgbClr val="16181A"/>
                          </a:solidFill>
                          <a:effectLst/>
                          <a:uFillTx/>
                          <a:latin typeface="Arial"/>
                        </a:rPr>
                        <a:t>Hash-map counter updates; negligible per-frame cost</a:t>
                      </a:r>
                      <a:endParaRPr lang="en-US" sz="13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bl>
          </a:graphicData>
        </a:graphic>
      </p:graphicFrame>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CFB"/>
        </a:solidFill>
      </p:bgPr>
    </p:bg>
    <p:spTree>
      <p:nvGrpSpPr>
        <p:cNvPr id="1" name=""/>
        <p:cNvGrpSpPr/>
        <p:nvPr/>
      </p:nvGrpSpPr>
      <p:grpSpPr>
        <a:xfrm>
          <a:off x="0" y="0"/>
          <a:ext cx="0" cy="0"/>
          <a:chOff x="0" y="0"/>
          <a:chExt cx="0" cy="0"/>
        </a:xfrm>
      </p:grpSpPr>
      <p:sp>
        <p:nvSpPr>
          <p:cNvPr id="124" name="TextBox 1"/>
          <p:cNvSpPr/>
          <p:nvPr/>
        </p:nvSpPr>
        <p:spPr>
          <a:xfrm>
            <a:off x="658440" y="420480"/>
            <a:ext cx="10880640" cy="273600"/>
          </a:xfrm>
          <a:prstGeom prst="rect">
            <a:avLst/>
          </a:prstGeom>
          <a:noFill/>
          <a:ln w="0">
            <a:noFill/>
          </a:ln>
        </p:spPr>
        <p:style>
          <a:lnRef idx="0"/>
          <a:fillRef idx="0"/>
          <a:effectRef idx="0"/>
          <a:fontRef idx="minor"/>
        </p:style>
        <p:txBody>
          <a:bodyPr lIns="0" tIns="0" rIns="0" bIns="0" anchor="t">
            <a:spAutoFit/>
          </a:bodyPr>
          <a:p>
            <a:pPr defTabSz="457200">
              <a:lnSpc>
                <a:spcPct val="125000"/>
              </a:lnSpc>
              <a:spcAft>
                <a:spcPts val="601"/>
              </a:spcAft>
            </a:pPr>
            <a:r>
              <a:rPr lang="en-US" sz="1050" b="1" u="none" strike="noStrike">
                <a:solidFill>
                  <a:srgbClr val="2A78D6"/>
                </a:solidFill>
                <a:effectLst/>
                <a:uFillTx/>
                <a:latin typeface="Arial"/>
              </a:rPr>
              <a:t>10 · METHODOLOGY — BELIEF VS. BEHAVIOUR</a:t>
            </a:r>
            <a:endParaRPr lang="en-US" sz="1050" b="0" u="none" strike="noStrike">
              <a:solidFill>
                <a:srgbClr val="000000"/>
              </a:solidFill>
              <a:effectLst/>
              <a:uFillTx/>
              <a:latin typeface="Arial"/>
            </a:endParaRPr>
          </a:p>
        </p:txBody>
      </p:sp>
      <p:sp>
        <p:nvSpPr>
          <p:cNvPr id="125" name="TextBox 2"/>
          <p:cNvSpPr/>
          <p:nvPr/>
        </p:nvSpPr>
        <p:spPr>
          <a:xfrm>
            <a:off x="658440" y="749880"/>
            <a:ext cx="10880640" cy="822240"/>
          </a:xfrm>
          <a:prstGeom prst="rect">
            <a:avLst/>
          </a:prstGeom>
          <a:noFill/>
          <a:ln w="0">
            <a:noFill/>
          </a:ln>
        </p:spPr>
        <p:style>
          <a:lnRef idx="0"/>
          <a:fillRef idx="0"/>
          <a:effectRef idx="0"/>
          <a:fontRef idx="minor"/>
        </p:style>
        <p:txBody>
          <a:bodyPr lIns="0" tIns="0" rIns="0" bIns="0" anchor="t">
            <a:spAutoFit/>
          </a:bodyPr>
          <a:p>
            <a:pPr defTabSz="457200">
              <a:lnSpc>
                <a:spcPct val="125000"/>
              </a:lnSpc>
              <a:spcAft>
                <a:spcPts val="601"/>
              </a:spcAft>
            </a:pPr>
            <a:r>
              <a:rPr lang="en-US" sz="2800" b="1" u="none" strike="noStrike">
                <a:solidFill>
                  <a:srgbClr val="16181A"/>
                </a:solidFill>
                <a:effectLst/>
                <a:uFillTx/>
                <a:latin typeface="Arial"/>
              </a:rPr>
              <a:t>The Director is separate from the Predictor</a:t>
            </a:r>
            <a:endParaRPr lang="en-US" sz="2800" b="0" u="none" strike="noStrike">
              <a:solidFill>
                <a:srgbClr val="000000"/>
              </a:solidFill>
              <a:effectLst/>
              <a:uFillTx/>
              <a:latin typeface="Arial"/>
            </a:endParaRPr>
          </a:p>
        </p:txBody>
      </p:sp>
      <p:sp>
        <p:nvSpPr>
          <p:cNvPr id="126" name="Rectangle 3"/>
          <p:cNvSpPr/>
          <p:nvPr/>
        </p:nvSpPr>
        <p:spPr>
          <a:xfrm>
            <a:off x="658440" y="1481400"/>
            <a:ext cx="10880640" cy="17640"/>
          </a:xfrm>
          <a:prstGeom prst="rect">
            <a:avLst/>
          </a:prstGeom>
          <a:solidFill>
            <a:srgbClr val="D8DCE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6640" rIns="90000" bIns="-26640" anchor="ctr">
            <a:noAutofit/>
          </a:bodyPr>
          <a:p>
            <a:endParaRPr lang="en-US" sz="1800" b="0" u="none" strike="noStrike">
              <a:solidFill>
                <a:schemeClr val="lt1"/>
              </a:solidFill>
              <a:effectLst/>
              <a:uFillTx/>
              <a:latin typeface="Calibri"/>
            </a:endParaRPr>
          </a:p>
        </p:txBody>
      </p:sp>
      <p:sp>
        <p:nvSpPr>
          <p:cNvPr id="127" name="TextBox 4"/>
          <p:cNvSpPr/>
          <p:nvPr/>
        </p:nvSpPr>
        <p:spPr>
          <a:xfrm>
            <a:off x="658440" y="1783080"/>
            <a:ext cx="10880640" cy="456480"/>
          </a:xfrm>
          <a:prstGeom prst="rect">
            <a:avLst/>
          </a:prstGeom>
          <a:noFill/>
          <a:ln w="0">
            <a:noFill/>
          </a:ln>
        </p:spPr>
        <p:style>
          <a:lnRef idx="0"/>
          <a:fillRef idx="0"/>
          <a:effectRef idx="0"/>
          <a:fontRef idx="minor"/>
        </p:style>
        <p:txBody>
          <a:bodyPr lIns="0" tIns="0" rIns="0" bIns="0" anchor="t">
            <a:spAutoFit/>
          </a:bodyPr>
          <a:p>
            <a:pPr defTabSz="457200">
              <a:lnSpc>
                <a:spcPct val="130000"/>
              </a:lnSpc>
              <a:spcAft>
                <a:spcPts val="601"/>
              </a:spcAft>
            </a:pPr>
            <a:r>
              <a:rPr lang="en-US" sz="1450" b="0" u="none" strike="noStrike">
                <a:solidFill>
                  <a:srgbClr val="6B7178"/>
                </a:solidFill>
                <a:effectLst/>
                <a:uFillTx/>
                <a:latin typeface="Arial"/>
              </a:rPr>
              <a:t>The Predictor outputs beliefs. The Director decides what to do with them, scoring each counter-move by expected disruption × confidence. The model can be upgraded without re-tuning game feel.</a:t>
            </a:r>
            <a:endParaRPr lang="en-US" sz="1450" b="0" u="none" strike="noStrike">
              <a:solidFill>
                <a:srgbClr val="000000"/>
              </a:solidFill>
              <a:effectLst/>
              <a:uFillTx/>
              <a:latin typeface="Arial"/>
            </a:endParaRPr>
          </a:p>
        </p:txBody>
      </p:sp>
      <p:graphicFrame>
        <p:nvGraphicFramePr>
          <p:cNvPr id="128" name="Table 5"/>
          <p:cNvGraphicFramePr/>
          <p:nvPr/>
        </p:nvGraphicFramePr>
        <p:xfrm>
          <a:off x="658440" y="2606040"/>
          <a:ext cx="10881000" cy="1918800"/>
        </p:xfrm>
        <a:graphic>
          <a:graphicData uri="http://schemas.openxmlformats.org/drawingml/2006/table">
            <a:tbl>
              <a:tblPr/>
              <a:tblGrid>
                <a:gridCol w="2560320"/>
                <a:gridCol w="6309360"/>
                <a:gridCol w="2011680"/>
              </a:tblGrid>
              <a:tr h="383760">
                <a:tc>
                  <a:txBody>
                    <a:bodyPr lIns="73080" tIns="36360" rIns="73080" bIns="36360" anchor="t">
                      <a:noAutofit/>
                    </a:bodyPr>
                    <a:p>
                      <a:pPr defTabSz="457200">
                        <a:lnSpc>
                          <a:spcPct val="115000"/>
                        </a:lnSpc>
                      </a:pPr>
                      <a:r>
                        <a:rPr lang="en-US" sz="950" b="1" u="none" strike="noStrike">
                          <a:solidFill>
                            <a:srgbClr val="6B7178"/>
                          </a:solidFill>
                          <a:effectLst/>
                          <a:uFillTx/>
                          <a:latin typeface="Arial"/>
                        </a:rPr>
                        <a:t>Counter-move</a:t>
                      </a:r>
                      <a:endParaRPr lang="en-US" sz="9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4F6F8"/>
                    </a:solidFill>
                  </a:tcPr>
                </a:tc>
                <a:tc>
                  <a:txBody>
                    <a:bodyPr lIns="73080" tIns="36360" rIns="73080" bIns="36360" anchor="t">
                      <a:noAutofit/>
                    </a:bodyPr>
                    <a:p>
                      <a:pPr defTabSz="457200">
                        <a:lnSpc>
                          <a:spcPct val="115000"/>
                        </a:lnSpc>
                      </a:pPr>
                      <a:r>
                        <a:rPr lang="en-US" sz="950" b="1" u="none" strike="noStrike">
                          <a:solidFill>
                            <a:srgbClr val="6B7178"/>
                          </a:solidFill>
                          <a:effectLst/>
                          <a:uFillTx/>
                          <a:latin typeface="Arial"/>
                        </a:rPr>
                        <a:t>Trigger</a:t>
                      </a:r>
                      <a:endParaRPr lang="en-US" sz="9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4F6F8"/>
                    </a:solidFill>
                  </a:tcPr>
                </a:tc>
                <a:tc>
                  <a:txBody>
                    <a:bodyPr lIns="73080" tIns="36360" rIns="73080" bIns="36360" anchor="t">
                      <a:noAutofit/>
                    </a:bodyPr>
                    <a:p>
                      <a:pPr defTabSz="457200">
                        <a:lnSpc>
                          <a:spcPct val="115000"/>
                        </a:lnSpc>
                      </a:pPr>
                      <a:r>
                        <a:rPr lang="en-US" sz="950" b="1" u="none" strike="noStrike">
                          <a:solidFill>
                            <a:srgbClr val="6B7178"/>
                          </a:solidFill>
                          <a:effectLst/>
                          <a:uFillTx/>
                          <a:latin typeface="Arial"/>
                        </a:rPr>
                        <a:t>Status</a:t>
                      </a:r>
                      <a:endParaRPr lang="en-US" sz="9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4F6F8"/>
                    </a:solidFill>
                  </a:tcPr>
                </a:tc>
              </a:tr>
              <a:tr h="383760">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Intercept</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Rolls the model forward; meets the player where they will be</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Measured (§16, 17)</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Rewire a room ahead</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High confidence on a route — change it before they arrive</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Measured (§18)</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Seal a shortcut</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An edge with high traversal frequency</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Measured (§18)</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Poison a codebook</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A recorded entry the player is predicted to need again</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Measured (§19)</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bl>
          </a:graphicData>
        </a:graphic>
      </p:graphicFrame>
      <p:sp>
        <p:nvSpPr>
          <p:cNvPr id="129" name="TextBox 6"/>
          <p:cNvSpPr/>
          <p:nvPr/>
        </p:nvSpPr>
        <p:spPr>
          <a:xfrm>
            <a:off x="658440" y="4526280"/>
            <a:ext cx="10880640" cy="319320"/>
          </a:xfrm>
          <a:prstGeom prst="rect">
            <a:avLst/>
          </a:prstGeom>
          <a:noFill/>
          <a:ln w="0">
            <a:noFill/>
          </a:ln>
        </p:spPr>
        <p:style>
          <a:lnRef idx="0"/>
          <a:fillRef idx="0"/>
          <a:effectRef idx="0"/>
          <a:fontRef idx="minor"/>
        </p:style>
        <p:txBody>
          <a:bodyPr lIns="0" tIns="0" rIns="0" bIns="0" anchor="t">
            <a:spAutoFit/>
          </a:bodyPr>
          <a:p>
            <a:pPr defTabSz="457200">
              <a:lnSpc>
                <a:spcPct val="125000"/>
              </a:lnSpc>
              <a:spcAft>
                <a:spcPts val="601"/>
              </a:spcAft>
            </a:pPr>
            <a:r>
              <a:rPr lang="en-US" sz="1050" b="1" u="none" strike="noStrike">
                <a:solidFill>
                  <a:srgbClr val="EB6834"/>
                </a:solidFill>
                <a:effectLst/>
                <a:uFillTx/>
                <a:latin typeface="Arial"/>
              </a:rPr>
              <a:t>FAIRNESS CONSTRAINTS</a:t>
            </a:r>
            <a:endParaRPr lang="en-US" sz="1050" b="0" u="none" strike="noStrike">
              <a:solidFill>
                <a:srgbClr val="000000"/>
              </a:solidFill>
              <a:effectLst/>
              <a:uFillTx/>
              <a:latin typeface="Arial"/>
            </a:endParaRPr>
          </a:p>
        </p:txBody>
      </p:sp>
      <p:sp>
        <p:nvSpPr>
          <p:cNvPr id="130" name="TextBox 7"/>
          <p:cNvSpPr/>
          <p:nvPr/>
        </p:nvSpPr>
        <p:spPr>
          <a:xfrm>
            <a:off x="658440" y="4892040"/>
            <a:ext cx="10880640" cy="4479840"/>
          </a:xfrm>
          <a:prstGeom prst="rect">
            <a:avLst/>
          </a:prstGeom>
          <a:noFill/>
          <a:ln w="0">
            <a:noFill/>
          </a:ln>
        </p:spPr>
        <p:style>
          <a:lnRef idx="0"/>
          <a:fillRef idx="0"/>
          <a:effectRef idx="0"/>
          <a:fontRef idx="minor"/>
        </p:style>
        <p:txBody>
          <a:bodyPr lIns="0" tIns="0" rIns="0" bIns="0" anchor="t">
            <a:spAutoFit/>
          </a:bodyPr>
          <a:p>
            <a:pPr defTabSz="457200">
              <a:lnSpc>
                <a:spcPct val="130000"/>
              </a:lnSpc>
              <a:spcAft>
                <a:spcPts val="601"/>
              </a:spcAft>
            </a:pPr>
            <a:r>
              <a:rPr lang="en-US" sz="1350" b="1" u="none" strike="noStrike">
                <a:solidFill>
                  <a:srgbClr val="16181A"/>
                </a:solidFill>
                <a:effectLst/>
                <a:uFillTx/>
                <a:latin typeface="Arial"/>
              </a:rPr>
              <a:t>1  </a:t>
            </a:r>
            <a:r>
              <a:rPr lang="en-US" sz="1350" b="0" u="none" strike="noStrike">
                <a:solidFill>
                  <a:srgbClr val="6B7178"/>
                </a:solidFill>
                <a:effectLst/>
                <a:uFillTx/>
                <a:latin typeface="Arial"/>
              </a:rPr>
              <a:t>No mutation is ever applied to anything currently visible to the player.</a:t>
            </a:r>
            <a:endParaRPr lang="en-US" sz="1350" b="0" u="none" strike="noStrike">
              <a:solidFill>
                <a:srgbClr val="000000"/>
              </a:solidFill>
              <a:effectLst/>
              <a:uFillTx/>
              <a:latin typeface="Arial"/>
            </a:endParaRPr>
          </a:p>
          <a:p>
            <a:pPr defTabSz="457200">
              <a:lnSpc>
                <a:spcPct val="130000"/>
              </a:lnSpc>
              <a:spcAft>
                <a:spcPts val="601"/>
              </a:spcAft>
            </a:pPr>
            <a:r>
              <a:rPr lang="en-US" sz="1350" b="1" u="none" strike="noStrike">
                <a:solidFill>
                  <a:srgbClr val="16181A"/>
                </a:solidFill>
                <a:effectLst/>
                <a:uFillTx/>
                <a:latin typeface="Arial"/>
              </a:rPr>
              <a:t>2  </a:t>
            </a:r>
            <a:r>
              <a:rPr lang="en-US" sz="1350" b="0" u="none" strike="noStrike">
                <a:solidFill>
                  <a:srgbClr val="6B7178"/>
                </a:solidFill>
                <a:effectLst/>
                <a:uFillTx/>
                <a:latin typeface="Arial"/>
              </a:rPr>
              <a:t>Confidence gating — below threshold it hunts conventionally, exploiting only what it knows.</a:t>
            </a:r>
            <a:endParaRPr lang="en-US" sz="1350" b="0" u="none" strike="noStrike">
              <a:solidFill>
                <a:srgbClr val="000000"/>
              </a:solidFill>
              <a:effectLst/>
              <a:uFillTx/>
              <a:latin typeface="Arial"/>
            </a:endParaRPr>
          </a:p>
          <a:p>
            <a:pPr defTabSz="457200">
              <a:lnSpc>
                <a:spcPct val="130000"/>
              </a:lnSpc>
              <a:spcAft>
                <a:spcPts val="601"/>
              </a:spcAft>
            </a:pPr>
            <a:r>
              <a:rPr lang="en-US" sz="1350" b="1" u="none" strike="noStrike">
                <a:solidFill>
                  <a:srgbClr val="16181A"/>
                </a:solidFill>
                <a:effectLst/>
                <a:uFillTx/>
                <a:latin typeface="Arial"/>
              </a:rPr>
              <a:t>3  </a:t>
            </a:r>
            <a:r>
              <a:rPr lang="en-US" sz="1350" b="0" u="none" strike="noStrike">
                <a:solidFill>
                  <a:srgbClr val="6B7178"/>
                </a:solidFill>
                <a:effectLst/>
                <a:uFillTx/>
                <a:latin typeface="Arial"/>
              </a:rPr>
              <a:t>Solvability invariant — every mutation is checked for reachability and reverted if it would soft-lock the run.</a:t>
            </a:r>
            <a:endParaRPr lang="en-US" sz="13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CFB"/>
        </a:solidFill>
      </p:bgPr>
    </p:bg>
    <p:spTree>
      <p:nvGrpSpPr>
        <p:cNvPr id="1" name=""/>
        <p:cNvGrpSpPr/>
        <p:nvPr/>
      </p:nvGrpSpPr>
      <p:grpSpPr>
        <a:xfrm>
          <a:off x="0" y="0"/>
          <a:ext cx="0" cy="0"/>
          <a:chOff x="0" y="0"/>
          <a:chExt cx="0" cy="0"/>
        </a:xfrm>
      </p:grpSpPr>
      <p:sp>
        <p:nvSpPr>
          <p:cNvPr id="131" name="TextBox 1"/>
          <p:cNvSpPr/>
          <p:nvPr/>
        </p:nvSpPr>
        <p:spPr>
          <a:xfrm>
            <a:off x="658440" y="420480"/>
            <a:ext cx="10880640" cy="273600"/>
          </a:xfrm>
          <a:prstGeom prst="rect">
            <a:avLst/>
          </a:prstGeom>
          <a:noFill/>
          <a:ln w="0">
            <a:noFill/>
          </a:ln>
        </p:spPr>
        <p:style>
          <a:lnRef idx="0"/>
          <a:fillRef idx="0"/>
          <a:effectRef idx="0"/>
          <a:fontRef idx="minor"/>
        </p:style>
        <p:txBody>
          <a:bodyPr lIns="0" tIns="0" rIns="0" bIns="0" anchor="t">
            <a:spAutoFit/>
          </a:bodyPr>
          <a:p>
            <a:pPr defTabSz="457200">
              <a:lnSpc>
                <a:spcPct val="125000"/>
              </a:lnSpc>
              <a:spcAft>
                <a:spcPts val="601"/>
              </a:spcAft>
            </a:pPr>
            <a:r>
              <a:rPr lang="en-US" sz="1050" b="1" u="none" strike="noStrike">
                <a:solidFill>
                  <a:srgbClr val="2A78D6"/>
                </a:solidFill>
                <a:effectLst/>
                <a:uFillTx/>
                <a:latin typeface="Arial"/>
              </a:rPr>
              <a:t>11 · METHODOLOGY — EVALUATION PROTOCOL</a:t>
            </a:r>
            <a:endParaRPr lang="en-US" sz="1050" b="0" u="none" strike="noStrike">
              <a:solidFill>
                <a:srgbClr val="000000"/>
              </a:solidFill>
              <a:effectLst/>
              <a:uFillTx/>
              <a:latin typeface="Arial"/>
            </a:endParaRPr>
          </a:p>
        </p:txBody>
      </p:sp>
      <p:sp>
        <p:nvSpPr>
          <p:cNvPr id="132" name="TextBox 2"/>
          <p:cNvSpPr/>
          <p:nvPr/>
        </p:nvSpPr>
        <p:spPr>
          <a:xfrm>
            <a:off x="658440" y="749880"/>
            <a:ext cx="10880640" cy="822240"/>
          </a:xfrm>
          <a:prstGeom prst="rect">
            <a:avLst/>
          </a:prstGeom>
          <a:noFill/>
          <a:ln w="0">
            <a:noFill/>
          </a:ln>
        </p:spPr>
        <p:style>
          <a:lnRef idx="0"/>
          <a:fillRef idx="0"/>
          <a:effectRef idx="0"/>
          <a:fontRef idx="minor"/>
        </p:style>
        <p:txBody>
          <a:bodyPr lIns="0" tIns="0" rIns="0" bIns="0" anchor="t">
            <a:spAutoFit/>
          </a:bodyPr>
          <a:p>
            <a:pPr defTabSz="457200">
              <a:lnSpc>
                <a:spcPct val="125000"/>
              </a:lnSpc>
              <a:spcAft>
                <a:spcPts val="601"/>
              </a:spcAft>
            </a:pPr>
            <a:r>
              <a:rPr lang="en-US" sz="2800" b="1" u="none" strike="noStrike">
                <a:solidFill>
                  <a:srgbClr val="16181A"/>
                </a:solidFill>
                <a:effectLst/>
                <a:uFillTx/>
                <a:latin typeface="Arial"/>
              </a:rPr>
              <a:t>Headless, bot-driven, prequential</a:t>
            </a:r>
            <a:endParaRPr lang="en-US" sz="2800" b="0" u="none" strike="noStrike">
              <a:solidFill>
                <a:srgbClr val="000000"/>
              </a:solidFill>
              <a:effectLst/>
              <a:uFillTx/>
              <a:latin typeface="Arial"/>
            </a:endParaRPr>
          </a:p>
        </p:txBody>
      </p:sp>
      <p:sp>
        <p:nvSpPr>
          <p:cNvPr id="133" name="Rectangle 3"/>
          <p:cNvSpPr/>
          <p:nvPr/>
        </p:nvSpPr>
        <p:spPr>
          <a:xfrm>
            <a:off x="658440" y="1481400"/>
            <a:ext cx="10880640" cy="17640"/>
          </a:xfrm>
          <a:prstGeom prst="rect">
            <a:avLst/>
          </a:prstGeom>
          <a:solidFill>
            <a:srgbClr val="D8DCE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6640" rIns="90000" bIns="-26640" anchor="ctr">
            <a:noAutofit/>
          </a:bodyPr>
          <a:p>
            <a:endParaRPr lang="en-US" sz="1800" b="0" u="none" strike="noStrike">
              <a:solidFill>
                <a:schemeClr val="lt1"/>
              </a:solidFill>
              <a:effectLst/>
              <a:uFillTx/>
              <a:latin typeface="Calibri"/>
            </a:endParaRPr>
          </a:p>
        </p:txBody>
      </p:sp>
      <p:sp>
        <p:nvSpPr>
          <p:cNvPr id="134" name="TextBox 4"/>
          <p:cNvSpPr/>
          <p:nvPr/>
        </p:nvSpPr>
        <p:spPr>
          <a:xfrm>
            <a:off x="658440" y="1783080"/>
            <a:ext cx="10880640" cy="4479840"/>
          </a:xfrm>
          <a:prstGeom prst="rect">
            <a:avLst/>
          </a:prstGeom>
          <a:noFill/>
          <a:ln w="0">
            <a:noFill/>
          </a:ln>
        </p:spPr>
        <p:style>
          <a:lnRef idx="0"/>
          <a:fillRef idx="0"/>
          <a:effectRef idx="0"/>
          <a:fontRef idx="minor"/>
        </p:style>
        <p:txBody>
          <a:bodyPr lIns="0" tIns="0" rIns="0" bIns="0" anchor="t">
            <a:spAutoFit/>
          </a:bodyPr>
          <a:p>
            <a:pPr defTabSz="457200">
              <a:lnSpc>
                <a:spcPct val="130000"/>
              </a:lnSpc>
              <a:spcAft>
                <a:spcPts val="1301"/>
              </a:spcAft>
            </a:pPr>
            <a:r>
              <a:rPr lang="en-US" sz="1450" b="0" u="none" strike="noStrike">
                <a:solidFill>
                  <a:srgbClr val="16181A"/>
                </a:solidFill>
                <a:effectLst/>
                <a:uFillTx/>
                <a:latin typeface="Arial"/>
              </a:rPr>
              <a:t>Human playtesting does not scale to a solo project. Three scripted players stand in for humans, so thousands of games run headlessly:</a:t>
            </a:r>
            <a:endParaRPr lang="en-US" sz="1450" b="0" u="none" strike="noStrike">
              <a:solidFill>
                <a:srgbClr val="000000"/>
              </a:solidFill>
              <a:effectLst/>
              <a:uFillTx/>
              <a:latin typeface="Arial"/>
            </a:endParaRPr>
          </a:p>
        </p:txBody>
      </p:sp>
      <p:graphicFrame>
        <p:nvGraphicFramePr>
          <p:cNvPr id="135" name="Table 5"/>
          <p:cNvGraphicFramePr/>
          <p:nvPr/>
        </p:nvGraphicFramePr>
        <p:xfrm>
          <a:off x="658440" y="2514600"/>
          <a:ext cx="10881000" cy="1918800"/>
        </p:xfrm>
        <a:graphic>
          <a:graphicData uri="http://schemas.openxmlformats.org/drawingml/2006/table">
            <a:tbl>
              <a:tblPr/>
              <a:tblGrid>
                <a:gridCol w="2377440"/>
                <a:gridCol w="5394960"/>
                <a:gridCol w="3108960"/>
              </a:tblGrid>
              <a:tr h="383760">
                <a:tc>
                  <a:txBody>
                    <a:bodyPr lIns="73080" tIns="36360" rIns="73080" bIns="36360" anchor="t">
                      <a:noAutofit/>
                    </a:bodyPr>
                    <a:p>
                      <a:pPr defTabSz="457200">
                        <a:lnSpc>
                          <a:spcPct val="115000"/>
                        </a:lnSpc>
                      </a:pPr>
                      <a:r>
                        <a:rPr lang="en-US" sz="950" b="1" u="none" strike="noStrike">
                          <a:solidFill>
                            <a:srgbClr val="6B7178"/>
                          </a:solidFill>
                          <a:effectLst/>
                          <a:uFillTx/>
                          <a:latin typeface="Arial"/>
                        </a:rPr>
                        <a:t>Scripted player</a:t>
                      </a:r>
                      <a:endParaRPr lang="en-US" sz="9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4F6F8"/>
                    </a:solidFill>
                  </a:tcPr>
                </a:tc>
                <a:tc>
                  <a:txBody>
                    <a:bodyPr lIns="73080" tIns="36360" rIns="73080" bIns="36360" anchor="t">
                      <a:noAutofit/>
                    </a:bodyPr>
                    <a:p>
                      <a:pPr defTabSz="457200">
                        <a:lnSpc>
                          <a:spcPct val="115000"/>
                        </a:lnSpc>
                      </a:pPr>
                      <a:r>
                        <a:rPr lang="en-US" sz="950" b="1" u="none" strike="noStrike">
                          <a:solidFill>
                            <a:srgbClr val="6B7178"/>
                          </a:solidFill>
                          <a:effectLst/>
                          <a:uFillTx/>
                          <a:latin typeface="Arial"/>
                        </a:rPr>
                        <a:t>Models</a:t>
                      </a:r>
                      <a:endParaRPr lang="en-US" sz="9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4F6F8"/>
                    </a:solidFill>
                  </a:tcPr>
                </a:tc>
                <a:tc>
                  <a:txBody>
                    <a:bodyPr lIns="73080" tIns="36360" rIns="73080" bIns="36360" anchor="t">
                      <a:noAutofit/>
                    </a:bodyPr>
                    <a:p>
                      <a:pPr defTabSz="457200">
                        <a:lnSpc>
                          <a:spcPct val="115000"/>
                        </a:lnSpc>
                      </a:pPr>
                      <a:r>
                        <a:rPr lang="en-US" sz="950" b="1" u="none" strike="noStrike">
                          <a:solidFill>
                            <a:srgbClr val="6B7178"/>
                          </a:solidFill>
                          <a:effectLst/>
                          <a:uFillTx/>
                          <a:latin typeface="Arial"/>
                        </a:rPr>
                        <a:t>Expected result</a:t>
                      </a:r>
                      <a:endParaRPr lang="en-US" sz="9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4F6F8"/>
                    </a:solidFill>
                  </a:tcPr>
                </a:tc>
              </a:tr>
              <a:tr h="383760">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HabitualBot</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A player who has learned the level and runs routes</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Model should win decisively</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ExplorerBot</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A first-time player sweeping systematically</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Model should win</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EvasiveBot</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Declines 35% of windows on purpose to break the pattern</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The player's counter-play</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RandomBot</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Uniform over doors and staying — no habit at all</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Model MUST NOT beat baseline</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bl>
          </a:graphicData>
        </a:graphic>
      </p:graphicFrame>
      <p:sp>
        <p:nvSpPr>
          <p:cNvPr id="136" name="Rectangle 6"/>
          <p:cNvSpPr/>
          <p:nvPr/>
        </p:nvSpPr>
        <p:spPr>
          <a:xfrm>
            <a:off x="658440" y="4160520"/>
            <a:ext cx="10880640" cy="1325160"/>
          </a:xfrm>
          <a:prstGeom prst="rect">
            <a:avLst/>
          </a:prstGeom>
          <a:solidFill>
            <a:srgbClr val="F1F6FC"/>
          </a:solidFill>
          <a:ln w="12700">
            <a:solidFill>
              <a:srgbClr val="2A78D6"/>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37" name="TextBox 7"/>
          <p:cNvSpPr/>
          <p:nvPr/>
        </p:nvSpPr>
        <p:spPr>
          <a:xfrm>
            <a:off x="960120" y="4370760"/>
            <a:ext cx="10332000" cy="1005120"/>
          </a:xfrm>
          <a:prstGeom prst="rect">
            <a:avLst/>
          </a:prstGeom>
          <a:noFill/>
          <a:ln w="0">
            <a:noFill/>
          </a:ln>
        </p:spPr>
        <p:style>
          <a:lnRef idx="0"/>
          <a:fillRef idx="0"/>
          <a:effectRef idx="0"/>
          <a:fontRef idx="minor"/>
        </p:style>
        <p:txBody>
          <a:bodyPr lIns="0" tIns="0" rIns="0" bIns="0" anchor="t">
            <a:spAutoFit/>
          </a:bodyPr>
          <a:p>
            <a:pPr defTabSz="457200">
              <a:lnSpc>
                <a:spcPct val="132000"/>
              </a:lnSpc>
              <a:spcAft>
                <a:spcPts val="300"/>
              </a:spcAft>
            </a:pPr>
            <a:r>
              <a:rPr lang="en-US" sz="1350" b="0" u="none" strike="noStrike">
                <a:solidFill>
                  <a:srgbClr val="16181A"/>
                </a:solidFill>
                <a:effectLst/>
                <a:uFillTx/>
                <a:latin typeface="Arial"/>
              </a:rPr>
              <a:t>The control is the most important experiment.</a:t>
            </a:r>
            <a:endParaRPr lang="en-US" sz="1350" b="0" u="none" strike="noStrike">
              <a:solidFill>
                <a:srgbClr val="000000"/>
              </a:solidFill>
              <a:effectLst/>
              <a:uFillTx/>
              <a:latin typeface="Arial"/>
            </a:endParaRPr>
          </a:p>
          <a:p>
            <a:pPr defTabSz="457200">
              <a:lnSpc>
                <a:spcPct val="132000"/>
              </a:lnSpc>
              <a:spcAft>
                <a:spcPts val="300"/>
              </a:spcAft>
            </a:pPr>
            <a:r>
              <a:rPr lang="en-US" sz="1350" b="0" u="none" strike="noStrike">
                <a:solidFill>
                  <a:srgbClr val="16181A"/>
                </a:solidFill>
                <a:effectLst/>
                <a:uFillTx/>
                <a:latin typeface="Arial"/>
              </a:rPr>
              <a:t>Against a random player the model must FAIL to beat baseline. A model that appears to predict a random walk is measuring something it should not have access to. All accuracy is prequential — every prediction is made before its outcome is observed, so there is no train/test leakage by construction.</a:t>
            </a:r>
            <a:endParaRPr lang="en-US" sz="13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CFB"/>
        </a:solidFill>
      </p:bgPr>
    </p:bg>
    <p:spTree>
      <p:nvGrpSpPr>
        <p:cNvPr id="1" name=""/>
        <p:cNvGrpSpPr/>
        <p:nvPr/>
      </p:nvGrpSpPr>
      <p:grpSpPr>
        <a:xfrm>
          <a:off x="0" y="0"/>
          <a:ext cx="0" cy="0"/>
          <a:chOff x="0" y="0"/>
          <a:chExt cx="0" cy="0"/>
        </a:xfrm>
      </p:grpSpPr>
      <p:sp>
        <p:nvSpPr>
          <p:cNvPr id="138" name="TextBox 1"/>
          <p:cNvSpPr/>
          <p:nvPr/>
        </p:nvSpPr>
        <p:spPr>
          <a:xfrm>
            <a:off x="658440" y="420480"/>
            <a:ext cx="10880640" cy="273600"/>
          </a:xfrm>
          <a:prstGeom prst="rect">
            <a:avLst/>
          </a:prstGeom>
          <a:noFill/>
          <a:ln w="0">
            <a:noFill/>
          </a:ln>
        </p:spPr>
        <p:style>
          <a:lnRef idx="0"/>
          <a:fillRef idx="0"/>
          <a:effectRef idx="0"/>
          <a:fontRef idx="minor"/>
        </p:style>
        <p:txBody>
          <a:bodyPr lIns="0" tIns="0" rIns="0" bIns="0" anchor="t">
            <a:spAutoFit/>
          </a:bodyPr>
          <a:p>
            <a:pPr defTabSz="457200">
              <a:lnSpc>
                <a:spcPct val="125000"/>
              </a:lnSpc>
              <a:spcAft>
                <a:spcPts val="601"/>
              </a:spcAft>
            </a:pPr>
            <a:r>
              <a:rPr lang="en-US" sz="1050" b="1" u="none" strike="noStrike">
                <a:solidFill>
                  <a:srgbClr val="2A78D6"/>
                </a:solidFill>
                <a:effectLst/>
                <a:uFillTx/>
                <a:latin typeface="Arial"/>
              </a:rPr>
              <a:t>12 · SYSTEM DESIGN</a:t>
            </a:r>
            <a:endParaRPr lang="en-US" sz="1050" b="0" u="none" strike="noStrike">
              <a:solidFill>
                <a:srgbClr val="000000"/>
              </a:solidFill>
              <a:effectLst/>
              <a:uFillTx/>
              <a:latin typeface="Arial"/>
            </a:endParaRPr>
          </a:p>
        </p:txBody>
      </p:sp>
      <p:sp>
        <p:nvSpPr>
          <p:cNvPr id="139" name="TextBox 2"/>
          <p:cNvSpPr/>
          <p:nvPr/>
        </p:nvSpPr>
        <p:spPr>
          <a:xfrm>
            <a:off x="658440" y="749880"/>
            <a:ext cx="10880640" cy="822240"/>
          </a:xfrm>
          <a:prstGeom prst="rect">
            <a:avLst/>
          </a:prstGeom>
          <a:noFill/>
          <a:ln w="0">
            <a:noFill/>
          </a:ln>
        </p:spPr>
        <p:style>
          <a:lnRef idx="0"/>
          <a:fillRef idx="0"/>
          <a:effectRef idx="0"/>
          <a:fontRef idx="minor"/>
        </p:style>
        <p:txBody>
          <a:bodyPr lIns="0" tIns="0" rIns="0" bIns="0" anchor="t">
            <a:spAutoFit/>
          </a:bodyPr>
          <a:p>
            <a:pPr defTabSz="457200">
              <a:lnSpc>
                <a:spcPct val="125000"/>
              </a:lnSpc>
              <a:spcAft>
                <a:spcPts val="601"/>
              </a:spcAft>
            </a:pPr>
            <a:r>
              <a:rPr lang="en-US" sz="2800" b="1" u="none" strike="noStrike">
                <a:solidFill>
                  <a:srgbClr val="16181A"/>
                </a:solidFill>
                <a:effectLst/>
                <a:uFillTx/>
                <a:latin typeface="Arial"/>
              </a:rPr>
              <a:t>Eight modules across three layers</a:t>
            </a:r>
            <a:endParaRPr lang="en-US" sz="2800" b="0" u="none" strike="noStrike">
              <a:solidFill>
                <a:srgbClr val="000000"/>
              </a:solidFill>
              <a:effectLst/>
              <a:uFillTx/>
              <a:latin typeface="Arial"/>
            </a:endParaRPr>
          </a:p>
        </p:txBody>
      </p:sp>
      <p:sp>
        <p:nvSpPr>
          <p:cNvPr id="140" name="Rectangle 3"/>
          <p:cNvSpPr/>
          <p:nvPr/>
        </p:nvSpPr>
        <p:spPr>
          <a:xfrm>
            <a:off x="658440" y="1481400"/>
            <a:ext cx="10880640" cy="17640"/>
          </a:xfrm>
          <a:prstGeom prst="rect">
            <a:avLst/>
          </a:prstGeom>
          <a:solidFill>
            <a:srgbClr val="D8DCE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6640" rIns="90000" bIns="-26640" anchor="ctr">
            <a:noAutofit/>
          </a:bodyPr>
          <a:p>
            <a:endParaRPr lang="en-US" sz="1800" b="0" u="none" strike="noStrike">
              <a:solidFill>
                <a:schemeClr val="lt1"/>
              </a:solidFill>
              <a:effectLst/>
              <a:uFillTx/>
              <a:latin typeface="Calibri"/>
            </a:endParaRPr>
          </a:p>
        </p:txBody>
      </p:sp>
      <p:pic>
        <p:nvPicPr>
          <p:cNvPr id="141" name="Picture 4" descr="fig_arch.png"/>
          <p:cNvPicPr/>
          <p:nvPr/>
        </p:nvPicPr>
        <p:blipFill>
          <a:blip r:embed="rId1"/>
          <a:stretch/>
        </p:blipFill>
        <p:spPr>
          <a:xfrm>
            <a:off x="1344240" y="1737360"/>
            <a:ext cx="9509040" cy="4840560"/>
          </a:xfrm>
          <a:prstGeom prst="rect">
            <a:avLst/>
          </a:prstGeom>
          <a:noFill/>
          <a:ln w="0">
            <a:noFill/>
          </a:ln>
        </p:spPr>
      </p:pic>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CFB"/>
        </a:solidFill>
      </p:bgPr>
    </p:bg>
    <p:spTree>
      <p:nvGrpSpPr>
        <p:cNvPr id="1" name=""/>
        <p:cNvGrpSpPr/>
        <p:nvPr/>
      </p:nvGrpSpPr>
      <p:grpSpPr>
        <a:xfrm>
          <a:off x="0" y="0"/>
          <a:ext cx="0" cy="0"/>
          <a:chOff x="0" y="0"/>
          <a:chExt cx="0" cy="0"/>
        </a:xfrm>
      </p:grpSpPr>
      <p:sp>
        <p:nvSpPr>
          <p:cNvPr id="142" name="TextBox 1"/>
          <p:cNvSpPr/>
          <p:nvPr/>
        </p:nvSpPr>
        <p:spPr>
          <a:xfrm>
            <a:off x="658440" y="420480"/>
            <a:ext cx="10880640" cy="273600"/>
          </a:xfrm>
          <a:prstGeom prst="rect">
            <a:avLst/>
          </a:prstGeom>
          <a:noFill/>
          <a:ln w="0">
            <a:noFill/>
          </a:ln>
        </p:spPr>
        <p:style>
          <a:lnRef idx="0"/>
          <a:fillRef idx="0"/>
          <a:effectRef idx="0"/>
          <a:fontRef idx="minor"/>
        </p:style>
        <p:txBody>
          <a:bodyPr lIns="0" tIns="0" rIns="0" bIns="0" anchor="t">
            <a:spAutoFit/>
          </a:bodyPr>
          <a:p>
            <a:pPr defTabSz="457200">
              <a:lnSpc>
                <a:spcPct val="125000"/>
              </a:lnSpc>
              <a:spcAft>
                <a:spcPts val="601"/>
              </a:spcAft>
            </a:pPr>
            <a:r>
              <a:rPr lang="en-US" sz="1050" b="1" u="none" strike="noStrike">
                <a:solidFill>
                  <a:srgbClr val="2A78D6"/>
                </a:solidFill>
                <a:effectLst/>
                <a:uFillTx/>
                <a:latin typeface="Arial"/>
              </a:rPr>
              <a:t>13 · MODULE DESCRIPTION</a:t>
            </a:r>
            <a:endParaRPr lang="en-US" sz="1050" b="0" u="none" strike="noStrike">
              <a:solidFill>
                <a:srgbClr val="000000"/>
              </a:solidFill>
              <a:effectLst/>
              <a:uFillTx/>
              <a:latin typeface="Arial"/>
            </a:endParaRPr>
          </a:p>
        </p:txBody>
      </p:sp>
      <p:sp>
        <p:nvSpPr>
          <p:cNvPr id="143" name="TextBox 2"/>
          <p:cNvSpPr/>
          <p:nvPr/>
        </p:nvSpPr>
        <p:spPr>
          <a:xfrm>
            <a:off x="658440" y="749880"/>
            <a:ext cx="10880640" cy="822240"/>
          </a:xfrm>
          <a:prstGeom prst="rect">
            <a:avLst/>
          </a:prstGeom>
          <a:noFill/>
          <a:ln w="0">
            <a:noFill/>
          </a:ln>
        </p:spPr>
        <p:style>
          <a:lnRef idx="0"/>
          <a:fillRef idx="0"/>
          <a:effectRef idx="0"/>
          <a:fontRef idx="minor"/>
        </p:style>
        <p:txBody>
          <a:bodyPr lIns="0" tIns="0" rIns="0" bIns="0" anchor="t">
            <a:spAutoFit/>
          </a:bodyPr>
          <a:p>
            <a:pPr defTabSz="457200">
              <a:lnSpc>
                <a:spcPct val="125000"/>
              </a:lnSpc>
              <a:spcAft>
                <a:spcPts val="601"/>
              </a:spcAft>
            </a:pPr>
            <a:r>
              <a:rPr lang="en-US" sz="2800" b="1" u="none" strike="noStrike">
                <a:solidFill>
                  <a:srgbClr val="16181A"/>
                </a:solidFill>
                <a:effectLst/>
                <a:uFillTx/>
                <a:latin typeface="Arial"/>
              </a:rPr>
              <a:t>Responsibilities and dependencies</a:t>
            </a:r>
            <a:endParaRPr lang="en-US" sz="2800" b="0" u="none" strike="noStrike">
              <a:solidFill>
                <a:srgbClr val="000000"/>
              </a:solidFill>
              <a:effectLst/>
              <a:uFillTx/>
              <a:latin typeface="Arial"/>
            </a:endParaRPr>
          </a:p>
        </p:txBody>
      </p:sp>
      <p:sp>
        <p:nvSpPr>
          <p:cNvPr id="144" name="Rectangle 3"/>
          <p:cNvSpPr/>
          <p:nvPr/>
        </p:nvSpPr>
        <p:spPr>
          <a:xfrm>
            <a:off x="658440" y="1481400"/>
            <a:ext cx="10880640" cy="17640"/>
          </a:xfrm>
          <a:prstGeom prst="rect">
            <a:avLst/>
          </a:prstGeom>
          <a:solidFill>
            <a:srgbClr val="D8DCE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6640" rIns="90000" bIns="-26640" anchor="ctr">
            <a:noAutofit/>
          </a:bodyPr>
          <a:p>
            <a:endParaRPr lang="en-US" sz="1800" b="0" u="none" strike="noStrike">
              <a:solidFill>
                <a:schemeClr val="lt1"/>
              </a:solidFill>
              <a:effectLst/>
              <a:uFillTx/>
              <a:latin typeface="Calibri"/>
            </a:endParaRPr>
          </a:p>
        </p:txBody>
      </p:sp>
      <p:graphicFrame>
        <p:nvGraphicFramePr>
          <p:cNvPr id="145" name="Table 4"/>
          <p:cNvGraphicFramePr/>
          <p:nvPr/>
        </p:nvGraphicFramePr>
        <p:xfrm>
          <a:off x="658440" y="1783080"/>
          <a:ext cx="10881000" cy="3453840"/>
        </p:xfrm>
        <a:graphic>
          <a:graphicData uri="http://schemas.openxmlformats.org/drawingml/2006/table">
            <a:tbl>
              <a:tblPr/>
              <a:tblGrid>
                <a:gridCol w="1691640"/>
                <a:gridCol w="6995160"/>
                <a:gridCol w="2194560"/>
              </a:tblGrid>
              <a:tr h="383760">
                <a:tc>
                  <a:txBody>
                    <a:bodyPr lIns="73080" tIns="36360" rIns="73080" bIns="36360" anchor="t">
                      <a:noAutofit/>
                    </a:bodyPr>
                    <a:p>
                      <a:pPr defTabSz="457200">
                        <a:lnSpc>
                          <a:spcPct val="115000"/>
                        </a:lnSpc>
                      </a:pPr>
                      <a:r>
                        <a:rPr lang="en-US" sz="900" b="1" u="none" strike="noStrike">
                          <a:solidFill>
                            <a:srgbClr val="6B7178"/>
                          </a:solidFill>
                          <a:effectLst/>
                          <a:uFillTx/>
                          <a:latin typeface="Arial"/>
                        </a:rPr>
                        <a:t>Module</a:t>
                      </a:r>
                      <a:endParaRPr lang="en-US" sz="9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4F6F8"/>
                    </a:solidFill>
                  </a:tcPr>
                </a:tc>
                <a:tc>
                  <a:txBody>
                    <a:bodyPr lIns="73080" tIns="36360" rIns="73080" bIns="36360" anchor="t">
                      <a:noAutofit/>
                    </a:bodyPr>
                    <a:p>
                      <a:pPr defTabSz="457200">
                        <a:lnSpc>
                          <a:spcPct val="115000"/>
                        </a:lnSpc>
                      </a:pPr>
                      <a:r>
                        <a:rPr lang="en-US" sz="900" b="1" u="none" strike="noStrike">
                          <a:solidFill>
                            <a:srgbClr val="6B7178"/>
                          </a:solidFill>
                          <a:effectLst/>
                          <a:uFillTx/>
                          <a:latin typeface="Arial"/>
                        </a:rPr>
                        <a:t>Responsibility</a:t>
                      </a:r>
                      <a:endParaRPr lang="en-US" sz="9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4F6F8"/>
                    </a:solidFill>
                  </a:tcPr>
                </a:tc>
                <a:tc>
                  <a:txBody>
                    <a:bodyPr lIns="73080" tIns="36360" rIns="73080" bIns="36360" anchor="t">
                      <a:noAutofit/>
                    </a:bodyPr>
                    <a:p>
                      <a:pPr defTabSz="457200">
                        <a:lnSpc>
                          <a:spcPct val="115000"/>
                        </a:lnSpc>
                      </a:pPr>
                      <a:r>
                        <a:rPr lang="en-US" sz="900" b="1" u="none" strike="noStrike">
                          <a:solidFill>
                            <a:srgbClr val="6B7178"/>
                          </a:solidFill>
                          <a:effectLst/>
                          <a:uFillTx/>
                          <a:latin typeface="Arial"/>
                        </a:rPr>
                        <a:t>Depends on</a:t>
                      </a:r>
                      <a:endParaRPr lang="en-US" sz="9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4F6F8"/>
                    </a:solidFill>
                  </a:tcPr>
                </a:tc>
              </a:tr>
              <a:tr h="383760">
                <a:tc>
                  <a:txBody>
                    <a:bodyPr lIns="73080" tIns="36360" rIns="73080" bIns="36360" anchor="t">
                      <a:noAutofit/>
                    </a:bodyPr>
                    <a:p>
                      <a:pPr defTabSz="457200">
                        <a:lnSpc>
                          <a:spcPct val="115000"/>
                        </a:lnSpc>
                      </a:pPr>
                      <a:r>
                        <a:rPr lang="en-US" sz="1200" b="0" u="none" strike="noStrike">
                          <a:solidFill>
                            <a:srgbClr val="16181A"/>
                          </a:solidFill>
                          <a:effectLst/>
                          <a:uFillTx/>
                          <a:latin typeface="Arial"/>
                        </a:rPr>
                        <a:t>Facility</a:t>
                      </a:r>
                      <a:endParaRPr lang="en-US" sz="12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00" b="0" u="none" strike="noStrike">
                          <a:solidFill>
                            <a:srgbClr val="16181A"/>
                          </a:solidFill>
                          <a:effectLst/>
                          <a:uFillTx/>
                          <a:latin typeface="Arial"/>
                        </a:rPr>
                        <a:t>Room graph; generation; rewire / seal; connectivity and reachability queries</a:t>
                      </a:r>
                      <a:endParaRPr lang="en-US" sz="12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00" b="0" u="none" strike="noStrike">
                          <a:solidFill>
                            <a:srgbClr val="16181A"/>
                          </a:solidFill>
                          <a:effectLst/>
                          <a:uFillTx/>
                          <a:latin typeface="Arial"/>
                        </a:rPr>
                        <a:t>—</a:t>
                      </a:r>
                      <a:endParaRPr lang="en-US" sz="12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200" b="0" u="none" strike="noStrike">
                          <a:solidFill>
                            <a:srgbClr val="16181A"/>
                          </a:solidFill>
                          <a:effectLst/>
                          <a:uFillTx/>
                          <a:latin typeface="Arial"/>
                        </a:rPr>
                        <a:t>Cipher</a:t>
                      </a:r>
                      <a:endParaRPr lang="en-US" sz="12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00" b="0" u="none" strike="noStrike">
                          <a:solidFill>
                            <a:srgbClr val="16181A"/>
                          </a:solidFill>
                          <a:effectLst/>
                          <a:uFillTx/>
                          <a:latin typeface="Arial"/>
                        </a:rPr>
                        <a:t>Per-room lookup tables, inbound sequences, 9-cell register, transmit validation</a:t>
                      </a:r>
                      <a:endParaRPr lang="en-US" sz="12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00" b="0" u="none" strike="noStrike">
                          <a:solidFill>
                            <a:srgbClr val="16181A"/>
                          </a:solidFill>
                          <a:effectLst/>
                          <a:uFillTx/>
                          <a:latin typeface="Arial"/>
                        </a:rPr>
                        <a:t>—</a:t>
                      </a:r>
                      <a:endParaRPr lang="en-US" sz="12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200" b="0" u="none" strike="noStrike">
                          <a:solidFill>
                            <a:srgbClr val="16181A"/>
                          </a:solidFill>
                          <a:effectLst/>
                          <a:uFillTx/>
                          <a:latin typeface="Arial"/>
                        </a:rPr>
                        <a:t>Sabotage</a:t>
                      </a:r>
                      <a:endParaRPr lang="en-US" sz="12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00" b="0" u="none" strike="noStrike">
                          <a:solidFill>
                            <a:srgbClr val="16181A"/>
                          </a:solidFill>
                          <a:effectLst/>
                          <a:uFillTx/>
                          <a:latin typeface="Arial"/>
                        </a:rPr>
                        <a:t>The single choke point for all world mutation — every lie is logged and replayable</a:t>
                      </a:r>
                      <a:endParaRPr lang="en-US" sz="12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00" b="0" u="none" strike="noStrike">
                          <a:solidFill>
                            <a:srgbClr val="16181A"/>
                          </a:solidFill>
                          <a:effectLst/>
                          <a:uFillTx/>
                          <a:latin typeface="Arial"/>
                        </a:rPr>
                        <a:t>Facility, Cipher</a:t>
                      </a:r>
                      <a:endParaRPr lang="en-US" sz="12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200" b="0" u="none" strike="noStrike">
                          <a:solidFill>
                            <a:srgbClr val="16181A"/>
                          </a:solidFill>
                          <a:effectLst/>
                          <a:uFillTx/>
                          <a:latin typeface="Arial"/>
                        </a:rPr>
                        <a:t>Telemetry</a:t>
                      </a:r>
                      <a:endParaRPr lang="en-US" sz="12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00" b="0" u="none" strike="noStrike">
                          <a:solidFill>
                            <a:srgbClr val="16181A"/>
                          </a:solidFill>
                          <a:effectLst/>
                          <a:uFillTx/>
                          <a:latin typeface="Arial"/>
                        </a:rPr>
                        <a:t>Room dwell, edge traversals, route repeats, verify duration, flee direction</a:t>
                      </a:r>
                      <a:endParaRPr lang="en-US" sz="12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00" b="0" u="none" strike="noStrike">
                          <a:solidFill>
                            <a:srgbClr val="16181A"/>
                          </a:solidFill>
                          <a:effectLst/>
                          <a:uFillTx/>
                          <a:latin typeface="Arial"/>
                        </a:rPr>
                        <a:t>—</a:t>
                      </a:r>
                      <a:endParaRPr lang="en-US" sz="12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200" b="0" u="none" strike="noStrike">
                          <a:solidFill>
                            <a:srgbClr val="16181A"/>
                          </a:solidFill>
                          <a:effectLst/>
                          <a:uFillTx/>
                          <a:latin typeface="Arial"/>
                        </a:rPr>
                        <a:t>Predictor</a:t>
                      </a:r>
                      <a:endParaRPr lang="en-US" sz="12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00" b="0" u="none" strike="noStrike">
                          <a:solidFill>
                            <a:srgbClr val="16181A"/>
                          </a:solidFill>
                          <a:effectLst/>
                          <a:uFillTx/>
                          <a:latin typeface="Arial"/>
                        </a:rPr>
                        <a:t>VOMM: predict / observe / top_habit / confidence. Persists across runs</a:t>
                      </a:r>
                      <a:endParaRPr lang="en-US" sz="12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00" b="0" u="none" strike="noStrike">
                          <a:solidFill>
                            <a:srgbClr val="16181A"/>
                          </a:solidFill>
                          <a:effectLst/>
                          <a:uFillTx/>
                          <a:latin typeface="Arial"/>
                        </a:rPr>
                        <a:t>Telemetry</a:t>
                      </a:r>
                      <a:endParaRPr lang="en-US" sz="12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200" b="0" u="none" strike="noStrike">
                          <a:solidFill>
                            <a:srgbClr val="16181A"/>
                          </a:solidFill>
                          <a:effectLst/>
                          <a:uFillTx/>
                          <a:latin typeface="Arial"/>
                        </a:rPr>
                        <a:t>Director</a:t>
                      </a:r>
                      <a:endParaRPr lang="en-US" sz="12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00" b="0" u="none" strike="noStrike">
                          <a:solidFill>
                            <a:srgbClr val="16181A"/>
                          </a:solidFill>
                          <a:effectLst/>
                          <a:uFillTx/>
                          <a:latin typeface="Arial"/>
                        </a:rPr>
                        <a:t>Scores and selects counter-moves from beliefs. Confidence-gated</a:t>
                      </a:r>
                      <a:endParaRPr lang="en-US" sz="12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00" b="0" u="none" strike="noStrike">
                          <a:solidFill>
                            <a:srgbClr val="16181A"/>
                          </a:solidFill>
                          <a:effectLst/>
                          <a:uFillTx/>
                          <a:latin typeface="Arial"/>
                        </a:rPr>
                        <a:t>Predictor</a:t>
                      </a:r>
                      <a:endParaRPr lang="en-US" sz="12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200" b="0" u="none" strike="noStrike">
                          <a:solidFill>
                            <a:srgbClr val="16181A"/>
                          </a:solidFill>
                          <a:effectLst/>
                          <a:uFillTx/>
                          <a:latin typeface="Arial"/>
                        </a:rPr>
                        <a:t>Entity</a:t>
                      </a:r>
                      <a:endParaRPr lang="en-US" sz="12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00" b="0" u="none" strike="noStrike">
                          <a:solidFill>
                            <a:srgbClr val="16181A"/>
                          </a:solidFill>
                          <a:effectLst/>
                          <a:uFillTx/>
                          <a:latin typeface="Arial"/>
                        </a:rPr>
                        <a:t>Perception, navigation, patrol / hunt / ambush. Contains no learning</a:t>
                      </a:r>
                      <a:endParaRPr lang="en-US" sz="12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00" b="0" u="none" strike="noStrike">
                          <a:solidFill>
                            <a:srgbClr val="16181A"/>
                          </a:solidFill>
                          <a:effectLst/>
                          <a:uFillTx/>
                          <a:latin typeface="Arial"/>
                        </a:rPr>
                        <a:t>Director, Facility</a:t>
                      </a:r>
                      <a:endParaRPr lang="en-US" sz="12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200" b="0" u="none" strike="noStrike">
                          <a:solidFill>
                            <a:srgbClr val="16181A"/>
                          </a:solidFill>
                          <a:effectLst/>
                          <a:uFillTx/>
                          <a:latin typeface="Arial"/>
                        </a:rPr>
                        <a:t>Notebook</a:t>
                      </a:r>
                      <a:endParaRPr lang="en-US" sz="12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00" b="0" u="none" strike="noStrike">
                          <a:solidFill>
                            <a:srgbClr val="16181A"/>
                          </a:solidFill>
                          <a:effectLst/>
                          <a:uFillTx/>
                          <a:latin typeface="Arial"/>
                        </a:rPr>
                        <a:t>In-world vector editor and serialisation. Reads no game state</a:t>
                      </a:r>
                      <a:endParaRPr lang="en-US" sz="12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00" b="0" u="none" strike="noStrike">
                          <a:solidFill>
                            <a:srgbClr val="16181A"/>
                          </a:solidFill>
                          <a:effectLst/>
                          <a:uFillTx/>
                          <a:latin typeface="Arial"/>
                        </a:rPr>
                        <a:t>—</a:t>
                      </a:r>
                      <a:endParaRPr lang="en-US" sz="12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bl>
          </a:graphicData>
        </a:graphic>
      </p:graphicFrame>
      <p:sp>
        <p:nvSpPr>
          <p:cNvPr id="146" name="TextBox 5"/>
          <p:cNvSpPr/>
          <p:nvPr/>
        </p:nvSpPr>
        <p:spPr>
          <a:xfrm>
            <a:off x="658440" y="5440680"/>
            <a:ext cx="10880640" cy="822240"/>
          </a:xfrm>
          <a:prstGeom prst="rect">
            <a:avLst/>
          </a:prstGeom>
          <a:noFill/>
          <a:ln w="0">
            <a:noFill/>
          </a:ln>
        </p:spPr>
        <p:style>
          <a:lnRef idx="0"/>
          <a:fillRef idx="0"/>
          <a:effectRef idx="0"/>
          <a:fontRef idx="minor"/>
        </p:style>
        <p:txBody>
          <a:bodyPr lIns="0" tIns="0" rIns="0" bIns="0" anchor="t">
            <a:spAutoFit/>
          </a:bodyPr>
          <a:p>
            <a:pPr defTabSz="457200">
              <a:lnSpc>
                <a:spcPct val="130000"/>
              </a:lnSpc>
              <a:spcAft>
                <a:spcPts val="601"/>
              </a:spcAft>
            </a:pPr>
            <a:r>
              <a:rPr lang="en-US" sz="1250" b="0" u="none" strike="noStrike">
                <a:solidFill>
                  <a:srgbClr val="6B7178"/>
                </a:solidFill>
                <a:effectLst/>
                <a:uFillTx/>
                <a:latin typeface="Arial"/>
              </a:rPr>
              <a:t>Two decisions worth defending — Sabotage as sole mutator makes 'did the AI cheat or did I misread my notes?' a tractable question. The Notebook sits outside the data loop: it is the only channel the Director cannot touch, which is what makes it the player's counter-move rather than decoration.</a:t>
            </a:r>
            <a:endParaRPr lang="en-US" sz="12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CFB"/>
        </a:solidFill>
      </p:bgPr>
    </p:bg>
    <p:spTree>
      <p:nvGrpSpPr>
        <p:cNvPr id="1" name=""/>
        <p:cNvGrpSpPr/>
        <p:nvPr/>
      </p:nvGrpSpPr>
      <p:grpSpPr>
        <a:xfrm>
          <a:off x="0" y="0"/>
          <a:ext cx="0" cy="0"/>
          <a:chOff x="0" y="0"/>
          <a:chExt cx="0" cy="0"/>
        </a:xfrm>
      </p:grpSpPr>
      <p:sp>
        <p:nvSpPr>
          <p:cNvPr id="147" name="TextBox 1"/>
          <p:cNvSpPr/>
          <p:nvPr/>
        </p:nvSpPr>
        <p:spPr>
          <a:xfrm>
            <a:off x="658440" y="420480"/>
            <a:ext cx="10880640" cy="273600"/>
          </a:xfrm>
          <a:prstGeom prst="rect">
            <a:avLst/>
          </a:prstGeom>
          <a:noFill/>
          <a:ln w="0">
            <a:noFill/>
          </a:ln>
        </p:spPr>
        <p:style>
          <a:lnRef idx="0"/>
          <a:fillRef idx="0"/>
          <a:effectRef idx="0"/>
          <a:fontRef idx="minor"/>
        </p:style>
        <p:txBody>
          <a:bodyPr lIns="0" tIns="0" rIns="0" bIns="0" anchor="t">
            <a:spAutoFit/>
          </a:bodyPr>
          <a:p>
            <a:pPr defTabSz="457200">
              <a:lnSpc>
                <a:spcPct val="125000"/>
              </a:lnSpc>
              <a:spcAft>
                <a:spcPts val="601"/>
              </a:spcAft>
            </a:pPr>
            <a:r>
              <a:rPr lang="en-US" sz="1050" b="1" u="none" strike="noStrike">
                <a:solidFill>
                  <a:srgbClr val="2A78D6"/>
                </a:solidFill>
                <a:effectLst/>
                <a:uFillTx/>
                <a:latin typeface="Arial"/>
              </a:rPr>
              <a:t>14 · RESULTS — PREDICTION ACCURACY</a:t>
            </a:r>
            <a:endParaRPr lang="en-US" sz="1050" b="0" u="none" strike="noStrike">
              <a:solidFill>
                <a:srgbClr val="000000"/>
              </a:solidFill>
              <a:effectLst/>
              <a:uFillTx/>
              <a:latin typeface="Arial"/>
            </a:endParaRPr>
          </a:p>
        </p:txBody>
      </p:sp>
      <p:sp>
        <p:nvSpPr>
          <p:cNvPr id="148" name="TextBox 2"/>
          <p:cNvSpPr/>
          <p:nvPr/>
        </p:nvSpPr>
        <p:spPr>
          <a:xfrm>
            <a:off x="658440" y="749880"/>
            <a:ext cx="10880640" cy="822240"/>
          </a:xfrm>
          <a:prstGeom prst="rect">
            <a:avLst/>
          </a:prstGeom>
          <a:noFill/>
          <a:ln w="0">
            <a:noFill/>
          </a:ln>
        </p:spPr>
        <p:style>
          <a:lnRef idx="0"/>
          <a:fillRef idx="0"/>
          <a:effectRef idx="0"/>
          <a:fontRef idx="minor"/>
        </p:style>
        <p:txBody>
          <a:bodyPr lIns="0" tIns="0" rIns="0" bIns="0" anchor="t">
            <a:spAutoFit/>
          </a:bodyPr>
          <a:p>
            <a:pPr defTabSz="457200">
              <a:lnSpc>
                <a:spcPct val="125000"/>
              </a:lnSpc>
              <a:spcAft>
                <a:spcPts val="601"/>
              </a:spcAft>
            </a:pPr>
            <a:r>
              <a:rPr lang="en-US" sz="2800" b="1" u="none" strike="noStrike">
                <a:solidFill>
                  <a:srgbClr val="16181A"/>
                </a:solidFill>
                <a:effectLst/>
                <a:uFillTx/>
                <a:latin typeface="Arial"/>
              </a:rPr>
              <a:t>10-room facility · 1200 steps × 12 seeds</a:t>
            </a:r>
            <a:endParaRPr lang="en-US" sz="2800" b="0" u="none" strike="noStrike">
              <a:solidFill>
                <a:srgbClr val="000000"/>
              </a:solidFill>
              <a:effectLst/>
              <a:uFillTx/>
              <a:latin typeface="Arial"/>
            </a:endParaRPr>
          </a:p>
        </p:txBody>
      </p:sp>
      <p:sp>
        <p:nvSpPr>
          <p:cNvPr id="149" name="Rectangle 3"/>
          <p:cNvSpPr/>
          <p:nvPr/>
        </p:nvSpPr>
        <p:spPr>
          <a:xfrm>
            <a:off x="658440" y="1481400"/>
            <a:ext cx="10880640" cy="17640"/>
          </a:xfrm>
          <a:prstGeom prst="rect">
            <a:avLst/>
          </a:prstGeom>
          <a:solidFill>
            <a:srgbClr val="D8DCE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6640" rIns="90000" bIns="-26640" anchor="ctr">
            <a:noAutofit/>
          </a:bodyPr>
          <a:p>
            <a:endParaRPr lang="en-US" sz="1800" b="0" u="none" strike="noStrike">
              <a:solidFill>
                <a:schemeClr val="lt1"/>
              </a:solidFill>
              <a:effectLst/>
              <a:uFillTx/>
              <a:latin typeface="Calibri"/>
            </a:endParaRPr>
          </a:p>
        </p:txBody>
      </p:sp>
      <p:pic>
        <p:nvPicPr>
          <p:cNvPr id="150" name="Picture 4" descr="fig_accuracy.png"/>
          <p:cNvPicPr/>
          <p:nvPr/>
        </p:nvPicPr>
        <p:blipFill>
          <a:blip r:embed="rId1"/>
          <a:stretch/>
        </p:blipFill>
        <p:spPr>
          <a:xfrm>
            <a:off x="2075760" y="1691640"/>
            <a:ext cx="8046000" cy="4120920"/>
          </a:xfrm>
          <a:prstGeom prst="rect">
            <a:avLst/>
          </a:prstGeom>
          <a:noFill/>
          <a:ln w="0">
            <a:noFill/>
          </a:ln>
        </p:spPr>
      </p:pic>
      <p:sp>
        <p:nvSpPr>
          <p:cNvPr id="151" name="TextBox 5"/>
          <p:cNvSpPr/>
          <p:nvPr/>
        </p:nvSpPr>
        <p:spPr>
          <a:xfrm>
            <a:off x="658440" y="6035040"/>
            <a:ext cx="10880640" cy="547920"/>
          </a:xfrm>
          <a:prstGeom prst="rect">
            <a:avLst/>
          </a:prstGeom>
          <a:noFill/>
          <a:ln w="0">
            <a:noFill/>
          </a:ln>
        </p:spPr>
        <p:style>
          <a:lnRef idx="0"/>
          <a:fillRef idx="0"/>
          <a:effectRef idx="0"/>
          <a:fontRef idx="minor"/>
        </p:style>
        <p:txBody>
          <a:bodyPr lIns="0" tIns="0" rIns="0" bIns="0" anchor="t">
            <a:spAutoFit/>
          </a:bodyPr>
          <a:p>
            <a:pPr defTabSz="457200">
              <a:lnSpc>
                <a:spcPct val="130000"/>
              </a:lnSpc>
              <a:spcAft>
                <a:spcPts val="601"/>
              </a:spcAft>
            </a:pPr>
            <a:r>
              <a:rPr lang="en-US" sz="1300" b="0" u="none" strike="noStrike">
                <a:solidFill>
                  <a:srgbClr val="6B7178"/>
                </a:solidFill>
                <a:effectLst/>
                <a:uFillTx/>
                <a:latin typeface="Arial"/>
              </a:rPr>
              <a:t>Read the control first: against a random player the model performs identically to no model at all. The gains against structured players are therefore learned habit, not leakage.</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CFB"/>
        </a:solidFill>
      </p:bgPr>
    </p:bg>
    <p:spTree>
      <p:nvGrpSpPr>
        <p:cNvPr id="1" name=""/>
        <p:cNvGrpSpPr/>
        <p:nvPr/>
      </p:nvGrpSpPr>
      <p:grpSpPr>
        <a:xfrm>
          <a:off x="0" y="0"/>
          <a:ext cx="0" cy="0"/>
          <a:chOff x="0" y="0"/>
          <a:chExt cx="0" cy="0"/>
        </a:xfrm>
      </p:grpSpPr>
      <p:sp>
        <p:nvSpPr>
          <p:cNvPr id="152" name="TextBox 1"/>
          <p:cNvSpPr/>
          <p:nvPr/>
        </p:nvSpPr>
        <p:spPr>
          <a:xfrm>
            <a:off x="658440" y="420480"/>
            <a:ext cx="10880640" cy="273600"/>
          </a:xfrm>
          <a:prstGeom prst="rect">
            <a:avLst/>
          </a:prstGeom>
          <a:noFill/>
          <a:ln w="0">
            <a:noFill/>
          </a:ln>
        </p:spPr>
        <p:style>
          <a:lnRef idx="0"/>
          <a:fillRef idx="0"/>
          <a:effectRef idx="0"/>
          <a:fontRef idx="minor"/>
        </p:style>
        <p:txBody>
          <a:bodyPr lIns="0" tIns="0" rIns="0" bIns="0" anchor="t">
            <a:spAutoFit/>
          </a:bodyPr>
          <a:p>
            <a:pPr defTabSz="457200">
              <a:lnSpc>
                <a:spcPct val="125000"/>
              </a:lnSpc>
              <a:spcAft>
                <a:spcPts val="601"/>
              </a:spcAft>
            </a:pPr>
            <a:r>
              <a:rPr lang="en-US" sz="1050" b="1" u="none" strike="noStrike">
                <a:solidFill>
                  <a:srgbClr val="2A78D6"/>
                </a:solidFill>
                <a:effectLst/>
                <a:uFillTx/>
                <a:latin typeface="Arial"/>
              </a:rPr>
              <a:t>15 · RESULTS — LEARNING SPEED</a:t>
            </a:r>
            <a:endParaRPr lang="en-US" sz="1050" b="0" u="none" strike="noStrike">
              <a:solidFill>
                <a:srgbClr val="000000"/>
              </a:solidFill>
              <a:effectLst/>
              <a:uFillTx/>
              <a:latin typeface="Arial"/>
            </a:endParaRPr>
          </a:p>
        </p:txBody>
      </p:sp>
      <p:sp>
        <p:nvSpPr>
          <p:cNvPr id="153" name="TextBox 2"/>
          <p:cNvSpPr/>
          <p:nvPr/>
        </p:nvSpPr>
        <p:spPr>
          <a:xfrm>
            <a:off x="658440" y="749880"/>
            <a:ext cx="10880640" cy="822240"/>
          </a:xfrm>
          <a:prstGeom prst="rect">
            <a:avLst/>
          </a:prstGeom>
          <a:noFill/>
          <a:ln w="0">
            <a:noFill/>
          </a:ln>
        </p:spPr>
        <p:style>
          <a:lnRef idx="0"/>
          <a:fillRef idx="0"/>
          <a:effectRef idx="0"/>
          <a:fontRef idx="minor"/>
        </p:style>
        <p:txBody>
          <a:bodyPr lIns="0" tIns="0" rIns="0" bIns="0" anchor="t">
            <a:spAutoFit/>
          </a:bodyPr>
          <a:p>
            <a:pPr defTabSz="457200">
              <a:lnSpc>
                <a:spcPct val="125000"/>
              </a:lnSpc>
              <a:spcAft>
                <a:spcPts val="601"/>
              </a:spcAft>
            </a:pPr>
            <a:r>
              <a:rPr lang="en-US" sz="2800" b="1" u="none" strike="noStrike">
                <a:solidFill>
                  <a:srgbClr val="16181A"/>
                </a:solidFill>
                <a:effectLst/>
                <a:uFillTx/>
                <a:latin typeface="Arial"/>
              </a:rPr>
              <a:t>Cold start solved empirically</a:t>
            </a:r>
            <a:endParaRPr lang="en-US" sz="2800" b="0" u="none" strike="noStrike">
              <a:solidFill>
                <a:srgbClr val="000000"/>
              </a:solidFill>
              <a:effectLst/>
              <a:uFillTx/>
              <a:latin typeface="Arial"/>
            </a:endParaRPr>
          </a:p>
        </p:txBody>
      </p:sp>
      <p:sp>
        <p:nvSpPr>
          <p:cNvPr id="154" name="Rectangle 3"/>
          <p:cNvSpPr/>
          <p:nvPr/>
        </p:nvSpPr>
        <p:spPr>
          <a:xfrm>
            <a:off x="658440" y="1481400"/>
            <a:ext cx="10880640" cy="17640"/>
          </a:xfrm>
          <a:prstGeom prst="rect">
            <a:avLst/>
          </a:prstGeom>
          <a:solidFill>
            <a:srgbClr val="D8DCE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6640" rIns="90000" bIns="-26640" anchor="ctr">
            <a:noAutofit/>
          </a:bodyPr>
          <a:p>
            <a:endParaRPr lang="en-US" sz="1800" b="0" u="none" strike="noStrike">
              <a:solidFill>
                <a:schemeClr val="lt1"/>
              </a:solidFill>
              <a:effectLst/>
              <a:uFillTx/>
              <a:latin typeface="Calibri"/>
            </a:endParaRPr>
          </a:p>
        </p:txBody>
      </p:sp>
      <p:pic>
        <p:nvPicPr>
          <p:cNvPr id="155" name="Picture 4" descr="fig_learning.png"/>
          <p:cNvPicPr/>
          <p:nvPr/>
        </p:nvPicPr>
        <p:blipFill>
          <a:blip r:embed="rId1"/>
          <a:stretch/>
        </p:blipFill>
        <p:spPr>
          <a:xfrm>
            <a:off x="2075760" y="1691640"/>
            <a:ext cx="8046000" cy="4120920"/>
          </a:xfrm>
          <a:prstGeom prst="rect">
            <a:avLst/>
          </a:prstGeom>
          <a:noFill/>
          <a:ln w="0">
            <a:noFill/>
          </a:ln>
        </p:spPr>
      </p:pic>
      <p:sp>
        <p:nvSpPr>
          <p:cNvPr id="156" name="TextBox 5"/>
          <p:cNvSpPr/>
          <p:nvPr/>
        </p:nvSpPr>
        <p:spPr>
          <a:xfrm>
            <a:off x="658440" y="6035040"/>
            <a:ext cx="10880640" cy="547920"/>
          </a:xfrm>
          <a:prstGeom prst="rect">
            <a:avLst/>
          </a:prstGeom>
          <a:noFill/>
          <a:ln w="0">
            <a:noFill/>
          </a:ln>
        </p:spPr>
        <p:style>
          <a:lnRef idx="0"/>
          <a:fillRef idx="0"/>
          <a:effectRef idx="0"/>
          <a:fontRef idx="minor"/>
        </p:style>
        <p:txBody>
          <a:bodyPr lIns="0" tIns="0" rIns="0" bIns="0" anchor="t">
            <a:spAutoFit/>
          </a:bodyPr>
          <a:p>
            <a:pPr defTabSz="457200">
              <a:lnSpc>
                <a:spcPct val="130000"/>
              </a:lnSpc>
              <a:spcAft>
                <a:spcPts val="601"/>
              </a:spcAft>
            </a:pPr>
            <a:r>
              <a:rPr lang="en-US" sz="1300" b="0" u="none" strike="noStrike">
                <a:solidFill>
                  <a:srgbClr val="6B7178"/>
                </a:solidFill>
                <a:effectLst/>
                <a:uFillTx/>
                <a:latin typeface="Arial"/>
              </a:rPr>
              <a:t>Rolling top-1 accuracy rises from 29% to 59% within roughly 60 observed moves — under a minute of play.</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CFB"/>
        </a:solidFill>
      </p:bgPr>
    </p:bg>
    <p:spTree>
      <p:nvGrpSpPr>
        <p:cNvPr id="1" name=""/>
        <p:cNvGrpSpPr/>
        <p:nvPr/>
      </p:nvGrpSpPr>
      <p:grpSpPr>
        <a:xfrm>
          <a:off x="0" y="0"/>
          <a:ext cx="0" cy="0"/>
          <a:chOff x="0" y="0"/>
          <a:chExt cx="0" cy="0"/>
        </a:xfrm>
      </p:grpSpPr>
      <p:sp>
        <p:nvSpPr>
          <p:cNvPr id="157" name="TextBox 1"/>
          <p:cNvSpPr/>
          <p:nvPr/>
        </p:nvSpPr>
        <p:spPr>
          <a:xfrm>
            <a:off x="658440" y="420480"/>
            <a:ext cx="10880640" cy="273600"/>
          </a:xfrm>
          <a:prstGeom prst="rect">
            <a:avLst/>
          </a:prstGeom>
          <a:noFill/>
          <a:ln w="0">
            <a:noFill/>
          </a:ln>
        </p:spPr>
        <p:style>
          <a:lnRef idx="0"/>
          <a:fillRef idx="0"/>
          <a:effectRef idx="0"/>
          <a:fontRef idx="minor"/>
        </p:style>
        <p:txBody>
          <a:bodyPr lIns="0" tIns="0" rIns="0" bIns="0" anchor="t">
            <a:spAutoFit/>
          </a:bodyPr>
          <a:p>
            <a:pPr defTabSz="457200">
              <a:lnSpc>
                <a:spcPct val="125000"/>
              </a:lnSpc>
              <a:spcAft>
                <a:spcPts val="601"/>
              </a:spcAft>
            </a:pPr>
            <a:r>
              <a:rPr lang="en-US" sz="1050" b="1" u="none" strike="noStrike">
                <a:solidFill>
                  <a:srgbClr val="2A78D6"/>
                </a:solidFill>
                <a:effectLst/>
                <a:uFillTx/>
                <a:latin typeface="Arial"/>
              </a:rPr>
              <a:t>16 · RESULTS — DOES PREDICTION MATTER?</a:t>
            </a:r>
            <a:endParaRPr lang="en-US" sz="1050" b="0" u="none" strike="noStrike">
              <a:solidFill>
                <a:srgbClr val="000000"/>
              </a:solidFill>
              <a:effectLst/>
              <a:uFillTx/>
              <a:latin typeface="Arial"/>
            </a:endParaRPr>
          </a:p>
        </p:txBody>
      </p:sp>
      <p:sp>
        <p:nvSpPr>
          <p:cNvPr id="158" name="TextBox 2"/>
          <p:cNvSpPr/>
          <p:nvPr/>
        </p:nvSpPr>
        <p:spPr>
          <a:xfrm>
            <a:off x="658440" y="749880"/>
            <a:ext cx="10880640" cy="822240"/>
          </a:xfrm>
          <a:prstGeom prst="rect">
            <a:avLst/>
          </a:prstGeom>
          <a:noFill/>
          <a:ln w="0">
            <a:noFill/>
          </a:ln>
        </p:spPr>
        <p:style>
          <a:lnRef idx="0"/>
          <a:fillRef idx="0"/>
          <a:effectRef idx="0"/>
          <a:fontRef idx="minor"/>
        </p:style>
        <p:txBody>
          <a:bodyPr lIns="0" tIns="0" rIns="0" bIns="0" anchor="t">
            <a:spAutoFit/>
          </a:bodyPr>
          <a:p>
            <a:pPr defTabSz="457200">
              <a:lnSpc>
                <a:spcPct val="125000"/>
              </a:lnSpc>
              <a:spcAft>
                <a:spcPts val="601"/>
              </a:spcAft>
            </a:pPr>
            <a:r>
              <a:rPr lang="en-US" sz="2800" b="1" u="none" strike="noStrike">
                <a:solidFill>
                  <a:srgbClr val="16181A"/>
                </a:solidFill>
                <a:effectLst/>
                <a:uFillTx/>
                <a:latin typeface="Arial"/>
              </a:rPr>
              <a:t>Embodied pursuit: the entity must intercept, not teleport</a:t>
            </a:r>
            <a:endParaRPr lang="en-US" sz="2800" b="0" u="none" strike="noStrike">
              <a:solidFill>
                <a:srgbClr val="000000"/>
              </a:solidFill>
              <a:effectLst/>
              <a:uFillTx/>
              <a:latin typeface="Arial"/>
            </a:endParaRPr>
          </a:p>
        </p:txBody>
      </p:sp>
      <p:sp>
        <p:nvSpPr>
          <p:cNvPr id="159" name="Rectangle 3"/>
          <p:cNvSpPr/>
          <p:nvPr/>
        </p:nvSpPr>
        <p:spPr>
          <a:xfrm>
            <a:off x="658440" y="1481400"/>
            <a:ext cx="10880640" cy="17640"/>
          </a:xfrm>
          <a:prstGeom prst="rect">
            <a:avLst/>
          </a:prstGeom>
          <a:solidFill>
            <a:srgbClr val="D8DCE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6640" rIns="90000" bIns="-26640" anchor="ctr">
            <a:noAutofit/>
          </a:bodyPr>
          <a:p>
            <a:endParaRPr lang="en-US" sz="1800" b="0" u="none" strike="noStrike">
              <a:solidFill>
                <a:schemeClr val="lt1"/>
              </a:solidFill>
              <a:effectLst/>
              <a:uFillTx/>
              <a:latin typeface="Calibri"/>
            </a:endParaRPr>
          </a:p>
        </p:txBody>
      </p:sp>
      <p:pic>
        <p:nvPicPr>
          <p:cNvPr id="160" name="Picture 4" descr="fig_capture.png"/>
          <p:cNvPicPr/>
          <p:nvPr/>
        </p:nvPicPr>
        <p:blipFill>
          <a:blip r:embed="rId1"/>
          <a:stretch/>
        </p:blipFill>
        <p:spPr>
          <a:xfrm>
            <a:off x="2167200" y="1719000"/>
            <a:ext cx="7863120" cy="3835440"/>
          </a:xfrm>
          <a:prstGeom prst="rect">
            <a:avLst/>
          </a:prstGeom>
          <a:noFill/>
          <a:ln w="0">
            <a:noFill/>
          </a:ln>
        </p:spPr>
      </p:pic>
      <p:sp>
        <p:nvSpPr>
          <p:cNvPr id="161" name="TextBox 5"/>
          <p:cNvSpPr/>
          <p:nvPr/>
        </p:nvSpPr>
        <p:spPr>
          <a:xfrm>
            <a:off x="658440" y="5687640"/>
            <a:ext cx="10880640" cy="959400"/>
          </a:xfrm>
          <a:prstGeom prst="rect">
            <a:avLst/>
          </a:prstGeom>
          <a:noFill/>
          <a:ln w="0">
            <a:noFill/>
          </a:ln>
        </p:spPr>
        <p:style>
          <a:lnRef idx="0"/>
          <a:fillRef idx="0"/>
          <a:effectRef idx="0"/>
          <a:fontRef idx="minor"/>
        </p:style>
        <p:txBody>
          <a:bodyPr lIns="0" tIns="0" rIns="0" bIns="0" anchor="t">
            <a:spAutoFit/>
          </a:bodyPr>
          <a:p>
            <a:pPr defTabSz="457200">
              <a:lnSpc>
                <a:spcPct val="128000"/>
              </a:lnSpc>
              <a:spcAft>
                <a:spcPts val="601"/>
              </a:spcAft>
            </a:pPr>
            <a:r>
              <a:rPr lang="en-US" sz="1200" b="0" u="none" strike="noStrike">
                <a:solidFill>
                  <a:srgbClr val="6B7178"/>
                </a:solidFill>
                <a:effectLst/>
                <a:uFillTx/>
                <a:latin typeface="Arial"/>
              </a:rPr>
              <a:t>Any model-driven antagonist beats the non-learning ones — 2.7× the random control and 1.1× hub-camping. But the models are within noise of each other, and five-step lookahead is now slightly WORSE than one-step: at 61% single-step accuracy, rollout error compounds faster than the extra foresight pays. Lookahead helps an accurate model and hurts an uncertain one.</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CFB"/>
        </a:solidFill>
      </p:bgPr>
    </p:bg>
    <p:spTree>
      <p:nvGrpSpPr>
        <p:cNvPr id="1" name=""/>
        <p:cNvGrpSpPr/>
        <p:nvPr/>
      </p:nvGrpSpPr>
      <p:grpSpPr>
        <a:xfrm>
          <a:off x="0" y="0"/>
          <a:ext cx="0" cy="0"/>
          <a:chOff x="0" y="0"/>
          <a:chExt cx="0" cy="0"/>
        </a:xfrm>
      </p:grpSpPr>
      <p:sp>
        <p:nvSpPr>
          <p:cNvPr id="162" name="TextBox 1"/>
          <p:cNvSpPr/>
          <p:nvPr/>
        </p:nvSpPr>
        <p:spPr>
          <a:xfrm>
            <a:off x="658440" y="420480"/>
            <a:ext cx="10880640" cy="273600"/>
          </a:xfrm>
          <a:prstGeom prst="rect">
            <a:avLst/>
          </a:prstGeom>
          <a:noFill/>
          <a:ln w="0">
            <a:noFill/>
          </a:ln>
        </p:spPr>
        <p:style>
          <a:lnRef idx="0"/>
          <a:fillRef idx="0"/>
          <a:effectRef idx="0"/>
          <a:fontRef idx="minor"/>
        </p:style>
        <p:txBody>
          <a:bodyPr lIns="0" tIns="0" rIns="0" bIns="0" anchor="t">
            <a:spAutoFit/>
          </a:bodyPr>
          <a:p>
            <a:pPr defTabSz="457200">
              <a:lnSpc>
                <a:spcPct val="125000"/>
              </a:lnSpc>
              <a:spcAft>
                <a:spcPts val="601"/>
              </a:spcAft>
            </a:pPr>
            <a:r>
              <a:rPr lang="en-US" sz="1050" b="1" u="none" strike="noStrike">
                <a:solidFill>
                  <a:srgbClr val="2A78D6"/>
                </a:solidFill>
                <a:effectLst/>
                <a:uFillTx/>
                <a:latin typeface="Arial"/>
              </a:rPr>
              <a:t>17 · RESULTS — DOES THE ADVANTAGE HOLD AT SCALE?</a:t>
            </a:r>
            <a:endParaRPr lang="en-US" sz="1050" b="0" u="none" strike="noStrike">
              <a:solidFill>
                <a:srgbClr val="000000"/>
              </a:solidFill>
              <a:effectLst/>
              <a:uFillTx/>
              <a:latin typeface="Arial"/>
            </a:endParaRPr>
          </a:p>
        </p:txBody>
      </p:sp>
      <p:sp>
        <p:nvSpPr>
          <p:cNvPr id="163" name="TextBox 2"/>
          <p:cNvSpPr/>
          <p:nvPr/>
        </p:nvSpPr>
        <p:spPr>
          <a:xfrm>
            <a:off x="658440" y="749880"/>
            <a:ext cx="10880640" cy="822240"/>
          </a:xfrm>
          <a:prstGeom prst="rect">
            <a:avLst/>
          </a:prstGeom>
          <a:noFill/>
          <a:ln w="0">
            <a:noFill/>
          </a:ln>
        </p:spPr>
        <p:style>
          <a:lnRef idx="0"/>
          <a:fillRef idx="0"/>
          <a:effectRef idx="0"/>
          <a:fontRef idx="minor"/>
        </p:style>
        <p:txBody>
          <a:bodyPr lIns="0" tIns="0" rIns="0" bIns="0" anchor="t">
            <a:spAutoFit/>
          </a:bodyPr>
          <a:p>
            <a:pPr defTabSz="457200">
              <a:lnSpc>
                <a:spcPct val="125000"/>
              </a:lnSpc>
              <a:spcAft>
                <a:spcPts val="601"/>
              </a:spcAft>
            </a:pPr>
            <a:r>
              <a:rPr lang="en-US" sz="2800" b="1" u="none" strike="noStrike">
                <a:solidFill>
                  <a:srgbClr val="16181A"/>
                </a:solidFill>
                <a:effectLst/>
                <a:uFillTx/>
                <a:latin typeface="Arial"/>
              </a:rPr>
              <a:t>Hub-camping only looks good on a small map</a:t>
            </a:r>
            <a:endParaRPr lang="en-US" sz="2800" b="0" u="none" strike="noStrike">
              <a:solidFill>
                <a:srgbClr val="000000"/>
              </a:solidFill>
              <a:effectLst/>
              <a:uFillTx/>
              <a:latin typeface="Arial"/>
            </a:endParaRPr>
          </a:p>
        </p:txBody>
      </p:sp>
      <p:sp>
        <p:nvSpPr>
          <p:cNvPr id="164" name="Rectangle 3"/>
          <p:cNvSpPr/>
          <p:nvPr/>
        </p:nvSpPr>
        <p:spPr>
          <a:xfrm>
            <a:off x="658440" y="1481400"/>
            <a:ext cx="10880640" cy="17640"/>
          </a:xfrm>
          <a:prstGeom prst="rect">
            <a:avLst/>
          </a:prstGeom>
          <a:solidFill>
            <a:srgbClr val="D8DCE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6640" rIns="90000" bIns="-26640" anchor="ctr">
            <a:noAutofit/>
          </a:bodyPr>
          <a:p>
            <a:endParaRPr lang="en-US" sz="1800" b="0" u="none" strike="noStrike">
              <a:solidFill>
                <a:schemeClr val="lt1"/>
              </a:solidFill>
              <a:effectLst/>
              <a:uFillTx/>
              <a:latin typeface="Calibri"/>
            </a:endParaRPr>
          </a:p>
        </p:txBody>
      </p:sp>
      <p:pic>
        <p:nvPicPr>
          <p:cNvPr id="165" name="Picture 4" descr="fig_scaling.png"/>
          <p:cNvPicPr/>
          <p:nvPr/>
        </p:nvPicPr>
        <p:blipFill>
          <a:blip r:embed="rId1"/>
          <a:stretch/>
        </p:blipFill>
        <p:spPr>
          <a:xfrm>
            <a:off x="2286000" y="1691640"/>
            <a:ext cx="7680240" cy="4026960"/>
          </a:xfrm>
          <a:prstGeom prst="rect">
            <a:avLst/>
          </a:prstGeom>
          <a:noFill/>
          <a:ln w="0">
            <a:noFill/>
          </a:ln>
        </p:spPr>
      </p:pic>
      <p:sp>
        <p:nvSpPr>
          <p:cNvPr id="166" name="TextBox 5"/>
          <p:cNvSpPr/>
          <p:nvPr/>
        </p:nvSpPr>
        <p:spPr>
          <a:xfrm>
            <a:off x="658440" y="5623560"/>
            <a:ext cx="10880640" cy="913680"/>
          </a:xfrm>
          <a:prstGeom prst="rect">
            <a:avLst/>
          </a:prstGeom>
          <a:noFill/>
          <a:ln w="0">
            <a:noFill/>
          </a:ln>
        </p:spPr>
        <p:style>
          <a:lnRef idx="0"/>
          <a:fillRef idx="0"/>
          <a:effectRef idx="0"/>
          <a:fontRef idx="minor"/>
        </p:style>
        <p:txBody>
          <a:bodyPr lIns="0" tIns="0" rIns="0" bIns="0" anchor="t">
            <a:spAutoFit/>
          </a:bodyPr>
          <a:p>
            <a:pPr defTabSz="457200">
              <a:lnSpc>
                <a:spcPct val="130000"/>
              </a:lnSpc>
              <a:spcAft>
                <a:spcPts val="601"/>
              </a:spcAft>
            </a:pPr>
            <a:r>
              <a:rPr lang="en-US" sz="1250" b="0" u="none" strike="noStrike">
                <a:solidFill>
                  <a:srgbClr val="6B7178"/>
                </a:solidFill>
                <a:effectLst/>
                <a:uFillTx/>
                <a:latin typeface="Arial"/>
              </a:rPr>
              <a:t>On 10 rooms with one dominant junction the player has nowhere else to go, so a naive heuristic looks competitive for reasons unrelated to intelligence. As the facility grows, hub-camping decays fastest and the interceptor's advantage widens from 1.15× to 1.57×. The small-facility result understates the value of prediction.</a:t>
            </a:r>
            <a:endParaRPr lang="en-US" sz="12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CFB"/>
        </a:solidFill>
      </p:bgPr>
    </p:bg>
    <p:spTree>
      <p:nvGrpSpPr>
        <p:cNvPr id="1" name=""/>
        <p:cNvGrpSpPr/>
        <p:nvPr/>
      </p:nvGrpSpPr>
      <p:grpSpPr>
        <a:xfrm>
          <a:off x="0" y="0"/>
          <a:ext cx="0" cy="0"/>
          <a:chOff x="0" y="0"/>
          <a:chExt cx="0" cy="0"/>
        </a:xfrm>
      </p:grpSpPr>
      <p:sp>
        <p:nvSpPr>
          <p:cNvPr id="167" name="TextBox 1"/>
          <p:cNvSpPr/>
          <p:nvPr/>
        </p:nvSpPr>
        <p:spPr>
          <a:xfrm>
            <a:off x="658440" y="420480"/>
            <a:ext cx="10880640" cy="273600"/>
          </a:xfrm>
          <a:prstGeom prst="rect">
            <a:avLst/>
          </a:prstGeom>
          <a:noFill/>
          <a:ln w="0">
            <a:noFill/>
          </a:ln>
        </p:spPr>
        <p:style>
          <a:lnRef idx="0"/>
          <a:fillRef idx="0"/>
          <a:effectRef idx="0"/>
          <a:fontRef idx="minor"/>
        </p:style>
        <p:txBody>
          <a:bodyPr lIns="0" tIns="0" rIns="0" bIns="0" anchor="t">
            <a:spAutoFit/>
          </a:bodyPr>
          <a:p>
            <a:pPr defTabSz="457200">
              <a:lnSpc>
                <a:spcPct val="125000"/>
              </a:lnSpc>
              <a:spcAft>
                <a:spcPts val="601"/>
              </a:spcAft>
            </a:pPr>
            <a:r>
              <a:rPr lang="en-US" sz="1050" b="1" u="none" strike="noStrike">
                <a:solidFill>
                  <a:srgbClr val="2A78D6"/>
                </a:solidFill>
                <a:effectLst/>
                <a:uFillTx/>
                <a:latin typeface="Arial"/>
              </a:rPr>
              <a:t>18 · RESULTS — DO THE WORLD EDITS MATTER?</a:t>
            </a:r>
            <a:endParaRPr lang="en-US" sz="1050" b="0" u="none" strike="noStrike">
              <a:solidFill>
                <a:srgbClr val="000000"/>
              </a:solidFill>
              <a:effectLst/>
              <a:uFillTx/>
              <a:latin typeface="Arial"/>
            </a:endParaRPr>
          </a:p>
        </p:txBody>
      </p:sp>
      <p:sp>
        <p:nvSpPr>
          <p:cNvPr id="168" name="TextBox 2"/>
          <p:cNvSpPr/>
          <p:nvPr/>
        </p:nvSpPr>
        <p:spPr>
          <a:xfrm>
            <a:off x="658440" y="749880"/>
            <a:ext cx="10880640" cy="822240"/>
          </a:xfrm>
          <a:prstGeom prst="rect">
            <a:avLst/>
          </a:prstGeom>
          <a:noFill/>
          <a:ln w="0">
            <a:noFill/>
          </a:ln>
        </p:spPr>
        <p:style>
          <a:lnRef idx="0"/>
          <a:fillRef idx="0"/>
          <a:effectRef idx="0"/>
          <a:fontRef idx="minor"/>
        </p:style>
        <p:txBody>
          <a:bodyPr lIns="0" tIns="0" rIns="0" bIns="0" anchor="t">
            <a:spAutoFit/>
          </a:bodyPr>
          <a:p>
            <a:pPr defTabSz="457200">
              <a:lnSpc>
                <a:spcPct val="125000"/>
              </a:lnSpc>
              <a:spcAft>
                <a:spcPts val="601"/>
              </a:spcAft>
            </a:pPr>
            <a:r>
              <a:rPr lang="en-US" sz="2800" b="1" u="none" strike="noStrike">
                <a:solidFill>
                  <a:srgbClr val="16181A"/>
                </a:solidFill>
                <a:effectLst/>
                <a:uFillTx/>
                <a:latin typeface="Arial"/>
              </a:rPr>
              <a:t>Interception is only one of four counter-moves</a:t>
            </a:r>
            <a:endParaRPr lang="en-US" sz="2800" b="0" u="none" strike="noStrike">
              <a:solidFill>
                <a:srgbClr val="000000"/>
              </a:solidFill>
              <a:effectLst/>
              <a:uFillTx/>
              <a:latin typeface="Arial"/>
            </a:endParaRPr>
          </a:p>
        </p:txBody>
      </p:sp>
      <p:sp>
        <p:nvSpPr>
          <p:cNvPr id="169" name="Rectangle 3"/>
          <p:cNvSpPr/>
          <p:nvPr/>
        </p:nvSpPr>
        <p:spPr>
          <a:xfrm>
            <a:off x="658440" y="1481400"/>
            <a:ext cx="10880640" cy="17640"/>
          </a:xfrm>
          <a:prstGeom prst="rect">
            <a:avLst/>
          </a:prstGeom>
          <a:solidFill>
            <a:srgbClr val="D8DCE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6640" rIns="90000" bIns="-26640" anchor="ctr">
            <a:noAutofit/>
          </a:bodyPr>
          <a:p>
            <a:endParaRPr lang="en-US" sz="1800" b="0" u="none" strike="noStrike">
              <a:solidFill>
                <a:schemeClr val="lt1"/>
              </a:solidFill>
              <a:effectLst/>
              <a:uFillTx/>
              <a:latin typeface="Calibri"/>
            </a:endParaRPr>
          </a:p>
        </p:txBody>
      </p:sp>
      <p:pic>
        <p:nvPicPr>
          <p:cNvPr id="170" name="Picture 4" descr="fig_disruption.png"/>
          <p:cNvPicPr/>
          <p:nvPr/>
        </p:nvPicPr>
        <p:blipFill>
          <a:blip r:embed="rId1"/>
          <a:stretch/>
        </p:blipFill>
        <p:spPr>
          <a:xfrm>
            <a:off x="2286000" y="1737360"/>
            <a:ext cx="7680240" cy="3652560"/>
          </a:xfrm>
          <a:prstGeom prst="rect">
            <a:avLst/>
          </a:prstGeom>
          <a:noFill/>
          <a:ln w="0">
            <a:noFill/>
          </a:ln>
        </p:spPr>
      </p:pic>
      <p:sp>
        <p:nvSpPr>
          <p:cNvPr id="171" name="TextBox 5"/>
          <p:cNvSpPr/>
          <p:nvPr/>
        </p:nvSpPr>
        <p:spPr>
          <a:xfrm>
            <a:off x="658440" y="5532120"/>
            <a:ext cx="10880640" cy="1005120"/>
          </a:xfrm>
          <a:prstGeom prst="rect">
            <a:avLst/>
          </a:prstGeom>
          <a:noFill/>
          <a:ln w="0">
            <a:noFill/>
          </a:ln>
        </p:spPr>
        <p:style>
          <a:lnRef idx="0"/>
          <a:fillRef idx="0"/>
          <a:effectRef idx="0"/>
          <a:fontRef idx="minor"/>
        </p:style>
        <p:txBody>
          <a:bodyPr lIns="0" tIns="0" rIns="0" bIns="0" anchor="t">
            <a:spAutoFit/>
          </a:bodyPr>
          <a:p>
            <a:pPr defTabSz="457200">
              <a:lnSpc>
                <a:spcPct val="130000"/>
              </a:lnSpc>
              <a:spcAft>
                <a:spcPts val="601"/>
              </a:spcAft>
            </a:pPr>
            <a:r>
              <a:rPr lang="en-US" sz="1300" b="0" u="none" strike="noStrike">
                <a:solidFill>
                  <a:srgbClr val="6B7178"/>
                </a:solidFill>
                <a:effectLst/>
                <a:uFillTx/>
                <a:latin typeface="Arial"/>
              </a:rPr>
              <a:t>The entity is removed entirely here, isolating topology mutation. Sealing and rewiring ahead of the player raises the cost of completing an objective by 54% (20.9 to 32.3 moves per lap). Every one of the 126 rewires and 55 seals passed the reachability check — no run was ever soft-locked.</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CFB"/>
        </a:solidFill>
      </p:bgPr>
    </p:bg>
    <p:spTree>
      <p:nvGrpSpPr>
        <p:cNvPr id="1" name=""/>
        <p:cNvGrpSpPr/>
        <p:nvPr/>
      </p:nvGrpSpPr>
      <p:grpSpPr>
        <a:xfrm>
          <a:off x="0" y="0"/>
          <a:ext cx="0" cy="0"/>
          <a:chOff x="0" y="0"/>
          <a:chExt cx="0" cy="0"/>
        </a:xfrm>
      </p:grpSpPr>
      <p:sp>
        <p:nvSpPr>
          <p:cNvPr id="172" name="TextBox 1"/>
          <p:cNvSpPr/>
          <p:nvPr/>
        </p:nvSpPr>
        <p:spPr>
          <a:xfrm>
            <a:off x="658440" y="420480"/>
            <a:ext cx="10880640" cy="273600"/>
          </a:xfrm>
          <a:prstGeom prst="rect">
            <a:avLst/>
          </a:prstGeom>
          <a:noFill/>
          <a:ln w="0">
            <a:noFill/>
          </a:ln>
        </p:spPr>
        <p:style>
          <a:lnRef idx="0"/>
          <a:fillRef idx="0"/>
          <a:effectRef idx="0"/>
          <a:fontRef idx="minor"/>
        </p:style>
        <p:txBody>
          <a:bodyPr lIns="0" tIns="0" rIns="0" bIns="0" anchor="t">
            <a:spAutoFit/>
          </a:bodyPr>
          <a:p>
            <a:pPr defTabSz="457200">
              <a:lnSpc>
                <a:spcPct val="125000"/>
              </a:lnSpc>
              <a:spcAft>
                <a:spcPts val="601"/>
              </a:spcAft>
            </a:pPr>
            <a:r>
              <a:rPr lang="en-US" sz="1050" b="1" u="none" strike="noStrike">
                <a:solidFill>
                  <a:srgbClr val="2A78D6"/>
                </a:solidFill>
                <a:effectLst/>
                <a:uFillTx/>
                <a:latin typeface="Arial"/>
              </a:rPr>
              <a:t>19 · RESULTS — IS THE SABOTAGE AIMED?</a:t>
            </a:r>
            <a:endParaRPr lang="en-US" sz="1050" b="0" u="none" strike="noStrike">
              <a:solidFill>
                <a:srgbClr val="000000"/>
              </a:solidFill>
              <a:effectLst/>
              <a:uFillTx/>
              <a:latin typeface="Arial"/>
            </a:endParaRPr>
          </a:p>
        </p:txBody>
      </p:sp>
      <p:sp>
        <p:nvSpPr>
          <p:cNvPr id="173" name="TextBox 2"/>
          <p:cNvSpPr/>
          <p:nvPr/>
        </p:nvSpPr>
        <p:spPr>
          <a:xfrm>
            <a:off x="658440" y="749880"/>
            <a:ext cx="10880640" cy="822240"/>
          </a:xfrm>
          <a:prstGeom prst="rect">
            <a:avLst/>
          </a:prstGeom>
          <a:noFill/>
          <a:ln w="0">
            <a:noFill/>
          </a:ln>
        </p:spPr>
        <p:style>
          <a:lnRef idx="0"/>
          <a:fillRef idx="0"/>
          <a:effectRef idx="0"/>
          <a:fontRef idx="minor"/>
        </p:style>
        <p:txBody>
          <a:bodyPr lIns="0" tIns="0" rIns="0" bIns="0" anchor="t">
            <a:spAutoFit/>
          </a:bodyPr>
          <a:p>
            <a:pPr defTabSz="457200">
              <a:lnSpc>
                <a:spcPct val="125000"/>
              </a:lnSpc>
              <a:spcAft>
                <a:spcPts val="601"/>
              </a:spcAft>
            </a:pPr>
            <a:r>
              <a:rPr lang="en-US" sz="2800" b="1" u="none" strike="noStrike">
                <a:solidFill>
                  <a:srgbClr val="16181A"/>
                </a:solidFill>
                <a:effectLst/>
                <a:uFillTx/>
                <a:latin typeface="Arial"/>
              </a:rPr>
              <a:t>A conditional result, reported as such</a:t>
            </a:r>
            <a:endParaRPr lang="en-US" sz="2800" b="0" u="none" strike="noStrike">
              <a:solidFill>
                <a:srgbClr val="000000"/>
              </a:solidFill>
              <a:effectLst/>
              <a:uFillTx/>
              <a:latin typeface="Arial"/>
            </a:endParaRPr>
          </a:p>
        </p:txBody>
      </p:sp>
      <p:sp>
        <p:nvSpPr>
          <p:cNvPr id="174" name="Rectangle 3"/>
          <p:cNvSpPr/>
          <p:nvPr/>
        </p:nvSpPr>
        <p:spPr>
          <a:xfrm>
            <a:off x="658440" y="1481400"/>
            <a:ext cx="10880640" cy="17640"/>
          </a:xfrm>
          <a:prstGeom prst="rect">
            <a:avLst/>
          </a:prstGeom>
          <a:solidFill>
            <a:srgbClr val="D8DCE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6640" rIns="90000" bIns="-26640" anchor="ctr">
            <a:noAutofit/>
          </a:bodyPr>
          <a:p>
            <a:endParaRPr lang="en-US" sz="1800" b="0" u="none" strike="noStrike">
              <a:solidFill>
                <a:schemeClr val="lt1"/>
              </a:solidFill>
              <a:effectLst/>
              <a:uFillTx/>
              <a:latin typeface="Calibri"/>
            </a:endParaRPr>
          </a:p>
        </p:txBody>
      </p:sp>
      <p:sp>
        <p:nvSpPr>
          <p:cNvPr id="175" name="TextBox 4"/>
          <p:cNvSpPr/>
          <p:nvPr/>
        </p:nvSpPr>
        <p:spPr>
          <a:xfrm>
            <a:off x="658440" y="1783080"/>
            <a:ext cx="10880640" cy="547920"/>
          </a:xfrm>
          <a:prstGeom prst="rect">
            <a:avLst/>
          </a:prstGeom>
          <a:noFill/>
          <a:ln w="0">
            <a:noFill/>
          </a:ln>
        </p:spPr>
        <p:style>
          <a:lnRef idx="0"/>
          <a:fillRef idx="0"/>
          <a:effectRef idx="0"/>
          <a:fontRef idx="minor"/>
        </p:style>
        <p:txBody>
          <a:bodyPr lIns="0" tIns="0" rIns="0" bIns="0" anchor="t">
            <a:spAutoFit/>
          </a:bodyPr>
          <a:p>
            <a:pPr defTabSz="457200">
              <a:lnSpc>
                <a:spcPct val="130000"/>
              </a:lnSpc>
              <a:spcAft>
                <a:spcPts val="601"/>
              </a:spcAft>
            </a:pPr>
            <a:r>
              <a:rPr lang="en-US" sz="1400" b="0" u="none" strike="noStrike">
                <a:solidFill>
                  <a:srgbClr val="6B7178"/>
                </a:solidFill>
                <a:effectLst/>
                <a:uFillTx/>
                <a:latin typeface="Arial"/>
              </a:rPr>
              <a:t>A poisoned codebook only costs the player if they return to it, and costs more the sooner they do. Lower is better-aimed. Control: poison a recorded room at random.</a:t>
            </a:r>
            <a:endParaRPr lang="en-US" sz="1400" b="0" u="none" strike="noStrike">
              <a:solidFill>
                <a:srgbClr val="000000"/>
              </a:solidFill>
              <a:effectLst/>
              <a:uFillTx/>
              <a:latin typeface="Arial"/>
            </a:endParaRPr>
          </a:p>
        </p:txBody>
      </p:sp>
      <p:graphicFrame>
        <p:nvGraphicFramePr>
          <p:cNvPr id="176" name="Table 5"/>
          <p:cNvGraphicFramePr/>
          <p:nvPr/>
        </p:nvGraphicFramePr>
        <p:xfrm>
          <a:off x="658440" y="2606040"/>
          <a:ext cx="10881000" cy="1151280"/>
        </p:xfrm>
        <a:graphic>
          <a:graphicData uri="http://schemas.openxmlformats.org/drawingml/2006/table">
            <a:tbl>
              <a:tblPr/>
              <a:tblGrid>
                <a:gridCol w="4572000"/>
                <a:gridCol w="2194560"/>
                <a:gridCol w="2103120"/>
                <a:gridCol w="2011680"/>
              </a:tblGrid>
              <a:tr h="383760">
                <a:tc>
                  <a:txBody>
                    <a:bodyPr lIns="73080" tIns="36360" rIns="73080" bIns="36360" anchor="t">
                      <a:noAutofit/>
                    </a:bodyPr>
                    <a:p>
                      <a:pPr defTabSz="457200">
                        <a:lnSpc>
                          <a:spcPct val="115000"/>
                        </a:lnSpc>
                      </a:pPr>
                      <a:r>
                        <a:rPr lang="en-US" sz="950" b="1" u="none" strike="noStrike">
                          <a:solidFill>
                            <a:srgbClr val="6B7178"/>
                          </a:solidFill>
                          <a:effectLst/>
                          <a:uFillTx/>
                          <a:latin typeface="Arial"/>
                        </a:rPr>
                        <a:t>Player's reliance on rooms</a:t>
                      </a:r>
                      <a:endParaRPr lang="en-US" sz="9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4F6F8"/>
                    </a:solidFill>
                  </a:tcPr>
                </a:tc>
                <a:tc>
                  <a:txBody>
                    <a:bodyPr lIns="73080" tIns="36360" rIns="73080" bIns="36360" anchor="t">
                      <a:noAutofit/>
                    </a:bodyPr>
                    <a:p>
                      <a:pPr defTabSz="457200">
                        <a:lnSpc>
                          <a:spcPct val="115000"/>
                        </a:lnSpc>
                      </a:pPr>
                      <a:r>
                        <a:rPr lang="en-US" sz="950" b="1" u="none" strike="noStrike">
                          <a:solidFill>
                            <a:srgbClr val="6B7178"/>
                          </a:solidFill>
                          <a:effectLst/>
                          <a:uFillTx/>
                          <a:latin typeface="Arial"/>
                        </a:rPr>
                        <a:t>Random targeting</a:t>
                      </a:r>
                      <a:endParaRPr lang="en-US" sz="9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4F6F8"/>
                    </a:solidFill>
                  </a:tcPr>
                </a:tc>
                <a:tc>
                  <a:txBody>
                    <a:bodyPr lIns="73080" tIns="36360" rIns="73080" bIns="36360" anchor="t">
                      <a:noAutofit/>
                    </a:bodyPr>
                    <a:p>
                      <a:pPr defTabSz="457200">
                        <a:lnSpc>
                          <a:spcPct val="115000"/>
                        </a:lnSpc>
                      </a:pPr>
                      <a:r>
                        <a:rPr lang="en-US" sz="950" b="1" u="none" strike="noStrike">
                          <a:solidFill>
                            <a:srgbClr val="6B7178"/>
                          </a:solidFill>
                          <a:effectLst/>
                          <a:uFillTx/>
                          <a:latin typeface="Arial"/>
                        </a:rPr>
                        <a:t>Model targeting</a:t>
                      </a:r>
                      <a:endParaRPr lang="en-US" sz="9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4F6F8"/>
                    </a:solidFill>
                  </a:tcPr>
                </a:tc>
                <a:tc>
                  <a:txBody>
                    <a:bodyPr lIns="73080" tIns="36360" rIns="73080" bIns="36360" anchor="t">
                      <a:noAutofit/>
                    </a:bodyPr>
                    <a:p>
                      <a:pPr defTabSz="457200">
                        <a:lnSpc>
                          <a:spcPct val="115000"/>
                        </a:lnSpc>
                      </a:pPr>
                      <a:r>
                        <a:rPr lang="en-US" sz="950" b="1" u="none" strike="noStrike">
                          <a:solidFill>
                            <a:srgbClr val="6B7178"/>
                          </a:solidFill>
                          <a:effectLst/>
                          <a:uFillTx/>
                          <a:latin typeface="Arial"/>
                        </a:rPr>
                        <a:t>Advantage</a:t>
                      </a:r>
                      <a:endParaRPr lang="en-US" sz="9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4F6F8"/>
                    </a:solidFill>
                  </a:tcPr>
                </a:tc>
              </a:tr>
              <a:tr h="383760">
                <a:tc>
                  <a:txBody>
                    <a:bodyPr lIns="73080" tIns="36360" rIns="73080" bIns="36360" anchor="t">
                      <a:noAutofit/>
                    </a:bodyPr>
                    <a:p>
                      <a:pPr defTabSz="457200">
                        <a:lnSpc>
                          <a:spcPct val="115000"/>
                        </a:lnSpc>
                      </a:pPr>
                      <a:r>
                        <a:rPr lang="en-US" sz="1300" b="0" u="none" strike="noStrike">
                          <a:solidFill>
                            <a:srgbClr val="16181A"/>
                          </a:solidFill>
                          <a:effectLst/>
                          <a:uFillTx/>
                          <a:latin typeface="Arial"/>
                        </a:rPr>
                        <a:t>Uniform — visits every codebook each lap</a:t>
                      </a:r>
                      <a:endParaRPr lang="en-US" sz="13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300" b="0" u="none" strike="noStrike">
                          <a:solidFill>
                            <a:srgbClr val="16181A"/>
                          </a:solidFill>
                          <a:effectLst/>
                          <a:uFillTx/>
                          <a:latin typeface="Arial"/>
                        </a:rPr>
                        <a:t>8.7</a:t>
                      </a:r>
                      <a:endParaRPr lang="en-US" sz="13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300" b="0" u="none" strike="noStrike">
                          <a:solidFill>
                            <a:srgbClr val="16181A"/>
                          </a:solidFill>
                          <a:effectLst/>
                          <a:uFillTx/>
                          <a:latin typeface="Arial"/>
                        </a:rPr>
                        <a:t>8.4</a:t>
                      </a:r>
                      <a:endParaRPr lang="en-US" sz="13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300" b="0" u="none" strike="noStrike">
                          <a:solidFill>
                            <a:srgbClr val="16181A"/>
                          </a:solidFill>
                          <a:effectLst/>
                          <a:uFillTx/>
                          <a:latin typeface="Arial"/>
                        </a:rPr>
                        <a:t>none (+3.2%)</a:t>
                      </a:r>
                      <a:endParaRPr lang="en-US" sz="13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300" b="0" u="none" strike="noStrike">
                          <a:solidFill>
                            <a:srgbClr val="16181A"/>
                          </a:solidFill>
                          <a:effectLst/>
                          <a:uFillTx/>
                          <a:latin typeface="Arial"/>
                        </a:rPr>
                        <a:t>Uneven — leans on some rooms harder</a:t>
                      </a:r>
                      <a:endParaRPr lang="en-US" sz="13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300" b="0" u="none" strike="noStrike">
                          <a:solidFill>
                            <a:srgbClr val="16181A"/>
                          </a:solidFill>
                          <a:effectLst/>
                          <a:uFillTx/>
                          <a:latin typeface="Arial"/>
                        </a:rPr>
                        <a:t>11.3</a:t>
                      </a:r>
                      <a:endParaRPr lang="en-US" sz="13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300" b="0" u="none" strike="noStrike">
                          <a:solidFill>
                            <a:srgbClr val="16181A"/>
                          </a:solidFill>
                          <a:effectLst/>
                          <a:uFillTx/>
                          <a:latin typeface="Arial"/>
                        </a:rPr>
                        <a:t>9.8</a:t>
                      </a:r>
                      <a:endParaRPr lang="en-US" sz="13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300" b="0" u="none" strike="noStrike">
                          <a:solidFill>
                            <a:srgbClr val="16181A"/>
                          </a:solidFill>
                          <a:effectLst/>
                          <a:uFillTx/>
                          <a:latin typeface="Arial"/>
                        </a:rPr>
                        <a:t>13% faster</a:t>
                      </a:r>
                      <a:endParaRPr lang="en-US" sz="13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bl>
          </a:graphicData>
        </a:graphic>
      </p:graphicFrame>
      <p:sp>
        <p:nvSpPr>
          <p:cNvPr id="177" name="Rectangle 6"/>
          <p:cNvSpPr/>
          <p:nvPr/>
        </p:nvSpPr>
        <p:spPr>
          <a:xfrm>
            <a:off x="658440" y="3931920"/>
            <a:ext cx="10880640" cy="1599480"/>
          </a:xfrm>
          <a:prstGeom prst="rect">
            <a:avLst/>
          </a:prstGeom>
          <a:solidFill>
            <a:srgbClr val="FFF6F0"/>
          </a:solidFill>
          <a:ln w="12700">
            <a:solidFill>
              <a:srgbClr val="EB6834"/>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78" name="TextBox 7"/>
          <p:cNvSpPr/>
          <p:nvPr/>
        </p:nvSpPr>
        <p:spPr>
          <a:xfrm>
            <a:off x="960120" y="4160520"/>
            <a:ext cx="10332000" cy="1233720"/>
          </a:xfrm>
          <a:prstGeom prst="rect">
            <a:avLst/>
          </a:prstGeom>
          <a:noFill/>
          <a:ln w="0">
            <a:noFill/>
          </a:ln>
        </p:spPr>
        <p:style>
          <a:lnRef idx="0"/>
          <a:fillRef idx="0"/>
          <a:effectRef idx="0"/>
          <a:fontRef idx="minor"/>
        </p:style>
        <p:txBody>
          <a:bodyPr lIns="0" tIns="0" rIns="0" bIns="0" anchor="t">
            <a:spAutoFit/>
          </a:bodyPr>
          <a:p>
            <a:pPr defTabSz="457200">
              <a:lnSpc>
                <a:spcPct val="132000"/>
              </a:lnSpc>
              <a:spcAft>
                <a:spcPts val="400"/>
              </a:spcAft>
            </a:pPr>
            <a:r>
              <a:rPr lang="en-US" sz="1350" b="0" u="none" strike="noStrike">
                <a:solidFill>
                  <a:srgbClr val="16181A"/>
                </a:solidFill>
                <a:effectLst/>
                <a:uFillTx/>
                <a:latin typeface="Arial"/>
              </a:rPr>
              <a:t>Reported as a negative result under the first condition.</a:t>
            </a:r>
            <a:endParaRPr lang="en-US" sz="1350" b="0" u="none" strike="noStrike">
              <a:solidFill>
                <a:srgbClr val="000000"/>
              </a:solidFill>
              <a:effectLst/>
              <a:uFillTx/>
              <a:latin typeface="Arial"/>
            </a:endParaRPr>
          </a:p>
          <a:p>
            <a:pPr defTabSz="457200">
              <a:lnSpc>
                <a:spcPct val="132000"/>
              </a:lnSpc>
              <a:spcAft>
                <a:spcPts val="400"/>
              </a:spcAft>
            </a:pPr>
            <a:r>
              <a:rPr lang="en-US" sz="1350" b="0" u="none" strike="noStrike">
                <a:solidFill>
                  <a:srgbClr val="16181A"/>
                </a:solidFill>
                <a:effectLst/>
                <a:uFillTx/>
                <a:latin typeface="Arial"/>
              </a:rPr>
              <a:t>When the player relies on every room equally there is nothing for targeted sabotage to exploit, and model targeting performs no better than random. The counter-move earns its place only against a player with uneven habits. That is the realistic case — but the claim is conditional and is not overstated.</a:t>
            </a:r>
            <a:endParaRPr lang="en-US" sz="13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CFB"/>
        </a:solidFill>
      </p:bgPr>
    </p:bg>
    <p:spTree>
      <p:nvGrpSpPr>
        <p:cNvPr id="1" name=""/>
        <p:cNvGrpSpPr/>
        <p:nvPr/>
      </p:nvGrpSpPr>
      <p:grpSpPr>
        <a:xfrm>
          <a:off x="0" y="0"/>
          <a:ext cx="0" cy="0"/>
          <a:chOff x="0" y="0"/>
          <a:chExt cx="0" cy="0"/>
        </a:xfrm>
      </p:grpSpPr>
      <p:sp>
        <p:nvSpPr>
          <p:cNvPr id="179" name="TextBox 1"/>
          <p:cNvSpPr/>
          <p:nvPr/>
        </p:nvSpPr>
        <p:spPr>
          <a:xfrm>
            <a:off x="658440" y="420480"/>
            <a:ext cx="10880640" cy="273600"/>
          </a:xfrm>
          <a:prstGeom prst="rect">
            <a:avLst/>
          </a:prstGeom>
          <a:noFill/>
          <a:ln w="0">
            <a:noFill/>
          </a:ln>
        </p:spPr>
        <p:style>
          <a:lnRef idx="0"/>
          <a:fillRef idx="0"/>
          <a:effectRef idx="0"/>
          <a:fontRef idx="minor"/>
        </p:style>
        <p:txBody>
          <a:bodyPr lIns="0" tIns="0" rIns="0" bIns="0" anchor="t">
            <a:spAutoFit/>
          </a:bodyPr>
          <a:p>
            <a:pPr defTabSz="457200">
              <a:lnSpc>
                <a:spcPct val="125000"/>
              </a:lnSpc>
              <a:spcAft>
                <a:spcPts val="601"/>
              </a:spcAft>
            </a:pPr>
            <a:r>
              <a:rPr lang="en-US" sz="1050" b="1" u="none" strike="noStrike">
                <a:solidFill>
                  <a:srgbClr val="2A78D6"/>
                </a:solidFill>
                <a:effectLst/>
                <a:uFillTx/>
                <a:latin typeface="Arial"/>
              </a:rPr>
              <a:t>20 · RESULTS — CAN THE PLAYER FIGHT BACK?</a:t>
            </a:r>
            <a:endParaRPr lang="en-US" sz="1050" b="0" u="none" strike="noStrike">
              <a:solidFill>
                <a:srgbClr val="000000"/>
              </a:solidFill>
              <a:effectLst/>
              <a:uFillTx/>
              <a:latin typeface="Arial"/>
            </a:endParaRPr>
          </a:p>
        </p:txBody>
      </p:sp>
      <p:sp>
        <p:nvSpPr>
          <p:cNvPr id="180" name="TextBox 2"/>
          <p:cNvSpPr/>
          <p:nvPr/>
        </p:nvSpPr>
        <p:spPr>
          <a:xfrm>
            <a:off x="658440" y="749880"/>
            <a:ext cx="10880640" cy="822240"/>
          </a:xfrm>
          <a:prstGeom prst="rect">
            <a:avLst/>
          </a:prstGeom>
          <a:noFill/>
          <a:ln w="0">
            <a:noFill/>
          </a:ln>
        </p:spPr>
        <p:style>
          <a:lnRef idx="0"/>
          <a:fillRef idx="0"/>
          <a:effectRef idx="0"/>
          <a:fontRef idx="minor"/>
        </p:style>
        <p:txBody>
          <a:bodyPr lIns="0" tIns="0" rIns="0" bIns="0" anchor="t">
            <a:spAutoFit/>
          </a:bodyPr>
          <a:p>
            <a:pPr defTabSz="457200">
              <a:lnSpc>
                <a:spcPct val="125000"/>
              </a:lnSpc>
              <a:spcAft>
                <a:spcPts val="601"/>
              </a:spcAft>
            </a:pPr>
            <a:r>
              <a:rPr lang="en-US" sz="2800" b="1" u="none" strike="noStrike">
                <a:solidFill>
                  <a:srgbClr val="16181A"/>
                </a:solidFill>
                <a:effectLst/>
                <a:uFillTx/>
                <a:latin typeface="Arial"/>
              </a:rPr>
              <a:t>A negative result, and the most useful one</a:t>
            </a:r>
            <a:endParaRPr lang="en-US" sz="2800" b="0" u="none" strike="noStrike">
              <a:solidFill>
                <a:srgbClr val="000000"/>
              </a:solidFill>
              <a:effectLst/>
              <a:uFillTx/>
              <a:latin typeface="Arial"/>
            </a:endParaRPr>
          </a:p>
        </p:txBody>
      </p:sp>
      <p:sp>
        <p:nvSpPr>
          <p:cNvPr id="181" name="Rectangle 3"/>
          <p:cNvSpPr/>
          <p:nvPr/>
        </p:nvSpPr>
        <p:spPr>
          <a:xfrm>
            <a:off x="658440" y="1481400"/>
            <a:ext cx="10880640" cy="17640"/>
          </a:xfrm>
          <a:prstGeom prst="rect">
            <a:avLst/>
          </a:prstGeom>
          <a:solidFill>
            <a:srgbClr val="D8DCE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6640" rIns="90000" bIns="-26640" anchor="ctr">
            <a:noAutofit/>
          </a:bodyPr>
          <a:p>
            <a:endParaRPr lang="en-US" sz="1800" b="0" u="none" strike="noStrike">
              <a:solidFill>
                <a:schemeClr val="lt1"/>
              </a:solidFill>
              <a:effectLst/>
              <a:uFillTx/>
              <a:latin typeface="Calibri"/>
            </a:endParaRPr>
          </a:p>
        </p:txBody>
      </p:sp>
      <p:sp>
        <p:nvSpPr>
          <p:cNvPr id="182" name="TextBox 4"/>
          <p:cNvSpPr/>
          <p:nvPr/>
        </p:nvSpPr>
        <p:spPr>
          <a:xfrm>
            <a:off x="658440" y="1783080"/>
            <a:ext cx="10880640" cy="502200"/>
          </a:xfrm>
          <a:prstGeom prst="rect">
            <a:avLst/>
          </a:prstGeom>
          <a:noFill/>
          <a:ln w="0">
            <a:noFill/>
          </a:ln>
        </p:spPr>
        <p:style>
          <a:lnRef idx="0"/>
          <a:fillRef idx="0"/>
          <a:effectRef idx="0"/>
          <a:fontRef idx="minor"/>
        </p:style>
        <p:txBody>
          <a:bodyPr lIns="0" tIns="0" rIns="0" bIns="0" anchor="t">
            <a:spAutoFit/>
          </a:bodyPr>
          <a:p>
            <a:pPr defTabSz="457200">
              <a:lnSpc>
                <a:spcPct val="130000"/>
              </a:lnSpc>
              <a:spcAft>
                <a:spcPts val="601"/>
              </a:spcAft>
            </a:pPr>
            <a:r>
              <a:rPr lang="en-US" sz="1400" b="0" u="none" strike="noStrike">
                <a:solidFill>
                  <a:srgbClr val="6B7178"/>
                </a:solidFill>
                <a:effectLst/>
                <a:uFillTx/>
                <a:latin typeface="Arial"/>
              </a:rPr>
              <a:t>Waiting is the natural counter-play: if it moves to where you are going, do not go. A fair adaptive antagonist must be beatable this way. It is not.</a:t>
            </a:r>
            <a:endParaRPr lang="en-US" sz="1400" b="0" u="none" strike="noStrike">
              <a:solidFill>
                <a:srgbClr val="000000"/>
              </a:solidFill>
              <a:effectLst/>
              <a:uFillTx/>
              <a:latin typeface="Arial"/>
            </a:endParaRPr>
          </a:p>
        </p:txBody>
      </p:sp>
      <p:graphicFrame>
        <p:nvGraphicFramePr>
          <p:cNvPr id="183" name="Table 5"/>
          <p:cNvGraphicFramePr/>
          <p:nvPr/>
        </p:nvGraphicFramePr>
        <p:xfrm>
          <a:off x="658440" y="2514600"/>
          <a:ext cx="10881000" cy="1151280"/>
        </p:xfrm>
        <a:graphic>
          <a:graphicData uri="http://schemas.openxmlformats.org/drawingml/2006/table">
            <a:tbl>
              <a:tblPr/>
              <a:tblGrid>
                <a:gridCol w="2377440"/>
                <a:gridCol w="2743200"/>
                <a:gridCol w="3291840"/>
                <a:gridCol w="2468880"/>
              </a:tblGrid>
              <a:tr h="383760">
                <a:tc>
                  <a:txBody>
                    <a:bodyPr lIns="73080" tIns="36360" rIns="73080" bIns="36360" anchor="t">
                      <a:noAutofit/>
                    </a:bodyPr>
                    <a:p>
                      <a:pPr defTabSz="457200">
                        <a:lnSpc>
                          <a:spcPct val="115000"/>
                        </a:lnSpc>
                      </a:pPr>
                      <a:r>
                        <a:rPr lang="en-US" sz="950" b="1" u="none" strike="noStrike">
                          <a:solidFill>
                            <a:srgbClr val="6B7178"/>
                          </a:solidFill>
                          <a:effectLst/>
                          <a:uFillTx/>
                          <a:latin typeface="Arial"/>
                        </a:rPr>
                        <a:t>Player</a:t>
                      </a:r>
                      <a:endParaRPr lang="en-US" sz="9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4F6F8"/>
                    </a:solidFill>
                  </a:tcPr>
                </a:tc>
                <a:tc>
                  <a:txBody>
                    <a:bodyPr lIns="73080" tIns="36360" rIns="73080" bIns="36360" anchor="t">
                      <a:noAutofit/>
                    </a:bodyPr>
                    <a:p>
                      <a:pPr defTabSz="457200">
                        <a:lnSpc>
                          <a:spcPct val="115000"/>
                        </a:lnSpc>
                      </a:pPr>
                      <a:r>
                        <a:rPr lang="en-US" sz="950" b="1" u="none" strike="noStrike">
                          <a:solidFill>
                            <a:srgbClr val="6B7178"/>
                          </a:solidFill>
                          <a:effectLst/>
                          <a:uFillTx/>
                          <a:latin typeface="Arial"/>
                        </a:rPr>
                        <a:t>Windows declined</a:t>
                      </a:r>
                      <a:endParaRPr lang="en-US" sz="9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4F6F8"/>
                    </a:solidFill>
                  </a:tcPr>
                </a:tc>
                <a:tc>
                  <a:txBody>
                    <a:bodyPr lIns="73080" tIns="36360" rIns="73080" bIns="36360" anchor="t">
                      <a:noAutofit/>
                    </a:bodyPr>
                    <a:p>
                      <a:pPr defTabSz="457200">
                        <a:lnSpc>
                          <a:spcPct val="115000"/>
                        </a:lnSpc>
                      </a:pPr>
                      <a:r>
                        <a:rPr lang="en-US" sz="950" b="1" u="none" strike="noStrike">
                          <a:solidFill>
                            <a:srgbClr val="6B7178"/>
                          </a:solidFill>
                          <a:effectLst/>
                          <a:uFillTx/>
                          <a:latin typeface="Arial"/>
                        </a:rPr>
                        <a:t>Model accuracy against them</a:t>
                      </a:r>
                      <a:endParaRPr lang="en-US" sz="9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4F6F8"/>
                    </a:solidFill>
                  </a:tcPr>
                </a:tc>
                <a:tc>
                  <a:txBody>
                    <a:bodyPr lIns="73080" tIns="36360" rIns="73080" bIns="36360" anchor="t">
                      <a:noAutofit/>
                    </a:bodyPr>
                    <a:p>
                      <a:pPr defTabSz="457200">
                        <a:lnSpc>
                          <a:spcPct val="115000"/>
                        </a:lnSpc>
                      </a:pPr>
                      <a:r>
                        <a:rPr lang="en-US" sz="950" b="1" u="none" strike="noStrike">
                          <a:solidFill>
                            <a:srgbClr val="6B7178"/>
                          </a:solidFill>
                          <a:effectLst/>
                          <a:uFillTx/>
                          <a:latin typeface="Arial"/>
                        </a:rPr>
                        <a:t>Captures / 1000</a:t>
                      </a:r>
                      <a:endParaRPr lang="en-US" sz="9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4F6F8"/>
                    </a:solidFill>
                  </a:tcPr>
                </a:tc>
              </a:tr>
              <a:tr h="383760">
                <a:tc>
                  <a:txBody>
                    <a:bodyPr lIns="73080" tIns="36360" rIns="73080" bIns="36360" anchor="t">
                      <a:noAutofit/>
                    </a:bodyPr>
                    <a:p>
                      <a:pPr defTabSz="457200">
                        <a:lnSpc>
                          <a:spcPct val="115000"/>
                        </a:lnSpc>
                      </a:pPr>
                      <a:r>
                        <a:rPr lang="en-US" sz="1300" b="0" u="none" strike="noStrike">
                          <a:solidFill>
                            <a:srgbClr val="16181A"/>
                          </a:solidFill>
                          <a:effectLst/>
                          <a:uFillTx/>
                          <a:latin typeface="Arial"/>
                        </a:rPr>
                        <a:t>Habitual</a:t>
                      </a:r>
                      <a:endParaRPr lang="en-US" sz="13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300" b="0" u="none" strike="noStrike">
                          <a:solidFill>
                            <a:srgbClr val="16181A"/>
                          </a:solidFill>
                          <a:effectLst/>
                          <a:uFillTx/>
                          <a:latin typeface="Arial"/>
                        </a:rPr>
                        <a:t>23%</a:t>
                      </a:r>
                      <a:endParaRPr lang="en-US" sz="13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300" b="0" u="none" strike="noStrike">
                          <a:solidFill>
                            <a:srgbClr val="16181A"/>
                          </a:solidFill>
                          <a:effectLst/>
                          <a:uFillTx/>
                          <a:latin typeface="Arial"/>
                        </a:rPr>
                        <a:t>46.5%</a:t>
                      </a:r>
                      <a:endParaRPr lang="en-US" sz="13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300" b="0" u="none" strike="noStrike">
                          <a:solidFill>
                            <a:srgbClr val="16181A"/>
                          </a:solidFill>
                          <a:effectLst/>
                          <a:uFillTx/>
                          <a:latin typeface="Arial"/>
                        </a:rPr>
                        <a:t>303</a:t>
                      </a:r>
                      <a:endParaRPr lang="en-US" sz="13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300" b="0" u="none" strike="noStrike">
                          <a:solidFill>
                            <a:srgbClr val="16181A"/>
                          </a:solidFill>
                          <a:effectLst/>
                          <a:uFillTx/>
                          <a:latin typeface="Arial"/>
                        </a:rPr>
                        <a:t>Evasive</a:t>
                      </a:r>
                      <a:endParaRPr lang="en-US" sz="13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300" b="0" u="none" strike="noStrike">
                          <a:solidFill>
                            <a:srgbClr val="16181A"/>
                          </a:solidFill>
                          <a:effectLst/>
                          <a:uFillTx/>
                          <a:latin typeface="Arial"/>
                        </a:rPr>
                        <a:t>35%</a:t>
                      </a:r>
                      <a:endParaRPr lang="en-US" sz="13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300" b="0" u="none" strike="noStrike">
                          <a:solidFill>
                            <a:srgbClr val="16181A"/>
                          </a:solidFill>
                          <a:effectLst/>
                          <a:uFillTx/>
                          <a:latin typeface="Arial"/>
                        </a:rPr>
                        <a:t>41.9%</a:t>
                      </a:r>
                      <a:endParaRPr lang="en-US" sz="13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300" b="0" u="none" strike="noStrike">
                          <a:solidFill>
                            <a:srgbClr val="16181A"/>
                          </a:solidFill>
                          <a:effectLst/>
                          <a:uFillTx/>
                          <a:latin typeface="Arial"/>
                        </a:rPr>
                        <a:t>299</a:t>
                      </a:r>
                      <a:endParaRPr lang="en-US" sz="13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bl>
          </a:graphicData>
        </a:graphic>
      </p:graphicFrame>
      <p:sp>
        <p:nvSpPr>
          <p:cNvPr id="184" name="Rectangle 6"/>
          <p:cNvSpPr/>
          <p:nvPr/>
        </p:nvSpPr>
        <p:spPr>
          <a:xfrm>
            <a:off x="658440" y="3794760"/>
            <a:ext cx="10880640" cy="1965240"/>
          </a:xfrm>
          <a:prstGeom prst="rect">
            <a:avLst/>
          </a:prstGeom>
          <a:solidFill>
            <a:srgbClr val="FFF6F0"/>
          </a:solidFill>
          <a:ln w="12700">
            <a:solidFill>
              <a:srgbClr val="EB6834"/>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85" name="TextBox 7"/>
          <p:cNvSpPr/>
          <p:nvPr/>
        </p:nvSpPr>
        <p:spPr>
          <a:xfrm>
            <a:off x="960120" y="4023360"/>
            <a:ext cx="10332000" cy="1599480"/>
          </a:xfrm>
          <a:prstGeom prst="rect">
            <a:avLst/>
          </a:prstGeom>
          <a:noFill/>
          <a:ln w="0">
            <a:noFill/>
          </a:ln>
        </p:spPr>
        <p:style>
          <a:lnRef idx="0"/>
          <a:fillRef idx="0"/>
          <a:effectRef idx="0"/>
          <a:fontRef idx="minor"/>
        </p:style>
        <p:txBody>
          <a:bodyPr lIns="0" tIns="0" rIns="0" bIns="0" anchor="t">
            <a:spAutoFit/>
          </a:bodyPr>
          <a:p>
            <a:pPr defTabSz="457200">
              <a:lnSpc>
                <a:spcPct val="130000"/>
              </a:lnSpc>
              <a:spcAft>
                <a:spcPts val="499"/>
              </a:spcAft>
            </a:pPr>
            <a:r>
              <a:rPr lang="en-US" sz="1300" b="0" u="none" strike="noStrike">
                <a:solidFill>
                  <a:srgbClr val="16181A"/>
                </a:solidFill>
                <a:effectLst/>
                <a:uFillTx/>
                <a:latin typeface="Arial"/>
              </a:rPr>
              <a:t>Evasion beats the model and loses to the outcome.</a:t>
            </a:r>
            <a:endParaRPr lang="en-US" sz="1300" b="0" u="none" strike="noStrike">
              <a:solidFill>
                <a:srgbClr val="000000"/>
              </a:solidFill>
              <a:effectLst/>
              <a:uFillTx/>
              <a:latin typeface="Arial"/>
            </a:endParaRPr>
          </a:p>
          <a:p>
            <a:pPr defTabSz="457200">
              <a:lnSpc>
                <a:spcPct val="130000"/>
              </a:lnSpc>
              <a:spcAft>
                <a:spcPts val="499"/>
              </a:spcAft>
            </a:pPr>
            <a:r>
              <a:rPr lang="en-US" sz="1300" b="0" u="none" strike="noStrike">
                <a:solidFill>
                  <a:srgbClr val="16181A"/>
                </a:solidFill>
                <a:effectLst/>
                <a:uFillTx/>
                <a:latin typeface="Arial"/>
              </a:rPr>
              <a:t>Declining a third of all windows costs the predictor 4.6 points of accuracy but reduces capture risk by only 1.3%. The cause is the observation model, not the algorithm: the antagonist currently sees the player perfectly at every window, and under perfect observation standing still cannot conceal you — it only makes you a stationary target.</a:t>
            </a:r>
            <a:endParaRPr lang="en-US" sz="1300" b="0" u="none" strike="noStrike">
              <a:solidFill>
                <a:srgbClr val="000000"/>
              </a:solidFill>
              <a:effectLst/>
              <a:uFillTx/>
              <a:latin typeface="Arial"/>
            </a:endParaRPr>
          </a:p>
          <a:p>
            <a:pPr defTabSz="457200">
              <a:lnSpc>
                <a:spcPct val="130000"/>
              </a:lnSpc>
              <a:spcAft>
                <a:spcPts val="499"/>
              </a:spcAft>
            </a:pPr>
            <a:r>
              <a:rPr lang="en-US" sz="1300" b="0" u="none" strike="noStrike">
                <a:solidFill>
                  <a:srgbClr val="16181A"/>
                </a:solidFill>
                <a:effectLst/>
                <a:uFillTx/>
                <a:latin typeface="Arial"/>
              </a:rPr>
              <a:t>Next iteration: sense the player through motion detectors on the doors instead of omniscience, turning this into a partially-observed prediction problem. This experiment is what identified that.</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CFB"/>
        </a:solidFill>
      </p:bgPr>
    </p:bg>
    <p:spTree>
      <p:nvGrpSpPr>
        <p:cNvPr id="1" name=""/>
        <p:cNvGrpSpPr/>
        <p:nvPr/>
      </p:nvGrpSpPr>
      <p:grpSpPr>
        <a:xfrm>
          <a:off x="0" y="0"/>
          <a:ext cx="0" cy="0"/>
          <a:chOff x="0" y="0"/>
          <a:chExt cx="0" cy="0"/>
        </a:xfrm>
      </p:grpSpPr>
      <p:sp>
        <p:nvSpPr>
          <p:cNvPr id="186" name="TextBox 1"/>
          <p:cNvSpPr/>
          <p:nvPr/>
        </p:nvSpPr>
        <p:spPr>
          <a:xfrm>
            <a:off x="658440" y="420480"/>
            <a:ext cx="10880640" cy="273600"/>
          </a:xfrm>
          <a:prstGeom prst="rect">
            <a:avLst/>
          </a:prstGeom>
          <a:noFill/>
          <a:ln w="0">
            <a:noFill/>
          </a:ln>
        </p:spPr>
        <p:style>
          <a:lnRef idx="0"/>
          <a:fillRef idx="0"/>
          <a:effectRef idx="0"/>
          <a:fontRef idx="minor"/>
        </p:style>
        <p:txBody>
          <a:bodyPr lIns="0" tIns="0" rIns="0" bIns="0" anchor="t">
            <a:spAutoFit/>
          </a:bodyPr>
          <a:p>
            <a:pPr defTabSz="457200">
              <a:lnSpc>
                <a:spcPct val="125000"/>
              </a:lnSpc>
              <a:spcAft>
                <a:spcPts val="601"/>
              </a:spcAft>
            </a:pPr>
            <a:r>
              <a:rPr lang="en-US" sz="1050" b="1" u="none" strike="noStrike">
                <a:solidFill>
                  <a:srgbClr val="2A78D6"/>
                </a:solidFill>
                <a:effectLst/>
                <a:uFillTx/>
                <a:latin typeface="Arial"/>
              </a:rPr>
              <a:t>21 · RESULTS — WHAT IT LEARNS ABOUT YOUR NOTEBOOK</a:t>
            </a:r>
            <a:endParaRPr lang="en-US" sz="1050" b="0" u="none" strike="noStrike">
              <a:solidFill>
                <a:srgbClr val="000000"/>
              </a:solidFill>
              <a:effectLst/>
              <a:uFillTx/>
              <a:latin typeface="Arial"/>
            </a:endParaRPr>
          </a:p>
        </p:txBody>
      </p:sp>
      <p:sp>
        <p:nvSpPr>
          <p:cNvPr id="187" name="TextBox 2"/>
          <p:cNvSpPr/>
          <p:nvPr/>
        </p:nvSpPr>
        <p:spPr>
          <a:xfrm>
            <a:off x="658440" y="749880"/>
            <a:ext cx="10880640" cy="822240"/>
          </a:xfrm>
          <a:prstGeom prst="rect">
            <a:avLst/>
          </a:prstGeom>
          <a:noFill/>
          <a:ln w="0">
            <a:noFill/>
          </a:ln>
        </p:spPr>
        <p:style>
          <a:lnRef idx="0"/>
          <a:fillRef idx="0"/>
          <a:effectRef idx="0"/>
          <a:fontRef idx="minor"/>
        </p:style>
        <p:txBody>
          <a:bodyPr lIns="0" tIns="0" rIns="0" bIns="0" anchor="t">
            <a:spAutoFit/>
          </a:bodyPr>
          <a:p>
            <a:pPr defTabSz="457200">
              <a:lnSpc>
                <a:spcPct val="125000"/>
              </a:lnSpc>
              <a:spcAft>
                <a:spcPts val="601"/>
              </a:spcAft>
            </a:pPr>
            <a:r>
              <a:rPr lang="en-US" sz="2800" b="1" u="none" strike="noStrike">
                <a:solidFill>
                  <a:srgbClr val="16181A"/>
                </a:solidFill>
                <a:effectLst/>
                <a:uFillTx/>
                <a:latin typeface="Arial"/>
              </a:rPr>
              <a:t>Dwell is behaviour, not a parameter</a:t>
            </a:r>
            <a:endParaRPr lang="en-US" sz="2800" b="0" u="none" strike="noStrike">
              <a:solidFill>
                <a:srgbClr val="000000"/>
              </a:solidFill>
              <a:effectLst/>
              <a:uFillTx/>
              <a:latin typeface="Arial"/>
            </a:endParaRPr>
          </a:p>
        </p:txBody>
      </p:sp>
      <p:sp>
        <p:nvSpPr>
          <p:cNvPr id="188" name="Rectangle 3"/>
          <p:cNvSpPr/>
          <p:nvPr/>
        </p:nvSpPr>
        <p:spPr>
          <a:xfrm>
            <a:off x="658440" y="1481400"/>
            <a:ext cx="10880640" cy="17640"/>
          </a:xfrm>
          <a:prstGeom prst="rect">
            <a:avLst/>
          </a:prstGeom>
          <a:solidFill>
            <a:srgbClr val="D8DCE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6640" rIns="90000" bIns="-26640" anchor="ctr">
            <a:noAutofit/>
          </a:bodyPr>
          <a:p>
            <a:endParaRPr lang="en-US" sz="1800" b="0" u="none" strike="noStrike">
              <a:solidFill>
                <a:schemeClr val="lt1"/>
              </a:solidFill>
              <a:effectLst/>
              <a:uFillTx/>
              <a:latin typeface="Calibri"/>
            </a:endParaRPr>
          </a:p>
        </p:txBody>
      </p:sp>
      <p:pic>
        <p:nvPicPr>
          <p:cNvPr id="189" name="Picture 4" descr="fig_dwell.png"/>
          <p:cNvPicPr/>
          <p:nvPr/>
        </p:nvPicPr>
        <p:blipFill>
          <a:blip r:embed="rId1"/>
          <a:stretch/>
        </p:blipFill>
        <p:spPr>
          <a:xfrm>
            <a:off x="2286000" y="1664280"/>
            <a:ext cx="7680240" cy="3746160"/>
          </a:xfrm>
          <a:prstGeom prst="rect">
            <a:avLst/>
          </a:prstGeom>
          <a:noFill/>
          <a:ln w="0">
            <a:noFill/>
          </a:ln>
        </p:spPr>
      </p:pic>
      <p:sp>
        <p:nvSpPr>
          <p:cNvPr id="190" name="TextBox 5"/>
          <p:cNvSpPr/>
          <p:nvPr/>
        </p:nvSpPr>
        <p:spPr>
          <a:xfrm>
            <a:off x="658440" y="5440680"/>
            <a:ext cx="10880640" cy="1142280"/>
          </a:xfrm>
          <a:prstGeom prst="rect">
            <a:avLst/>
          </a:prstGeom>
          <a:noFill/>
          <a:ln w="0">
            <a:noFill/>
          </a:ln>
        </p:spPr>
        <p:style>
          <a:lnRef idx="0"/>
          <a:fillRef idx="0"/>
          <a:effectRef idx="0"/>
          <a:fontRef idx="minor"/>
        </p:style>
        <p:txBody>
          <a:bodyPr lIns="0" tIns="0" rIns="0" bIns="0" anchor="t">
            <a:spAutoFit/>
          </a:bodyPr>
          <a:p>
            <a:pPr defTabSz="457200">
              <a:lnSpc>
                <a:spcPct val="128000"/>
              </a:lnSpc>
              <a:spcAft>
                <a:spcPts val="601"/>
              </a:spcAft>
            </a:pPr>
            <a:r>
              <a:rPr lang="en-US" sz="1200" b="0" u="none" strike="noStrike">
                <a:solidFill>
                  <a:srgbClr val="6B7178"/>
                </a:solidFill>
                <a:effectLst/>
                <a:uFillTx/>
                <a:latin typeface="Arial"/>
              </a:rPr>
              <a:t>How long you linger is one of the most individual things you do — and it is the actionable signal: 'they will be in room D for three more windows' tells the antagonist how long it has to walk there. A 16-point lift over the majority class. It is never wrong in rooms with nothing to record, and right two thirds of the time where a codebook is — the uncertainty sits exactly where the real variation is. An explicit dwell model adds nothing (-2.0%): once staying is a legal action, the sequence model already represents it.</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CFB"/>
        </a:solidFill>
      </p:bgPr>
    </p:bg>
    <p:spTree>
      <p:nvGrpSpPr>
        <p:cNvPr id="1" name=""/>
        <p:cNvGrpSpPr/>
        <p:nvPr/>
      </p:nvGrpSpPr>
      <p:grpSpPr>
        <a:xfrm>
          <a:off x="0" y="0"/>
          <a:ext cx="0" cy="0"/>
          <a:chOff x="0" y="0"/>
          <a:chExt cx="0" cy="0"/>
        </a:xfrm>
      </p:grpSpPr>
      <p:sp>
        <p:nvSpPr>
          <p:cNvPr id="191" name="TextBox 1"/>
          <p:cNvSpPr/>
          <p:nvPr/>
        </p:nvSpPr>
        <p:spPr>
          <a:xfrm>
            <a:off x="658440" y="420480"/>
            <a:ext cx="10880640" cy="273600"/>
          </a:xfrm>
          <a:prstGeom prst="rect">
            <a:avLst/>
          </a:prstGeom>
          <a:noFill/>
          <a:ln w="0">
            <a:noFill/>
          </a:ln>
        </p:spPr>
        <p:style>
          <a:lnRef idx="0"/>
          <a:fillRef idx="0"/>
          <a:effectRef idx="0"/>
          <a:fontRef idx="minor"/>
        </p:style>
        <p:txBody>
          <a:bodyPr lIns="0" tIns="0" rIns="0" bIns="0" anchor="t">
            <a:spAutoFit/>
          </a:bodyPr>
          <a:p>
            <a:pPr defTabSz="457200">
              <a:lnSpc>
                <a:spcPct val="125000"/>
              </a:lnSpc>
              <a:spcAft>
                <a:spcPts val="601"/>
              </a:spcAft>
            </a:pPr>
            <a:r>
              <a:rPr lang="en-US" sz="1050" b="1" u="none" strike="noStrike">
                <a:solidFill>
                  <a:srgbClr val="2A78D6"/>
                </a:solidFill>
                <a:effectLst/>
                <a:uFillTx/>
                <a:latin typeface="Arial"/>
              </a:rPr>
              <a:t>22 · VERIFICATION</a:t>
            </a:r>
            <a:endParaRPr lang="en-US" sz="1050" b="0" u="none" strike="noStrike">
              <a:solidFill>
                <a:srgbClr val="000000"/>
              </a:solidFill>
              <a:effectLst/>
              <a:uFillTx/>
              <a:latin typeface="Arial"/>
            </a:endParaRPr>
          </a:p>
        </p:txBody>
      </p:sp>
      <p:sp>
        <p:nvSpPr>
          <p:cNvPr id="192" name="TextBox 2"/>
          <p:cNvSpPr/>
          <p:nvPr/>
        </p:nvSpPr>
        <p:spPr>
          <a:xfrm>
            <a:off x="658440" y="749880"/>
            <a:ext cx="10880640" cy="822240"/>
          </a:xfrm>
          <a:prstGeom prst="rect">
            <a:avLst/>
          </a:prstGeom>
          <a:noFill/>
          <a:ln w="0">
            <a:noFill/>
          </a:ln>
        </p:spPr>
        <p:style>
          <a:lnRef idx="0"/>
          <a:fillRef idx="0"/>
          <a:effectRef idx="0"/>
          <a:fontRef idx="minor"/>
        </p:style>
        <p:txBody>
          <a:bodyPr lIns="0" tIns="0" rIns="0" bIns="0" anchor="t">
            <a:spAutoFit/>
          </a:bodyPr>
          <a:p>
            <a:pPr defTabSz="457200">
              <a:lnSpc>
                <a:spcPct val="125000"/>
              </a:lnSpc>
              <a:spcAft>
                <a:spcPts val="601"/>
              </a:spcAft>
            </a:pPr>
            <a:r>
              <a:rPr lang="en-US" sz="2800" b="1" u="none" strike="noStrike">
                <a:solidFill>
                  <a:srgbClr val="16181A"/>
                </a:solidFill>
                <a:effectLst/>
                <a:uFillTx/>
                <a:latin typeface="Arial"/>
              </a:rPr>
              <a:t>Nine invariants, asserted over 25 generated facilities</a:t>
            </a:r>
            <a:endParaRPr lang="en-US" sz="2800" b="0" u="none" strike="noStrike">
              <a:solidFill>
                <a:srgbClr val="000000"/>
              </a:solidFill>
              <a:effectLst/>
              <a:uFillTx/>
              <a:latin typeface="Arial"/>
            </a:endParaRPr>
          </a:p>
        </p:txBody>
      </p:sp>
      <p:sp>
        <p:nvSpPr>
          <p:cNvPr id="193" name="Rectangle 3"/>
          <p:cNvSpPr/>
          <p:nvPr/>
        </p:nvSpPr>
        <p:spPr>
          <a:xfrm>
            <a:off x="658440" y="1481400"/>
            <a:ext cx="10880640" cy="17640"/>
          </a:xfrm>
          <a:prstGeom prst="rect">
            <a:avLst/>
          </a:prstGeom>
          <a:solidFill>
            <a:srgbClr val="D8DCE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6640" rIns="90000" bIns="-26640" anchor="ctr">
            <a:noAutofit/>
          </a:bodyPr>
          <a:p>
            <a:endParaRPr lang="en-US" sz="1800" b="0" u="none" strike="noStrike">
              <a:solidFill>
                <a:schemeClr val="lt1"/>
              </a:solidFill>
              <a:effectLst/>
              <a:uFillTx/>
              <a:latin typeface="Calibri"/>
            </a:endParaRPr>
          </a:p>
        </p:txBody>
      </p:sp>
      <p:graphicFrame>
        <p:nvGraphicFramePr>
          <p:cNvPr id="194" name="Table 4"/>
          <p:cNvGraphicFramePr/>
          <p:nvPr/>
        </p:nvGraphicFramePr>
        <p:xfrm>
          <a:off x="658440" y="1783080"/>
          <a:ext cx="10881000" cy="3837600"/>
        </p:xfrm>
        <a:graphic>
          <a:graphicData uri="http://schemas.openxmlformats.org/drawingml/2006/table">
            <a:tbl>
              <a:tblPr/>
              <a:tblGrid>
                <a:gridCol w="5852160"/>
                <a:gridCol w="5029200"/>
              </a:tblGrid>
              <a:tr h="383760">
                <a:tc>
                  <a:txBody>
                    <a:bodyPr lIns="73080" tIns="36360" rIns="73080" bIns="36360" anchor="t">
                      <a:noAutofit/>
                    </a:bodyPr>
                    <a:p>
                      <a:pPr defTabSz="457200">
                        <a:lnSpc>
                          <a:spcPct val="115000"/>
                        </a:lnSpc>
                      </a:pPr>
                      <a:r>
                        <a:rPr lang="en-US" sz="900" b="1" u="none" strike="noStrike">
                          <a:solidFill>
                            <a:srgbClr val="6B7178"/>
                          </a:solidFill>
                          <a:effectLst/>
                          <a:uFillTx/>
                          <a:latin typeface="Arial"/>
                        </a:rPr>
                        <a:t>Invariant</a:t>
                      </a:r>
                      <a:endParaRPr lang="en-US" sz="9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4F6F8"/>
                    </a:solidFill>
                  </a:tcPr>
                </a:tc>
                <a:tc>
                  <a:txBody>
                    <a:bodyPr lIns="73080" tIns="36360" rIns="73080" bIns="36360" anchor="t">
                      <a:noAutofit/>
                    </a:bodyPr>
                    <a:p>
                      <a:pPr defTabSz="457200">
                        <a:lnSpc>
                          <a:spcPct val="115000"/>
                        </a:lnSpc>
                      </a:pPr>
                      <a:r>
                        <a:rPr lang="en-US" sz="900" b="1" u="none" strike="noStrike">
                          <a:solidFill>
                            <a:srgbClr val="6B7178"/>
                          </a:solidFill>
                          <a:effectLst/>
                          <a:uFillTx/>
                          <a:latin typeface="Arial"/>
                        </a:rPr>
                        <a:t>Guards against</a:t>
                      </a:r>
                      <a:endParaRPr lang="en-US" sz="90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4F6F8"/>
                    </a:solidFill>
                  </a:tcPr>
                </a:tc>
              </a:tr>
              <a:tr h="383760">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Facility connected on construction</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Unplayable generated levels</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seal_door never disconnects</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The Director cutting the map in half</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rewire never disconnects</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The same, via door relocation</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Uplink reachable from every room after mutation</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Soft-locked, unwinnable runs</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Bots only move to adjacent rooms</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Silent teleportation corrupting telemetry</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Predictor output is a proper distribution</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Malformed probabilities</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VOMM approximates uniform on a random player</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Leakage in the evaluation</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Director never mutates a visible room</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Fairness rule 1</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Director never edits below its confidence gate</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Fairness rule 2</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bl>
          </a:graphicData>
        </a:graphic>
      </p:graphicFrame>
      <p:sp>
        <p:nvSpPr>
          <p:cNvPr id="195" name="TextBox 5"/>
          <p:cNvSpPr/>
          <p:nvPr/>
        </p:nvSpPr>
        <p:spPr>
          <a:xfrm>
            <a:off x="658440" y="5806440"/>
            <a:ext cx="10880640" cy="456480"/>
          </a:xfrm>
          <a:prstGeom prst="rect">
            <a:avLst/>
          </a:prstGeom>
          <a:noFill/>
          <a:ln w="0">
            <a:noFill/>
          </a:ln>
        </p:spPr>
        <p:style>
          <a:lnRef idx="0"/>
          <a:fillRef idx="0"/>
          <a:effectRef idx="0"/>
          <a:fontRef idx="minor"/>
        </p:style>
        <p:txBody>
          <a:bodyPr lIns="0" tIns="0" rIns="0" bIns="0" anchor="t">
            <a:spAutoFit/>
          </a:bodyPr>
          <a:p>
            <a:pPr defTabSz="457200">
              <a:lnSpc>
                <a:spcPct val="125000"/>
              </a:lnSpc>
              <a:spcAft>
                <a:spcPts val="601"/>
              </a:spcAft>
            </a:pPr>
            <a:r>
              <a:rPr lang="en-US" sz="1400" b="1" u="none" strike="noStrike">
                <a:solidFill>
                  <a:srgbClr val="1BAF7A"/>
                </a:solidFill>
                <a:effectLst/>
                <a:uFillTx/>
                <a:latin typeface="Arial"/>
              </a:rPr>
              <a:t>9 / 9 passing  ·  python3 model/test_invariants.py</a:t>
            </a:r>
            <a:endParaRPr lang="en-US" sz="1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CFB"/>
        </a:solidFill>
      </p:bgPr>
    </p:bg>
    <p:spTree>
      <p:nvGrpSpPr>
        <p:cNvPr id="1" name=""/>
        <p:cNvGrpSpPr/>
        <p:nvPr/>
      </p:nvGrpSpPr>
      <p:grpSpPr>
        <a:xfrm>
          <a:off x="0" y="0"/>
          <a:ext cx="0" cy="0"/>
          <a:chOff x="0" y="0"/>
          <a:chExt cx="0" cy="0"/>
        </a:xfrm>
      </p:grpSpPr>
      <p:sp>
        <p:nvSpPr>
          <p:cNvPr id="196" name="TextBox 1"/>
          <p:cNvSpPr/>
          <p:nvPr/>
        </p:nvSpPr>
        <p:spPr>
          <a:xfrm>
            <a:off x="658440" y="420480"/>
            <a:ext cx="10880640" cy="273600"/>
          </a:xfrm>
          <a:prstGeom prst="rect">
            <a:avLst/>
          </a:prstGeom>
          <a:noFill/>
          <a:ln w="0">
            <a:noFill/>
          </a:ln>
        </p:spPr>
        <p:style>
          <a:lnRef idx="0"/>
          <a:fillRef idx="0"/>
          <a:effectRef idx="0"/>
          <a:fontRef idx="minor"/>
        </p:style>
        <p:txBody>
          <a:bodyPr lIns="0" tIns="0" rIns="0" bIns="0" anchor="t">
            <a:spAutoFit/>
          </a:bodyPr>
          <a:p>
            <a:pPr defTabSz="457200">
              <a:lnSpc>
                <a:spcPct val="125000"/>
              </a:lnSpc>
              <a:spcAft>
                <a:spcPts val="601"/>
              </a:spcAft>
            </a:pPr>
            <a:r>
              <a:rPr lang="en-US" sz="1050" b="1" u="none" strike="noStrike">
                <a:solidFill>
                  <a:srgbClr val="2A78D6"/>
                </a:solidFill>
                <a:effectLst/>
                <a:uFillTx/>
                <a:latin typeface="Arial"/>
              </a:rPr>
              <a:t>23 · LIVE DEMONSTRATION</a:t>
            </a:r>
            <a:endParaRPr lang="en-US" sz="1050" b="0" u="none" strike="noStrike">
              <a:solidFill>
                <a:srgbClr val="000000"/>
              </a:solidFill>
              <a:effectLst/>
              <a:uFillTx/>
              <a:latin typeface="Arial"/>
            </a:endParaRPr>
          </a:p>
        </p:txBody>
      </p:sp>
      <p:sp>
        <p:nvSpPr>
          <p:cNvPr id="197" name="TextBox 2"/>
          <p:cNvSpPr/>
          <p:nvPr/>
        </p:nvSpPr>
        <p:spPr>
          <a:xfrm>
            <a:off x="658440" y="749880"/>
            <a:ext cx="10880640" cy="822240"/>
          </a:xfrm>
          <a:prstGeom prst="rect">
            <a:avLst/>
          </a:prstGeom>
          <a:noFill/>
          <a:ln w="0">
            <a:noFill/>
          </a:ln>
        </p:spPr>
        <p:style>
          <a:lnRef idx="0"/>
          <a:fillRef idx="0"/>
          <a:effectRef idx="0"/>
          <a:fontRef idx="minor"/>
        </p:style>
        <p:txBody>
          <a:bodyPr lIns="0" tIns="0" rIns="0" bIns="0" anchor="t">
            <a:spAutoFit/>
          </a:bodyPr>
          <a:p>
            <a:pPr defTabSz="457200">
              <a:lnSpc>
                <a:spcPct val="125000"/>
              </a:lnSpc>
              <a:spcAft>
                <a:spcPts val="601"/>
              </a:spcAft>
            </a:pPr>
            <a:r>
              <a:rPr lang="en-US" sz="2800" b="1" u="none" strike="noStrike">
                <a:solidFill>
                  <a:srgbClr val="16181A"/>
                </a:solidFill>
                <a:effectLst/>
                <a:uFillTx/>
                <a:latin typeface="Arial"/>
              </a:rPr>
              <a:t>The full loop, running</a:t>
            </a:r>
            <a:endParaRPr lang="en-US" sz="2800" b="0" u="none" strike="noStrike">
              <a:solidFill>
                <a:srgbClr val="000000"/>
              </a:solidFill>
              <a:effectLst/>
              <a:uFillTx/>
              <a:latin typeface="Arial"/>
            </a:endParaRPr>
          </a:p>
        </p:txBody>
      </p:sp>
      <p:sp>
        <p:nvSpPr>
          <p:cNvPr id="198" name="Rectangle 3"/>
          <p:cNvSpPr/>
          <p:nvPr/>
        </p:nvSpPr>
        <p:spPr>
          <a:xfrm>
            <a:off x="658440" y="1481400"/>
            <a:ext cx="10880640" cy="17640"/>
          </a:xfrm>
          <a:prstGeom prst="rect">
            <a:avLst/>
          </a:prstGeom>
          <a:solidFill>
            <a:srgbClr val="D8DCE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6640" rIns="90000" bIns="-26640" anchor="ctr">
            <a:noAutofit/>
          </a:bodyPr>
          <a:p>
            <a:endParaRPr lang="en-US" sz="1800" b="0" u="none" strike="noStrike">
              <a:solidFill>
                <a:schemeClr val="lt1"/>
              </a:solidFill>
              <a:effectLst/>
              <a:uFillTx/>
              <a:latin typeface="Calibri"/>
            </a:endParaRPr>
          </a:p>
        </p:txBody>
      </p:sp>
      <p:sp>
        <p:nvSpPr>
          <p:cNvPr id="199" name="TextBox 4"/>
          <p:cNvSpPr/>
          <p:nvPr/>
        </p:nvSpPr>
        <p:spPr>
          <a:xfrm>
            <a:off x="658440" y="1783080"/>
            <a:ext cx="10880640" cy="4479840"/>
          </a:xfrm>
          <a:prstGeom prst="rect">
            <a:avLst/>
          </a:prstGeom>
          <a:noFill/>
          <a:ln w="0">
            <a:noFill/>
          </a:ln>
        </p:spPr>
        <p:style>
          <a:lnRef idx="0"/>
          <a:fillRef idx="0"/>
          <a:effectRef idx="0"/>
          <a:fontRef idx="minor"/>
        </p:style>
        <p:txBody>
          <a:bodyPr lIns="0" tIns="0" rIns="0" bIns="0" anchor="t">
            <a:spAutoFit/>
          </a:bodyPr>
          <a:p>
            <a:pPr defTabSz="457200">
              <a:lnSpc>
                <a:spcPct val="130000"/>
              </a:lnSpc>
              <a:spcAft>
                <a:spcPts val="1301"/>
              </a:spcAft>
            </a:pPr>
            <a:r>
              <a:rPr lang="en-US" sz="1500" b="1" u="none" strike="noStrike">
                <a:solidFill>
                  <a:srgbClr val="16181A"/>
                </a:solidFill>
                <a:effectLst/>
                <a:uFillTx/>
                <a:latin typeface="Arial"/>
              </a:rPr>
              <a:t>Room graph —  </a:t>
            </a:r>
            <a:r>
              <a:rPr lang="en-US" sz="1500" b="0" u="none" strike="noStrike">
                <a:solidFill>
                  <a:srgbClr val="6B7178"/>
                </a:solidFill>
                <a:effectLst/>
                <a:uFillTx/>
                <a:latin typeface="Arial"/>
              </a:rPr>
              <a:t>live per-room predicted probabilities drawn on the facility.</a:t>
            </a:r>
            <a:endParaRPr lang="en-US" sz="1500" b="0" u="none" strike="noStrike">
              <a:solidFill>
                <a:srgbClr val="000000"/>
              </a:solidFill>
              <a:effectLst/>
              <a:uFillTx/>
              <a:latin typeface="Arial"/>
            </a:endParaRPr>
          </a:p>
          <a:p>
            <a:pPr defTabSz="457200">
              <a:lnSpc>
                <a:spcPct val="130000"/>
              </a:lnSpc>
              <a:spcAft>
                <a:spcPts val="1301"/>
              </a:spcAft>
            </a:pPr>
            <a:r>
              <a:rPr lang="en-US" sz="1500" b="1" u="none" strike="noStrike">
                <a:solidFill>
                  <a:srgbClr val="16181A"/>
                </a:solidFill>
                <a:effectLst/>
                <a:uFillTx/>
                <a:latin typeface="Arial"/>
              </a:rPr>
              <a:t>Entity —  </a:t>
            </a:r>
            <a:r>
              <a:rPr lang="en-US" sz="1500" b="0" u="none" strike="noStrike">
                <a:solidFill>
                  <a:srgbClr val="6B7178"/>
                </a:solidFill>
                <a:effectLst/>
                <a:uFillTx/>
                <a:latin typeface="Arial"/>
              </a:rPr>
              <a:t>moves to intercept where the model points, gated on confidence.</a:t>
            </a:r>
            <a:endParaRPr lang="en-US" sz="1500" b="0" u="none" strike="noStrike">
              <a:solidFill>
                <a:srgbClr val="000000"/>
              </a:solidFill>
              <a:effectLst/>
              <a:uFillTx/>
              <a:latin typeface="Arial"/>
            </a:endParaRPr>
          </a:p>
          <a:p>
            <a:pPr defTabSz="457200">
              <a:lnSpc>
                <a:spcPct val="130000"/>
              </a:lnSpc>
              <a:spcAft>
                <a:spcPts val="1301"/>
              </a:spcAft>
            </a:pPr>
            <a:r>
              <a:rPr lang="en-US" sz="1500" b="1" u="none" strike="noStrike">
                <a:solidFill>
                  <a:srgbClr val="16181A"/>
                </a:solidFill>
                <a:effectLst/>
                <a:uFillTx/>
                <a:latin typeface="Arial"/>
              </a:rPr>
              <a:t>Codebooks and notebook —  </a:t>
            </a:r>
            <a:r>
              <a:rPr lang="en-US" sz="1500" b="0" u="none" strike="noStrike">
                <a:solidFill>
                  <a:srgbClr val="6B7178"/>
                </a:solidFill>
                <a:effectLst/>
                <a:uFillTx/>
                <a:latin typeface="Arial"/>
              </a:rPr>
              <a:t>record entries; the Director silently poisons what you rely on.</a:t>
            </a:r>
            <a:endParaRPr lang="en-US" sz="1500" b="0" u="none" strike="noStrike">
              <a:solidFill>
                <a:srgbClr val="000000"/>
              </a:solidFill>
              <a:effectLst/>
              <a:uFillTx/>
              <a:latin typeface="Arial"/>
            </a:endParaRPr>
          </a:p>
          <a:p>
            <a:pPr defTabSz="457200">
              <a:lnSpc>
                <a:spcPct val="130000"/>
              </a:lnSpc>
              <a:spcAft>
                <a:spcPts val="1301"/>
              </a:spcAft>
            </a:pPr>
            <a:r>
              <a:rPr lang="en-US" sz="1500" b="1" u="none" strike="noStrike">
                <a:solidFill>
                  <a:srgbClr val="16181A"/>
                </a:solidFill>
                <a:effectLst/>
                <a:uFillTx/>
                <a:latin typeface="Arial"/>
              </a:rPr>
              <a:t>All four counter-moves —  </a:t>
            </a:r>
            <a:r>
              <a:rPr lang="en-US" sz="1500" b="0" u="none" strike="noStrike">
                <a:solidFill>
                  <a:srgbClr val="6B7178"/>
                </a:solidFill>
                <a:effectLst/>
                <a:uFillTx/>
                <a:latin typeface="Arial"/>
              </a:rPr>
              <a:t>intercept, seal, rewire and poison, with a live counter for each.</a:t>
            </a:r>
            <a:endParaRPr lang="en-US" sz="1500" b="0" u="none" strike="noStrike">
              <a:solidFill>
                <a:srgbClr val="000000"/>
              </a:solidFill>
              <a:effectLst/>
              <a:uFillTx/>
              <a:latin typeface="Arial"/>
            </a:endParaRPr>
          </a:p>
          <a:p>
            <a:pPr defTabSz="457200">
              <a:lnSpc>
                <a:spcPct val="130000"/>
              </a:lnSpc>
              <a:spcAft>
                <a:spcPts val="1301"/>
              </a:spcAft>
            </a:pPr>
            <a:r>
              <a:rPr lang="en-US" sz="1500" b="1" u="none" strike="noStrike">
                <a:solidFill>
                  <a:srgbClr val="16181A"/>
                </a:solidFill>
                <a:effectLst/>
                <a:uFillTx/>
                <a:latin typeface="Arial"/>
              </a:rPr>
              <a:t>Hold position —  </a:t>
            </a:r>
            <a:r>
              <a:rPr lang="en-US" sz="1500" b="0" u="none" strike="noStrike">
                <a:solidFill>
                  <a:srgbClr val="6B7178"/>
                </a:solidFill>
                <a:effectLst/>
                <a:uFillTx/>
                <a:latin typeface="Arial"/>
              </a:rPr>
              <a:t>decline the window and stay put, exactly as the model expects you might.</a:t>
            </a:r>
            <a:endParaRPr lang="en-US" sz="1500" b="0" u="none" strike="noStrike">
              <a:solidFill>
                <a:srgbClr val="000000"/>
              </a:solidFill>
              <a:effectLst/>
              <a:uFillTx/>
              <a:latin typeface="Arial"/>
            </a:endParaRPr>
          </a:p>
          <a:p>
            <a:pPr defTabSz="457200">
              <a:lnSpc>
                <a:spcPct val="130000"/>
              </a:lnSpc>
              <a:spcAft>
                <a:spcPts val="1301"/>
              </a:spcAft>
            </a:pPr>
            <a:r>
              <a:rPr lang="en-US" sz="1500" b="1" u="none" strike="noStrike">
                <a:solidFill>
                  <a:srgbClr val="16181A"/>
                </a:solidFill>
                <a:effectLst/>
                <a:uFillTx/>
                <a:latin typeface="Arial"/>
              </a:rPr>
              <a:t>Live scoreboard —  </a:t>
            </a:r>
            <a:r>
              <a:rPr lang="en-US" sz="1500" b="0" u="none" strike="noStrike">
                <a:solidFill>
                  <a:srgbClr val="6B7178"/>
                </a:solidFill>
                <a:effectLst/>
                <a:uFillTx/>
                <a:latin typeface="Arial"/>
              </a:rPr>
              <a:t>running VOMM accuracy against a no-model control, side by side.</a:t>
            </a:r>
            <a:endParaRPr lang="en-US" sz="1500" b="0" u="none" strike="noStrike">
              <a:solidFill>
                <a:srgbClr val="000000"/>
              </a:solidFill>
              <a:effectLst/>
              <a:uFillTx/>
              <a:latin typeface="Arial"/>
            </a:endParaRPr>
          </a:p>
          <a:p>
            <a:pPr defTabSz="457200">
              <a:lnSpc>
                <a:spcPct val="130000"/>
              </a:lnSpc>
              <a:spcAft>
                <a:spcPts val="1301"/>
              </a:spcAft>
            </a:pPr>
            <a:r>
              <a:rPr lang="en-US" sz="1500" b="1" u="none" strike="noStrike">
                <a:solidFill>
                  <a:srgbClr val="16181A"/>
                </a:solidFill>
                <a:effectLst/>
                <a:uFillTx/>
                <a:latin typeface="Arial"/>
              </a:rPr>
              <a:t>Learned-rule readout —  </a:t>
            </a:r>
            <a:r>
              <a:rPr lang="en-US" sz="1500" b="0" u="none" strike="noStrike">
                <a:solidFill>
                  <a:srgbClr val="6B7178"/>
                </a:solidFill>
                <a:effectLst/>
                <a:uFillTx/>
                <a:latin typeface="Arial"/>
              </a:rPr>
              <a:t>in plain language: 'from E you go to B, 100% of the time, 13 observations'.</a:t>
            </a:r>
            <a:endParaRPr lang="en-US" sz="1500" b="0" u="none" strike="noStrike">
              <a:solidFill>
                <a:srgbClr val="000000"/>
              </a:solidFill>
              <a:effectLst/>
              <a:uFillTx/>
              <a:latin typeface="Arial"/>
            </a:endParaRPr>
          </a:p>
        </p:txBody>
      </p:sp>
      <p:sp>
        <p:nvSpPr>
          <p:cNvPr id="200" name="Rectangle 5"/>
          <p:cNvSpPr/>
          <p:nvPr/>
        </p:nvSpPr>
        <p:spPr>
          <a:xfrm>
            <a:off x="658440" y="4572000"/>
            <a:ext cx="10880640" cy="1370880"/>
          </a:xfrm>
          <a:prstGeom prst="rect">
            <a:avLst/>
          </a:prstGeom>
          <a:solidFill>
            <a:srgbClr val="F1F6FC"/>
          </a:solidFill>
          <a:ln w="12700">
            <a:solidFill>
              <a:srgbClr val="2A78D6"/>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01" name="TextBox 6"/>
          <p:cNvSpPr/>
          <p:nvPr/>
        </p:nvSpPr>
        <p:spPr>
          <a:xfrm>
            <a:off x="960120" y="4791600"/>
            <a:ext cx="10332000" cy="1005120"/>
          </a:xfrm>
          <a:prstGeom prst="rect">
            <a:avLst/>
          </a:prstGeom>
          <a:noFill/>
          <a:ln w="0">
            <a:noFill/>
          </a:ln>
        </p:spPr>
        <p:style>
          <a:lnRef idx="0"/>
          <a:fillRef idx="0"/>
          <a:effectRef idx="0"/>
          <a:fontRef idx="minor"/>
        </p:style>
        <p:txBody>
          <a:bodyPr lIns="0" tIns="0" rIns="0" bIns="0" anchor="t">
            <a:spAutoFit/>
          </a:bodyPr>
          <a:p>
            <a:pPr defTabSz="457200">
              <a:lnSpc>
                <a:spcPct val="140000"/>
              </a:lnSpc>
              <a:spcAft>
                <a:spcPts val="400"/>
              </a:spcAft>
            </a:pPr>
            <a:r>
              <a:rPr lang="en-US" sz="1500" b="0" u="none" strike="noStrike">
                <a:solidFill>
                  <a:srgbClr val="16181A"/>
                </a:solidFill>
                <a:effectLst/>
                <a:uFillTx/>
                <a:latin typeface="Arial"/>
              </a:rPr>
              <a:t>Observed in a 102-window automated session</a:t>
            </a:r>
            <a:endParaRPr lang="en-US" sz="1500" b="0" u="none" strike="noStrike">
              <a:solidFill>
                <a:srgbClr val="000000"/>
              </a:solidFill>
              <a:effectLst/>
              <a:uFillTx/>
              <a:latin typeface="Arial"/>
            </a:endParaRPr>
          </a:p>
          <a:p>
            <a:pPr defTabSz="457200">
              <a:lnSpc>
                <a:spcPct val="140000"/>
              </a:lnSpc>
              <a:spcAft>
                <a:spcPts val="400"/>
              </a:spcAft>
            </a:pPr>
            <a:r>
              <a:rPr lang="en-US" sz="1500" b="0" u="none" strike="noStrike">
                <a:solidFill>
                  <a:srgbClr val="16181A"/>
                </a:solidFill>
                <a:effectLst/>
                <a:uFillTx/>
                <a:latin typeface="Arial"/>
              </a:rPr>
              <a:t>The player declined 32 windows (31%) to finish pages. VOMM 47% vs. no-model 36%, 22 interceptions, and 2 of 13 signals corrupted. The confidence gate is visible live: 'too unsure to intercept; hunting conventionally'.</a:t>
            </a:r>
            <a:endParaRPr lang="en-US" sz="15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CFB"/>
        </a:solidFill>
      </p:bgPr>
    </p:bg>
    <p:spTree>
      <p:nvGrpSpPr>
        <p:cNvPr id="1" name=""/>
        <p:cNvGrpSpPr/>
        <p:nvPr/>
      </p:nvGrpSpPr>
      <p:grpSpPr>
        <a:xfrm>
          <a:off x="0" y="0"/>
          <a:ext cx="0" cy="0"/>
          <a:chOff x="0" y="0"/>
          <a:chExt cx="0" cy="0"/>
        </a:xfrm>
      </p:grpSpPr>
      <p:sp>
        <p:nvSpPr>
          <p:cNvPr id="202" name="TextBox 1"/>
          <p:cNvSpPr/>
          <p:nvPr/>
        </p:nvSpPr>
        <p:spPr>
          <a:xfrm>
            <a:off x="658440" y="420480"/>
            <a:ext cx="10880640" cy="273600"/>
          </a:xfrm>
          <a:prstGeom prst="rect">
            <a:avLst/>
          </a:prstGeom>
          <a:noFill/>
          <a:ln w="0">
            <a:noFill/>
          </a:ln>
        </p:spPr>
        <p:style>
          <a:lnRef idx="0"/>
          <a:fillRef idx="0"/>
          <a:effectRef idx="0"/>
          <a:fontRef idx="minor"/>
        </p:style>
        <p:txBody>
          <a:bodyPr lIns="0" tIns="0" rIns="0" bIns="0" anchor="t">
            <a:spAutoFit/>
          </a:bodyPr>
          <a:p>
            <a:pPr defTabSz="457200">
              <a:lnSpc>
                <a:spcPct val="125000"/>
              </a:lnSpc>
              <a:spcAft>
                <a:spcPts val="601"/>
              </a:spcAft>
            </a:pPr>
            <a:r>
              <a:rPr lang="en-US" sz="1050" b="1" u="none" strike="noStrike">
                <a:solidFill>
                  <a:srgbClr val="2A78D6"/>
                </a:solidFill>
                <a:effectLst/>
                <a:uFillTx/>
                <a:latin typeface="Arial"/>
              </a:rPr>
              <a:t>24 · THE LOOK</a:t>
            </a:r>
            <a:endParaRPr lang="en-US" sz="1050" b="0" u="none" strike="noStrike">
              <a:solidFill>
                <a:srgbClr val="000000"/>
              </a:solidFill>
              <a:effectLst/>
              <a:uFillTx/>
              <a:latin typeface="Arial"/>
            </a:endParaRPr>
          </a:p>
        </p:txBody>
      </p:sp>
      <p:sp>
        <p:nvSpPr>
          <p:cNvPr id="203" name="TextBox 2"/>
          <p:cNvSpPr/>
          <p:nvPr/>
        </p:nvSpPr>
        <p:spPr>
          <a:xfrm>
            <a:off x="658440" y="749880"/>
            <a:ext cx="10880640" cy="822240"/>
          </a:xfrm>
          <a:prstGeom prst="rect">
            <a:avLst/>
          </a:prstGeom>
          <a:noFill/>
          <a:ln w="0">
            <a:noFill/>
          </a:ln>
        </p:spPr>
        <p:style>
          <a:lnRef idx="0"/>
          <a:fillRef idx="0"/>
          <a:effectRef idx="0"/>
          <a:fontRef idx="minor"/>
        </p:style>
        <p:txBody>
          <a:bodyPr lIns="0" tIns="0" rIns="0" bIns="0" anchor="t">
            <a:spAutoFit/>
          </a:bodyPr>
          <a:p>
            <a:pPr defTabSz="457200">
              <a:lnSpc>
                <a:spcPct val="125000"/>
              </a:lnSpc>
              <a:spcAft>
                <a:spcPts val="601"/>
              </a:spcAft>
            </a:pPr>
            <a:r>
              <a:rPr lang="en-US" sz="2800" b="1" u="none" strike="noStrike">
                <a:solidFill>
                  <a:srgbClr val="16181A"/>
                </a:solidFill>
                <a:effectLst/>
                <a:uFillTx/>
                <a:latin typeface="Arial"/>
              </a:rPr>
              <a:t>A walkable room study, running in the browser</a:t>
            </a:r>
            <a:endParaRPr lang="en-US" sz="2800" b="0" u="none" strike="noStrike">
              <a:solidFill>
                <a:srgbClr val="000000"/>
              </a:solidFill>
              <a:effectLst/>
              <a:uFillTx/>
              <a:latin typeface="Arial"/>
            </a:endParaRPr>
          </a:p>
        </p:txBody>
      </p:sp>
      <p:sp>
        <p:nvSpPr>
          <p:cNvPr id="204" name="Rectangle 3"/>
          <p:cNvSpPr/>
          <p:nvPr/>
        </p:nvSpPr>
        <p:spPr>
          <a:xfrm>
            <a:off x="658440" y="1481400"/>
            <a:ext cx="10880640" cy="17640"/>
          </a:xfrm>
          <a:prstGeom prst="rect">
            <a:avLst/>
          </a:prstGeom>
          <a:solidFill>
            <a:srgbClr val="D8DCE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6640" rIns="90000" bIns="-26640" anchor="ctr">
            <a:noAutofit/>
          </a:bodyPr>
          <a:p>
            <a:endParaRPr lang="en-US" sz="1800" b="0" u="none" strike="noStrike">
              <a:solidFill>
                <a:schemeClr val="lt1"/>
              </a:solidFill>
              <a:effectLst/>
              <a:uFillTx/>
              <a:latin typeface="Calibri"/>
            </a:endParaRPr>
          </a:p>
        </p:txBody>
      </p:sp>
      <p:pic>
        <p:nvPicPr>
          <p:cNvPr id="205" name="Picture 4" descr="fig_room.png"/>
          <p:cNvPicPr/>
          <p:nvPr/>
        </p:nvPicPr>
        <p:blipFill>
          <a:blip r:embed="rId1"/>
          <a:stretch/>
        </p:blipFill>
        <p:spPr>
          <a:xfrm>
            <a:off x="2606040" y="1691640"/>
            <a:ext cx="7040160" cy="3959640"/>
          </a:xfrm>
          <a:prstGeom prst="rect">
            <a:avLst/>
          </a:prstGeom>
          <a:noFill/>
          <a:ln w="0">
            <a:noFill/>
          </a:ln>
        </p:spPr>
      </p:pic>
      <p:sp>
        <p:nvSpPr>
          <p:cNvPr id="206" name="TextBox 5"/>
          <p:cNvSpPr/>
          <p:nvPr/>
        </p:nvSpPr>
        <p:spPr>
          <a:xfrm>
            <a:off x="658440" y="5623560"/>
            <a:ext cx="10880640" cy="959400"/>
          </a:xfrm>
          <a:prstGeom prst="rect">
            <a:avLst/>
          </a:prstGeom>
          <a:noFill/>
          <a:ln w="0">
            <a:noFill/>
          </a:ln>
        </p:spPr>
        <p:style>
          <a:lnRef idx="0"/>
          <a:fillRef idx="0"/>
          <a:effectRef idx="0"/>
          <a:fontRef idx="minor"/>
        </p:style>
        <p:txBody>
          <a:bodyPr lIns="0" tIns="0" rIns="0" bIns="0" anchor="t">
            <a:spAutoFit/>
          </a:bodyPr>
          <a:p>
            <a:pPr defTabSz="457200">
              <a:lnSpc>
                <a:spcPct val="130000"/>
              </a:lnSpc>
              <a:spcAft>
                <a:spcPts val="601"/>
              </a:spcAft>
            </a:pPr>
            <a:r>
              <a:rPr lang="en-US" sz="1250" b="0" u="none" strike="noStrike">
                <a:solidFill>
                  <a:srgbClr val="6B7178"/>
                </a:solidFill>
                <a:effectLst/>
                <a:uFillTx/>
                <a:latin typeface="Arial"/>
              </a:rPr>
              <a:t>Three hexagonal cells built from the same room graph the model plays on — low-poly concrete, a single handheld light, heavy fog, and a retro pass (420x236 internal resolution, ordered dither, colour quantisation, vignette). Hand-written WebGL, no engine and no libraries, so it runs offline in any browser. This is the art-direction target for M3, not the game.</a:t>
            </a:r>
            <a:endParaRPr lang="en-US" sz="12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CFB"/>
        </a:solidFill>
      </p:bgPr>
    </p:bg>
    <p:spTree>
      <p:nvGrpSpPr>
        <p:cNvPr id="1" name=""/>
        <p:cNvGrpSpPr/>
        <p:nvPr/>
      </p:nvGrpSpPr>
      <p:grpSpPr>
        <a:xfrm>
          <a:off x="0" y="0"/>
          <a:ext cx="0" cy="0"/>
          <a:chOff x="0" y="0"/>
          <a:chExt cx="0" cy="0"/>
        </a:xfrm>
      </p:grpSpPr>
      <p:sp>
        <p:nvSpPr>
          <p:cNvPr id="207" name="TextBox 1"/>
          <p:cNvSpPr/>
          <p:nvPr/>
        </p:nvSpPr>
        <p:spPr>
          <a:xfrm>
            <a:off x="658440" y="420480"/>
            <a:ext cx="10880640" cy="273600"/>
          </a:xfrm>
          <a:prstGeom prst="rect">
            <a:avLst/>
          </a:prstGeom>
          <a:noFill/>
          <a:ln w="0">
            <a:noFill/>
          </a:ln>
        </p:spPr>
        <p:style>
          <a:lnRef idx="0"/>
          <a:fillRef idx="0"/>
          <a:effectRef idx="0"/>
          <a:fontRef idx="minor"/>
        </p:style>
        <p:txBody>
          <a:bodyPr lIns="0" tIns="0" rIns="0" bIns="0" anchor="t">
            <a:spAutoFit/>
          </a:bodyPr>
          <a:p>
            <a:pPr defTabSz="457200">
              <a:lnSpc>
                <a:spcPct val="125000"/>
              </a:lnSpc>
              <a:spcAft>
                <a:spcPts val="601"/>
              </a:spcAft>
            </a:pPr>
            <a:r>
              <a:rPr lang="en-US" sz="1050" b="1" u="none" strike="noStrike">
                <a:solidFill>
                  <a:srgbClr val="2A78D6"/>
                </a:solidFill>
                <a:effectLst/>
                <a:uFillTx/>
                <a:latin typeface="Arial"/>
              </a:rPr>
              <a:t>25 · ROADMAP</a:t>
            </a:r>
            <a:endParaRPr lang="en-US" sz="1050" b="0" u="none" strike="noStrike">
              <a:solidFill>
                <a:srgbClr val="000000"/>
              </a:solidFill>
              <a:effectLst/>
              <a:uFillTx/>
              <a:latin typeface="Arial"/>
            </a:endParaRPr>
          </a:p>
        </p:txBody>
      </p:sp>
      <p:sp>
        <p:nvSpPr>
          <p:cNvPr id="208" name="TextBox 2"/>
          <p:cNvSpPr/>
          <p:nvPr/>
        </p:nvSpPr>
        <p:spPr>
          <a:xfrm>
            <a:off x="658440" y="749880"/>
            <a:ext cx="10880640" cy="822240"/>
          </a:xfrm>
          <a:prstGeom prst="rect">
            <a:avLst/>
          </a:prstGeom>
          <a:noFill/>
          <a:ln w="0">
            <a:noFill/>
          </a:ln>
        </p:spPr>
        <p:style>
          <a:lnRef idx="0"/>
          <a:fillRef idx="0"/>
          <a:effectRef idx="0"/>
          <a:fontRef idx="minor"/>
        </p:style>
        <p:txBody>
          <a:bodyPr lIns="0" tIns="0" rIns="0" bIns="0" anchor="t">
            <a:spAutoFit/>
          </a:bodyPr>
          <a:p>
            <a:pPr defTabSz="457200">
              <a:lnSpc>
                <a:spcPct val="125000"/>
              </a:lnSpc>
              <a:spcAft>
                <a:spcPts val="601"/>
              </a:spcAft>
            </a:pPr>
            <a:r>
              <a:rPr lang="en-US" sz="2800" b="1" u="none" strike="noStrike">
                <a:solidFill>
                  <a:srgbClr val="16181A"/>
                </a:solidFill>
                <a:effectLst/>
                <a:uFillTx/>
                <a:latin typeface="Arial"/>
              </a:rPr>
              <a:t>Three of nine milestones complete</a:t>
            </a:r>
            <a:endParaRPr lang="en-US" sz="2800" b="0" u="none" strike="noStrike">
              <a:solidFill>
                <a:srgbClr val="000000"/>
              </a:solidFill>
              <a:effectLst/>
              <a:uFillTx/>
              <a:latin typeface="Arial"/>
            </a:endParaRPr>
          </a:p>
        </p:txBody>
      </p:sp>
      <p:sp>
        <p:nvSpPr>
          <p:cNvPr id="209" name="Rectangle 3"/>
          <p:cNvSpPr/>
          <p:nvPr/>
        </p:nvSpPr>
        <p:spPr>
          <a:xfrm>
            <a:off x="658440" y="1481400"/>
            <a:ext cx="10880640" cy="17640"/>
          </a:xfrm>
          <a:prstGeom prst="rect">
            <a:avLst/>
          </a:prstGeom>
          <a:solidFill>
            <a:srgbClr val="D8DCE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6640" rIns="90000" bIns="-26640" anchor="ctr">
            <a:noAutofit/>
          </a:bodyPr>
          <a:p>
            <a:endParaRPr lang="en-US" sz="1800" b="0" u="none" strike="noStrike">
              <a:solidFill>
                <a:schemeClr val="lt1"/>
              </a:solidFill>
              <a:effectLst/>
              <a:uFillTx/>
              <a:latin typeface="Calibri"/>
            </a:endParaRPr>
          </a:p>
        </p:txBody>
      </p:sp>
      <p:graphicFrame>
        <p:nvGraphicFramePr>
          <p:cNvPr id="210" name="Table 4"/>
          <p:cNvGraphicFramePr/>
          <p:nvPr/>
        </p:nvGraphicFramePr>
        <p:xfrm>
          <a:off x="658440" y="1783080"/>
          <a:ext cx="10881000" cy="3837600"/>
        </p:xfrm>
        <a:graphic>
          <a:graphicData uri="http://schemas.openxmlformats.org/drawingml/2006/table">
            <a:tbl>
              <a:tblPr/>
              <a:tblGrid>
                <a:gridCol w="1188720"/>
                <a:gridCol w="7680960"/>
                <a:gridCol w="2011680"/>
              </a:tblGrid>
              <a:tr h="383760">
                <a:tc>
                  <a:txBody>
                    <a:bodyPr lIns="73080" tIns="36360" rIns="73080" bIns="36360" anchor="t">
                      <a:noAutofit/>
                    </a:bodyPr>
                    <a:p>
                      <a:pPr defTabSz="457200">
                        <a:lnSpc>
                          <a:spcPct val="115000"/>
                        </a:lnSpc>
                      </a:pPr>
                      <a:r>
                        <a:rPr lang="en-US" sz="950" b="1" u="none" strike="noStrike">
                          <a:solidFill>
                            <a:srgbClr val="6B7178"/>
                          </a:solidFill>
                          <a:effectLst/>
                          <a:uFillTx/>
                          <a:latin typeface="Arial"/>
                        </a:rPr>
                        <a:t>Milestone</a:t>
                      </a:r>
                      <a:endParaRPr lang="en-US" sz="9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4F6F8"/>
                    </a:solidFill>
                  </a:tcPr>
                </a:tc>
                <a:tc>
                  <a:txBody>
                    <a:bodyPr lIns="73080" tIns="36360" rIns="73080" bIns="36360" anchor="t">
                      <a:noAutofit/>
                    </a:bodyPr>
                    <a:p>
                      <a:pPr defTabSz="457200">
                        <a:lnSpc>
                          <a:spcPct val="115000"/>
                        </a:lnSpc>
                      </a:pPr>
                      <a:r>
                        <a:rPr lang="en-US" sz="950" b="1" u="none" strike="noStrike">
                          <a:solidFill>
                            <a:srgbClr val="6B7178"/>
                          </a:solidFill>
                          <a:effectLst/>
                          <a:uFillTx/>
                          <a:latin typeface="Arial"/>
                        </a:rPr>
                        <a:t>Deliverable</a:t>
                      </a:r>
                      <a:endParaRPr lang="en-US" sz="9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4F6F8"/>
                    </a:solidFill>
                  </a:tcPr>
                </a:tc>
                <a:tc>
                  <a:txBody>
                    <a:bodyPr lIns="73080" tIns="36360" rIns="73080" bIns="36360" anchor="t">
                      <a:noAutofit/>
                    </a:bodyPr>
                    <a:p>
                      <a:pPr defTabSz="457200">
                        <a:lnSpc>
                          <a:spcPct val="115000"/>
                        </a:lnSpc>
                      </a:pPr>
                      <a:r>
                        <a:rPr lang="en-US" sz="950" b="1" u="none" strike="noStrike">
                          <a:solidFill>
                            <a:srgbClr val="6B7178"/>
                          </a:solidFill>
                          <a:effectLst/>
                          <a:uFillTx/>
                          <a:latin typeface="Arial"/>
                        </a:rPr>
                        <a:t>State</a:t>
                      </a:r>
                      <a:endParaRPr lang="en-US" sz="9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4F6F8"/>
                    </a:solidFill>
                  </a:tcPr>
                </a:tc>
              </a:tr>
              <a:tr h="383760">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M0</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Headless simulation core, telemetry, bot harness</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Complete</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M1</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Predictor, baselines, controls, offline metrics and figures</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Complete</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M2</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Director and counter-moves, validated headless</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Complete</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M3</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Godot greybox first-person build + live prediction overlay</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Next</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M4</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Notebook vector editor and persistence</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Planned</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M5</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Entity polish, atmosphere, audio, human playtest</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Planned</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M6</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Door motion-sensors — partial observation, so waiting conceals</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Specified</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M7</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Polygonal room tiles; side count is the difficulty setting</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Specified</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r h="383760">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M8</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Outbound register with pre-send tampering; sensor blackouts</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c>
                  <a:txBody>
                    <a:bodyPr lIns="73080" tIns="36360" rIns="73080" bIns="36360" anchor="t">
                      <a:noAutofit/>
                    </a:bodyPr>
                    <a:p>
                      <a:pPr defTabSz="457200">
                        <a:lnSpc>
                          <a:spcPct val="115000"/>
                        </a:lnSpc>
                      </a:pPr>
                      <a:r>
                        <a:rPr lang="en-US" sz="1250" b="0" u="none" strike="noStrike">
                          <a:solidFill>
                            <a:srgbClr val="16181A"/>
                          </a:solidFill>
                          <a:effectLst/>
                          <a:uFillTx/>
                          <a:latin typeface="Arial"/>
                        </a:rPr>
                        <a:t>Specified</a:t>
                      </a:r>
                      <a:endParaRPr lang="en-US" sz="1250" b="0" u="none" strike="noStrike">
                        <a:solidFill>
                          <a:srgbClr val="000000"/>
                        </a:solidFill>
                        <a:effectLst/>
                        <a:uFillTx/>
                        <a:latin typeface="Arial"/>
                      </a:endParaRPr>
                    </a:p>
                  </a:txBody>
                  <a:tcPr anchor="t" marL="73080" marR="73080" marT="36360" marB="3636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CFCFB"/>
                    </a:solidFill>
                  </a:tcPr>
                </a:tc>
              </a:tr>
            </a:tbl>
          </a:graphicData>
        </a:graphic>
      </p:graphicFrame>
      <p:sp>
        <p:nvSpPr>
          <p:cNvPr id="211" name="TextBox 5"/>
          <p:cNvSpPr/>
          <p:nvPr/>
        </p:nvSpPr>
        <p:spPr>
          <a:xfrm>
            <a:off x="658440" y="4663440"/>
            <a:ext cx="10880640" cy="1096560"/>
          </a:xfrm>
          <a:prstGeom prst="rect">
            <a:avLst/>
          </a:prstGeom>
          <a:noFill/>
          <a:ln w="0">
            <a:noFill/>
          </a:ln>
        </p:spPr>
        <p:style>
          <a:lnRef idx="0"/>
          <a:fillRef idx="0"/>
          <a:effectRef idx="0"/>
          <a:fontRef idx="minor"/>
        </p:style>
        <p:txBody>
          <a:bodyPr lIns="0" tIns="0" rIns="0" bIns="0" anchor="t">
            <a:spAutoFit/>
          </a:bodyPr>
          <a:p>
            <a:pPr defTabSz="457200">
              <a:lnSpc>
                <a:spcPct val="135000"/>
              </a:lnSpc>
              <a:spcAft>
                <a:spcPts val="601"/>
              </a:spcAft>
            </a:pPr>
            <a:r>
              <a:rPr lang="en-US" sz="1300" b="0" u="none" strike="noStrike">
                <a:solidFill>
                  <a:srgbClr val="6B7178"/>
                </a:solidFill>
                <a:effectLst/>
                <a:uFillTx/>
                <a:latin typeface="Arial"/>
              </a:rPr>
              <a:t>Art direction for M3 is settled: a low-poly modular brutalist kit instantiated from the room graph, near-total darkness with a flashlight, heavy fog, and a retro post-processing pass — chosen because it minimises modelling cost while staying coherent. Modularity is not a style choice: rooms are rotated, added and removed at runtime, so they must be prefab-instantiated regardless.</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CFB"/>
        </a:solidFill>
      </p:bgPr>
    </p:bg>
    <p:spTree>
      <p:nvGrpSpPr>
        <p:cNvPr id="1" name=""/>
        <p:cNvGrpSpPr/>
        <p:nvPr/>
      </p:nvGrpSpPr>
      <p:grpSpPr>
        <a:xfrm>
          <a:off x="0" y="0"/>
          <a:ext cx="0" cy="0"/>
          <a:chOff x="0" y="0"/>
          <a:chExt cx="0" cy="0"/>
        </a:xfrm>
      </p:grpSpPr>
      <p:sp>
        <p:nvSpPr>
          <p:cNvPr id="212" name="TextBox 1"/>
          <p:cNvSpPr/>
          <p:nvPr/>
        </p:nvSpPr>
        <p:spPr>
          <a:xfrm>
            <a:off x="658440" y="420480"/>
            <a:ext cx="10880640" cy="273600"/>
          </a:xfrm>
          <a:prstGeom prst="rect">
            <a:avLst/>
          </a:prstGeom>
          <a:noFill/>
          <a:ln w="0">
            <a:noFill/>
          </a:ln>
        </p:spPr>
        <p:style>
          <a:lnRef idx="0"/>
          <a:fillRef idx="0"/>
          <a:effectRef idx="0"/>
          <a:fontRef idx="minor"/>
        </p:style>
        <p:txBody>
          <a:bodyPr lIns="0" tIns="0" rIns="0" bIns="0" anchor="t">
            <a:spAutoFit/>
          </a:bodyPr>
          <a:p>
            <a:pPr defTabSz="457200">
              <a:lnSpc>
                <a:spcPct val="125000"/>
              </a:lnSpc>
              <a:spcAft>
                <a:spcPts val="601"/>
              </a:spcAft>
            </a:pPr>
            <a:r>
              <a:rPr lang="en-US" sz="1050" b="1" u="none" strike="noStrike">
                <a:solidFill>
                  <a:srgbClr val="2A78D6"/>
                </a:solidFill>
                <a:effectLst/>
                <a:uFillTx/>
                <a:latin typeface="Arial"/>
              </a:rPr>
              <a:t>REFERENCES</a:t>
            </a:r>
            <a:endParaRPr lang="en-US" sz="1050" b="0" u="none" strike="noStrike">
              <a:solidFill>
                <a:srgbClr val="000000"/>
              </a:solidFill>
              <a:effectLst/>
              <a:uFillTx/>
              <a:latin typeface="Arial"/>
            </a:endParaRPr>
          </a:p>
        </p:txBody>
      </p:sp>
      <p:sp>
        <p:nvSpPr>
          <p:cNvPr id="213" name="TextBox 2"/>
          <p:cNvSpPr/>
          <p:nvPr/>
        </p:nvSpPr>
        <p:spPr>
          <a:xfrm>
            <a:off x="658440" y="749880"/>
            <a:ext cx="10880640" cy="822240"/>
          </a:xfrm>
          <a:prstGeom prst="rect">
            <a:avLst/>
          </a:prstGeom>
          <a:noFill/>
          <a:ln w="0">
            <a:noFill/>
          </a:ln>
        </p:spPr>
        <p:style>
          <a:lnRef idx="0"/>
          <a:fillRef idx="0"/>
          <a:effectRef idx="0"/>
          <a:fontRef idx="minor"/>
        </p:style>
        <p:txBody>
          <a:bodyPr lIns="0" tIns="0" rIns="0" bIns="0" anchor="t">
            <a:spAutoFit/>
          </a:bodyPr>
          <a:p>
            <a:pPr defTabSz="457200">
              <a:lnSpc>
                <a:spcPct val="125000"/>
              </a:lnSpc>
              <a:spcAft>
                <a:spcPts val="601"/>
              </a:spcAft>
            </a:pPr>
            <a:r>
              <a:rPr lang="en-US" sz="2800" b="1" u="none" strike="noStrike">
                <a:solidFill>
                  <a:srgbClr val="16181A"/>
                </a:solidFill>
                <a:effectLst/>
                <a:uFillTx/>
                <a:latin typeface="Arial"/>
              </a:rPr>
              <a:t>1 of 2</a:t>
            </a:r>
            <a:endParaRPr lang="en-US" sz="2800" b="0" u="none" strike="noStrike">
              <a:solidFill>
                <a:srgbClr val="000000"/>
              </a:solidFill>
              <a:effectLst/>
              <a:uFillTx/>
              <a:latin typeface="Arial"/>
            </a:endParaRPr>
          </a:p>
        </p:txBody>
      </p:sp>
      <p:sp>
        <p:nvSpPr>
          <p:cNvPr id="214" name="Rectangle 3"/>
          <p:cNvSpPr/>
          <p:nvPr/>
        </p:nvSpPr>
        <p:spPr>
          <a:xfrm>
            <a:off x="658440" y="1481400"/>
            <a:ext cx="10880640" cy="17640"/>
          </a:xfrm>
          <a:prstGeom prst="rect">
            <a:avLst/>
          </a:prstGeom>
          <a:solidFill>
            <a:srgbClr val="D8DCE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6640" rIns="90000" bIns="-26640" anchor="ctr">
            <a:noAutofit/>
          </a:bodyPr>
          <a:p>
            <a:endParaRPr lang="en-US" sz="1800" b="0" u="none" strike="noStrike">
              <a:solidFill>
                <a:schemeClr val="lt1"/>
              </a:solidFill>
              <a:effectLst/>
              <a:uFillTx/>
              <a:latin typeface="Calibri"/>
            </a:endParaRPr>
          </a:p>
        </p:txBody>
      </p:sp>
      <p:sp>
        <p:nvSpPr>
          <p:cNvPr id="215" name="TextBox 4"/>
          <p:cNvSpPr/>
          <p:nvPr/>
        </p:nvSpPr>
        <p:spPr>
          <a:xfrm>
            <a:off x="658440" y="1783080"/>
            <a:ext cx="10880640" cy="4571280"/>
          </a:xfrm>
          <a:prstGeom prst="rect">
            <a:avLst/>
          </a:prstGeom>
          <a:noFill/>
          <a:ln w="0">
            <a:noFill/>
          </a:ln>
        </p:spPr>
        <p:style>
          <a:lnRef idx="0"/>
          <a:fillRef idx="0"/>
          <a:effectRef idx="0"/>
          <a:fontRef idx="minor"/>
        </p:style>
        <p:txBody>
          <a:bodyPr lIns="0" tIns="0" rIns="0" bIns="0" anchor="t">
            <a:spAutoFit/>
          </a:bodyPr>
          <a:p>
            <a:pPr defTabSz="457200">
              <a:lnSpc>
                <a:spcPct val="120000"/>
              </a:lnSpc>
              <a:spcAft>
                <a:spcPts val="700"/>
              </a:spcAft>
            </a:pPr>
            <a:r>
              <a:rPr lang="en-US" sz="1200" b="0" u="none" strike="noStrike">
                <a:solidFill>
                  <a:srgbClr val="16181A"/>
                </a:solidFill>
                <a:effectLst/>
                <a:uFillTx/>
                <a:latin typeface="Arial"/>
              </a:rPr>
              <a:t>1.  Lin, Z. et al. (2026). Unlocking Open-Player-Modeling-enhanced Game-Based Learning. arXiv:2603.26915</a:t>
            </a:r>
            <a:endParaRPr lang="en-US" sz="1200" b="0" u="none" strike="noStrike">
              <a:solidFill>
                <a:srgbClr val="000000"/>
              </a:solidFill>
              <a:effectLst/>
              <a:uFillTx/>
              <a:latin typeface="Arial"/>
            </a:endParaRPr>
          </a:p>
          <a:p>
            <a:pPr defTabSz="457200">
              <a:lnSpc>
                <a:spcPct val="120000"/>
              </a:lnSpc>
              <a:spcAft>
                <a:spcPts val="700"/>
              </a:spcAft>
            </a:pPr>
            <a:r>
              <a:rPr lang="en-US" sz="1200" b="0" u="none" strike="noStrike">
                <a:solidFill>
                  <a:srgbClr val="16181A"/>
                </a:solidFill>
                <a:effectLst/>
                <a:uFillTx/>
                <a:latin typeface="Arial"/>
              </a:rPr>
              <a:t>2.  Dehpanah, A. et al. (2021). Player Modeling using Behavioral Signals in Competitive Online Games. arXiv:2112.04379</a:t>
            </a:r>
            <a:endParaRPr lang="en-US" sz="1200" b="0" u="none" strike="noStrike">
              <a:solidFill>
                <a:srgbClr val="000000"/>
              </a:solidFill>
              <a:effectLst/>
              <a:uFillTx/>
              <a:latin typeface="Arial"/>
            </a:endParaRPr>
          </a:p>
          <a:p>
            <a:pPr defTabSz="457200">
              <a:lnSpc>
                <a:spcPct val="120000"/>
              </a:lnSpc>
              <a:spcAft>
                <a:spcPts val="700"/>
              </a:spcAft>
            </a:pPr>
            <a:r>
              <a:rPr lang="en-US" sz="1200" b="0" u="none" strike="noStrike">
                <a:solidFill>
                  <a:srgbClr val="16181A"/>
                </a:solidFill>
                <a:effectLst/>
                <a:uFillTx/>
                <a:latin typeface="Arial"/>
              </a:rPr>
              <a:t>3.  Carlier, S. et al. (2024). Personalization in Serious Games and Gamification for Healthcare. arXiv:2411.18500</a:t>
            </a:r>
            <a:endParaRPr lang="en-US" sz="1200" b="0" u="none" strike="noStrike">
              <a:solidFill>
                <a:srgbClr val="000000"/>
              </a:solidFill>
              <a:effectLst/>
              <a:uFillTx/>
              <a:latin typeface="Arial"/>
            </a:endParaRPr>
          </a:p>
          <a:p>
            <a:pPr defTabSz="457200">
              <a:lnSpc>
                <a:spcPct val="120000"/>
              </a:lnSpc>
              <a:spcAft>
                <a:spcPts val="700"/>
              </a:spcAft>
            </a:pPr>
            <a:r>
              <a:rPr lang="en-US" sz="1200" b="0" u="none" strike="noStrike">
                <a:solidFill>
                  <a:srgbClr val="16181A"/>
                </a:solidFill>
                <a:effectLst/>
                <a:uFillTx/>
                <a:latin typeface="Arial"/>
              </a:rPr>
              <a:t>4.  Halina, E. et al. (2026). Representing and Generating Levels Over Time through Playtrace Reconstructive Partitioning. arXiv:2607.12097</a:t>
            </a:r>
            <a:endParaRPr lang="en-US" sz="1200" b="0" u="none" strike="noStrike">
              <a:solidFill>
                <a:srgbClr val="000000"/>
              </a:solidFill>
              <a:effectLst/>
              <a:uFillTx/>
              <a:latin typeface="Arial"/>
            </a:endParaRPr>
          </a:p>
          <a:p>
            <a:pPr defTabSz="457200">
              <a:lnSpc>
                <a:spcPct val="120000"/>
              </a:lnSpc>
              <a:spcAft>
                <a:spcPts val="700"/>
              </a:spcAft>
            </a:pPr>
            <a:r>
              <a:rPr lang="en-US" sz="1200" b="0" u="none" strike="noStrike">
                <a:solidFill>
                  <a:srgbClr val="16181A"/>
                </a:solidFill>
                <a:effectLst/>
                <a:uFillTx/>
                <a:latin typeface="Arial"/>
              </a:rPr>
              <a:t>5.  Bazzaz, M. (2026). Player Perceptions of Generative AI in Games: A Steam Review Analysis. arXiv:2608.11539</a:t>
            </a:r>
            <a:endParaRPr lang="en-US" sz="1200" b="0" u="none" strike="noStrike">
              <a:solidFill>
                <a:srgbClr val="000000"/>
              </a:solidFill>
              <a:effectLst/>
              <a:uFillTx/>
              <a:latin typeface="Arial"/>
            </a:endParaRPr>
          </a:p>
          <a:p>
            <a:pPr defTabSz="457200">
              <a:lnSpc>
                <a:spcPct val="120000"/>
              </a:lnSpc>
              <a:spcAft>
                <a:spcPts val="700"/>
              </a:spcAft>
            </a:pPr>
            <a:r>
              <a:rPr lang="en-US" sz="1200" b="0" u="none" strike="noStrike">
                <a:solidFill>
                  <a:srgbClr val="16181A"/>
                </a:solidFill>
                <a:effectLst/>
                <a:uFillTx/>
                <a:latin typeface="Arial"/>
              </a:rPr>
              <a:t>6.  Romeo, C. et al. (2025). NTRL: Encounter Generation via RL for DDA in Dungeons and Dragons. arXiv:2506.19530</a:t>
            </a:r>
            <a:endParaRPr lang="en-US" sz="1200" b="0" u="none" strike="noStrike">
              <a:solidFill>
                <a:srgbClr val="000000"/>
              </a:solidFill>
              <a:effectLst/>
              <a:uFillTx/>
              <a:latin typeface="Arial"/>
            </a:endParaRPr>
          </a:p>
          <a:p>
            <a:pPr defTabSz="457200">
              <a:lnSpc>
                <a:spcPct val="120000"/>
              </a:lnSpc>
              <a:spcAft>
                <a:spcPts val="700"/>
              </a:spcAft>
            </a:pPr>
            <a:r>
              <a:rPr lang="en-US" sz="1200" b="0" u="none" strike="noStrike">
                <a:solidFill>
                  <a:srgbClr val="16181A"/>
                </a:solidFill>
                <a:effectLst/>
                <a:uFillTx/>
                <a:latin typeface="Arial"/>
              </a:rPr>
              <a:t>7.  Lopes, P. et al. (2025). Closing the Loop in Affect-Driven Game Adaptation: A Systematic Review. arXiv:2505.01351</a:t>
            </a:r>
            <a:endParaRPr lang="en-US" sz="1200" b="0" u="none" strike="noStrike">
              <a:solidFill>
                <a:srgbClr val="000000"/>
              </a:solidFill>
              <a:effectLst/>
              <a:uFillTx/>
              <a:latin typeface="Arial"/>
            </a:endParaRPr>
          </a:p>
          <a:p>
            <a:pPr defTabSz="457200">
              <a:lnSpc>
                <a:spcPct val="120000"/>
              </a:lnSpc>
              <a:spcAft>
                <a:spcPts val="700"/>
              </a:spcAft>
            </a:pPr>
            <a:r>
              <a:rPr lang="en-US" sz="1200" b="0" u="none" strike="noStrike">
                <a:solidFill>
                  <a:srgbClr val="16181A"/>
                </a:solidFill>
                <a:effectLst/>
                <a:uFillTx/>
                <a:latin typeface="Arial"/>
              </a:rPr>
              <a:t>8.  Cafri, N. et al. (2025). Dynamic Difficulty Adjustment With Brain Waves. arXiv:2504.13965</a:t>
            </a:r>
            <a:endParaRPr lang="en-US" sz="1200" b="0" u="none" strike="noStrike">
              <a:solidFill>
                <a:srgbClr val="000000"/>
              </a:solidFill>
              <a:effectLst/>
              <a:uFillTx/>
              <a:latin typeface="Arial"/>
            </a:endParaRPr>
          </a:p>
          <a:p>
            <a:pPr defTabSz="457200">
              <a:lnSpc>
                <a:spcPct val="120000"/>
              </a:lnSpc>
              <a:spcAft>
                <a:spcPts val="700"/>
              </a:spcAft>
            </a:pPr>
            <a:r>
              <a:rPr lang="en-US" sz="1200" b="0" u="none" strike="noStrike">
                <a:solidFill>
                  <a:srgbClr val="16181A"/>
                </a:solidFill>
                <a:effectLst/>
                <a:uFillTx/>
                <a:latin typeface="Arial"/>
              </a:rPr>
              <a:t>9.  Fuchs, R. et al. (2024). Personalized Dynamic Difficulty Adjustment. arXiv:2408.06818</a:t>
            </a:r>
            <a:endParaRPr lang="en-US" sz="1200" b="0" u="none" strike="noStrike">
              <a:solidFill>
                <a:srgbClr val="000000"/>
              </a:solidFill>
              <a:effectLst/>
              <a:uFillTx/>
              <a:latin typeface="Arial"/>
            </a:endParaRPr>
          </a:p>
          <a:p>
            <a:pPr defTabSz="457200">
              <a:lnSpc>
                <a:spcPct val="120000"/>
              </a:lnSpc>
              <a:spcAft>
                <a:spcPts val="700"/>
              </a:spcAft>
            </a:pPr>
            <a:r>
              <a:rPr lang="en-US" sz="1200" b="0" u="none" strike="noStrike">
                <a:solidFill>
                  <a:srgbClr val="16181A"/>
                </a:solidFill>
                <a:effectLst/>
                <a:uFillTx/>
                <a:latin typeface="Arial"/>
              </a:rPr>
              <a:t>10.  McConnell, M. et al. (2025). From Frustration to Fun: An Adaptive Puzzle Game Powered by Genetic Algorithm. arXiv:2509.23796</a:t>
            </a:r>
            <a:endParaRPr lang="en-US" sz="1200" b="0" u="none" strike="noStrike">
              <a:solidFill>
                <a:srgbClr val="000000"/>
              </a:solidFill>
              <a:effectLst/>
              <a:uFillTx/>
              <a:latin typeface="Arial"/>
            </a:endParaRPr>
          </a:p>
          <a:p>
            <a:pPr defTabSz="457200">
              <a:lnSpc>
                <a:spcPct val="120000"/>
              </a:lnSpc>
              <a:spcAft>
                <a:spcPts val="700"/>
              </a:spcAft>
            </a:pPr>
            <a:r>
              <a:rPr lang="en-US" sz="1200" b="0" u="none" strike="noStrike">
                <a:solidFill>
                  <a:srgbClr val="16181A"/>
                </a:solidFill>
                <a:effectLst/>
                <a:uFillTx/>
                <a:latin typeface="Arial"/>
              </a:rPr>
              <a:t>11.  Jarma Montoya, O. et al. (2026). Atari Games Challenge: Multimodal Player Experience Assessment. arXiv:2605.27261</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CFCFB"/>
        </a:solidFill>
      </p:bgPr>
    </p:bg>
    <p:spTree>
      <p:nvGrpSpPr>
        <p:cNvPr id="1" name=""/>
        <p:cNvGrpSpPr/>
        <p:nvPr/>
      </p:nvGrpSpPr>
      <p:grpSpPr>
        <a:xfrm>
          <a:off x="0" y="0"/>
          <a:ext cx="0" cy="0"/>
          <a:chOff x="0" y="0"/>
          <a:chExt cx="0" cy="0"/>
        </a:xfrm>
      </p:grpSpPr>
      <p:sp>
        <p:nvSpPr>
          <p:cNvPr id="216" name="TextBox 1"/>
          <p:cNvSpPr/>
          <p:nvPr/>
        </p:nvSpPr>
        <p:spPr>
          <a:xfrm>
            <a:off x="658440" y="420480"/>
            <a:ext cx="10880640" cy="273600"/>
          </a:xfrm>
          <a:prstGeom prst="rect">
            <a:avLst/>
          </a:prstGeom>
          <a:noFill/>
          <a:ln w="0">
            <a:noFill/>
          </a:ln>
        </p:spPr>
        <p:style>
          <a:lnRef idx="0"/>
          <a:fillRef idx="0"/>
          <a:effectRef idx="0"/>
          <a:fontRef idx="minor"/>
        </p:style>
        <p:txBody>
          <a:bodyPr lIns="0" tIns="0" rIns="0" bIns="0" anchor="t">
            <a:spAutoFit/>
          </a:bodyPr>
          <a:p>
            <a:pPr defTabSz="457200">
              <a:lnSpc>
                <a:spcPct val="125000"/>
              </a:lnSpc>
              <a:spcAft>
                <a:spcPts val="601"/>
              </a:spcAft>
            </a:pPr>
            <a:r>
              <a:rPr lang="en-US" sz="1050" b="1" u="none" strike="noStrike">
                <a:solidFill>
                  <a:srgbClr val="2A78D6"/>
                </a:solidFill>
                <a:effectLst/>
                <a:uFillTx/>
                <a:latin typeface="Arial"/>
              </a:rPr>
              <a:t>REFERENCES</a:t>
            </a:r>
            <a:endParaRPr lang="en-US" sz="1050" b="0" u="none" strike="noStrike">
              <a:solidFill>
                <a:srgbClr val="000000"/>
              </a:solidFill>
              <a:effectLst/>
              <a:uFillTx/>
              <a:latin typeface="Arial"/>
            </a:endParaRPr>
          </a:p>
        </p:txBody>
      </p:sp>
      <p:sp>
        <p:nvSpPr>
          <p:cNvPr id="217" name="TextBox 2"/>
          <p:cNvSpPr/>
          <p:nvPr/>
        </p:nvSpPr>
        <p:spPr>
          <a:xfrm>
            <a:off x="658440" y="749880"/>
            <a:ext cx="10880640" cy="822240"/>
          </a:xfrm>
          <a:prstGeom prst="rect">
            <a:avLst/>
          </a:prstGeom>
          <a:noFill/>
          <a:ln w="0">
            <a:noFill/>
          </a:ln>
        </p:spPr>
        <p:style>
          <a:lnRef idx="0"/>
          <a:fillRef idx="0"/>
          <a:effectRef idx="0"/>
          <a:fontRef idx="minor"/>
        </p:style>
        <p:txBody>
          <a:bodyPr lIns="0" tIns="0" rIns="0" bIns="0" anchor="t">
            <a:spAutoFit/>
          </a:bodyPr>
          <a:p>
            <a:pPr defTabSz="457200">
              <a:lnSpc>
                <a:spcPct val="125000"/>
              </a:lnSpc>
              <a:spcAft>
                <a:spcPts val="601"/>
              </a:spcAft>
            </a:pPr>
            <a:r>
              <a:rPr lang="en-US" sz="2800" b="1" u="none" strike="noStrike">
                <a:solidFill>
                  <a:srgbClr val="16181A"/>
                </a:solidFill>
                <a:effectLst/>
                <a:uFillTx/>
                <a:latin typeface="Arial"/>
              </a:rPr>
              <a:t>2 of 2</a:t>
            </a:r>
            <a:endParaRPr lang="en-US" sz="2800" b="0" u="none" strike="noStrike">
              <a:solidFill>
                <a:srgbClr val="000000"/>
              </a:solidFill>
              <a:effectLst/>
              <a:uFillTx/>
              <a:latin typeface="Arial"/>
            </a:endParaRPr>
          </a:p>
        </p:txBody>
      </p:sp>
      <p:sp>
        <p:nvSpPr>
          <p:cNvPr id="218" name="Rectangle 3"/>
          <p:cNvSpPr/>
          <p:nvPr/>
        </p:nvSpPr>
        <p:spPr>
          <a:xfrm>
            <a:off x="658440" y="1481400"/>
            <a:ext cx="10880640" cy="17640"/>
          </a:xfrm>
          <a:prstGeom prst="rect">
            <a:avLst/>
          </a:prstGeom>
          <a:solidFill>
            <a:srgbClr val="D8DCE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6640" rIns="90000" bIns="-26640" anchor="ctr">
            <a:noAutofit/>
          </a:bodyPr>
          <a:p>
            <a:endParaRPr lang="en-US" sz="1800" b="0" u="none" strike="noStrike">
              <a:solidFill>
                <a:schemeClr val="lt1"/>
              </a:solidFill>
              <a:effectLst/>
              <a:uFillTx/>
              <a:latin typeface="Calibri"/>
            </a:endParaRPr>
          </a:p>
        </p:txBody>
      </p:sp>
      <p:sp>
        <p:nvSpPr>
          <p:cNvPr id="219" name="TextBox 4"/>
          <p:cNvSpPr/>
          <p:nvPr/>
        </p:nvSpPr>
        <p:spPr>
          <a:xfrm>
            <a:off x="658440" y="1783080"/>
            <a:ext cx="10880640" cy="4571280"/>
          </a:xfrm>
          <a:prstGeom prst="rect">
            <a:avLst/>
          </a:prstGeom>
          <a:noFill/>
          <a:ln w="0">
            <a:noFill/>
          </a:ln>
        </p:spPr>
        <p:style>
          <a:lnRef idx="0"/>
          <a:fillRef idx="0"/>
          <a:effectRef idx="0"/>
          <a:fontRef idx="minor"/>
        </p:style>
        <p:txBody>
          <a:bodyPr lIns="0" tIns="0" rIns="0" bIns="0" anchor="t">
            <a:spAutoFit/>
          </a:bodyPr>
          <a:p>
            <a:pPr defTabSz="457200">
              <a:lnSpc>
                <a:spcPct val="120000"/>
              </a:lnSpc>
              <a:spcAft>
                <a:spcPts val="700"/>
              </a:spcAft>
            </a:pPr>
            <a:r>
              <a:rPr lang="en-US" sz="1200" b="0" u="none" strike="noStrike">
                <a:solidFill>
                  <a:srgbClr val="16181A"/>
                </a:solidFill>
                <a:effectLst/>
                <a:uFillTx/>
                <a:latin typeface="Arial"/>
              </a:rPr>
              <a:t>12.  Tripathi, P. et al. (2026). AI-Enabled Serious Games: Integrating Intelligence and Adaptivity. arXiv:2605.21962</a:t>
            </a:r>
            <a:endParaRPr lang="en-US" sz="1200" b="0" u="none" strike="noStrike">
              <a:solidFill>
                <a:srgbClr val="000000"/>
              </a:solidFill>
              <a:effectLst/>
              <a:uFillTx/>
              <a:latin typeface="Arial"/>
            </a:endParaRPr>
          </a:p>
          <a:p>
            <a:pPr defTabSz="457200">
              <a:lnSpc>
                <a:spcPct val="120000"/>
              </a:lnSpc>
              <a:spcAft>
                <a:spcPts val="700"/>
              </a:spcAft>
            </a:pPr>
            <a:r>
              <a:rPr lang="en-US" sz="1200" b="0" u="none" strike="noStrike">
                <a:solidFill>
                  <a:srgbClr val="16181A"/>
                </a:solidFill>
                <a:effectLst/>
                <a:uFillTx/>
                <a:latin typeface="Arial"/>
              </a:rPr>
              <a:t>13.  Fiuza Vieira, I. et al. (2026). A Novel Procedural Generation for Level Design of Mansions and Dungeons. arXiv:2606.03857</a:t>
            </a:r>
            <a:endParaRPr lang="en-US" sz="1200" b="0" u="none" strike="noStrike">
              <a:solidFill>
                <a:srgbClr val="000000"/>
              </a:solidFill>
              <a:effectLst/>
              <a:uFillTx/>
              <a:latin typeface="Arial"/>
            </a:endParaRPr>
          </a:p>
          <a:p>
            <a:pPr defTabSz="457200">
              <a:lnSpc>
                <a:spcPct val="120000"/>
              </a:lnSpc>
              <a:spcAft>
                <a:spcPts val="700"/>
              </a:spcAft>
            </a:pPr>
            <a:r>
              <a:rPr lang="en-US" sz="1200" b="0" u="none" strike="noStrike">
                <a:solidFill>
                  <a:srgbClr val="16181A"/>
                </a:solidFill>
                <a:effectLst/>
                <a:uFillTx/>
                <a:latin typeface="Arial"/>
              </a:rPr>
              <a:t>14.  Özkan, M. B. (2025). Procedural Game Level Design with Deep Reinforcement Learning. arXiv:2510.15120</a:t>
            </a:r>
            <a:endParaRPr lang="en-US" sz="1200" b="0" u="none" strike="noStrike">
              <a:solidFill>
                <a:srgbClr val="000000"/>
              </a:solidFill>
              <a:effectLst/>
              <a:uFillTx/>
              <a:latin typeface="Arial"/>
            </a:endParaRPr>
          </a:p>
          <a:p>
            <a:pPr defTabSz="457200">
              <a:lnSpc>
                <a:spcPct val="120000"/>
              </a:lnSpc>
              <a:spcAft>
                <a:spcPts val="700"/>
              </a:spcAft>
            </a:pPr>
            <a:r>
              <a:rPr lang="en-US" sz="1200" b="0" u="none" strike="noStrike">
                <a:solidFill>
                  <a:srgbClr val="16181A"/>
                </a:solidFill>
                <a:effectLst/>
                <a:uFillTx/>
                <a:latin typeface="Arial"/>
              </a:rPr>
              <a:t>15.  Earle, S. et al. (2025). Video Game Level Design as a Multi-Agent Reinforcement Learning Problem. arXiv:2510.04862</a:t>
            </a:r>
            <a:endParaRPr lang="en-US" sz="1200" b="0" u="none" strike="noStrike">
              <a:solidFill>
                <a:srgbClr val="000000"/>
              </a:solidFill>
              <a:effectLst/>
              <a:uFillTx/>
              <a:latin typeface="Arial"/>
            </a:endParaRPr>
          </a:p>
          <a:p>
            <a:pPr defTabSz="457200">
              <a:lnSpc>
                <a:spcPct val="120000"/>
              </a:lnSpc>
              <a:spcAft>
                <a:spcPts val="700"/>
              </a:spcAft>
            </a:pPr>
            <a:r>
              <a:rPr lang="en-US" sz="1200" b="0" u="none" strike="noStrike">
                <a:solidFill>
                  <a:srgbClr val="16181A"/>
                </a:solidFill>
                <a:effectLst/>
                <a:uFillTx/>
                <a:latin typeface="Arial"/>
              </a:rPr>
              <a:t>16.  Begleiter, R., El-Yaniv, R. &amp; Yona, G. (2004). On Prediction Using Variable Order Markov Models. JAIR 22, 385–421. arXiv:1107.0051</a:t>
            </a:r>
            <a:endParaRPr lang="en-US" sz="1200" b="0" u="none" strike="noStrike">
              <a:solidFill>
                <a:srgbClr val="000000"/>
              </a:solidFill>
              <a:effectLst/>
              <a:uFillTx/>
              <a:latin typeface="Arial"/>
            </a:endParaRPr>
          </a:p>
          <a:p>
            <a:pPr defTabSz="457200">
              <a:lnSpc>
                <a:spcPct val="120000"/>
              </a:lnSpc>
              <a:spcAft>
                <a:spcPts val="700"/>
              </a:spcAft>
            </a:pPr>
            <a:r>
              <a:rPr lang="en-US" sz="1200" b="0" u="none" strike="noStrike">
                <a:solidFill>
                  <a:srgbClr val="16181A"/>
                </a:solidFill>
                <a:effectLst/>
                <a:uFillTx/>
                <a:latin typeface="Arial"/>
              </a:rPr>
              <a:t>17.  Wu, Y. et al. (2025). Beyond Regularity: Modeling Chaotic Mobility Patterns for Next Location Prediction. arXiv:2509.11713</a:t>
            </a:r>
            <a:endParaRPr lang="en-US" sz="1200" b="0" u="none" strike="noStrike">
              <a:solidFill>
                <a:srgbClr val="000000"/>
              </a:solidFill>
              <a:effectLst/>
              <a:uFillTx/>
              <a:latin typeface="Arial"/>
            </a:endParaRPr>
          </a:p>
          <a:p>
            <a:pPr defTabSz="457200">
              <a:lnSpc>
                <a:spcPct val="120000"/>
              </a:lnSpc>
              <a:spcAft>
                <a:spcPts val="700"/>
              </a:spcAft>
            </a:pPr>
            <a:r>
              <a:rPr lang="en-US" sz="1200" b="0" u="none" strike="noStrike">
                <a:solidFill>
                  <a:srgbClr val="16181A"/>
                </a:solidFill>
                <a:effectLst/>
                <a:uFillTx/>
                <a:latin typeface="Arial"/>
              </a:rPr>
              <a:t>18.  Deng, B. et al. (2025). STRelay: A Universal Spatio-Temporal Relaying Framework for Location Prediction. arXiv:2508.16620</a:t>
            </a:r>
            <a:endParaRPr lang="en-US" sz="1200" b="0" u="none" strike="noStrike">
              <a:solidFill>
                <a:srgbClr val="000000"/>
              </a:solidFill>
              <a:effectLst/>
              <a:uFillTx/>
              <a:latin typeface="Arial"/>
            </a:endParaRPr>
          </a:p>
          <a:p>
            <a:pPr defTabSz="457200">
              <a:lnSpc>
                <a:spcPct val="120000"/>
              </a:lnSpc>
              <a:spcAft>
                <a:spcPts val="700"/>
              </a:spcAft>
            </a:pPr>
            <a:r>
              <a:rPr lang="en-US" sz="1200" b="0" u="none" strike="noStrike">
                <a:solidFill>
                  <a:srgbClr val="16181A"/>
                </a:solidFill>
                <a:effectLst/>
                <a:uFillTx/>
                <a:latin typeface="Arial"/>
              </a:rPr>
              <a:t>19.  Liu, S. et al. (2025). Mixture-of-Experts for Personalized and Semantic-Aware Next Location Prediction. arXiv:2505.24597</a:t>
            </a:r>
            <a:endParaRPr lang="en-US" sz="1200" b="0" u="none" strike="noStrike">
              <a:solidFill>
                <a:srgbClr val="000000"/>
              </a:solidFill>
              <a:effectLst/>
              <a:uFillTx/>
              <a:latin typeface="Arial"/>
            </a:endParaRPr>
          </a:p>
          <a:p>
            <a:pPr defTabSz="457200">
              <a:lnSpc>
                <a:spcPct val="120000"/>
              </a:lnSpc>
              <a:spcAft>
                <a:spcPts val="700"/>
              </a:spcAft>
            </a:pPr>
            <a:r>
              <a:rPr lang="en-US" sz="1200" b="0" u="none" strike="noStrike">
                <a:solidFill>
                  <a:srgbClr val="16181A"/>
                </a:solidFill>
                <a:effectLst/>
                <a:uFillTx/>
                <a:latin typeface="Arial"/>
              </a:rPr>
              <a:t>20.  Soni, A. et al. (2025). Can We Predict Your Next Move Without Breaking Your Privacy? arXiv:2507.08843</a:t>
            </a:r>
            <a:endParaRPr lang="en-US" sz="1200" b="0" u="none" strike="noStrike">
              <a:solidFill>
                <a:srgbClr val="000000"/>
              </a:solidFill>
              <a:effectLst/>
              <a:uFillTx/>
              <a:latin typeface="Arial"/>
            </a:endParaRPr>
          </a:p>
          <a:p>
            <a:pPr defTabSz="457200">
              <a:lnSpc>
                <a:spcPct val="120000"/>
              </a:lnSpc>
              <a:spcAft>
                <a:spcPts val="700"/>
              </a:spcAft>
            </a:pPr>
            <a:r>
              <a:rPr lang="en-US" sz="1200" b="0" u="none" strike="noStrike">
                <a:solidFill>
                  <a:srgbClr val="16181A"/>
                </a:solidFill>
                <a:effectLst/>
                <a:uFillTx/>
                <a:latin typeface="Arial"/>
              </a:rPr>
              <a:t>21.  Zhang, H. et al. (2024). VRMN-bD: A Multi-modal Natural Behavior Dataset of Immersive Human Fear Responses. arXiv:2401.12133</a:t>
            </a:r>
            <a:endParaRPr lang="en-US" sz="1200" b="0" u="none" strike="noStrike">
              <a:solidFill>
                <a:srgbClr val="000000"/>
              </a:solidFill>
              <a:effectLst/>
              <a:uFillTx/>
              <a:latin typeface="Arial"/>
            </a:endParaRPr>
          </a:p>
          <a:p>
            <a:pPr defTabSz="457200">
              <a:lnSpc>
                <a:spcPct val="120000"/>
              </a:lnSpc>
              <a:spcAft>
                <a:spcPts val="700"/>
              </a:spcAft>
            </a:pPr>
            <a:r>
              <a:rPr lang="en-US" sz="1200" b="0" u="none" strike="noStrike">
                <a:solidFill>
                  <a:srgbClr val="16181A"/>
                </a:solidFill>
                <a:effectLst/>
                <a:uFillTx/>
                <a:latin typeface="Arial"/>
              </a:rPr>
              <a:t>22.  Zhang, H. et al. (2023). Decoding Fear: Exploring User Experiences in Virtual Reality Horror Games. arXiv:2312.15582</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9</TotalTime>
  <Application>LibreOffice/26.2.5.2$Linux_X86_64 LibreOffice_project/620$Build-2</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en-US</dc:language>
  <cp:lastModifiedBy/>
  <dcterms:modified xsi:type="dcterms:W3CDTF">2026-08-19T11:23:26Z</dcterms:modified>
  <cp:revision>3</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