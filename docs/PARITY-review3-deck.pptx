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BCSE497J Review III. Keep this short and move to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context, then say the sentence that matters: everything in this deck is executable and the panel can run it. Name the new work: partial observation, built because the last review's negative result pointed at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this. Walk two rooms, let a window open and close, and let them read the panel top-right while you move. It answers 'where is the game' and 'show the AI functioning' in one go.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two of these lines aloud verbatim. This is the answer to 'explain the AI in plain view' — it is not a diagram of the AI, it is the AI talking. Then say the last line is what the player NEVER sees: the tampering is silent in normal play, and the AI view is how you inspect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slide. Walk the Status column, not the whole table. Eight of ten modules complete and measured, two running as prototypes, and be straight that the 3D integration has not started. Say 'roughly 80% of the approved module list' — do not overclaim a finished game.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Offer to run something. 'python3 model/test_invariants.py takes about five seconds' is a strong line. Attribution is the git history: 12 commits, single author.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decisions to defend: Sabotage is the only mutator so every change is logged and replayable; the Notebook sits outside the loop, which is what makes it the player's counter-move.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progress slide. Lead with the negative result from last time, then what you built because of it. Panels reward work that follows from evidence rather than from a plan.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order-1 failure concretely: a route means the same room has different successors depending on how you entered it. Then say staying is a legal action, which is why accuracy is 61% and not 90% — an earlier version forbade waiting and that number was inflated.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method. Predict, then rule out whatever the evidence contradicts. The detail that impresses: if every door is wired, SILENCE is evidence — it proves they stayed — so full coverage is still perfect tracking. Partial observation only exists because coverage is incomplete.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rigour slide. The control is the strongest thing in the project. Also mention that two findings this cycle came from catching a bad metric.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'is it trained properly'. Measure the ceiling, then show where you sit against it. Say the three things that did NOT work: hyperparameter search, intent tagging, goal inference. All three were redundant because the variable-order context already encodes them. That is a finding about the architecture, not a failure.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100% bar — it never linger where there is nothing to record. The 67% bar is the honest one: it knows you may be writing, not when you will finish.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'hub-camping is nearly as good'. Only on a small map.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the entity is removed here, isolating world editing from hunting.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new result. The counter-intuitive bit is that full coverage gives perfect tracking, because silence is informative. That is why the fiction needs unwired doors and disabled sensors.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Three things: waiting is worse than useless, avoidance barely helps, and disabling sensors on your own route is the real counter-play. Point out this is your design mechanic validated by measurement, not chosen after the fact.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It is here so the panel can see the shape of the work and pick something to ask about. Note the two rows marked NEGATIVE — volunteer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only defend one slide, defend this one. It shows evidence driving decisions, a corrected metric overturning two apparent wins, and the design being validated rather than rationalised.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they are asked. The 3D build not being started is the obvious one — own it and point at the roadmap and at why M6 came first.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item 1 and item 3 if there is time. Item 3 takes seconds and answers any rigour question.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783080"/>
            <a:ext cx="10515600" cy="914400"/>
          </a:xfrm>
          <a:prstGeom prst="rect">
            <a:avLst/>
          </a:prstGeom>
          <a:noFill/>
        </p:spPr>
        <p:txBody>
          <a:bodyPr wrap="square" lIns="0" rIns="0" tIns="0" bIns="0">
            <a:spAutoFit/>
          </a:bodyPr>
          <a:lstStyle/>
          <a:p>
            <a:pPr algn="l">
              <a:lnSpc>
                <a:spcPct val="125000"/>
              </a:lnSpc>
              <a:spcAft>
                <a:spcPts val="600"/>
              </a:spcAft>
            </a:pPr>
            <a:r>
              <a:rPr sz="5600" b="1">
                <a:solidFill>
                  <a:srgbClr val="16181A"/>
                </a:solidFill>
                <a:latin typeface="Arial"/>
              </a:rPr>
              <a:t>PARITY</a:t>
            </a:r>
          </a:p>
        </p:txBody>
      </p:sp>
      <p:sp>
        <p:nvSpPr>
          <p:cNvPr id="4" name="TextBox 3"/>
          <p:cNvSpPr txBox="1"/>
          <p:nvPr/>
        </p:nvSpPr>
        <p:spPr>
          <a:xfrm>
            <a:off x="868680" y="2761488"/>
            <a:ext cx="10058400" cy="822960"/>
          </a:xfrm>
          <a:prstGeom prst="rect">
            <a:avLst/>
          </a:prstGeom>
          <a:noFill/>
        </p:spPr>
        <p:txBody>
          <a:bodyPr wrap="square" lIns="0" rIns="0" tIns="0" bIns="0">
            <a:spAutoFit/>
          </a:bodyPr>
          <a:lstStyle/>
          <a:p>
            <a:pPr algn="l">
              <a:lnSpc>
                <a:spcPct val="135000"/>
              </a:lnSpc>
              <a:spcAft>
                <a:spcPts val="600"/>
              </a:spcAft>
            </a:pPr>
            <a:r>
              <a:rPr sz="2000" b="0">
                <a:solidFill>
                  <a:srgbClr val="6B7178"/>
                </a:solidFill>
                <a:latin typeface="Arial"/>
              </a:rPr>
              <a:t>An Adaptive Horror Game Driven by</a:t>
            </a:r>
          </a:p>
          <a:p>
            <a:pPr algn="l">
              <a:lnSpc>
                <a:spcPct val="135000"/>
              </a:lnSpc>
              <a:spcAft>
                <a:spcPts val="600"/>
              </a:spcAft>
            </a:pPr>
            <a:r>
              <a:rPr sz="2000" b="0">
                <a:solidFill>
                  <a:srgbClr val="6B7178"/>
                </a:solidFill>
                <a:latin typeface="Arial"/>
              </a:rPr>
              <a:t>Online Player-Trajectory Prediction</a:t>
            </a:r>
          </a:p>
        </p:txBody>
      </p:sp>
      <p:sp>
        <p:nvSpPr>
          <p:cNvPr id="5" name="Rectangle 4"/>
          <p:cNvSpPr/>
          <p:nvPr/>
        </p:nvSpPr>
        <p:spPr>
          <a:xfrm>
            <a:off x="896112" y="3840480"/>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133087"/>
            <a:ext cx="10058400" cy="109728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BCSE497J  ·  Project Review III  ·  Panel Review</a:t>
            </a:r>
          </a:p>
          <a:p>
            <a:pPr algn="l">
              <a:lnSpc>
                <a:spcPct val="150000"/>
              </a:lnSpc>
              <a:spcAft>
                <a:spcPts val="600"/>
              </a:spcAft>
            </a:pPr>
            <a:r>
              <a:rPr sz="1300" b="0">
                <a:solidFill>
                  <a:srgbClr val="6B7178"/>
                </a:solidFill>
                <a:latin typeface="Arial"/>
              </a:rPr>
              <a:t>Shivam Kumar  ·  Vellore Institute of Technology  ·  16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WHERE THIS STANDS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One minute of context, then evidence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55648"/>
            <a:ext cx="10881360" cy="310896"/>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WHAT THIS PANEL ASKED FOR LAST TIME</a:t>
            </a:r>
          </a:p>
        </p:txBody>
      </p:sp>
      <p:graphicFrame>
        <p:nvGraphicFramePr>
          <p:cNvPr id="6" name="Table 5"/>
          <p:cNvGraphicFramePr>
            <a:graphicFrameLocks noGrp="1"/>
          </p:cNvGraphicFramePr>
          <p:nvPr/>
        </p:nvGraphicFramePr>
        <p:xfrm>
          <a:off x="658368" y="2084831"/>
          <a:ext cx="10881360" cy="1920240"/>
        </p:xfrm>
        <a:graphic>
          <a:graphicData uri="http://schemas.openxmlformats.org/drawingml/2006/table">
            <a:tbl>
              <a:tblPr firstRow="1" bandRow="1">
                <a:tableStyleId>{5C22544A-7EE6-4342-B048-85BDC9FD1C3A}</a:tableStyleId>
              </a:tblPr>
              <a:tblGrid>
                <a:gridCol w="4206240"/>
                <a:gridCol w="6675120"/>
              </a:tblGrid>
              <a:tr h="384048">
                <a:tc>
                  <a:txBody>
                    <a:bodyPr/>
                    <a:lstStyle/>
                    <a:p>
                      <a:pPr>
                        <a:lnSpc>
                          <a:spcPct val="115000"/>
                        </a:lnSpc>
                      </a:pPr>
                      <a:r>
                        <a:rPr sz="900" b="1">
                          <a:solidFill>
                            <a:srgbClr val="6B7178"/>
                          </a:solidFill>
                          <a:latin typeface="Arial"/>
                        </a:rPr>
                        <a:t>You said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changed</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Show the AI functioning, not just described</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game now narrates its own reasoning on screen, in English, every turn</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The game should BE the implementation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four separate prototypes are merged into one playable build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Get to about half the 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The complete core loop runs; the 3D presentation layer is what remains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Explain the AI in plain view</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AI view shows its belief on the map and why it moves where it moves</a:t>
                      </a:r>
                    </a:p>
                  </a:txBody>
                  <a:tcPr marL="73152" marR="73152" marT="36576" marB="36576">
                    <a:solidFill>
                      <a:srgbClr val="FCFCFB"/>
                    </a:solidFill>
                  </a:tcPr>
                </a:tc>
              </a:tr>
            </a:tbl>
          </a:graphicData>
        </a:graphic>
      </p:graphicFrame>
      <p:sp>
        <p:nvSpPr>
          <p:cNvPr id="7" name="TextBox 6"/>
          <p:cNvSpPr txBox="1"/>
          <p:nvPr/>
        </p:nvSpPr>
        <p:spPr>
          <a:xfrm>
            <a:off x="658368" y="4114800"/>
            <a:ext cx="10881360" cy="8229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The problem it solves — horror antagonists are static (learnable, stop being frightening) or random (unlearnable, feel unfair). Neither adapts to the individual. PARITY builds an online behavioural model of this player and acts on it.</a:t>
            </a:r>
          </a:p>
        </p:txBody>
      </p:sp>
      <p:sp>
        <p:nvSpPr>
          <p:cNvPr id="8" name="Rectangle 7"/>
          <p:cNvSpPr/>
          <p:nvPr/>
        </p:nvSpPr>
        <p:spPr>
          <a:xfrm>
            <a:off x="658368" y="5029200"/>
            <a:ext cx="10881360" cy="128016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248656"/>
            <a:ext cx="10332720" cy="960120"/>
          </a:xfrm>
          <a:prstGeom prst="rect">
            <a:avLst/>
          </a:prstGeom>
          <a:noFill/>
        </p:spPr>
        <p:txBody>
          <a:bodyPr wrap="square" lIns="0" rIns="0" tIns="0" bIns="0">
            <a:spAutoFit/>
          </a:bodyPr>
          <a:lstStyle/>
          <a:p>
            <a:pPr algn="l">
              <a:lnSpc>
                <a:spcPct val="135000"/>
              </a:lnSpc>
              <a:spcAft>
                <a:spcPts val="400"/>
              </a:spcAft>
            </a:pPr>
            <a:r>
              <a:rPr sz="1400" b="0">
                <a:solidFill>
                  <a:srgbClr val="16181A"/>
                </a:solidFill>
                <a:latin typeface="Arial"/>
              </a:rPr>
              <a:t>Everything in this deck is executable.</a:t>
            </a:r>
          </a:p>
          <a:p>
            <a:pPr algn="l">
              <a:lnSpc>
                <a:spcPct val="135000"/>
              </a:lnSpc>
              <a:spcAft>
                <a:spcPts val="400"/>
              </a:spcAft>
            </a:pPr>
            <a:r>
              <a:rPr sz="1400" b="0">
                <a:solidFill>
                  <a:srgbClr val="16181A"/>
                </a:solidFill>
                <a:latin typeface="Arial"/>
              </a:rPr>
              <a:t>12 experiments and 9 invariant tests run from the command line in minutes; four prototypes run in a browser with no install. Figures and tables are generated from one metrics file, so nothing here is typed by hand.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GAME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First-person, and the AI is in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3d.png"/>
          <p:cNvPicPr>
            <a:picLocks noChangeAspect="1"/>
          </p:cNvPicPr>
          <p:nvPr/>
        </p:nvPicPr>
        <p:blipFill>
          <a:blip r:embed="rId2"/>
          <a:stretch>
            <a:fillRect/>
          </a:stretch>
        </p:blipFill>
        <p:spPr>
          <a:xfrm>
            <a:off x="1874519" y="1664208"/>
            <a:ext cx="8412480" cy="4732020"/>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Eight cells of the facility in a hand-written WebGL build. Record three codebooks, reach the uplink, and survive a thing that hears the doors you use. Here it has just found the player — and the panel on the right shows exactly how.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SAME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systems view: belief, sensors, and its reasoning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game.png"/>
          <p:cNvPicPr>
            <a:picLocks noChangeAspect="1"/>
          </p:cNvPicPr>
          <p:nvPr/>
        </p:nvPicPr>
        <p:blipFill>
          <a:blip r:embed="rId2"/>
          <a:stretch>
            <a:fillRect/>
          </a:stretch>
        </p:blipFill>
        <p:spPr>
          <a:xfrm>
            <a:off x="1874519" y="1664208"/>
            <a:ext cx="8412480" cy="4520139"/>
          </a:xfrm>
          <a:prstGeom prst="rect">
            <a:avLst/>
          </a:prstGeom>
        </p:spPr>
      </p:pic>
      <p:sp>
        <p:nvSpPr>
          <p:cNvPr id="6" name="TextBox 5"/>
          <p:cNvSpPr txBox="1"/>
          <p:nvPr/>
        </p:nvSpPr>
        <p:spPr>
          <a:xfrm>
            <a:off x="658368" y="6291072"/>
            <a:ext cx="10881360" cy="45720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Live capture after 22 windows. The AI has ringed room A — 'IT THINKS YOU ARE HERE' — while the player stands in H. It is confidently wrong, because the player has been using doors with no sensor on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AI IN PLAIN 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narrates every decision, in English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37360"/>
            <a:ext cx="10881360" cy="292608"/>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VERBATIM FROM THE RUNNING BUILD</a:t>
            </a:r>
          </a:p>
        </p:txBody>
      </p:sp>
      <p:sp>
        <p:nvSpPr>
          <p:cNvPr id="6" name="Rectangle 5"/>
          <p:cNvSpPr/>
          <p:nvPr/>
        </p:nvSpPr>
        <p:spPr>
          <a:xfrm>
            <a:off x="658368" y="2066543"/>
            <a:ext cx="10881360" cy="22860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249424"/>
            <a:ext cx="10332720" cy="1920240"/>
          </a:xfrm>
          <a:prstGeom prst="rect">
            <a:avLst/>
          </a:prstGeom>
          <a:noFill/>
        </p:spPr>
        <p:txBody>
          <a:bodyPr wrap="square" lIns="0" rIns="0" tIns="0" bIns="0">
            <a:spAutoFit/>
          </a:bodyPr>
          <a:lstStyle/>
          <a:p>
            <a:pPr algn="l">
              <a:lnSpc>
                <a:spcPct val="150000"/>
              </a:lnSpc>
              <a:spcAft>
                <a:spcPts val="200"/>
              </a:spcAft>
            </a:pPr>
            <a:r>
              <a:rPr sz="1250" b="0">
                <a:solidFill>
                  <a:srgbClr val="E8DCC4"/>
                </a:solidFill>
                <a:latin typeface="Consolas"/>
              </a:rPr>
              <a:t>›  A sensor tripped on the door between B and C. You are in B.</a:t>
            </a:r>
          </a:p>
          <a:p>
            <a:pPr algn="l">
              <a:lnSpc>
                <a:spcPct val="150000"/>
              </a:lnSpc>
              <a:spcAft>
                <a:spcPts val="200"/>
              </a:spcAft>
            </a:pPr>
            <a:r>
              <a:rPr sz="1250" b="0">
                <a:solidFill>
                  <a:srgbClr val="E8DCC4"/>
                </a:solidFill>
                <a:latin typeface="Consolas"/>
              </a:rPr>
              <a:t>›  From there I expect you to stay put (51%). Moving to intercept.</a:t>
            </a:r>
          </a:p>
          <a:p>
            <a:pPr algn="l">
              <a:lnSpc>
                <a:spcPct val="150000"/>
              </a:lnSpc>
              <a:spcAft>
                <a:spcPts val="200"/>
              </a:spcAft>
            </a:pPr>
            <a:r>
              <a:rPr sz="1250" b="0">
                <a:solidFill>
                  <a:srgbClr val="E8DCC4"/>
                </a:solidFill>
                <a:latin typeface="Consolas"/>
              </a:rPr>
              <a:t>›  Nothing tripped, but I do not think you stayed. You must have used an unwired</a:t>
            </a:r>
          </a:p>
          <a:p>
            <a:pPr algn="l">
              <a:lnSpc>
                <a:spcPct val="150000"/>
              </a:lnSpc>
              <a:spcAft>
                <a:spcPts val="200"/>
              </a:spcAft>
            </a:pPr>
            <a:r>
              <a:rPr sz="1250" b="0">
                <a:solidFill>
                  <a:srgbClr val="E8DCC4"/>
                </a:solidFill>
                <a:latin typeface="Consolas"/>
              </a:rPr>
              <a:t>    door. Down to 25% sure.</a:t>
            </a:r>
          </a:p>
          <a:p>
            <a:pPr algn="l">
              <a:lnSpc>
                <a:spcPct val="150000"/>
              </a:lnSpc>
              <a:spcAft>
                <a:spcPts val="200"/>
              </a:spcAft>
            </a:pPr>
            <a:r>
              <a:rPr sz="1250" b="0">
                <a:solidFill>
                  <a:srgbClr val="E8DCC4"/>
                </a:solidFill>
                <a:latin typeface="Consolas"/>
              </a:rPr>
              <a:t>›  Only 25% sure — not enough to commit. Sweeping A, which I have not checked in a while.</a:t>
            </a:r>
          </a:p>
          <a:p>
            <a:pPr algn="l">
              <a:lnSpc>
                <a:spcPct val="150000"/>
              </a:lnSpc>
              <a:spcAft>
                <a:spcPts val="200"/>
              </a:spcAft>
            </a:pPr>
            <a:r>
              <a:rPr sz="1250" b="0">
                <a:solidFill>
                  <a:srgbClr val="E8DCC4"/>
                </a:solidFill>
                <a:latin typeface="Consolas"/>
              </a:rPr>
              <a:t>›  You cannot see the register right now, so I turned over cell 4. I will not be telling you.</a:t>
            </a:r>
          </a:p>
        </p:txBody>
      </p:sp>
      <p:graphicFrame>
        <p:nvGraphicFramePr>
          <p:cNvPr id="8" name="Table 7"/>
          <p:cNvGraphicFramePr>
            <a:graphicFrameLocks noGrp="1"/>
          </p:cNvGraphicFramePr>
          <p:nvPr/>
        </p:nvGraphicFramePr>
        <p:xfrm>
          <a:off x="658368" y="457200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00" b="1">
                          <a:solidFill>
                            <a:srgbClr val="6B7178"/>
                          </a:solidFill>
                          <a:latin typeface="Arial"/>
                        </a:rPr>
                        <a:t>On screen</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exposes</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Belief heat on every room</a:t>
                      </a:r>
                    </a:p>
                  </a:txBody>
                  <a:tcPr marL="73152" marR="73152" marT="36576" marB="36576">
                    <a:solidFill>
                      <a:srgbClr val="FCFCFB"/>
                    </a:solidFill>
                  </a:tcPr>
                </a:tc>
                <a:tc>
                  <a:txBody>
                    <a:bodyPr/>
                    <a:lstStyle/>
                    <a:p>
                      <a:pPr>
                        <a:lnSpc>
                          <a:spcPct val="115000"/>
                        </a:lnSpc>
                      </a:pPr>
                      <a:r>
                        <a:rPr sz="1200" b="0">
                          <a:solidFill>
                            <a:srgbClr val="16181A"/>
                          </a:solidFill>
                          <a:latin typeface="Arial"/>
                        </a:rPr>
                        <a:t>Where it thinks you are, and how wrong that is</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Dashed vs solid doors</a:t>
                      </a:r>
                    </a:p>
                  </a:txBody>
                  <a:tcPr marL="73152" marR="73152" marT="36576" marB="36576">
                    <a:solidFill>
                      <a:srgbClr val="FCFCFB"/>
                    </a:solidFill>
                  </a:tcPr>
                </a:tc>
                <a:tc>
                  <a:txBody>
                    <a:bodyPr/>
                    <a:lstStyle/>
                    <a:p>
                      <a:pPr>
                        <a:lnSpc>
                          <a:spcPct val="115000"/>
                        </a:lnSpc>
                      </a:pPr>
                      <a:r>
                        <a:rPr sz="1200" b="0">
                          <a:solidFill>
                            <a:srgbClr val="16181A"/>
                          </a:solidFill>
                          <a:latin typeface="Arial"/>
                        </a:rPr>
                        <a:t>Which doors can hear you</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'Strongest rule learned'</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habit it has picked up, in counts: 'after A→A you go to A, 10 of 10'</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Confidence percentage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Why it commits to an intercept, or sweeps instead</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much of the game is built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2103120"/>
                <a:gridCol w="4023360"/>
                <a:gridCol w="1463040"/>
                <a:gridCol w="3291840"/>
              </a:tblGrid>
              <a:tr h="320040">
                <a:tc>
                  <a:txBody>
                    <a:bodyPr/>
                    <a:lstStyle/>
                    <a:p>
                      <a:pPr>
                        <a:lnSpc>
                          <a:spcPct val="115000"/>
                        </a:lnSpc>
                      </a:pPr>
                      <a:r>
                        <a:rPr sz="850" b="1">
                          <a:solidFill>
                            <a:srgbClr val="6B7178"/>
                          </a:solidFill>
                          <a:latin typeface="Arial"/>
                        </a:rPr>
                        <a:t>System (approved design)</a:t>
                      </a:r>
                    </a:p>
                  </a:txBody>
                  <a:tcPr marL="73152" marR="73152" marT="36576" marB="36576">
                    <a:solidFill>
                      <a:srgbClr val="F4F6F8"/>
                    </a:solidFill>
                  </a:tcPr>
                </a:tc>
                <a:tc>
                  <a:txBody>
                    <a:bodyPr/>
                    <a:lstStyle/>
                    <a:p>
                      <a:pPr>
                        <a:lnSpc>
                          <a:spcPct val="115000"/>
                        </a:lnSpc>
                      </a:pPr>
                      <a:r>
                        <a:rPr sz="85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850" b="1">
                          <a:solidFill>
                            <a:srgbClr val="6B7178"/>
                          </a:solidFill>
                          <a:latin typeface="Arial"/>
                        </a:rPr>
                        <a:t>Status</a:t>
                      </a:r>
                    </a:p>
                  </a:txBody>
                  <a:tcPr marL="73152" marR="73152" marT="36576" marB="36576">
                    <a:solidFill>
                      <a:srgbClr val="F4F6F8"/>
                    </a:solidFill>
                  </a:tcPr>
                </a:tc>
                <a:tc>
                  <a:txBody>
                    <a:bodyPr/>
                    <a:lstStyle/>
                    <a:p>
                      <a:pPr>
                        <a:lnSpc>
                          <a:spcPct val="115000"/>
                        </a:lnSpc>
                      </a:pPr>
                      <a:r>
                        <a:rPr sz="850" b="1">
                          <a:solidFill>
                            <a:srgbClr val="6B7178"/>
                          </a:solidFill>
                          <a:latin typeface="Arial"/>
                        </a:rPr>
                        <a:t>Where it runs</a:t>
                      </a:r>
                    </a:p>
                  </a:txBody>
                  <a:tcPr marL="73152" marR="73152" marT="36576" marB="36576">
                    <a:solidFill>
                      <a:srgbClr val="F4F6F8"/>
                    </a:solidFill>
                  </a:tcPr>
                </a:tc>
              </a:tr>
              <a:tr h="320040">
                <a:tc>
                  <a:txBody>
                    <a:bodyPr/>
                    <a:lstStyle/>
                    <a:p>
                      <a:pPr>
                        <a:lnSpc>
                          <a:spcPct val="115000"/>
                        </a:lnSpc>
                      </a:pPr>
                      <a:r>
                        <a:rPr sz="10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000" b="0">
                          <a:solidFill>
                            <a:srgbClr val="16181A"/>
                          </a:solidFill>
                          <a:latin typeface="Arial"/>
                        </a:rPr>
                        <a:t>Room graph, mutation, connectivity invariants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facility.py · 4 tests</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Variable-order Markov model, online, persists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predictors.py · E1-E3</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000" b="0">
                          <a:solidFill>
                            <a:srgbClr val="16181A"/>
                          </a:solidFill>
                          <a:latin typeface="Arial"/>
                        </a:rPr>
                        <a:t>Scores and selects counter-moves, gated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E4-E7</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000" b="0">
                          <a:solidFill>
                            <a:srgbClr val="16181A"/>
                          </a:solidFill>
                          <a:latin typeface="Arial"/>
                        </a:rPr>
                        <a:t>Sole mutator of world state, logged</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E5-E6</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000" b="0">
                          <a:solidFill>
                            <a:srgbClr val="16181A"/>
                          </a:solidFill>
                          <a:latin typeface="Arial"/>
                        </a:rPr>
                        <a:t>Routes, dwell, edge traversals</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E10</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000" b="0">
                          <a:solidFill>
                            <a:srgbClr val="16181A"/>
                          </a:solidFill>
                          <a:latin typeface="Arial"/>
                        </a:rPr>
                        <a:t>Perception, pursuit, interception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director.py · E4</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Sensors + belief</a:t>
                      </a:r>
                    </a:p>
                  </a:txBody>
                  <a:tcPr marL="73152" marR="73152" marT="36576" marB="36576">
                    <a:solidFill>
                      <a:srgbClr val="FCFCFB"/>
                    </a:solidFill>
                  </a:tcPr>
                </a:tc>
                <a:tc>
                  <a:txBody>
                    <a:bodyPr/>
                    <a:lstStyle/>
                    <a:p>
                      <a:pPr>
                        <a:lnSpc>
                          <a:spcPct val="115000"/>
                        </a:lnSpc>
                      </a:pPr>
                      <a:r>
                        <a:rPr sz="1000" b="0">
                          <a:solidFill>
                            <a:srgbClr val="16181A"/>
                          </a:solidFill>
                          <a:latin typeface="Arial"/>
                        </a:rPr>
                        <a:t>Partial observation (NEW this cycle)</a:t>
                      </a:r>
                    </a:p>
                  </a:txBody>
                  <a:tcPr marL="73152" marR="73152" marT="36576" marB="36576">
                    <a:solidFill>
                      <a:srgbClr val="FCFCFB"/>
                    </a:solidFill>
                  </a:tcPr>
                </a:tc>
                <a:tc>
                  <a:txBody>
                    <a:bodyPr/>
                    <a:lstStyle/>
                    <a:p>
                      <a:pPr>
                        <a:lnSpc>
                          <a:spcPct val="115000"/>
                        </a:lnSpc>
                      </a:pPr>
                      <a:r>
                        <a:rPr sz="1000" b="0">
                          <a:solidFill>
                            <a:srgbClr val="16181A"/>
                          </a:solidFill>
                          <a:latin typeface="Arial"/>
                        </a:rPr>
                        <a:t>Complete</a:t>
                      </a:r>
                    </a:p>
                  </a:txBody>
                  <a:tcPr marL="73152" marR="73152" marT="36576" marB="36576">
                    <a:solidFill>
                      <a:srgbClr val="FCFCFB"/>
                    </a:solidFill>
                  </a:tcPr>
                </a:tc>
                <a:tc>
                  <a:txBody>
                    <a:bodyPr/>
                    <a:lstStyle/>
                    <a:p>
                      <a:pPr>
                        <a:lnSpc>
                          <a:spcPct val="115000"/>
                        </a:lnSpc>
                      </a:pPr>
                      <a:r>
                        <a:rPr sz="1000" b="0">
                          <a:solidFill>
                            <a:srgbClr val="16181A"/>
                          </a:solidFill>
                          <a:latin typeface="Arial"/>
                        </a:rPr>
                        <a:t>sensors.py · E11-E12</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000" b="0">
                          <a:solidFill>
                            <a:srgbClr val="16181A"/>
                          </a:solidFill>
                          <a:latin typeface="Arial"/>
                        </a:rPr>
                        <a:t>Freehand editor, strokes, undo, pages</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000" b="0">
                          <a:solidFill>
                            <a:srgbClr val="16181A"/>
                          </a:solidFill>
                          <a:latin typeface="Arial"/>
                        </a:rPr>
                        <a:t>Codebooks, register, transmit validation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Door clock</a:t>
                      </a:r>
                    </a:p>
                  </a:txBody>
                  <a:tcPr marL="73152" marR="73152" marT="36576" marB="36576">
                    <a:solidFill>
                      <a:srgbClr val="FCFCFB"/>
                    </a:solidFill>
                  </a:tcPr>
                </a:tc>
                <a:tc>
                  <a:txBody>
                    <a:bodyPr/>
                    <a:lstStyle/>
                    <a:p>
                      <a:pPr>
                        <a:lnSpc>
                          <a:spcPct val="115000"/>
                        </a:lnSpc>
                      </a:pPr>
                      <a:r>
                        <a:rPr sz="1000" b="0">
                          <a:solidFill>
                            <a:srgbClr val="16181A"/>
                          </a:solidFill>
                          <a:latin typeface="Arial"/>
                        </a:rPr>
                        <a:t>Lockdown / window cycle, the whole rhythm</a:t>
                      </a:r>
                    </a:p>
                  </a:txBody>
                  <a:tcPr marL="73152" marR="73152" marT="36576" marB="36576">
                    <a:solidFill>
                      <a:srgbClr val="FCFCFB"/>
                    </a:solidFill>
                  </a:tcPr>
                </a:tc>
                <a:tc>
                  <a:txBody>
                    <a:bodyPr/>
                    <a:lstStyle/>
                    <a:p>
                      <a:pPr>
                        <a:lnSpc>
                          <a:spcPct val="115000"/>
                        </a:lnSpc>
                      </a:pPr>
                      <a:r>
                        <a:rPr sz="1000" b="0">
                          <a:solidFill>
                            <a:srgbClr val="16181A"/>
                          </a:solidFill>
                          <a:latin typeface="Arial"/>
                        </a:rPr>
                        <a:t>In game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parity-game.html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First-person build</a:t>
                      </a:r>
                    </a:p>
                  </a:txBody>
                  <a:tcPr marL="73152" marR="73152" marT="36576" marB="36576">
                    <a:solidFill>
                      <a:srgbClr val="FCFCFB"/>
                    </a:solidFill>
                  </a:tcPr>
                </a:tc>
                <a:tc>
                  <a:txBody>
                    <a:bodyPr/>
                    <a:lstStyle/>
                    <a:p>
                      <a:pPr>
                        <a:lnSpc>
                          <a:spcPct val="115000"/>
                        </a:lnSpc>
                      </a:pPr>
                      <a:r>
                        <a:rPr sz="1000" b="0">
                          <a:solidFill>
                            <a:srgbClr val="16181A"/>
                          </a:solidFill>
                          <a:latin typeface="Arial"/>
                        </a:rPr>
                        <a:t>Walkable facility, clock, entity, AI narration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Playable</a:t>
                      </a:r>
                    </a:p>
                  </a:txBody>
                  <a:tcPr marL="73152" marR="73152" marT="36576" marB="36576">
                    <a:solidFill>
                      <a:srgbClr val="FCFCFB"/>
                    </a:solidFill>
                  </a:tcPr>
                </a:tc>
                <a:tc>
                  <a:txBody>
                    <a:bodyPr/>
                    <a:lstStyle/>
                    <a:p>
                      <a:pPr>
                        <a:lnSpc>
                          <a:spcPct val="115000"/>
                        </a:lnSpc>
                      </a:pPr>
                      <a:r>
                        <a:rPr sz="1000" b="0">
                          <a:solidFill>
                            <a:srgbClr val="16181A"/>
                          </a:solidFill>
                          <a:latin typeface="Arial"/>
                        </a:rPr>
                        <a:t>parity-3d.html</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Godot port</a:t>
                      </a:r>
                    </a:p>
                  </a:txBody>
                  <a:tcPr marL="73152" marR="73152" marT="36576" marB="36576">
                    <a:solidFill>
                      <a:srgbClr val="FCFCFB"/>
                    </a:solidFill>
                  </a:tcPr>
                </a:tc>
                <a:tc>
                  <a:txBody>
                    <a:bodyPr/>
                    <a:lstStyle/>
                    <a:p>
                      <a:pPr>
                        <a:lnSpc>
                          <a:spcPct val="115000"/>
                        </a:lnSpc>
                      </a:pPr>
                      <a:r>
                        <a:rPr sz="1000" b="0">
                          <a:solidFill>
                            <a:srgbClr val="16181A"/>
                          </a:solidFill>
                          <a:latin typeface="Arial"/>
                        </a:rPr>
                        <a:t>Engine build, lighting, animation</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r h="320040">
                <a:tc>
                  <a:txBody>
                    <a:bodyPr/>
                    <a:lstStyle/>
                    <a:p>
                      <a:pPr>
                        <a:lnSpc>
                          <a:spcPct val="115000"/>
                        </a:lnSpc>
                      </a:pPr>
                      <a:r>
                        <a:rPr sz="1000" b="0">
                          <a:solidFill>
                            <a:srgbClr val="16181A"/>
                          </a:solidFill>
                          <a:latin typeface="Arial"/>
                        </a:rPr>
                        <a:t>Audio, content, progression</a:t>
                      </a:r>
                    </a:p>
                  </a:txBody>
                  <a:tcPr marL="73152" marR="73152" marT="36576" marB="36576">
                    <a:solidFill>
                      <a:srgbClr val="FCFCFB"/>
                    </a:solidFill>
                  </a:tcPr>
                </a:tc>
                <a:tc>
                  <a:txBody>
                    <a:bodyPr/>
                    <a:lstStyle/>
                    <a:p>
                      <a:pPr>
                        <a:lnSpc>
                          <a:spcPct val="115000"/>
                        </a:lnSpc>
                      </a:pPr>
                      <a:r>
                        <a:rPr sz="1000" b="0">
                          <a:solidFill>
                            <a:srgbClr val="16181A"/>
                          </a:solidFill>
                          <a:latin typeface="Arial"/>
                        </a:rPr>
                        <a:t>Atmosphere, multiple floors, persistence</a:t>
                      </a:r>
                    </a:p>
                  </a:txBody>
                  <a:tcPr marL="73152" marR="73152" marT="36576" marB="36576">
                    <a:solidFill>
                      <a:srgbClr val="FCFCFB"/>
                    </a:solidFill>
                  </a:tcPr>
                </a:tc>
                <a:tc>
                  <a:txBody>
                    <a:bodyPr/>
                    <a:lstStyle/>
                    <a:p>
                      <a:pPr>
                        <a:lnSpc>
                          <a:spcPct val="115000"/>
                        </a:lnSpc>
                      </a:pPr>
                      <a:r>
                        <a:rPr sz="1000" b="0">
                          <a:solidFill>
                            <a:srgbClr val="16181A"/>
                          </a:solidFill>
                          <a:latin typeface="Arial"/>
                        </a:rPr>
                        <a:t>Not started</a:t>
                      </a:r>
                    </a:p>
                  </a:txBody>
                  <a:tcPr marL="73152" marR="73152" marT="36576" marB="36576">
                    <a:solidFill>
                      <a:srgbClr val="FCFCFB"/>
                    </a:solidFill>
                  </a:tcPr>
                </a:tc>
                <a:tc>
                  <a:txBody>
                    <a:bodyPr/>
                    <a:lstStyle/>
                    <a:p>
                      <a:pPr>
                        <a:lnSpc>
                          <a:spcPct val="115000"/>
                        </a:lnSpc>
                      </a:pPr>
                      <a:r>
                        <a:rPr sz="10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6327648"/>
            <a:ext cx="10881360" cy="457200"/>
          </a:xfrm>
          <a:prstGeom prst="rect">
            <a:avLst/>
          </a:prstGeom>
          <a:noFill/>
        </p:spPr>
        <p:txBody>
          <a:bodyPr wrap="square" lIns="0" rIns="0" tIns="0" bIns="0">
            <a:spAutoFit/>
          </a:bodyPr>
          <a:lstStyle/>
          <a:p>
            <a:pPr algn="l">
              <a:lnSpc>
                <a:spcPct val="125000"/>
              </a:lnSpc>
              <a:spcAft>
                <a:spcPts val="600"/>
              </a:spcAft>
            </a:pPr>
            <a:r>
              <a:rPr sz="1150" b="0">
                <a:solidFill>
                  <a:srgbClr val="6B7178"/>
                </a:solidFill>
                <a:latin typeface="Arial"/>
              </a:rPr>
              <a:t>The whole core loop is playable: move on the clock, read codebooks, write pages, stage and send a byte, evade an AI that models you. What remains is presentation and content, not mechanism — roughly half the game.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Executable, and attributable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926080"/>
                <a:gridCol w="3931920"/>
                <a:gridCol w="4023360"/>
              </a:tblGrid>
              <a:tr h="384048">
                <a:tc>
                  <a:txBody>
                    <a:bodyPr/>
                    <a:lstStyle/>
                    <a:p>
                      <a:pPr>
                        <a:lnSpc>
                          <a:spcPct val="115000"/>
                        </a:lnSpc>
                      </a:pPr>
                      <a:r>
                        <a:rPr sz="900" b="1">
                          <a:solidFill>
                            <a:srgbClr val="6B7178"/>
                          </a:solidFill>
                          <a:latin typeface="Arial"/>
                        </a:rPr>
                        <a:t>Artefact</a:t>
                      </a:r>
                    </a:p>
                  </a:txBody>
                  <a:tcPr marL="73152" marR="73152" marT="36576" marB="36576">
                    <a:solidFill>
                      <a:srgbClr val="F4F6F8"/>
                    </a:solidFill>
                  </a:tcPr>
                </a:tc>
                <a:tc>
                  <a:txBody>
                    <a:bodyPr/>
                    <a:lstStyle/>
                    <a:p>
                      <a:pPr>
                        <a:lnSpc>
                          <a:spcPct val="115000"/>
                        </a:lnSpc>
                      </a:pPr>
                      <a:r>
                        <a:rPr sz="900" b="1">
                          <a:solidFill>
                            <a:srgbClr val="6B7178"/>
                          </a:solidFill>
                          <a:latin typeface="Arial"/>
                        </a:rPr>
                        <a:t>Scale</a:t>
                      </a:r>
                    </a:p>
                  </a:txBody>
                  <a:tcPr marL="73152" marR="73152" marT="36576" marB="36576">
                    <a:solidFill>
                      <a:srgbClr val="F4F6F8"/>
                    </a:solidFill>
                  </a:tcPr>
                </a:tc>
                <a:tc>
                  <a:txBody>
                    <a:bodyPr/>
                    <a:lstStyle/>
                    <a:p>
                      <a:pPr>
                        <a:lnSpc>
                          <a:spcPct val="115000"/>
                        </a:lnSpc>
                      </a:pPr>
                      <a:r>
                        <a:rPr sz="900" b="1">
                          <a:solidFill>
                            <a:srgbClr val="6B7178"/>
                          </a:solidFill>
                          <a:latin typeface="Arial"/>
                        </a:rPr>
                        <a:t>How the panel can verify it</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Simulation core and model</a:t>
                      </a:r>
                    </a:p>
                  </a:txBody>
                  <a:tcPr marL="73152" marR="73152" marT="36576" marB="36576">
                    <a:solidFill>
                      <a:srgbClr val="FCFCFB"/>
                    </a:solidFill>
                  </a:tcPr>
                </a:tc>
                <a:tc>
                  <a:txBody>
                    <a:bodyPr/>
                    <a:lstStyle/>
                    <a:p>
                      <a:pPr>
                        <a:lnSpc>
                          <a:spcPct val="115000"/>
                        </a:lnSpc>
                      </a:pPr>
                      <a:r>
                        <a:rPr sz="1200" b="0">
                          <a:solidFill>
                            <a:srgbClr val="16181A"/>
                          </a:solidFill>
                          <a:latin typeface="Arial"/>
                        </a:rPr>
                        <a:t>1,850 lines of Python, 10 modules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model/evaluate.py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Invariant test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9 properties over 25 generated facilities</a:t>
                      </a:r>
                    </a:p>
                  </a:txBody>
                  <a:tcPr marL="73152" marR="73152" marT="36576" marB="36576">
                    <a:solidFill>
                      <a:srgbClr val="FCFCFB"/>
                    </a:solidFill>
                  </a:tcPr>
                </a:tc>
                <a:tc>
                  <a:txBody>
                    <a:bodyPr/>
                    <a:lstStyle/>
                    <a:p>
                      <a:pPr>
                        <a:lnSpc>
                          <a:spcPct val="115000"/>
                        </a:lnSpc>
                      </a:pPr>
                      <a:r>
                        <a:rPr sz="1200" b="0">
                          <a:solidFill>
                            <a:srgbClr val="16181A"/>
                          </a:solidFill>
                          <a:latin typeface="Arial"/>
                        </a:rPr>
                        <a:t>python3 model/test_invariants.py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Experiment suite</a:t>
                      </a:r>
                    </a:p>
                  </a:txBody>
                  <a:tcPr marL="73152" marR="73152" marT="36576" marB="36576">
                    <a:solidFill>
                      <a:srgbClr val="FCFCFB"/>
                    </a:solidFill>
                  </a:tcPr>
                </a:tc>
                <a:tc>
                  <a:txBody>
                    <a:bodyPr/>
                    <a:lstStyle/>
                    <a:p>
                      <a:pPr>
                        <a:lnSpc>
                          <a:spcPct val="115000"/>
                        </a:lnSpc>
                      </a:pPr>
                      <a:r>
                        <a:rPr sz="1200" b="0">
                          <a:solidFill>
                            <a:srgbClr val="16181A"/>
                          </a:solidFill>
                          <a:latin typeface="Arial"/>
                        </a:rPr>
                        <a:t>12 experiments, all seeded and reproducible</a:t>
                      </a:r>
                    </a:p>
                  </a:txBody>
                  <a:tcPr marL="73152" marR="73152" marT="36576" marB="36576">
                    <a:solidFill>
                      <a:srgbClr val="FCFCFB"/>
                    </a:solidFill>
                  </a:tcPr>
                </a:tc>
                <a:tc>
                  <a:txBody>
                    <a:bodyPr/>
                    <a:lstStyle/>
                    <a:p>
                      <a:pPr>
                        <a:lnSpc>
                          <a:spcPct val="115000"/>
                        </a:lnSpc>
                      </a:pPr>
                      <a:r>
                        <a:rPr sz="1200" b="0">
                          <a:solidFill>
                            <a:srgbClr val="16181A"/>
                          </a:solidFill>
                          <a:latin typeface="Arial"/>
                        </a:rPr>
                        <a:t>writes out/metrics.json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Browser prototypes</a:t>
                      </a:r>
                    </a:p>
                  </a:txBody>
                  <a:tcPr marL="73152" marR="73152" marT="36576" marB="36576">
                    <a:solidFill>
                      <a:srgbClr val="FCFCFB"/>
                    </a:solidFill>
                  </a:tcPr>
                </a:tc>
                <a:tc>
                  <a:txBody>
                    <a:bodyPr/>
                    <a:lstStyle/>
                    <a:p>
                      <a:pPr>
                        <a:lnSpc>
                          <a:spcPct val="115000"/>
                        </a:lnSpc>
                      </a:pPr>
                      <a:r>
                        <a:rPr sz="1200" b="0">
                          <a:solidFill>
                            <a:srgbClr val="16181A"/>
                          </a:solidFill>
                          <a:latin typeface="Arial"/>
                        </a:rPr>
                        <a:t>1,818 lines of JavaScript, 4 apps</a:t>
                      </a:r>
                    </a:p>
                  </a:txBody>
                  <a:tcPr marL="73152" marR="73152" marT="36576" marB="36576">
                    <a:solidFill>
                      <a:srgbClr val="FCFCFB"/>
                    </a:solidFill>
                  </a:tcPr>
                </a:tc>
                <a:tc>
                  <a:txBody>
                    <a:bodyPr/>
                    <a:lstStyle/>
                    <a:p>
                      <a:pPr>
                        <a:lnSpc>
                          <a:spcPct val="115000"/>
                        </a:lnSpc>
                      </a:pPr>
                      <a:r>
                        <a:rPr sz="1200" b="0">
                          <a:solidFill>
                            <a:srgbClr val="16181A"/>
                          </a:solidFill>
                          <a:latin typeface="Arial"/>
                        </a:rPr>
                        <a:t>open the .html — no install</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Version history</a:t>
                      </a:r>
                    </a:p>
                  </a:txBody>
                  <a:tcPr marL="73152" marR="73152" marT="36576" marB="36576">
                    <a:solidFill>
                      <a:srgbClr val="FCFCFB"/>
                    </a:solidFill>
                  </a:tcPr>
                </a:tc>
                <a:tc>
                  <a:txBody>
                    <a:bodyPr/>
                    <a:lstStyle/>
                    <a:p>
                      <a:pPr>
                        <a:lnSpc>
                          <a:spcPct val="115000"/>
                        </a:lnSpc>
                      </a:pPr>
                      <a:r>
                        <a:rPr sz="1200" b="0">
                          <a:solidFill>
                            <a:srgbClr val="16181A"/>
                          </a:solidFill>
                          <a:latin typeface="Arial"/>
                        </a:rPr>
                        <a:t>12 commits, single author</a:t>
                      </a:r>
                    </a:p>
                  </a:txBody>
                  <a:tcPr marL="73152" marR="73152" marT="36576" marB="36576">
                    <a:solidFill>
                      <a:srgbClr val="FCFCFB"/>
                    </a:solidFill>
                  </a:tcPr>
                </a:tc>
                <a:tc>
                  <a:txBody>
                    <a:bodyPr/>
                    <a:lstStyle/>
                    <a:p>
                      <a:pPr>
                        <a:lnSpc>
                          <a:spcPct val="115000"/>
                        </a:lnSpc>
                      </a:pPr>
                      <a:r>
                        <a:rPr sz="1200" b="0">
                          <a:solidFill>
                            <a:srgbClr val="16181A"/>
                          </a:solidFill>
                          <a:latin typeface="Arial"/>
                        </a:rPr>
                        <a:t>git log</a:t>
                      </a:r>
                    </a:p>
                  </a:txBody>
                  <a:tcPr marL="73152" marR="73152" marT="36576" marB="36576">
                    <a:solidFill>
                      <a:srgbClr val="FCFCFB"/>
                    </a:solidFill>
                  </a:tcPr>
                </a:tc>
              </a:tr>
            </a:tbl>
          </a:graphicData>
        </a:graphic>
      </p:graphicFrame>
      <p:sp>
        <p:nvSpPr>
          <p:cNvPr id="6" name="TextBox 5"/>
          <p:cNvSpPr txBox="1"/>
          <p:nvPr/>
        </p:nvSpPr>
        <p:spPr>
          <a:xfrm>
            <a:off x="658368" y="411480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THE FOUR PROTOTYPES</a:t>
            </a:r>
          </a:p>
        </p:txBody>
      </p:sp>
      <p:sp>
        <p:nvSpPr>
          <p:cNvPr id="7" name="TextBox 6"/>
          <p:cNvSpPr txBox="1"/>
          <p:nvPr/>
        </p:nvSpPr>
        <p:spPr>
          <a:xfrm>
            <a:off x="658368" y="4480560"/>
            <a:ext cx="10881360" cy="4480560"/>
          </a:xfrm>
          <a:prstGeom prst="rect">
            <a:avLst/>
          </a:prstGeom>
          <a:noFill/>
        </p:spPr>
        <p:txBody>
          <a:bodyPr wrap="square" lIns="0" rIns="0" tIns="0" bIns="0">
            <a:spAutoFit/>
          </a:bodyPr>
          <a:lstStyle/>
          <a:p>
            <a:pPr>
              <a:lnSpc>
                <a:spcPct val="130000"/>
              </a:lnSpc>
              <a:spcAft>
                <a:spcPts val="500"/>
              </a:spcAft>
            </a:pPr>
            <a:r>
              <a:rPr sz="1300" b="1">
                <a:solidFill>
                  <a:srgbClr val="16181A"/>
                </a:solidFill>
                <a:latin typeface="Arial"/>
              </a:rPr>
              <a:t>Model monitor —  </a:t>
            </a:r>
            <a:r>
              <a:rPr sz="1300">
                <a:solidFill>
                  <a:srgbClr val="6B7178"/>
                </a:solidFill>
                <a:latin typeface="Arial"/>
              </a:rPr>
              <a:t>the predictor running live, with its belief and accuracy on screen.</a:t>
            </a:r>
          </a:p>
          <a:p>
            <a:pPr>
              <a:lnSpc>
                <a:spcPct val="130000"/>
              </a:lnSpc>
              <a:spcAft>
                <a:spcPts val="500"/>
              </a:spcAft>
            </a:pPr>
            <a:r>
              <a:rPr sz="1300" b="1">
                <a:solidFill>
                  <a:srgbClr val="16181A"/>
                </a:solidFill>
                <a:latin typeface="Arial"/>
              </a:rPr>
              <a:t>Vertical slice —  </a:t>
            </a:r>
            <a:r>
              <a:rPr sz="1300">
                <a:solidFill>
                  <a:srgbClr val="6B7178"/>
                </a:solidFill>
                <a:latin typeface="Arial"/>
              </a:rPr>
              <a:t>the game loop: door clock, notebook, register, and the AI tampering with a staged byte.</a:t>
            </a:r>
          </a:p>
          <a:p>
            <a:pPr>
              <a:lnSpc>
                <a:spcPct val="130000"/>
              </a:lnSpc>
              <a:spcAft>
                <a:spcPts val="500"/>
              </a:spcAft>
            </a:pPr>
            <a:r>
              <a:rPr sz="1300" b="1">
                <a:solidFill>
                  <a:srgbClr val="16181A"/>
                </a:solidFill>
                <a:latin typeface="Arial"/>
              </a:rPr>
              <a:t>Notebook —  </a:t>
            </a:r>
            <a:r>
              <a:rPr sz="1300">
                <a:solidFill>
                  <a:srgbClr val="6B7178"/>
                </a:solidFill>
                <a:latin typeface="Arial"/>
              </a:rPr>
              <a:t>freehand editor with stroke-level erase and pages.</a:t>
            </a:r>
          </a:p>
          <a:p>
            <a:pPr>
              <a:lnSpc>
                <a:spcPct val="130000"/>
              </a:lnSpc>
              <a:spcAft>
                <a:spcPts val="500"/>
              </a:spcAft>
            </a:pPr>
            <a:r>
              <a:rPr sz="1300" b="1">
                <a:solidFill>
                  <a:srgbClr val="16181A"/>
                </a:solidFill>
                <a:latin typeface="Arial"/>
              </a:rPr>
              <a:t>Room study —  </a:t>
            </a:r>
            <a:r>
              <a:rPr sz="1300">
                <a:solidFill>
                  <a:srgbClr val="6B7178"/>
                </a:solidFill>
                <a:latin typeface="Arial"/>
              </a:rPr>
              <a:t>walkable first-person art direction, hand-written WebGL.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IMPLEMENTATION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NEW THIS CYCLE</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Partial observation — and why it was the right next thing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325880"/>
          </a:xfrm>
          <a:prstGeom prst="rect">
            <a:avLst/>
          </a:prstGeom>
          <a:solidFill>
            <a:srgbClr val="FFF6F0"/>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10332720" cy="1005840"/>
          </a:xfrm>
          <a:prstGeom prst="rect">
            <a:avLst/>
          </a:prstGeom>
          <a:noFill/>
        </p:spPr>
        <p:txBody>
          <a:bodyPr wrap="square" lIns="0" rIns="0" tIns="0" bIns="0">
            <a:spAutoFit/>
          </a:bodyPr>
          <a:lstStyle/>
          <a:p>
            <a:pPr algn="l">
              <a:lnSpc>
                <a:spcPct val="132000"/>
              </a:lnSpc>
              <a:spcAft>
                <a:spcPts val="400"/>
              </a:spcAft>
            </a:pPr>
            <a:r>
              <a:rPr sz="1350" b="0">
                <a:solidFill>
                  <a:srgbClr val="16181A"/>
                </a:solidFill>
                <a:latin typeface="Arial"/>
              </a:rPr>
              <a:t>The last review ended on a negative result.</a:t>
            </a:r>
          </a:p>
          <a:p>
            <a:pPr algn="l">
              <a:lnSpc>
                <a:spcPct val="132000"/>
              </a:lnSpc>
              <a:spcAft>
                <a:spcPts val="400"/>
              </a:spcAft>
            </a:pPr>
            <a:r>
              <a:rPr sz="1350" b="0">
                <a:solidFill>
                  <a:srgbClr val="16181A"/>
                </a:solidFill>
                <a:latin typeface="Arial"/>
              </a:rPr>
              <a:t>An evasive player who declined a third of all windows cut their capture risk by only 1.7%. Waiting was not a defence — and the diagnosis was the observation model, not the algorithm: an antagonist that already knows your room is not denied anything when you stand still.</a:t>
            </a:r>
          </a:p>
        </p:txBody>
      </p:sp>
      <p:sp>
        <p:nvSpPr>
          <p:cNvPr id="7" name="TextBox 6"/>
          <p:cNvSpPr txBox="1"/>
          <p:nvPr/>
        </p:nvSpPr>
        <p:spPr>
          <a:xfrm>
            <a:off x="658368" y="3337560"/>
            <a:ext cx="10881360" cy="4480560"/>
          </a:xfrm>
          <a:prstGeom prst="rect">
            <a:avLst/>
          </a:prstGeom>
          <a:noFill/>
        </p:spPr>
        <p:txBody>
          <a:bodyPr wrap="square" lIns="0" rIns="0" tIns="0" bIns="0">
            <a:spAutoFit/>
          </a:bodyPr>
          <a:lstStyle/>
          <a:p>
            <a:pPr>
              <a:lnSpc>
                <a:spcPct val="130000"/>
              </a:lnSpc>
              <a:spcAft>
                <a:spcPts val="1300"/>
              </a:spcAft>
            </a:pPr>
            <a:r>
              <a:rPr sz="1400" b="1">
                <a:solidFill>
                  <a:srgbClr val="16181A"/>
                </a:solidFill>
                <a:latin typeface="Arial"/>
              </a:rPr>
              <a:t>What was built —  </a:t>
            </a:r>
            <a:r>
              <a:rPr sz="1400">
                <a:solidFill>
                  <a:srgbClr val="6B7178"/>
                </a:solidFill>
                <a:latin typeface="Arial"/>
              </a:rPr>
              <a:t>door motion-detectors, and a Bayes forward filter so the antagonist tracks a BELIEF over rooms instead of the truth. Coverage is tunable: some doors are unwired, and the player can spend a dangerous task to silence one.</a:t>
            </a:r>
          </a:p>
          <a:p>
            <a:pPr>
              <a:lnSpc>
                <a:spcPct val="130000"/>
              </a:lnSpc>
              <a:spcAft>
                <a:spcPts val="1300"/>
              </a:spcAft>
            </a:pPr>
            <a:r>
              <a:rPr sz="1400" b="1">
                <a:solidFill>
                  <a:srgbClr val="16181A"/>
                </a:solidFill>
                <a:latin typeface="Arial"/>
              </a:rPr>
              <a:t>Why it matters —  </a:t>
            </a:r>
            <a:r>
              <a:rPr sz="1400">
                <a:solidFill>
                  <a:srgbClr val="6B7178"/>
                </a:solidFill>
                <a:latin typeface="Arial"/>
              </a:rPr>
              <a:t>silence becomes ambiguous between 'they stayed' and 'they used an unwired door'. That ambiguity is what gives the player something to exploit.</a:t>
            </a:r>
          </a:p>
          <a:p>
            <a:pPr>
              <a:lnSpc>
                <a:spcPct val="130000"/>
              </a:lnSpc>
              <a:spcAft>
                <a:spcPts val="1300"/>
              </a:spcAft>
            </a:pPr>
            <a:r>
              <a:rPr sz="1400" b="1">
                <a:solidFill>
                  <a:srgbClr val="16181A"/>
                </a:solidFill>
                <a:latin typeface="Arial"/>
              </a:rPr>
              <a:t>What it produced —  </a:t>
            </a:r>
            <a:r>
              <a:rPr sz="1400">
                <a:solidFill>
                  <a:srgbClr val="6B7178"/>
                </a:solidFill>
                <a:latin typeface="Arial"/>
              </a:rPr>
              <a:t>two new experiments, one confirming the old negative result and one identifying the counter-play that actually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predictor: variable-order Markov with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93392"/>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P_o(x | ctx)  =  w · f_o(x | ctx)  +  (1 − w) · P_(o−1)(x | ctx[1:])</a:t>
            </a:r>
          </a:p>
          <a:p>
            <a:pPr algn="l">
              <a:lnSpc>
                <a:spcPct val="160000"/>
              </a:lnSpc>
              <a:spcAft>
                <a:spcPts val="400"/>
              </a:spcAft>
            </a:pPr>
            <a:r>
              <a:rPr sz="1500" b="0">
                <a:solidFill>
                  <a:srgbClr val="FFFFFF"/>
                </a:solidFill>
                <a:latin typeface="Consolas"/>
              </a:rPr>
              <a:t>w  =  C(ctx) / (C(ctx) + α)                    α = 1.6,  k = 4</a:t>
            </a:r>
          </a:p>
        </p:txBody>
      </p:sp>
      <p:sp>
        <p:nvSpPr>
          <p:cNvPr id="7" name="TextBox 6"/>
          <p:cNvSpPr txBox="1"/>
          <p:nvPr/>
        </p:nvSpPr>
        <p:spPr>
          <a:xfrm>
            <a:off x="658368" y="3246120"/>
            <a:ext cx="10881360" cy="4480560"/>
          </a:xfrm>
          <a:prstGeom prst="rect">
            <a:avLst/>
          </a:prstGeom>
          <a:noFill/>
        </p:spPr>
        <p:txBody>
          <a:bodyPr wrap="square" lIns="0" rIns="0" tIns="0" bIns="0">
            <a:spAutoFit/>
          </a:bodyPr>
          <a:lstStyle/>
          <a:p>
            <a:pPr>
              <a:lnSpc>
                <a:spcPct val="130000"/>
              </a:lnSpc>
              <a:spcAft>
                <a:spcPts val="900"/>
              </a:spcAft>
            </a:pPr>
            <a:r>
              <a:rPr sz="1350" b="1">
                <a:solidFill>
                  <a:srgbClr val="16181A"/>
                </a:solidFill>
                <a:latin typeface="Arial"/>
              </a:rPr>
              <a:t>Why not order-1 —  </a:t>
            </a:r>
            <a:r>
              <a:rPr sz="1350">
                <a:solidFill>
                  <a:srgbClr val="6B7178"/>
                </a:solidFill>
                <a:latin typeface="Arial"/>
              </a:rPr>
              <a:t>a route means the same room has different successors depending on how it was entered. Order-1 conditions only on the current room and cannot represent that.</a:t>
            </a:r>
          </a:p>
          <a:p>
            <a:pPr>
              <a:lnSpc>
                <a:spcPct val="130000"/>
              </a:lnSpc>
              <a:spcAft>
                <a:spcPts val="900"/>
              </a:spcAft>
            </a:pPr>
            <a:r>
              <a:rPr sz="1350" b="1">
                <a:solidFill>
                  <a:srgbClr val="16181A"/>
                </a:solidFill>
                <a:latin typeface="Arial"/>
              </a:rPr>
              <a:t>Why not fixed high order —  </a:t>
            </a:r>
            <a:r>
              <a:rPr sz="1350">
                <a:solidFill>
                  <a:srgbClr val="6B7178"/>
                </a:solidFill>
                <a:latin typeface="Arial"/>
              </a:rPr>
              <a:t>10 rooms and order 4 is 10,000 contexts; almost all are never seen.</a:t>
            </a:r>
          </a:p>
          <a:p>
            <a:pPr>
              <a:lnSpc>
                <a:spcPct val="130000"/>
              </a:lnSpc>
              <a:spcAft>
                <a:spcPts val="900"/>
              </a:spcAft>
            </a:pPr>
            <a:r>
              <a:rPr sz="1350" b="1">
                <a:solidFill>
                  <a:srgbClr val="16181A"/>
                </a:solidFill>
                <a:latin typeface="Arial"/>
              </a:rPr>
              <a:t>Variable order resolves both —  </a:t>
            </a:r>
            <a:r>
              <a:rPr sz="1350">
                <a:solidFill>
                  <a:srgbClr val="6B7178"/>
                </a:solidFill>
                <a:latin typeface="Arial"/>
              </a:rPr>
              <a:t>use the longest context with enough support, back off when there is not. Witten-Bell interpolation, following Begleiter et al., JAIR 22 (2004).</a:t>
            </a:r>
          </a:p>
          <a:p>
            <a:pPr>
              <a:lnSpc>
                <a:spcPct val="130000"/>
              </a:lnSpc>
              <a:spcAft>
                <a:spcPts val="900"/>
              </a:spcAft>
            </a:pPr>
            <a:r>
              <a:rPr sz="1350" b="1">
                <a:solidFill>
                  <a:srgbClr val="16181A"/>
                </a:solidFill>
                <a:latin typeface="Arial"/>
              </a:rPr>
              <a:t>Action space —  </a:t>
            </a:r>
            <a:r>
              <a:rPr sz="1350">
                <a:solidFill>
                  <a:srgbClr val="6B7178"/>
                </a:solidFill>
                <a:latin typeface="Arial"/>
              </a:rPr>
              <a:t>at each window the player takes a door OR declines to move, so the candidate set is N(v) ∪ {v}. Dwell is predicted, not assumed.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belief filter over door events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783080"/>
            <a:ext cx="10881360" cy="123444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75104"/>
            <a:ext cx="10241280" cy="914400"/>
          </a:xfrm>
          <a:prstGeom prst="rect">
            <a:avLst/>
          </a:prstGeom>
          <a:noFill/>
        </p:spPr>
        <p:txBody>
          <a:bodyPr wrap="square" lIns="0" rIns="0" tIns="0" bIns="0">
            <a:spAutoFit/>
          </a:bodyPr>
          <a:lstStyle/>
          <a:p>
            <a:pPr algn="l">
              <a:lnSpc>
                <a:spcPct val="160000"/>
              </a:lnSpc>
              <a:spcAft>
                <a:spcPts val="400"/>
              </a:spcAft>
            </a:pPr>
            <a:r>
              <a:rPr sz="1500" b="0">
                <a:solidFill>
                  <a:srgbClr val="FFFFFF"/>
                </a:solidFill>
                <a:latin typeface="Consolas"/>
              </a:rPr>
              <a:t>predict    b'(c)  =  Σ_r  b(r) · T(r → c)</a:t>
            </a:r>
          </a:p>
          <a:p>
            <a:pPr algn="l">
              <a:lnSpc>
                <a:spcPct val="160000"/>
              </a:lnSpc>
              <a:spcAft>
                <a:spcPts val="400"/>
              </a:spcAft>
            </a:pPr>
            <a:r>
              <a:rPr sz="1500" b="0">
                <a:solidFill>
                  <a:srgbClr val="FFFFFF"/>
                </a:solidFill>
                <a:latin typeface="Consolas"/>
              </a:rPr>
              <a:t>update     zero any state inconsistent with the evidence, renormalise</a:t>
            </a:r>
          </a:p>
        </p:txBody>
      </p:sp>
      <p:graphicFrame>
        <p:nvGraphicFramePr>
          <p:cNvPr id="7" name="Table 6"/>
          <p:cNvGraphicFramePr>
            <a:graphicFrameLocks noGrp="1"/>
          </p:cNvGraphicFramePr>
          <p:nvPr/>
        </p:nvGraphicFramePr>
        <p:xfrm>
          <a:off x="658368" y="3200400"/>
          <a:ext cx="10881360" cy="1536192"/>
        </p:xfrm>
        <a:graphic>
          <a:graphicData uri="http://schemas.openxmlformats.org/drawingml/2006/table">
            <a:tbl>
              <a:tblPr firstRow="1" bandRow="1">
                <a:tableStyleId>{5C22544A-7EE6-4342-B048-85BDC9FD1C3A}</a:tableStyleId>
              </a:tblPr>
              <a:tblGrid>
                <a:gridCol w="2651760"/>
                <a:gridCol w="4572000"/>
                <a:gridCol w="3657600"/>
              </a:tblGrid>
              <a:tr h="384048">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rules out</a:t>
                      </a:r>
                    </a:p>
                  </a:txBody>
                  <a:tcPr marL="73152" marR="73152" marT="36576" marB="36576">
                    <a:solidFill>
                      <a:srgbClr val="F4F6F8"/>
                    </a:solidFill>
                  </a:tcPr>
                </a:tc>
                <a:tc>
                  <a:txBody>
                    <a:bodyPr/>
                    <a:lstStyle/>
                    <a:p>
                      <a:pPr>
                        <a:lnSpc>
                          <a:spcPct val="115000"/>
                        </a:lnSpc>
                      </a:pPr>
                      <a:r>
                        <a:rPr sz="950" b="1">
                          <a:solidFill>
                            <a:srgbClr val="6B7178"/>
                          </a:solidFill>
                          <a:latin typeface="Arial"/>
                        </a:rPr>
                        <a:t>Effect on the belief</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Door (a,b) tripped</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except a crossing of that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near-certainty</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Silence</a:t>
                      </a:r>
                    </a:p>
                  </a:txBody>
                  <a:tcPr marL="73152" marR="73152" marT="36576" marB="36576">
                    <a:solidFill>
                      <a:srgbClr val="FCFCFB"/>
                    </a:solidFill>
                  </a:tcPr>
                </a:tc>
                <a:tc>
                  <a:txBody>
                    <a:bodyPr/>
                    <a:lstStyle/>
                    <a:p>
                      <a:pPr>
                        <a:lnSpc>
                          <a:spcPct val="115000"/>
                        </a:lnSpc>
                      </a:pPr>
                      <a:r>
                        <a:rPr sz="1250" b="0">
                          <a:solidFill>
                            <a:srgbClr val="16181A"/>
                          </a:solidFill>
                          <a:latin typeface="Arial"/>
                        </a:rPr>
                        <a:t>Any crossing of a WIRED door</a:t>
                      </a:r>
                    </a:p>
                  </a:txBody>
                  <a:tcPr marL="73152" marR="73152" marT="36576" marB="36576">
                    <a:solidFill>
                      <a:srgbClr val="FCFCFB"/>
                    </a:solidFill>
                  </a:tcPr>
                </a:tc>
                <a:tc>
                  <a:txBody>
                    <a:bodyPr/>
                    <a:lstStyle/>
                    <a:p>
                      <a:pPr>
                        <a:lnSpc>
                          <a:spcPct val="115000"/>
                        </a:lnSpc>
                      </a:pPr>
                      <a:r>
                        <a:rPr sz="1250" b="0">
                          <a:solidFill>
                            <a:srgbClr val="16181A"/>
                          </a:solidFill>
                          <a:latin typeface="Arial"/>
                        </a:rPr>
                        <a:t>Keeps staying put and unwired crossings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Co-location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Everything else</a:t>
                      </a:r>
                    </a:p>
                  </a:txBody>
                  <a:tcPr marL="73152" marR="73152" marT="36576" marB="36576">
                    <a:solidFill>
                      <a:srgbClr val="FCFCFB"/>
                    </a:solidFill>
                  </a:tcPr>
                </a:tc>
                <a:tc>
                  <a:txBody>
                    <a:bodyPr/>
                    <a:lstStyle/>
                    <a:p>
                      <a:pPr>
                        <a:lnSpc>
                          <a:spcPct val="115000"/>
                        </a:lnSpc>
                      </a:pPr>
                      <a:r>
                        <a:rPr sz="1250" b="0">
                          <a:solidFill>
                            <a:srgbClr val="16181A"/>
                          </a:solidFill>
                          <a:latin typeface="Arial"/>
                        </a:rPr>
                        <a:t>Collapses to certainty</a:t>
                      </a:r>
                    </a:p>
                  </a:txBody>
                  <a:tcPr marL="73152" marR="73152" marT="36576" marB="36576">
                    <a:solidFill>
                      <a:srgbClr val="FCFCFB"/>
                    </a:solidFill>
                  </a:tcPr>
                </a:tc>
              </a:tr>
            </a:tbl>
          </a:graphicData>
        </a:graphic>
      </p:graphicFrame>
      <p:sp>
        <p:nvSpPr>
          <p:cNvPr id="8" name="TextBox 7"/>
          <p:cNvSpPr txBox="1"/>
          <p:nvPr/>
        </p:nvSpPr>
        <p:spPr>
          <a:xfrm>
            <a:off x="658368" y="4754880"/>
            <a:ext cx="10881360" cy="118872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Two transition priors are compared: a uniform prior that assumes nothing about habits, and one that learns an order-1 model from the antagonist's own track. A detail worth stating plainly — if EVERY door is wired, silence proves the player stayed, so full coverage is still perfect tracking. Partial observation only exists because coverage is incomplete.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Evaluation protocol and controls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2651760"/>
                <a:gridCol w="5120640"/>
                <a:gridCol w="3108960"/>
              </a:tblGrid>
              <a:tr h="384048">
                <a:tc>
                  <a:txBody>
                    <a:bodyPr/>
                    <a:lstStyle/>
                    <a:p>
                      <a:pPr>
                        <a:lnSpc>
                          <a:spcPct val="115000"/>
                        </a:lnSpc>
                      </a:pPr>
                      <a:r>
                        <a:rPr sz="900" b="1">
                          <a:solidFill>
                            <a:srgbClr val="6B7178"/>
                          </a:solidFill>
                          <a:latin typeface="Arial"/>
                        </a:rPr>
                        <a:t>Guard</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it prevents</a:t>
                      </a:r>
                    </a:p>
                  </a:txBody>
                  <a:tcPr marL="73152" marR="73152" marT="36576" marB="36576">
                    <a:solidFill>
                      <a:srgbClr val="F4F6F8"/>
                    </a:solidFill>
                  </a:tcPr>
                </a:tc>
                <a:tc>
                  <a:txBody>
                    <a:bodyPr/>
                    <a:lstStyle/>
                    <a:p>
                      <a:pPr>
                        <a:lnSpc>
                          <a:spcPct val="115000"/>
                        </a:lnSpc>
                      </a:pPr>
                      <a:r>
                        <a:rPr sz="900" b="1">
                          <a:solidFill>
                            <a:srgbClr val="6B7178"/>
                          </a:solidFill>
                          <a:latin typeface="Arial"/>
                        </a:rPr>
                        <a:t>Result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Prequential evaluation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Train/test leakage — every prediction precedes its outcome</a:t>
                      </a:r>
                    </a:p>
                  </a:txBody>
                  <a:tcPr marL="73152" marR="73152" marT="36576" marB="36576">
                    <a:solidFill>
                      <a:srgbClr val="FCFCFB"/>
                    </a:solidFill>
                  </a:tcPr>
                </a:tc>
                <a:tc>
                  <a:txBody>
                    <a:bodyPr/>
                    <a:lstStyle/>
                    <a:p>
                      <a:pPr>
                        <a:lnSpc>
                          <a:spcPct val="115000"/>
                        </a:lnSpc>
                      </a:pPr>
                      <a:r>
                        <a:rPr sz="1150" b="0">
                          <a:solidFill>
                            <a:srgbClr val="16181A"/>
                          </a:solidFill>
                          <a:latin typeface="Arial"/>
                        </a:rPr>
                        <a:t>By construction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Random-player control</a:t>
                      </a:r>
                    </a:p>
                  </a:txBody>
                  <a:tcPr marL="73152" marR="73152" marT="36576" marB="36576">
                    <a:solidFill>
                      <a:srgbClr val="FCFCFB"/>
                    </a:solidFill>
                  </a:tcPr>
                </a:tc>
                <a:tc>
                  <a:txBody>
                    <a:bodyPr/>
                    <a:lstStyle/>
                    <a:p>
                      <a:pPr>
                        <a:lnSpc>
                          <a:spcPct val="115000"/>
                        </a:lnSpc>
                      </a:pPr>
                      <a:r>
                        <a:rPr sz="1150" b="0">
                          <a:solidFill>
                            <a:srgbClr val="16181A"/>
                          </a:solidFill>
                          <a:latin typeface="Arial"/>
                        </a:rPr>
                        <a:t>A model that appears to predict noise</a:t>
                      </a:r>
                    </a:p>
                  </a:txBody>
                  <a:tcPr marL="73152" marR="73152" marT="36576" marB="36576">
                    <a:solidFill>
                      <a:srgbClr val="FCFCFB"/>
                    </a:solidFill>
                  </a:tcPr>
                </a:tc>
                <a:tc>
                  <a:txBody>
                    <a:bodyPr/>
                    <a:lstStyle/>
                    <a:p>
                      <a:pPr>
                        <a:lnSpc>
                          <a:spcPct val="115000"/>
                        </a:lnSpc>
                      </a:pPr>
                      <a:r>
                        <a:rPr sz="1150" b="0">
                          <a:solidFill>
                            <a:srgbClr val="16181A"/>
                          </a:solidFill>
                          <a:latin typeface="Arial"/>
                        </a:rPr>
                        <a:t>26.7% vs 26.9% baseline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Non-learning baselines</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Complexity that has not earned itself</a:t>
                      </a:r>
                    </a:p>
                  </a:txBody>
                  <a:tcPr marL="73152" marR="73152" marT="36576" marB="36576">
                    <a:solidFill>
                      <a:srgbClr val="FCFCFB"/>
                    </a:solidFill>
                  </a:tcPr>
                </a:tc>
                <a:tc>
                  <a:txBody>
                    <a:bodyPr/>
                    <a:lstStyle/>
                    <a:p>
                      <a:pPr>
                        <a:lnSpc>
                          <a:spcPct val="115000"/>
                        </a:lnSpc>
                      </a:pPr>
                      <a:r>
                        <a:rPr sz="1150" b="0">
                          <a:solidFill>
                            <a:srgbClr val="16181A"/>
                          </a:solidFill>
                          <a:latin typeface="Arial"/>
                        </a:rPr>
                        <a:t>Hub-camping, order-1 Markov</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Per-objective metric</a:t>
                      </a:r>
                    </a:p>
                  </a:txBody>
                  <a:tcPr marL="73152" marR="73152" marT="36576" marB="36576">
                    <a:solidFill>
                      <a:srgbClr val="FCFCFB"/>
                    </a:solidFill>
                  </a:tcPr>
                </a:tc>
                <a:tc>
                  <a:txBody>
                    <a:bodyPr/>
                    <a:lstStyle/>
                    <a:p>
                      <a:pPr>
                        <a:lnSpc>
                          <a:spcPct val="115000"/>
                        </a:lnSpc>
                      </a:pPr>
                      <a:r>
                        <a:rPr sz="1150" b="0">
                          <a:solidFill>
                            <a:srgbClr val="16181A"/>
                          </a:solidFill>
                          <a:latin typeface="Arial"/>
                        </a:rPr>
                        <a:t>Strategies that look safe by achieving less</a:t>
                      </a:r>
                    </a:p>
                  </a:txBody>
                  <a:tcPr marL="73152" marR="73152" marT="36576" marB="36576">
                    <a:solidFill>
                      <a:srgbClr val="FCFCFB"/>
                    </a:solidFill>
                  </a:tcPr>
                </a:tc>
                <a:tc>
                  <a:txBody>
                    <a:bodyPr/>
                    <a:lstStyle/>
                    <a:p>
                      <a:pPr>
                        <a:lnSpc>
                          <a:spcPct val="115000"/>
                        </a:lnSpc>
                      </a:pPr>
                      <a:r>
                        <a:rPr sz="1150" b="0">
                          <a:solidFill>
                            <a:srgbClr val="16181A"/>
                          </a:solidFill>
                          <a:latin typeface="Arial"/>
                        </a:rPr>
                        <a:t>Captures per completed lap</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Matched player cost</a:t>
                      </a:r>
                    </a:p>
                  </a:txBody>
                  <a:tcPr marL="73152" marR="73152" marT="36576" marB="36576">
                    <a:solidFill>
                      <a:srgbClr val="FCFCFB"/>
                    </a:solidFill>
                  </a:tcPr>
                </a:tc>
                <a:tc>
                  <a:txBody>
                    <a:bodyPr/>
                    <a:lstStyle/>
                    <a:p>
                      <a:pPr>
                        <a:lnSpc>
                          <a:spcPct val="115000"/>
                        </a:lnSpc>
                      </a:pPr>
                      <a:r>
                        <a:rPr sz="1150" b="0">
                          <a:solidFill>
                            <a:srgbClr val="16181A"/>
                          </a:solidFill>
                          <a:latin typeface="Arial"/>
                        </a:rPr>
                        <a:t>Comparing players who pay different prices</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strategies write pages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9 invariant tests</a:t>
                      </a:r>
                    </a:p>
                  </a:txBody>
                  <a:tcPr marL="73152" marR="73152" marT="36576" marB="36576">
                    <a:solidFill>
                      <a:srgbClr val="FCFCFB"/>
                    </a:solidFill>
                  </a:tcPr>
                </a:tc>
                <a:tc>
                  <a:txBody>
                    <a:bodyPr/>
                    <a:lstStyle/>
                    <a:p>
                      <a:pPr>
                        <a:lnSpc>
                          <a:spcPct val="115000"/>
                        </a:lnSpc>
                      </a:pPr>
                      <a:r>
                        <a:rPr sz="1150" b="0">
                          <a:solidFill>
                            <a:srgbClr val="16181A"/>
                          </a:solidFill>
                          <a:latin typeface="Arial"/>
                        </a:rPr>
                        <a:t>Soft-locks, leakage, unfair mutation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9/9 passing</a:t>
                      </a:r>
                    </a:p>
                  </a:txBody>
                  <a:tcPr marL="73152" marR="73152" marT="36576" marB="36576">
                    <a:solidFill>
                      <a:srgbClr val="FCFCFB"/>
                    </a:solidFill>
                  </a:tcPr>
                </a:tc>
              </a:tr>
            </a:tbl>
          </a:graphicData>
        </a:graphic>
      </p:graphicFrame>
      <p:sp>
        <p:nvSpPr>
          <p:cNvPr id="6" name="TextBox 5"/>
          <p:cNvSpPr txBox="1"/>
          <p:nvPr/>
        </p:nvSpPr>
        <p:spPr>
          <a:xfrm>
            <a:off x="658368" y="5029200"/>
            <a:ext cx="10881360" cy="91440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control is the load-bearing one. Against a random player the model must NOT beat baseline — and it does not. Two of this cycle's findings came from noticing that a strategy looked good only because it was measured per window rather than per objective.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TECHNICAL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How well is the model actually trained?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training.png"/>
          <p:cNvPicPr>
            <a:picLocks noChangeAspect="1"/>
          </p:cNvPicPr>
          <p:nvPr/>
        </p:nvPicPr>
        <p:blipFill>
          <a:blip r:embed="rId2"/>
          <a:stretch>
            <a:fillRect/>
          </a:stretch>
        </p:blipFill>
        <p:spPr>
          <a:xfrm>
            <a:off x="2194560" y="1645920"/>
            <a:ext cx="7863840" cy="3931920"/>
          </a:xfrm>
          <a:prstGeom prst="rect">
            <a:avLst/>
          </a:prstGeom>
        </p:spPr>
      </p:pic>
      <p:sp>
        <p:nvSpPr>
          <p:cNvPr id="6" name="TextBox 5"/>
          <p:cNvSpPr txBox="1"/>
          <p:nvPr/>
        </p:nvSpPr>
        <p:spPr>
          <a:xfrm>
            <a:off x="658368" y="5742432"/>
            <a:ext cx="10881360" cy="960120"/>
          </a:xfrm>
          <a:prstGeom prst="rect">
            <a:avLst/>
          </a:prstGeom>
          <a:noFill/>
        </p:spPr>
        <p:txBody>
          <a:bodyPr wrap="square" lIns="0" rIns="0" tIns="0" bIns="0">
            <a:spAutoFit/>
          </a:bodyPr>
          <a:lstStyle/>
          <a:p>
            <a:pPr algn="l">
              <a:lnSpc>
                <a:spcPct val="128000"/>
              </a:lnSpc>
              <a:spcAft>
                <a:spcPts val="600"/>
              </a:spcAft>
            </a:pPr>
            <a:r>
              <a:rPr sz="1200" b="0">
                <a:solidFill>
                  <a:srgbClr val="6B7178"/>
                </a:solidFill>
                <a:latin typeface="Arial"/>
              </a:rPr>
              <a:t>A predictor is only as good as the ceiling allows. An oracle that can see the player's own internal state — which objective they are walking to, whether they are mid-page — reaches 70.9%; the rest is their own coin-flips. Our model reaches 59.9% from behaviour alone, which is 85% of the achievable signal. Grid-searching the hyperparameters changed nothing, and inferring intent explicitly made it worse.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Next-move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on a random player VOMM scores 26.7% against a 26.9% baseline — identical. The gains on structured players are learned habit, not leakage.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It learned where you stop to write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well.png"/>
          <p:cNvPicPr>
            <a:picLocks noChangeAspect="1"/>
          </p:cNvPicPr>
          <p:nvPr/>
        </p:nvPicPr>
        <p:blipFill>
          <a:blip r:embed="rId2"/>
          <a:stretch>
            <a:fillRect/>
          </a:stretch>
        </p:blipFill>
        <p:spPr>
          <a:xfrm>
            <a:off x="2286000" y="1664208"/>
            <a:ext cx="7680960" cy="3746810"/>
          </a:xfrm>
          <a:prstGeom prst="rect">
            <a:avLst/>
          </a:prstGeom>
        </p:spPr>
      </p:pic>
      <p:sp>
        <p:nvSpPr>
          <p:cNvPr id="6" name="TextBox 5"/>
          <p:cNvSpPr txBox="1"/>
          <p:nvPr/>
        </p:nvSpPr>
        <p:spPr>
          <a:xfrm>
            <a:off x="658368" y="580644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Dwell is behaviour, not a parameter. Predicting 'will they decline this window?' scores 94% against a 96% majority-class baseline — 100% in rooms with nothing to record, 93% where a codebook is. The uncertainty sits exactly where the real variation is.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advantage grows with the facility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scaling.png"/>
          <p:cNvPicPr>
            <a:picLocks noChangeAspect="1"/>
          </p:cNvPicPr>
          <p:nvPr/>
        </p:nvPicPr>
        <p:blipFill>
          <a:blip r:embed="rId2"/>
          <a:stretch>
            <a:fillRect/>
          </a:stretch>
        </p:blipFill>
        <p:spPr>
          <a:xfrm>
            <a:off x="2286000" y="1691640"/>
            <a:ext cx="7680960" cy="402782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On 10 rooms with one dominant junction, 'camp the busiest room' is competitive for reasons unrelated to intelligence. As the facility grows it decays fastest and the interceptor's advantage widens from 1.22× to 1.40×.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World editing imposes a real cost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isruption.png"/>
          <p:cNvPicPr>
            <a:picLocks noChangeAspect="1"/>
          </p:cNvPicPr>
          <p:nvPr/>
        </p:nvPicPr>
        <p:blipFill>
          <a:blip r:embed="rId2"/>
          <a:stretch>
            <a:fillRect/>
          </a:stretch>
        </p:blipFill>
        <p:spPr>
          <a:xfrm>
            <a:off x="2286000" y="1737360"/>
            <a:ext cx="7680960" cy="365314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The entity is removed here, isolating topology mutation from hunting. Sealing and rewiring ahead of the player raises the cost of an objective by 63% (16.4 to 26.8 moves per lap). Every mutation passed a reachability check, so no run was ever soft-locked.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sensors actually buy the antagonist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ocalisation.png"/>
          <p:cNvPicPr>
            <a:picLocks noChangeAspect="1"/>
          </p:cNvPicPr>
          <p:nvPr/>
        </p:nvPicPr>
        <p:blipFill>
          <a:blip r:embed="rId2"/>
          <a:stretch>
            <a:fillRect/>
          </a:stretch>
        </p:blipFill>
        <p:spPr>
          <a:xfrm>
            <a:off x="2286000" y="1691640"/>
            <a:ext cx="7680960" cy="3840480"/>
          </a:xfrm>
          <a:prstGeom prst="rect">
            <a:avLst/>
          </a:prstGeom>
        </p:spPr>
      </p:pic>
      <p:sp>
        <p:nvSpPr>
          <p:cNvPr id="6" name="TextBox 5"/>
          <p:cNvSpPr txBox="1"/>
          <p:nvPr/>
        </p:nvSpPr>
        <p:spPr>
          <a:xfrm>
            <a:off x="658368" y="5623560"/>
            <a:ext cx="10881360" cy="91440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A fully wired facility leaks everything: with a sensor on every door, silence proves the player stayed, so tracking is essentially perfect. Localisation falls roughly linearly as coverage drops. The learned transition prior helps only where there is still evidence to sharpen.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 — NEW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What the player can actually do about 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ounterplay.png"/>
          <p:cNvPicPr>
            <a:picLocks noChangeAspect="1"/>
          </p:cNvPicPr>
          <p:nvPr/>
        </p:nvPicPr>
        <p:blipFill>
          <a:blip r:embed="rId2"/>
          <a:stretch>
            <a:fillRect/>
          </a:stretch>
        </p:blipFill>
        <p:spPr>
          <a:xfrm>
            <a:off x="2194560" y="1664208"/>
            <a:ext cx="7863840" cy="4025537"/>
          </a:xfrm>
          <a:prstGeom prst="rect">
            <a:avLst/>
          </a:prstGeom>
        </p:spPr>
      </p:pic>
      <p:sp>
        <p:nvSpPr>
          <p:cNvPr id="6" name="TextBox 5"/>
          <p:cNvSpPr txBox="1"/>
          <p:nvPr/>
        </p:nvSpPr>
        <p:spPr>
          <a:xfrm>
            <a:off x="658368" y="5760720"/>
            <a:ext cx="10881360" cy="914400"/>
          </a:xfrm>
          <a:prstGeom prst="rect">
            <a:avLst/>
          </a:prstGeom>
          <a:noFill/>
        </p:spPr>
        <p:txBody>
          <a:bodyPr wrap="square" lIns="0" rIns="0" tIns="0" bIns="0">
            <a:spAutoFit/>
          </a:bodyPr>
          <a:lstStyle/>
          <a:p>
            <a:pPr algn="l">
              <a:lnSpc>
                <a:spcPct val="128000"/>
              </a:lnSpc>
              <a:spcAft>
                <a:spcPts val="600"/>
              </a:spcAft>
            </a:pPr>
            <a:r>
              <a:rPr sz="1150" b="0">
                <a:solidFill>
                  <a:srgbClr val="6B7178"/>
                </a:solidFill>
                <a:latin typeface="Arial"/>
              </a:rPr>
              <a:t>Per objective completed, not per window. Waiting at random is catastrophic — up to +439%. Routing around sensors barely registers. Killing three sensors on your own route cuts risk 21% at 60% coverage, but BACKFIRES at full coverage (+91%): nine windows stood still in the open buys too little when every other door still reports you. The counter-play has a sweet spot.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RESULTS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All twelve experiments at a glance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480560"/>
        </p:xfrm>
        <a:graphic>
          <a:graphicData uri="http://schemas.openxmlformats.org/drawingml/2006/table">
            <a:tbl>
              <a:tblPr firstRow="1" bandRow="1">
                <a:tableStyleId>{5C22544A-7EE6-4342-B048-85BDC9FD1C3A}</a:tableStyleId>
              </a:tblPr>
              <a:tblGrid>
                <a:gridCol w="548640"/>
                <a:gridCol w="3840480"/>
                <a:gridCol w="4114800"/>
                <a:gridCol w="2377440"/>
              </a:tblGrid>
              <a:tr h="344658">
                <a:tc>
                  <a:txBody>
                    <a:bodyPr/>
                    <a:lstStyle/>
                    <a:p>
                      <a:pPr>
                        <a:lnSpc>
                          <a:spcPct val="115000"/>
                        </a:lnSpc>
                      </a:pPr>
                      <a:r>
                        <a:rPr sz="850" b="1">
                          <a:solidFill>
                            <a:srgbClr val="6B7178"/>
                          </a:solidFill>
                          <a:latin typeface="Arial"/>
                        </a:rPr>
                        <a:t>#</a:t>
                      </a:r>
                    </a:p>
                  </a:txBody>
                  <a:tcPr marL="73152" marR="73152" marT="36576" marB="36576">
                    <a:solidFill>
                      <a:srgbClr val="F4F6F8"/>
                    </a:solidFill>
                  </a:tcPr>
                </a:tc>
                <a:tc>
                  <a:txBody>
                    <a:bodyPr/>
                    <a:lstStyle/>
                    <a:p>
                      <a:pPr>
                        <a:lnSpc>
                          <a:spcPct val="115000"/>
                        </a:lnSpc>
                      </a:pPr>
                      <a:r>
                        <a:rPr sz="850" b="1">
                          <a:solidFill>
                            <a:srgbClr val="6B7178"/>
                          </a:solidFill>
                          <a:latin typeface="Arial"/>
                        </a:rPr>
                        <a:t>Question</a:t>
                      </a:r>
                    </a:p>
                  </a:txBody>
                  <a:tcPr marL="73152" marR="73152" marT="36576" marB="36576">
                    <a:solidFill>
                      <a:srgbClr val="F4F6F8"/>
                    </a:solidFill>
                  </a:tcPr>
                </a:tc>
                <a:tc>
                  <a:txBody>
                    <a:bodyPr/>
                    <a:lstStyle/>
                    <a:p>
                      <a:pPr>
                        <a:lnSpc>
                          <a:spcPct val="115000"/>
                        </a:lnSpc>
                      </a:pPr>
                      <a:r>
                        <a:rPr sz="850" b="1">
                          <a:solidFill>
                            <a:srgbClr val="6B7178"/>
                          </a:solidFill>
                          <a:latin typeface="Arial"/>
                        </a:rPr>
                        <a:t>Headline</a:t>
                      </a:r>
                    </a:p>
                  </a:txBody>
                  <a:tcPr marL="73152" marR="73152" marT="36576" marB="36576">
                    <a:solidFill>
                      <a:srgbClr val="F4F6F8"/>
                    </a:solidFill>
                  </a:tcPr>
                </a:tc>
                <a:tc>
                  <a:txBody>
                    <a:bodyPr/>
                    <a:lstStyle/>
                    <a:p>
                      <a:pPr>
                        <a:lnSpc>
                          <a:spcPct val="115000"/>
                        </a:lnSpc>
                      </a:pPr>
                      <a:r>
                        <a:rPr sz="850" b="1">
                          <a:solidFill>
                            <a:srgbClr val="6B7178"/>
                          </a:solidFill>
                          <a:latin typeface="Arial"/>
                        </a:rPr>
                        <a:t>Reading</a:t>
                      </a:r>
                    </a:p>
                  </a:txBody>
                  <a:tcPr marL="73152" marR="73152" marT="36576" marB="36576">
                    <a:solidFill>
                      <a:srgbClr val="F4F6F8"/>
                    </a:solidFill>
                  </a:tcPr>
                </a:tc>
              </a:tr>
              <a:tr h="344658">
                <a:tc>
                  <a:txBody>
                    <a:bodyPr/>
                    <a:lstStyle/>
                    <a:p>
                      <a:pPr>
                        <a:lnSpc>
                          <a:spcPct val="115000"/>
                        </a:lnSpc>
                      </a:pPr>
                      <a:r>
                        <a:rPr sz="1050" b="0">
                          <a:solidFill>
                            <a:srgbClr val="16181A"/>
                          </a:solidFill>
                          <a:latin typeface="Arial"/>
                        </a:rPr>
                        <a:t>E1</a:t>
                      </a:r>
                    </a:p>
                  </a:txBody>
                  <a:tcPr marL="73152" marR="73152" marT="36576" marB="36576">
                    <a:solidFill>
                      <a:srgbClr val="FCFCFB"/>
                    </a:solidFill>
                  </a:tcPr>
                </a:tc>
                <a:tc>
                  <a:txBody>
                    <a:bodyPr/>
                    <a:lstStyle/>
                    <a:p>
                      <a:pPr>
                        <a:lnSpc>
                          <a:spcPct val="115000"/>
                        </a:lnSpc>
                      </a:pPr>
                      <a:r>
                        <a:rPr sz="1050" b="0">
                          <a:solidFill>
                            <a:srgbClr val="16181A"/>
                          </a:solidFill>
                          <a:latin typeface="Arial"/>
                        </a:rPr>
                        <a:t>Can it predict the next move?</a:t>
                      </a:r>
                    </a:p>
                  </a:txBody>
                  <a:tcPr marL="73152" marR="73152" marT="36576" marB="36576">
                    <a:solidFill>
                      <a:srgbClr val="FCFCFB"/>
                    </a:solidFill>
                  </a:tcPr>
                </a:tc>
                <a:tc>
                  <a:txBody>
                    <a:bodyPr/>
                    <a:lstStyle/>
                    <a:p>
                      <a:pPr>
                        <a:lnSpc>
                          <a:spcPct val="115000"/>
                        </a:lnSpc>
                      </a:pPr>
                      <a:r>
                        <a:rPr sz="1050" b="0">
                          <a:solidFill>
                            <a:srgbClr val="16181A"/>
                          </a:solidFill>
                          <a:latin typeface="Arial"/>
                        </a:rPr>
                        <a:t>83.6% vs 60.0% vs 39.1%</a:t>
                      </a:r>
                    </a:p>
                  </a:txBody>
                  <a:tcPr marL="73152" marR="73152" marT="36576" marB="36576">
                    <a:solidFill>
                      <a:srgbClr val="FCFCFB"/>
                    </a:solidFill>
                  </a:tcPr>
                </a:tc>
                <a:tc>
                  <a:txBody>
                    <a:bodyPr/>
                    <a:lstStyle/>
                    <a:p>
                      <a:pPr>
                        <a:lnSpc>
                          <a:spcPct val="115000"/>
                        </a:lnSpc>
                      </a:pPr>
                      <a:r>
                        <a:rPr sz="1050" b="0">
                          <a:solidFill>
                            <a:srgbClr val="16181A"/>
                          </a:solidFill>
                          <a:latin typeface="Arial"/>
                        </a:rPr>
                        <a:t>Learns routes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E1c</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it learn from a random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26.7% vs 26.9%</a:t>
                      </a:r>
                    </a:p>
                  </a:txBody>
                  <a:tcPr marL="73152" marR="73152" marT="36576" marB="36576">
                    <a:solidFill>
                      <a:srgbClr val="FCFCFB"/>
                    </a:solidFill>
                  </a:tcPr>
                </a:tc>
                <a:tc>
                  <a:txBody>
                    <a:bodyPr/>
                    <a:lstStyle/>
                    <a:p>
                      <a:pPr>
                        <a:lnSpc>
                          <a:spcPct val="115000"/>
                        </a:lnSpc>
                      </a:pPr>
                      <a:r>
                        <a:rPr sz="1050" b="0">
                          <a:solidFill>
                            <a:srgbClr val="16181A"/>
                          </a:solidFill>
                          <a:latin typeface="Arial"/>
                        </a:rPr>
                        <a:t>No leakage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E2</a:t>
                      </a:r>
                    </a:p>
                  </a:txBody>
                  <a:tcPr marL="73152" marR="73152" marT="36576" marB="36576">
                    <a:solidFill>
                      <a:srgbClr val="FCFCFB"/>
                    </a:solidFill>
                  </a:tcPr>
                </a:tc>
                <a:tc>
                  <a:txBody>
                    <a:bodyPr/>
                    <a:lstStyle/>
                    <a:p>
                      <a:pPr>
                        <a:lnSpc>
                          <a:spcPct val="115000"/>
                        </a:lnSpc>
                      </a:pPr>
                      <a:r>
                        <a:rPr sz="1050" b="0">
                          <a:solidFill>
                            <a:srgbClr val="16181A"/>
                          </a:solidFill>
                          <a:latin typeface="Arial"/>
                        </a:rPr>
                        <a:t>How fast does it learn?</a:t>
                      </a:r>
                    </a:p>
                  </a:txBody>
                  <a:tcPr marL="73152" marR="73152" marT="36576" marB="36576">
                    <a:solidFill>
                      <a:srgbClr val="FCFCFB"/>
                    </a:solidFill>
                  </a:tcPr>
                </a:tc>
                <a:tc>
                  <a:txBody>
                    <a:bodyPr/>
                    <a:lstStyle/>
                    <a:p>
                      <a:pPr>
                        <a:lnSpc>
                          <a:spcPct val="115000"/>
                        </a:lnSpc>
                      </a:pPr>
                      <a:r>
                        <a:rPr sz="1050" b="0">
                          <a:solidFill>
                            <a:srgbClr val="16181A"/>
                          </a:solidFill>
                          <a:latin typeface="Arial"/>
                        </a:rPr>
                        <a:t>Useful inside ~60 moves</a:t>
                      </a:r>
                    </a:p>
                  </a:txBody>
                  <a:tcPr marL="73152" marR="73152" marT="36576" marB="36576">
                    <a:solidFill>
                      <a:srgbClr val="FCFCFB"/>
                    </a:solidFill>
                  </a:tcPr>
                </a:tc>
                <a:tc>
                  <a:txBody>
                    <a:bodyPr/>
                    <a:lstStyle/>
                    <a:p>
                      <a:pPr>
                        <a:lnSpc>
                          <a:spcPct val="115000"/>
                        </a:lnSpc>
                      </a:pPr>
                      <a:r>
                        <a:rPr sz="1050" b="0">
                          <a:solidFill>
                            <a:srgbClr val="16181A"/>
                          </a:solidFill>
                          <a:latin typeface="Arial"/>
                        </a:rPr>
                        <a:t>Cold start solved</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E4</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prediction make it deadlier?</a:t>
                      </a:r>
                    </a:p>
                  </a:txBody>
                  <a:tcPr marL="73152" marR="73152" marT="36576" marB="36576">
                    <a:solidFill>
                      <a:srgbClr val="FCFCFB"/>
                    </a:solidFill>
                  </a:tcPr>
                </a:tc>
                <a:tc>
                  <a:txBody>
                    <a:bodyPr/>
                    <a:lstStyle/>
                    <a:p>
                      <a:pPr>
                        <a:lnSpc>
                          <a:spcPct val="115000"/>
                        </a:lnSpc>
                      </a:pPr>
                      <a:r>
                        <a:rPr sz="1050" b="0">
                          <a:solidFill>
                            <a:srgbClr val="16181A"/>
                          </a:solidFill>
                          <a:latin typeface="Arial"/>
                        </a:rPr>
                        <a:t>350 vs 95 per 1000</a:t>
                      </a:r>
                    </a:p>
                  </a:txBody>
                  <a:tcPr marL="73152" marR="73152" marT="36576" marB="36576">
                    <a:solidFill>
                      <a:srgbClr val="FCFCFB"/>
                    </a:solidFill>
                  </a:tcPr>
                </a:tc>
                <a:tc>
                  <a:txBody>
                    <a:bodyPr/>
                    <a:lstStyle/>
                    <a:p>
                      <a:pPr>
                        <a:lnSpc>
                          <a:spcPct val="115000"/>
                        </a:lnSpc>
                      </a:pPr>
                      <a:r>
                        <a:rPr sz="1050" b="0">
                          <a:solidFill>
                            <a:srgbClr val="16181A"/>
                          </a:solidFill>
                          <a:latin typeface="Arial"/>
                        </a:rPr>
                        <a:t>Yes, vs no model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E7</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that hold at scale?</a:t>
                      </a:r>
                    </a:p>
                  </a:txBody>
                  <a:tcPr marL="73152" marR="73152" marT="36576" marB="36576">
                    <a:solidFill>
                      <a:srgbClr val="FCFCFB"/>
                    </a:solidFill>
                  </a:tcPr>
                </a:tc>
                <a:tc>
                  <a:txBody>
                    <a:bodyPr/>
                    <a:lstStyle/>
                    <a:p>
                      <a:pPr>
                        <a:lnSpc>
                          <a:spcPct val="115000"/>
                        </a:lnSpc>
                      </a:pPr>
                      <a:r>
                        <a:rPr sz="1050" b="0">
                          <a:solidFill>
                            <a:srgbClr val="16181A"/>
                          </a:solidFill>
                          <a:latin typeface="Arial"/>
                        </a:rPr>
                        <a:t>1.22× → 1.40× over hub-camping</a:t>
                      </a:r>
                    </a:p>
                  </a:txBody>
                  <a:tcPr marL="73152" marR="73152" marT="36576" marB="36576">
                    <a:solidFill>
                      <a:srgbClr val="FCFCFB"/>
                    </a:solidFill>
                  </a:tcPr>
                </a:tc>
                <a:tc>
                  <a:txBody>
                    <a:bodyPr/>
                    <a:lstStyle/>
                    <a:p>
                      <a:pPr>
                        <a:lnSpc>
                          <a:spcPct val="115000"/>
                        </a:lnSpc>
                      </a:pPr>
                      <a:r>
                        <a:rPr sz="1050" b="0">
                          <a:solidFill>
                            <a:srgbClr val="16181A"/>
                          </a:solidFill>
                          <a:latin typeface="Arial"/>
                        </a:rPr>
                        <a:t>Grows with size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E5</a:t>
                      </a:r>
                    </a:p>
                  </a:txBody>
                  <a:tcPr marL="73152" marR="73152" marT="36576" marB="36576">
                    <a:solidFill>
                      <a:srgbClr val="FCFCFB"/>
                    </a:solidFill>
                  </a:tcPr>
                </a:tc>
                <a:tc>
                  <a:txBody>
                    <a:bodyPr/>
                    <a:lstStyle/>
                    <a:p>
                      <a:pPr>
                        <a:lnSpc>
                          <a:spcPct val="115000"/>
                        </a:lnSpc>
                      </a:pPr>
                      <a:r>
                        <a:rPr sz="1050" b="0">
                          <a:solidFill>
                            <a:srgbClr val="16181A"/>
                          </a:solidFill>
                          <a:latin typeface="Arial"/>
                        </a:rPr>
                        <a:t>Do world edits cost the player?</a:t>
                      </a:r>
                    </a:p>
                  </a:txBody>
                  <a:tcPr marL="73152" marR="73152" marT="36576" marB="36576">
                    <a:solidFill>
                      <a:srgbClr val="FCFCFB"/>
                    </a:solidFill>
                  </a:tcPr>
                </a:tc>
                <a:tc>
                  <a:txBody>
                    <a:bodyPr/>
                    <a:lstStyle/>
                    <a:p>
                      <a:pPr>
                        <a:lnSpc>
                          <a:spcPct val="115000"/>
                        </a:lnSpc>
                      </a:pPr>
                      <a:r>
                        <a:rPr sz="1050" b="0">
                          <a:solidFill>
                            <a:srgbClr val="16181A"/>
                          </a:solidFill>
                          <a:latin typeface="Arial"/>
                        </a:rPr>
                        <a:t>+63% per objective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E6</a:t>
                      </a:r>
                    </a:p>
                  </a:txBody>
                  <a:tcPr marL="73152" marR="73152" marT="36576" marB="36576">
                    <a:solidFill>
                      <a:srgbClr val="FCFCFB"/>
                    </a:solidFill>
                  </a:tcPr>
                </a:tc>
                <a:tc>
                  <a:txBody>
                    <a:bodyPr/>
                    <a:lstStyle/>
                    <a:p>
                      <a:pPr>
                        <a:lnSpc>
                          <a:spcPct val="115000"/>
                        </a:lnSpc>
                      </a:pPr>
                      <a:r>
                        <a:rPr sz="1050" b="0">
                          <a:solidFill>
                            <a:srgbClr val="16181A"/>
                          </a:solidFill>
                          <a:latin typeface="Arial"/>
                        </a:rPr>
                        <a:t>Is sabotage aimed?</a:t>
                      </a:r>
                    </a:p>
                  </a:txBody>
                  <a:tcPr marL="73152" marR="73152" marT="36576" marB="36576">
                    <a:solidFill>
                      <a:srgbClr val="FCFCFB"/>
                    </a:solidFill>
                  </a:tcPr>
                </a:tc>
                <a:tc>
                  <a:txBody>
                    <a:bodyPr/>
                    <a:lstStyle/>
                    <a:p>
                      <a:pPr>
                        <a:lnSpc>
                          <a:spcPct val="115000"/>
                        </a:lnSpc>
                      </a:pPr>
                      <a:r>
                        <a:rPr sz="1050" b="0">
                          <a:solidFill>
                            <a:srgbClr val="16181A"/>
                          </a:solidFill>
                          <a:latin typeface="Arial"/>
                        </a:rPr>
                        <a:t>No gain on uniform reliance; 13% on uneven</a:t>
                      </a:r>
                    </a:p>
                  </a:txBody>
                  <a:tcPr marL="73152" marR="73152" marT="36576" marB="36576">
                    <a:solidFill>
                      <a:srgbClr val="FCFCFB"/>
                    </a:solidFill>
                  </a:tcPr>
                </a:tc>
                <a:tc>
                  <a:txBody>
                    <a:bodyPr/>
                    <a:lstStyle/>
                    <a:p>
                      <a:pPr>
                        <a:lnSpc>
                          <a:spcPct val="115000"/>
                        </a:lnSpc>
                      </a:pPr>
                      <a:r>
                        <a:rPr sz="1050" b="0">
                          <a:solidFill>
                            <a:srgbClr val="16181A"/>
                          </a:solidFill>
                          <a:latin typeface="Arial"/>
                        </a:rPr>
                        <a:t>Conditional</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E8</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waiting defend? (full obs.)</a:t>
                      </a:r>
                    </a:p>
                  </a:txBody>
                  <a:tcPr marL="73152" marR="73152" marT="36576" marB="36576">
                    <a:solidFill>
                      <a:srgbClr val="FCFCFB"/>
                    </a:solidFill>
                  </a:tcPr>
                </a:tc>
                <a:tc>
                  <a:txBody>
                    <a:bodyPr/>
                    <a:lstStyle/>
                    <a:p>
                      <a:pPr>
                        <a:lnSpc>
                          <a:spcPct val="115000"/>
                        </a:lnSpc>
                      </a:pPr>
                      <a:r>
                        <a:rPr sz="1050" b="0">
                          <a:solidFill>
                            <a:srgbClr val="16181A"/>
                          </a:solidFill>
                          <a:latin typeface="Arial"/>
                        </a:rPr>
                        <a:t>1.7%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E9</a:t>
                      </a:r>
                    </a:p>
                  </a:txBody>
                  <a:tcPr marL="73152" marR="73152" marT="36576" marB="36576">
                    <a:solidFill>
                      <a:srgbClr val="FCFCFB"/>
                    </a:solidFill>
                  </a:tcPr>
                </a:tc>
                <a:tc>
                  <a:txBody>
                    <a:bodyPr/>
                    <a:lstStyle/>
                    <a:p>
                      <a:pPr>
                        <a:lnSpc>
                          <a:spcPct val="115000"/>
                        </a:lnSpc>
                      </a:pPr>
                      <a:r>
                        <a:rPr sz="1050" b="0">
                          <a:solidFill>
                            <a:srgbClr val="16181A"/>
                          </a:solidFill>
                          <a:latin typeface="Arial"/>
                        </a:rPr>
                        <a:t>Does explicit dwell modelling help?</a:t>
                      </a:r>
                    </a:p>
                  </a:txBody>
                  <a:tcPr marL="73152" marR="73152" marT="36576" marB="36576">
                    <a:solidFill>
                      <a:srgbClr val="FCFCFB"/>
                    </a:solidFill>
                  </a:tcPr>
                </a:tc>
                <a:tc>
                  <a:txBody>
                    <a:bodyPr/>
                    <a:lstStyle/>
                    <a:p>
                      <a:pPr>
                        <a:lnSpc>
                          <a:spcPct val="115000"/>
                        </a:lnSpc>
                      </a:pPr>
                      <a:r>
                        <a:rPr sz="1050" b="0">
                          <a:solidFill>
                            <a:srgbClr val="16181A"/>
                          </a:solidFill>
                          <a:latin typeface="Arial"/>
                        </a:rPr>
                        <a:t>2.0% worse than position-only</a:t>
                      </a:r>
                    </a:p>
                  </a:txBody>
                  <a:tcPr marL="73152" marR="73152" marT="36576" marB="36576">
                    <a:solidFill>
                      <a:srgbClr val="FCFCFB"/>
                    </a:solidFill>
                  </a:tcPr>
                </a:tc>
                <a:tc>
                  <a:txBody>
                    <a:bodyPr/>
                    <a:lstStyle/>
                    <a:p>
                      <a:pPr>
                        <a:lnSpc>
                          <a:spcPct val="115000"/>
                        </a:lnSpc>
                      </a:pPr>
                      <a:r>
                        <a:rPr sz="1050" b="0">
                          <a:solidFill>
                            <a:srgbClr val="16181A"/>
                          </a:solidFill>
                          <a:latin typeface="Arial"/>
                        </a:rPr>
                        <a:t>NEGATIVE</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E10</a:t>
                      </a:r>
                    </a:p>
                  </a:txBody>
                  <a:tcPr marL="73152" marR="73152" marT="36576" marB="36576">
                    <a:solidFill>
                      <a:srgbClr val="FCFCFB"/>
                    </a:solidFill>
                  </a:tcPr>
                </a:tc>
                <a:tc>
                  <a:txBody>
                    <a:bodyPr/>
                    <a:lstStyle/>
                    <a:p>
                      <a:pPr>
                        <a:lnSpc>
                          <a:spcPct val="115000"/>
                        </a:lnSpc>
                      </a:pPr>
                      <a:r>
                        <a:rPr sz="1050" b="0">
                          <a:solidFill>
                            <a:srgbClr val="16181A"/>
                          </a:solidFill>
                          <a:latin typeface="Arial"/>
                        </a:rPr>
                        <a:t>Is dwell learnable?</a:t>
                      </a:r>
                    </a:p>
                  </a:txBody>
                  <a:tcPr marL="73152" marR="73152" marT="36576" marB="36576">
                    <a:solidFill>
                      <a:srgbClr val="FCFCFB"/>
                    </a:solidFill>
                  </a:tcPr>
                </a:tc>
                <a:tc>
                  <a:txBody>
                    <a:bodyPr/>
                    <a:lstStyle/>
                    <a:p>
                      <a:pPr>
                        <a:lnSpc>
                          <a:spcPct val="115000"/>
                        </a:lnSpc>
                      </a:pPr>
                      <a:r>
                        <a:rPr sz="1050" b="0">
                          <a:solidFill>
                            <a:srgbClr val="16181A"/>
                          </a:solidFill>
                          <a:latin typeface="Arial"/>
                        </a:rPr>
                        <a:t>94% vs 96% baseline</a:t>
                      </a:r>
                    </a:p>
                  </a:txBody>
                  <a:tcPr marL="73152" marR="73152" marT="36576" marB="36576">
                    <a:solidFill>
                      <a:srgbClr val="FCFCFB"/>
                    </a:solidFill>
                  </a:tcPr>
                </a:tc>
                <a:tc>
                  <a:txBody>
                    <a:bodyPr/>
                    <a:lstStyle/>
                    <a:p>
                      <a:pPr>
                        <a:lnSpc>
                          <a:spcPct val="115000"/>
                        </a:lnSpc>
                      </a:pPr>
                      <a:r>
                        <a:rPr sz="1050" b="0">
                          <a:solidFill>
                            <a:srgbClr val="16181A"/>
                          </a:solidFill>
                          <a:latin typeface="Arial"/>
                        </a:rPr>
                        <a:t>Yes</a:t>
                      </a:r>
                    </a:p>
                  </a:txBody>
                  <a:tcPr marL="73152" marR="73152" marT="36576" marB="36576">
                    <a:solidFill>
                      <a:srgbClr val="FCFCFB"/>
                    </a:solidFill>
                  </a:tcPr>
                </a:tc>
              </a:tr>
              <a:tr h="344658">
                <a:tc>
                  <a:txBody>
                    <a:bodyPr/>
                    <a:lstStyle/>
                    <a:p>
                      <a:pPr>
                        <a:lnSpc>
                          <a:spcPct val="115000"/>
                        </a:lnSpc>
                      </a:pPr>
                      <a:r>
                        <a:rPr sz="1050" b="0">
                          <a:solidFill>
                            <a:srgbClr val="16181A"/>
                          </a:solidFill>
                          <a:latin typeface="Arial"/>
                        </a:rPr>
                        <a:t>E11</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do sensors buy?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Full coverage = perfect tracking</a:t>
                      </a:r>
                    </a:p>
                  </a:txBody>
                  <a:tcPr marL="73152" marR="73152" marT="36576" marB="36576">
                    <a:solidFill>
                      <a:srgbClr val="FCFCFB"/>
                    </a:solidFill>
                  </a:tcPr>
                </a:tc>
                <a:tc>
                  <a:txBody>
                    <a:bodyPr/>
                    <a:lstStyle/>
                    <a:p>
                      <a:pPr>
                        <a:lnSpc>
                          <a:spcPct val="115000"/>
                        </a:lnSpc>
                      </a:pPr>
                      <a:r>
                        <a:rPr sz="1050" b="0">
                          <a:solidFill>
                            <a:srgbClr val="16181A"/>
                          </a:solidFill>
                          <a:latin typeface="Arial"/>
                        </a:rPr>
                        <a:t>Mechanism</a:t>
                      </a:r>
                    </a:p>
                  </a:txBody>
                  <a:tcPr marL="73152" marR="73152" marT="36576" marB="36576">
                    <a:solidFill>
                      <a:srgbClr val="FCFCFB"/>
                    </a:solidFill>
                  </a:tcPr>
                </a:tc>
              </a:tr>
              <a:tr h="344664">
                <a:tc>
                  <a:txBody>
                    <a:bodyPr/>
                    <a:lstStyle/>
                    <a:p>
                      <a:pPr>
                        <a:lnSpc>
                          <a:spcPct val="115000"/>
                        </a:lnSpc>
                      </a:pPr>
                      <a:r>
                        <a:rPr sz="1050" b="0">
                          <a:solidFill>
                            <a:srgbClr val="16181A"/>
                          </a:solidFill>
                          <a:latin typeface="Arial"/>
                        </a:rPr>
                        <a:t>E12</a:t>
                      </a:r>
                    </a:p>
                  </a:txBody>
                  <a:tcPr marL="73152" marR="73152" marT="36576" marB="36576">
                    <a:solidFill>
                      <a:srgbClr val="FCFCFB"/>
                    </a:solidFill>
                  </a:tcPr>
                </a:tc>
                <a:tc>
                  <a:txBody>
                    <a:bodyPr/>
                    <a:lstStyle/>
                    <a:p>
                      <a:pPr>
                        <a:lnSpc>
                          <a:spcPct val="115000"/>
                        </a:lnSpc>
                      </a:pPr>
                      <a:r>
                        <a:rPr sz="1050" b="0">
                          <a:solidFill>
                            <a:srgbClr val="16181A"/>
                          </a:solidFill>
                          <a:latin typeface="Arial"/>
                        </a:rPr>
                        <a:t>What is the counter-play? (NEW)</a:t>
                      </a:r>
                    </a:p>
                  </a:txBody>
                  <a:tcPr marL="73152" marR="73152" marT="36576" marB="36576">
                    <a:solidFill>
                      <a:srgbClr val="FCFCFB"/>
                    </a:solidFill>
                  </a:tcPr>
                </a:tc>
                <a:tc>
                  <a:txBody>
                    <a:bodyPr/>
                    <a:lstStyle/>
                    <a:p>
                      <a:pPr>
                        <a:lnSpc>
                          <a:spcPct val="115000"/>
                        </a:lnSpc>
                      </a:pPr>
                      <a:r>
                        <a:rPr sz="1050" b="0">
                          <a:solidFill>
                            <a:srgbClr val="16181A"/>
                          </a:solidFill>
                          <a:latin typeface="Arial"/>
                        </a:rPr>
                        <a:t>Disabling sensors: 21% risk cut</a:t>
                      </a:r>
                    </a:p>
                  </a:txBody>
                  <a:tcPr marL="73152" marR="73152" marT="36576" marB="36576">
                    <a:solidFill>
                      <a:srgbClr val="FCFCFB"/>
                    </a:solidFill>
                  </a:tcPr>
                </a:tc>
                <a:tc>
                  <a:txBody>
                    <a:bodyPr/>
                    <a:lstStyle/>
                    <a:p>
                      <a:pPr>
                        <a:lnSpc>
                          <a:spcPct val="115000"/>
                        </a:lnSpc>
                      </a:pPr>
                      <a:r>
                        <a:rPr sz="1050" b="0">
                          <a:solidFill>
                            <a:srgbClr val="16181A"/>
                          </a:solidFill>
                          <a:latin typeface="Arial"/>
                        </a:rPr>
                        <a:t>Design answer</a:t>
                      </a:r>
                    </a:p>
                  </a:txBody>
                  <a:tcPr marL="73152" marR="73152" marT="36576" marB="36576">
                    <a:solidFill>
                      <a:srgbClr val="FCFCFB"/>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INTERPRETATION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findings changed the design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350" b="1">
                <a:solidFill>
                  <a:srgbClr val="16181A"/>
                </a:solidFill>
                <a:latin typeface="Arial"/>
              </a:rPr>
              <a:t>1 · A negative result set this cycle's work.  </a:t>
            </a:r>
            <a:r>
              <a:rPr sz="1350">
                <a:solidFill>
                  <a:srgbClr val="6B7178"/>
                </a:solidFill>
                <a:latin typeface="Arial"/>
              </a:rPr>
              <a:t>Waiting did not defend, and the cause was perfect observation. That diagnosis — not a guess — is why door sensors were the next milestone. The fix was verified: at 100% coverage the new filter reproduces the old fully-observed behaviour, which is how we know the re-implementation is sound.</a:t>
            </a:r>
          </a:p>
          <a:p>
            <a:pPr>
              <a:lnSpc>
                <a:spcPct val="130000"/>
              </a:lnSpc>
              <a:spcAft>
                <a:spcPts val="1300"/>
              </a:spcAft>
            </a:pPr>
            <a:r>
              <a:rPr sz="1350" b="1">
                <a:solidFill>
                  <a:srgbClr val="16181A"/>
                </a:solidFill>
                <a:latin typeface="Arial"/>
              </a:rPr>
              <a:t>2 · The metric was hiding the answer.  </a:t>
            </a:r>
            <a:r>
              <a:rPr sz="1350">
                <a:solidFill>
                  <a:srgbClr val="6B7178"/>
                </a:solidFill>
                <a:latin typeface="Arial"/>
              </a:rPr>
              <a:t>Measured per window, avoiding sensors looked excellent. Measured per objective completed, it was worse than doing nothing — the player was simply achieving less. Two strategies that looked like wins disappeared under the corrected metric.</a:t>
            </a:r>
          </a:p>
          <a:p>
            <a:pPr>
              <a:lnSpc>
                <a:spcPct val="130000"/>
              </a:lnSpc>
              <a:spcAft>
                <a:spcPts val="1300"/>
              </a:spcAft>
            </a:pPr>
            <a:r>
              <a:rPr sz="1350" b="1">
                <a:solidFill>
                  <a:srgbClr val="16181A"/>
                </a:solidFill>
                <a:latin typeface="Arial"/>
              </a:rPr>
              <a:t>3 · The mechanic the fiction already had is the one that works.  </a:t>
            </a:r>
            <a:r>
              <a:rPr sz="1350">
                <a:solidFill>
                  <a:srgbClr val="6B7178"/>
                </a:solidFill>
                <a:latin typeface="Arial"/>
              </a:rPr>
              <a:t>Detouring around live sensors costs more exposure than it saves. Spending a dangerous task to silence a sensor on your existing route is the strategy that cuts risk. The design was right before the measurement was.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LIMITATIONS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Stated before the panel finds them</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2834640"/>
                <a:gridCol w="4480560"/>
                <a:gridCol w="3566160"/>
              </a:tblGrid>
              <a:tr h="384048">
                <a:tc>
                  <a:txBody>
                    <a:bodyPr/>
                    <a:lstStyle/>
                    <a:p>
                      <a:pPr>
                        <a:lnSpc>
                          <a:spcPct val="115000"/>
                        </a:lnSpc>
                      </a:pPr>
                      <a:r>
                        <a:rPr sz="900" b="1">
                          <a:solidFill>
                            <a:srgbClr val="6B7178"/>
                          </a:solidFill>
                          <a:latin typeface="Arial"/>
                        </a:rPr>
                        <a:t>Limitation</a:t>
                      </a:r>
                    </a:p>
                  </a:txBody>
                  <a:tcPr marL="73152" marR="73152" marT="36576" marB="36576">
                    <a:solidFill>
                      <a:srgbClr val="F4F6F8"/>
                    </a:solidFill>
                  </a:tcPr>
                </a:tc>
                <a:tc>
                  <a:txBody>
                    <a:bodyPr/>
                    <a:lstStyle/>
                    <a:p>
                      <a:pPr>
                        <a:lnSpc>
                          <a:spcPct val="115000"/>
                        </a:lnSpc>
                      </a:pPr>
                      <a:r>
                        <a:rPr sz="900" b="1">
                          <a:solidFill>
                            <a:srgbClr val="6B7178"/>
                          </a:solidFill>
                          <a:latin typeface="Arial"/>
                        </a:rPr>
                        <a:t>Why it stands</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resolves it</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No human playtest data</a:t>
                      </a:r>
                    </a:p>
                  </a:txBody>
                  <a:tcPr marL="73152" marR="73152" marT="36576" marB="36576">
                    <a:solidFill>
                      <a:srgbClr val="FCFCFB"/>
                    </a:solidFill>
                  </a:tcPr>
                </a:tc>
                <a:tc>
                  <a:txBody>
                    <a:bodyPr/>
                    <a:lstStyle/>
                    <a:p>
                      <a:pPr>
                        <a:lnSpc>
                          <a:spcPct val="115000"/>
                        </a:lnSpc>
                      </a:pPr>
                      <a:r>
                        <a:rPr sz="1150" b="0">
                          <a:solidFill>
                            <a:srgbClr val="16181A"/>
                          </a:solidFill>
                          <a:latin typeface="Arial"/>
                        </a:rPr>
                        <a:t>All evaluation is against scripted players</a:t>
                      </a:r>
                    </a:p>
                  </a:txBody>
                  <a:tcPr marL="73152" marR="73152" marT="36576" marB="36576">
                    <a:solidFill>
                      <a:srgbClr val="FCFCFB"/>
                    </a:solidFill>
                  </a:tcPr>
                </a:tc>
                <a:tc>
                  <a:txBody>
                    <a:bodyPr/>
                    <a:lstStyle/>
                    <a:p>
                      <a:pPr>
                        <a:lnSpc>
                          <a:spcPct val="115000"/>
                        </a:lnSpc>
                      </a:pPr>
                      <a:r>
                        <a:rPr sz="1150" b="0">
                          <a:solidFill>
                            <a:srgbClr val="16181A"/>
                          </a:solidFill>
                          <a:latin typeface="Arial"/>
                        </a:rPr>
                        <a:t>M5 playtest; telemetry format exists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Dwell rate is an assumption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Calibrated to ~24% of windows, not measured</a:t>
                      </a:r>
                    </a:p>
                  </a:txBody>
                  <a:tcPr marL="73152" marR="73152" marT="36576" marB="36576">
                    <a:solidFill>
                      <a:srgbClr val="FCFCFB"/>
                    </a:solidFill>
                  </a:tcPr>
                </a:tc>
                <a:tc>
                  <a:txBody>
                    <a:bodyPr/>
                    <a:lstStyle/>
                    <a:p>
                      <a:pPr>
                        <a:lnSpc>
                          <a:spcPct val="115000"/>
                        </a:lnSpc>
                      </a:pPr>
                      <a:r>
                        <a:rPr sz="1150" b="0">
                          <a:solidFill>
                            <a:srgbClr val="16181A"/>
                          </a:solidFill>
                          <a:latin typeface="Arial"/>
                        </a:rPr>
                        <a:t>Same playtest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Models close at interception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VOMM and order-1 within noise on capture rate</a:t>
                      </a:r>
                    </a:p>
                  </a:txBody>
                  <a:tcPr marL="73152" marR="73152" marT="36576" marB="36576">
                    <a:solidFill>
                      <a:srgbClr val="FCFCFB"/>
                    </a:solidFill>
                  </a:tcPr>
                </a:tc>
                <a:tc>
                  <a:txBody>
                    <a:bodyPr/>
                    <a:lstStyle/>
                    <a:p>
                      <a:pPr>
                        <a:lnSpc>
                          <a:spcPct val="115000"/>
                        </a:lnSpc>
                      </a:pPr>
                      <a:r>
                        <a:rPr sz="1150" b="0">
                          <a:solidFill>
                            <a:srgbClr val="16181A"/>
                          </a:solidFill>
                          <a:latin typeface="Arial"/>
                        </a:rPr>
                        <a:t>Clear gap is at prediction, not pursuit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Lookahead can hurt</a:t>
                      </a:r>
                    </a:p>
                  </a:txBody>
                  <a:tcPr marL="73152" marR="73152" marT="36576" marB="36576">
                    <a:solidFill>
                      <a:srgbClr val="FCFCFB"/>
                    </a:solidFill>
                  </a:tcPr>
                </a:tc>
                <a:tc>
                  <a:txBody>
                    <a:bodyPr/>
                    <a:lstStyle/>
                    <a:p>
                      <a:pPr>
                        <a:lnSpc>
                          <a:spcPct val="115000"/>
                        </a:lnSpc>
                      </a:pPr>
                      <a:r>
                        <a:rPr sz="1150" b="0">
                          <a:solidFill>
                            <a:srgbClr val="16181A"/>
                          </a:solidFill>
                          <a:latin typeface="Arial"/>
                        </a:rPr>
                        <a:t>At 61% single-step accuracy, rollout error compounds</a:t>
                      </a:r>
                    </a:p>
                  </a:txBody>
                  <a:tcPr marL="73152" marR="73152" marT="36576" marB="36576">
                    <a:solidFill>
                      <a:srgbClr val="FCFCFB"/>
                    </a:solidFill>
                  </a:tcPr>
                </a:tc>
                <a:tc>
                  <a:txBody>
                    <a:bodyPr/>
                    <a:lstStyle/>
                    <a:p>
                      <a:pPr>
                        <a:lnSpc>
                          <a:spcPct val="115000"/>
                        </a:lnSpc>
                      </a:pPr>
                      <a:r>
                        <a:rPr sz="1150" b="0">
                          <a:solidFill>
                            <a:srgbClr val="16181A"/>
                          </a:solidFill>
                          <a:latin typeface="Arial"/>
                        </a:rPr>
                        <a:t>Expected; documented, not hidden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No 3D integration</a:t>
                      </a:r>
                    </a:p>
                  </a:txBody>
                  <a:tcPr marL="73152" marR="73152" marT="36576" marB="36576">
                    <a:solidFill>
                      <a:srgbClr val="FCFCFB"/>
                    </a:solidFill>
                  </a:tcPr>
                </a:tc>
                <a:tc>
                  <a:txBody>
                    <a:bodyPr/>
                    <a:lstStyle/>
                    <a:p>
                      <a:pPr>
                        <a:lnSpc>
                          <a:spcPct val="115000"/>
                        </a:lnSpc>
                      </a:pPr>
                      <a:r>
                        <a:rPr sz="1150" b="0">
                          <a:solidFill>
                            <a:srgbClr val="16181A"/>
                          </a:solidFill>
                          <a:latin typeface="Arial"/>
                        </a:rPr>
                        <a:t>Godot build not started; art study only</a:t>
                      </a:r>
                    </a:p>
                  </a:txBody>
                  <a:tcPr marL="73152" marR="73152" marT="36576" marB="36576">
                    <a:solidFill>
                      <a:srgbClr val="FCFCFB"/>
                    </a:solidFill>
                  </a:tcPr>
                </a:tc>
                <a:tc>
                  <a:txBody>
                    <a:bodyPr/>
                    <a:lstStyle/>
                    <a:p>
                      <a:pPr>
                        <a:lnSpc>
                          <a:spcPct val="115000"/>
                        </a:lnSpc>
                      </a:pPr>
                      <a:r>
                        <a:rPr sz="1150" b="0">
                          <a:solidFill>
                            <a:srgbClr val="16181A"/>
                          </a:solidFill>
                          <a:latin typeface="Arial"/>
                        </a:rPr>
                        <a:t>M3, next cycle</a:t>
                      </a:r>
                    </a:p>
                  </a:txBody>
                  <a:tcPr marL="73152" marR="73152" marT="36576" marB="36576">
                    <a:solidFill>
                      <a:srgbClr val="FCFCFB"/>
                    </a:solidFill>
                  </a:tcPr>
                </a:tc>
              </a:tr>
            </a:tbl>
          </a:graphicData>
        </a:graphic>
      </p:graphicFrame>
      <p:sp>
        <p:nvSpPr>
          <p:cNvPr id="6" name="TextBox 5"/>
          <p:cNvSpPr txBox="1"/>
          <p:nvPr/>
        </p:nvSpPr>
        <p:spPr>
          <a:xfrm>
            <a:off x="658368" y="4846320"/>
            <a:ext cx="10881360" cy="1097280"/>
          </a:xfrm>
          <a:prstGeom prst="rect">
            <a:avLst/>
          </a:prstGeom>
          <a:noFill/>
        </p:spPr>
        <p:txBody>
          <a:bodyPr wrap="square" lIns="0" rIns="0" tIns="0" bIns="0">
            <a:spAutoFit/>
          </a:bodyPr>
          <a:lstStyle/>
          <a:p>
            <a:pPr algn="l">
              <a:lnSpc>
                <a:spcPct val="132000"/>
              </a:lnSpc>
              <a:spcAft>
                <a:spcPts val="600"/>
              </a:spcAft>
            </a:pPr>
            <a:r>
              <a:rPr sz="1300" b="0">
                <a:solidFill>
                  <a:srgbClr val="6B7178"/>
                </a:solidFill>
                <a:latin typeface="Arial"/>
              </a:rPr>
              <a:t>Roadmap — M3 the Godot greybox driven by the room graph; M7 polygonal room tiles where side count is the difficulty setting; M8 the outbound register with pre-send tampering, already prototyped in the browser slice. M6 landed this cycle, ahead of M3, because the evidence said it mattered more.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Four things that run right now</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1920240"/>
        </p:xfrm>
        <a:graphic>
          <a:graphicData uri="http://schemas.openxmlformats.org/drawingml/2006/table">
            <a:tbl>
              <a:tblPr firstRow="1" bandRow="1">
                <a:tableStyleId>{5C22544A-7EE6-4342-B048-85BDC9FD1C3A}</a:tableStyleId>
              </a:tblPr>
              <a:tblGrid>
                <a:gridCol w="548640"/>
                <a:gridCol w="3291840"/>
                <a:gridCol w="7040880"/>
              </a:tblGrid>
              <a:tr h="384048">
                <a:tc>
                  <a:txBody>
                    <a:bodyPr/>
                    <a:lstStyle/>
                    <a:p>
                      <a:pPr>
                        <a:lnSpc>
                          <a:spcPct val="115000"/>
                        </a:lnSpc>
                      </a:pPr>
                      <a:r>
                        <a:rPr sz="900" b="1">
                          <a:solidFill>
                            <a:srgbClr val="6B7178"/>
                          </a:solidFill>
                          <a:latin typeface="Arial"/>
                        </a:rPr>
                        <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a:t>
                      </a:r>
                    </a:p>
                  </a:txBody>
                  <a:tcPr marL="73152" marR="73152" marT="36576" marB="36576">
                    <a:solidFill>
                      <a:srgbClr val="F4F6F8"/>
                    </a:solidFill>
                  </a:tcPr>
                </a:tc>
                <a:tc>
                  <a:txBody>
                    <a:bodyPr/>
                    <a:lstStyle/>
                    <a:p>
                      <a:pPr>
                        <a:lnSpc>
                          <a:spcPct val="115000"/>
                        </a:lnSpc>
                      </a:pPr>
                      <a:r>
                        <a:rPr sz="900" b="1">
                          <a:solidFill>
                            <a:srgbClr val="6B7178"/>
                          </a:solidFill>
                          <a:latin typeface="Arial"/>
                        </a:rPr>
                        <a:t>What the panel sees</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1</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GAME — parity-3d.html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Walk it in first person. Three codebooks, then the uplink, with the thing hunting you and narrating itself top-right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2</a:t>
                      </a:r>
                    </a:p>
                  </a:txBody>
                  <a:tcPr marL="73152" marR="73152" marT="36576" marB="36576">
                    <a:solidFill>
                      <a:srgbClr val="FCFCFB"/>
                    </a:solidFill>
                  </a:tcPr>
                </a:tc>
                <a:tc>
                  <a:txBody>
                    <a:bodyPr/>
                    <a:lstStyle/>
                    <a:p>
                      <a:pPr>
                        <a:lnSpc>
                          <a:spcPct val="115000"/>
                        </a:lnSpc>
                      </a:pPr>
                      <a:r>
                        <a:rPr sz="1150" b="0">
                          <a:solidFill>
                            <a:srgbClr val="16181A"/>
                          </a:solidFill>
                          <a:latin typeface="Arial"/>
                        </a:rPr>
                        <a:t>Systems view — parity-game.html</a:t>
                      </a:r>
                    </a:p>
                  </a:txBody>
                  <a:tcPr marL="73152" marR="73152" marT="36576" marB="36576">
                    <a:solidFill>
                      <a:srgbClr val="FCFCFB"/>
                    </a:solidFill>
                  </a:tcPr>
                </a:tc>
                <a:tc>
                  <a:txBody>
                    <a:bodyPr/>
                    <a:lstStyle/>
                    <a:p>
                      <a:pPr>
                        <a:lnSpc>
                          <a:spcPct val="115000"/>
                        </a:lnSpc>
                      </a:pPr>
                      <a:r>
                        <a:rPr sz="1150" b="0">
                          <a:solidFill>
                            <a:srgbClr val="16181A"/>
                          </a:solidFill>
                          <a:latin typeface="Arial"/>
                        </a:rPr>
                        <a:t>The same AI with its belief drawn on the map, and a sensor you can cut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3</a:t>
                      </a:r>
                    </a:p>
                  </a:txBody>
                  <a:tcPr marL="73152" marR="73152" marT="36576" marB="36576">
                    <a:solidFill>
                      <a:srgbClr val="FCFCFB"/>
                    </a:solidFill>
                  </a:tcPr>
                </a:tc>
                <a:tc>
                  <a:txBody>
                    <a:bodyPr/>
                    <a:lstStyle/>
                    <a:p>
                      <a:pPr>
                        <a:lnSpc>
                          <a:spcPct val="115000"/>
                        </a:lnSpc>
                      </a:pPr>
                      <a:r>
                        <a:rPr sz="1150" b="0">
                          <a:solidFill>
                            <a:srgbClr val="16181A"/>
                          </a:solidFill>
                          <a:latin typeface="Arial"/>
                        </a:rPr>
                        <a:t>Test suite — test_invariants.py</a:t>
                      </a:r>
                    </a:p>
                  </a:txBody>
                  <a:tcPr marL="73152" marR="73152" marT="36576" marB="36576">
                    <a:solidFill>
                      <a:srgbClr val="FCFCFB"/>
                    </a:solidFill>
                  </a:tcPr>
                </a:tc>
                <a:tc>
                  <a:txBody>
                    <a:bodyPr/>
                    <a:lstStyle/>
                    <a:p>
                      <a:pPr>
                        <a:lnSpc>
                          <a:spcPct val="115000"/>
                        </a:lnSpc>
                      </a:pPr>
                      <a:r>
                        <a:rPr sz="1150" b="0">
                          <a:solidFill>
                            <a:srgbClr val="16181A"/>
                          </a:solidFill>
                          <a:latin typeface="Arial"/>
                        </a:rPr>
                        <a:t>9 invariants over 25 generated facilities, in seconds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4</a:t>
                      </a:r>
                    </a:p>
                  </a:txBody>
                  <a:tcPr marL="73152" marR="73152" marT="36576" marB="36576">
                    <a:solidFill>
                      <a:srgbClr val="FCFCFB"/>
                    </a:solidFill>
                  </a:tcPr>
                </a:tc>
                <a:tc>
                  <a:txBody>
                    <a:bodyPr/>
                    <a:lstStyle/>
                    <a:p>
                      <a:pPr>
                        <a:lnSpc>
                          <a:spcPct val="115000"/>
                        </a:lnSpc>
                      </a:pPr>
                      <a:r>
                        <a:rPr sz="1150" b="0">
                          <a:solidFill>
                            <a:srgbClr val="16181A"/>
                          </a:solidFill>
                          <a:latin typeface="Arial"/>
                        </a:rPr>
                        <a:t>Cut a sensor</a:t>
                      </a:r>
                    </a:p>
                  </a:txBody>
                  <a:tcPr marL="73152" marR="73152" marT="36576" marB="36576">
                    <a:solidFill>
                      <a:srgbClr val="FCFCFB"/>
                    </a:solidFill>
                  </a:tcPr>
                </a:tc>
                <a:tc>
                  <a:txBody>
                    <a:bodyPr/>
                    <a:lstStyle/>
                    <a:p>
                      <a:pPr>
                        <a:lnSpc>
                          <a:spcPct val="115000"/>
                        </a:lnSpc>
                      </a:pPr>
                      <a:r>
                        <a:rPr sz="1150" b="0">
                          <a:solidFill>
                            <a:srgbClr val="16181A"/>
                          </a:solidFill>
                          <a:latin typeface="Arial"/>
                        </a:rPr>
                        <a:t>Three windows stood still to kill a door, then watch it lose your trail</a:t>
                      </a:r>
                    </a:p>
                  </a:txBody>
                  <a:tcPr marL="73152" marR="73152" marT="36576" marB="36576">
                    <a:solidFill>
                      <a:srgbClr val="FCFCFB"/>
                    </a:solidFill>
                  </a:tcPr>
                </a:tc>
              </a:tr>
            </a:tbl>
          </a:graphicData>
        </a:graphic>
      </p:graphicFrame>
      <p:sp>
        <p:nvSpPr>
          <p:cNvPr id="6" name="TextBox 5"/>
          <p:cNvSpPr txBox="1"/>
          <p:nvPr/>
        </p:nvSpPr>
        <p:spPr>
          <a:xfrm>
            <a:off x="658368" y="4572000"/>
            <a:ext cx="10881360" cy="82296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Everything runs offline in a browser or from the command line — nothing to install, no network. Turn AI view OFF to see what the player experiences, then ON to see what the antagonist was actually doing. That contrast is the demonstration.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Learning speed</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737360"/>
            <a:ext cx="8046720" cy="412149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2167128" y="1719072"/>
            <a:ext cx="7863840" cy="383602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BACKUP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Key references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5120640"/>
                <a:gridCol w="576072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Used for</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Begleiter, El-Yaniv &amp; Yona (2004), JAIR 22:385-421</a:t>
                      </a:r>
                    </a:p>
                  </a:txBody>
                  <a:tcPr marL="73152" marR="73152" marT="36576" marB="36576">
                    <a:solidFill>
                      <a:srgbClr val="FCFCFB"/>
                    </a:solidFill>
                  </a:tcPr>
                </a:tc>
                <a:tc>
                  <a:txBody>
                    <a:bodyPr/>
                    <a:lstStyle/>
                    <a:p>
                      <a:pPr>
                        <a:lnSpc>
                          <a:spcPct val="115000"/>
                        </a:lnSpc>
                      </a:pPr>
                      <a:r>
                        <a:rPr sz="1200" b="0">
                          <a:solidFill>
                            <a:srgbClr val="16181A"/>
                          </a:solidFill>
                          <a:latin typeface="Arial"/>
                        </a:rPr>
                        <a:t>Formal basis of the variable-order Markov 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Romeo et al. (2025), arXiv:2506.19530</a:t>
                      </a:r>
                    </a:p>
                  </a:txBody>
                  <a:tcPr marL="73152" marR="73152" marT="36576" marB="36576">
                    <a:solidFill>
                      <a:srgbClr val="FCFCFB"/>
                    </a:solidFill>
                  </a:tcPr>
                </a:tc>
                <a:tc>
                  <a:txBody>
                    <a:bodyPr/>
                    <a:lstStyle/>
                    <a:p>
                      <a:pPr>
                        <a:lnSpc>
                          <a:spcPct val="115000"/>
                        </a:lnSpc>
                      </a:pPr>
                      <a:r>
                        <a:rPr sz="1200" b="0">
                          <a:solidFill>
                            <a:srgbClr val="16181A"/>
                          </a:solidFill>
                          <a:latin typeface="Arial"/>
                        </a:rPr>
                        <a:t>Closest analogue: RL for encounter generation in D&amp;D</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Lopes et al. (2025), arXiv:2505.01351</a:t>
                      </a:r>
                    </a:p>
                  </a:txBody>
                  <a:tcPr marL="73152" marR="73152" marT="36576" marB="36576">
                    <a:solidFill>
                      <a:srgbClr val="FCFCFB"/>
                    </a:solidFill>
                  </a:tcPr>
                </a:tc>
                <a:tc>
                  <a:txBody>
                    <a:bodyPr/>
                    <a:lstStyle/>
                    <a:p>
                      <a:pPr>
                        <a:lnSpc>
                          <a:spcPct val="115000"/>
                        </a:lnSpc>
                      </a:pPr>
                      <a:r>
                        <a:rPr sz="1200" b="0">
                          <a:solidFill>
                            <a:srgbClr val="16181A"/>
                          </a:solidFill>
                          <a:latin typeface="Arial"/>
                        </a:rPr>
                        <a:t>Review naming evaluation as the field's weak point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Wu et al. (2025), arXiv:2509.11713</a:t>
                      </a:r>
                    </a:p>
                  </a:txBody>
                  <a:tcPr marL="73152" marR="73152" marT="36576" marB="36576">
                    <a:solidFill>
                      <a:srgbClr val="FCFCFB"/>
                    </a:solidFill>
                  </a:tcPr>
                </a:tc>
                <a:tc>
                  <a:txBody>
                    <a:bodyPr/>
                    <a:lstStyle/>
                    <a:p>
                      <a:pPr>
                        <a:lnSpc>
                          <a:spcPct val="115000"/>
                        </a:lnSpc>
                      </a:pPr>
                      <a:r>
                        <a:rPr sz="1200" b="0">
                          <a:solidFill>
                            <a:srgbClr val="16181A"/>
                          </a:solidFill>
                          <a:latin typeface="Arial"/>
                        </a:rPr>
                        <a:t>Next-location prediction over a discrete place graph</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Deng et al. (2025), arXiv:2508.16620</a:t>
                      </a:r>
                    </a:p>
                  </a:txBody>
                  <a:tcPr marL="73152" marR="73152" marT="36576" marB="36576">
                    <a:solidFill>
                      <a:srgbClr val="FCFCFB"/>
                    </a:solidFill>
                  </a:tcPr>
                </a:tc>
                <a:tc>
                  <a:txBody>
                    <a:bodyPr/>
                    <a:lstStyle/>
                    <a:p>
                      <a:pPr>
                        <a:lnSpc>
                          <a:spcPct val="115000"/>
                        </a:lnSpc>
                      </a:pPr>
                      <a:r>
                        <a:rPr sz="1200" b="0">
                          <a:solidFill>
                            <a:srgbClr val="16181A"/>
                          </a:solidFill>
                          <a:latin typeface="Arial"/>
                        </a:rPr>
                        <a:t>Upgrade path from VOMM for trajectory prediction</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Zhang et al. (2023), arXiv:2312.15582</a:t>
                      </a:r>
                    </a:p>
                  </a:txBody>
                  <a:tcPr marL="73152" marR="73152" marT="36576" marB="36576">
                    <a:solidFill>
                      <a:srgbClr val="FCFCFB"/>
                    </a:solidFill>
                  </a:tcPr>
                </a:tc>
                <a:tc>
                  <a:txBody>
                    <a:bodyPr/>
                    <a:lstStyle/>
                    <a:p>
                      <a:pPr>
                        <a:lnSpc>
                          <a:spcPct val="115000"/>
                        </a:lnSpc>
                      </a:pPr>
                      <a:r>
                        <a:rPr sz="1200" b="0">
                          <a:solidFill>
                            <a:srgbClr val="16181A"/>
                          </a:solidFill>
                          <a:latin typeface="Arial"/>
                        </a:rPr>
                        <a:t>Fear in horror games; unfairness destroys it</a:t>
                      </a:r>
                    </a:p>
                  </a:txBody>
                  <a:tcPr marL="73152" marR="73152" marT="36576" marB="36576">
                    <a:solidFill>
                      <a:srgbClr val="FCFCFB"/>
                    </a:solidFill>
                  </a:tcPr>
                </a:tc>
              </a:tr>
            </a:tbl>
          </a:graphicData>
        </a:graphic>
      </p:graphicFrame>
      <p:sp>
        <p:nvSpPr>
          <p:cNvPr id="6" name="TextBox 5"/>
          <p:cNvSpPr txBox="1"/>
          <p:nvPr/>
        </p:nvSpPr>
        <p:spPr>
          <a:xfrm>
            <a:off x="658368" y="4572000"/>
            <a:ext cx="10881360" cy="457200"/>
          </a:xfrm>
          <a:prstGeom prst="rect">
            <a:avLst/>
          </a:prstGeom>
          <a:noFill/>
        </p:spPr>
        <p:txBody>
          <a:bodyPr wrap="square" lIns="0" rIns="0" tIns="0" bIns="0">
            <a:spAutoFit/>
          </a:bodyPr>
          <a:lstStyle/>
          <a:p>
            <a:pPr algn="l">
              <a:lnSpc>
                <a:spcPct val="125000"/>
              </a:lnSpc>
              <a:spcAft>
                <a:spcPts val="600"/>
              </a:spcAft>
            </a:pPr>
            <a:r>
              <a:rPr sz="1250" b="0">
                <a:solidFill>
                  <a:srgbClr val="6B7178"/>
                </a:solidFill>
                <a:latin typeface="Arial"/>
              </a:rPr>
              <a:t>Full 22-work review in the Review I deck and the project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