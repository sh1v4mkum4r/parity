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say the sentence that matters: everything in this deck is executable and the panel can run it. Name the new work: partial observation, built because the last review's negative result pointed at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Walk two rooms, let a window open and close, and let them read the panel top-right while you move. It answers 'where is the game' and 'show the AI functioning'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two of these lines aloud verbatim. This is the answer to 'explain the AI in plain view' — it is not a diagram of the AI, it is the AI talking. Then say the last line is what the player NEVER sees: the tampering is silent in normal play, and the AI view is how you inspect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Eight of ten modules complete and measured, two running as prototypes, and be straight that the 3D integration has not started. Say 'roughly 80% of the approved module list' — do not overclaim a finished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12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mutator so every change is logged and replayable; the Notebook sits outside the loop, which is what makes it the player's counter-move.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progress slide. Lead with the negative result from last time,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accuracy is 61% and not 90% — an earlier version forbade waiting and that number was inflated.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impresses: if every door is wired,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column, not the 61%.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100% bar — it never linger where there is nothing to record. The 67% bar is the honest one: it knows you may be writing, not when you will finish.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isolating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why the fiction needs unwired doors and disabled sensors.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Three things: waiting is worse than useless, avoidance barely helps, and disabling sensors on your own route is the real counter-play. Point out this is your design mechanic validated by measurement, not chosen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Note the two rows marked NEGATIVE — volunteer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It shows evidence driving decisions, a corrected metric overturning two apparent wins, and the design being validated rather than rationalised.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3D build not being started is the obvious one — own it and point at the roadmap and at why M6 came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55648"/>
            <a:ext cx="10881360" cy="310896"/>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WHAT THIS PANEL ASKED FOR LAST TIME</a:t>
            </a:r>
          </a:p>
        </p:txBody>
      </p:sp>
      <p:graphicFrame>
        <p:nvGraphicFramePr>
          <p:cNvPr id="6" name="Table 5"/>
          <p:cNvGraphicFramePr>
            <a:graphicFrameLocks noGrp="1"/>
          </p:cNvGraphicFramePr>
          <p:nvPr/>
        </p:nvGraphicFramePr>
        <p:xfrm>
          <a:off x="658368" y="2084831"/>
          <a:ext cx="10881360" cy="1920240"/>
        </p:xfrm>
        <a:graphic>
          <a:graphicData uri="http://schemas.openxmlformats.org/drawingml/2006/table">
            <a:tbl>
              <a:tblPr firstRow="1" bandRow="1">
                <a:tableStyleId>{5C22544A-7EE6-4342-B048-85BDC9FD1C3A}</a:tableStyleId>
              </a:tblPr>
              <a:tblGrid>
                <a:gridCol w="4206240"/>
                <a:gridCol w="6675120"/>
              </a:tblGrid>
              <a:tr h="384048">
                <a:tc>
                  <a:txBody>
                    <a:bodyPr/>
                    <a:lstStyle/>
                    <a:p>
                      <a:pPr>
                        <a:lnSpc>
                          <a:spcPct val="115000"/>
                        </a:lnSpc>
                      </a:pPr>
                      <a:r>
                        <a:rPr sz="900" b="1">
                          <a:solidFill>
                            <a:srgbClr val="6B7178"/>
                          </a:solidFill>
                          <a:latin typeface="Arial"/>
                        </a:rPr>
                        <a:t>You said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changed</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Show the AI functioning, not just described</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game now narrates its own reasoning on screen, in English, every turn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The game should BE the implementation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four separate prototypes are merged into one playable build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Get to about half the 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complete core loop runs; the 3D presentation layer is what remains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Explain the AI in plain view</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AI view shows its belief on the map and why it moves where it moves</a:t>
                      </a:r>
                    </a:p>
                  </a:txBody>
                  <a:tcPr marL="73152" marR="73152" marT="36576" marB="36576">
                    <a:solidFill>
                      <a:srgbClr val="FCFCFB"/>
                    </a:solidFill>
                  </a:tcPr>
                </a:tc>
              </a:tr>
            </a:tbl>
          </a:graphicData>
        </a:graphic>
      </p:graphicFrame>
      <p:sp>
        <p:nvSpPr>
          <p:cNvPr id="7" name="TextBox 6"/>
          <p:cNvSpPr txBox="1"/>
          <p:nvPr/>
        </p:nvSpPr>
        <p:spPr>
          <a:xfrm>
            <a:off x="658368" y="4114800"/>
            <a:ext cx="10881360" cy="8229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The problem it solves — horror antagonists are static (learnable, stop being frightening) or random (unlearnable, feel unfair). Neither adapts to the individual. PARITY builds an online behavioural model of this player and acts on it.</a:t>
            </a:r>
          </a:p>
        </p:txBody>
      </p:sp>
      <p:sp>
        <p:nvSpPr>
          <p:cNvPr id="8" name="Rectangle 7"/>
          <p:cNvSpPr/>
          <p:nvPr/>
        </p:nvSpPr>
        <p:spPr>
          <a:xfrm>
            <a:off x="658368" y="5029200"/>
            <a:ext cx="10881360" cy="128016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248656"/>
            <a:ext cx="10332720" cy="96012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GAME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First-person, and the AI is in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3d.png"/>
          <p:cNvPicPr>
            <a:picLocks noChangeAspect="1"/>
          </p:cNvPicPr>
          <p:nvPr/>
        </p:nvPicPr>
        <p:blipFill>
          <a:blip r:embed="rId2"/>
          <a:stretch>
            <a:fillRect/>
          </a:stretch>
        </p:blipFill>
        <p:spPr>
          <a:xfrm>
            <a:off x="1874519" y="1664208"/>
            <a:ext cx="8412480" cy="4732020"/>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Eight cells of the facility in a hand-written WebGL build. Record three codebooks, reach the uplink, and survive a thing that hears the doors you use. Here it has just found the player — and the panel on the right shows exactly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SAME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systems view: belief, sensors, and its reasoning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game.png"/>
          <p:cNvPicPr>
            <a:picLocks noChangeAspect="1"/>
          </p:cNvPicPr>
          <p:nvPr/>
        </p:nvPicPr>
        <p:blipFill>
          <a:blip r:embed="rId2"/>
          <a:stretch>
            <a:fillRect/>
          </a:stretch>
        </p:blipFill>
        <p:spPr>
          <a:xfrm>
            <a:off x="1874519" y="1664208"/>
            <a:ext cx="8412480" cy="4520139"/>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Live capture after 22 windows. The AI has ringed room A — 'IT THINKS YOU ARE HERE' — while the player stands in H. It is confidently wrong, because the player has been using doors with no sensor on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narrates every decision, in English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7360"/>
            <a:ext cx="10881360" cy="292608"/>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VERBATIM FROM THE RUNNING BUILD</a:t>
            </a:r>
          </a:p>
        </p:txBody>
      </p:sp>
      <p:sp>
        <p:nvSpPr>
          <p:cNvPr id="6" name="Rectangle 5"/>
          <p:cNvSpPr/>
          <p:nvPr/>
        </p:nvSpPr>
        <p:spPr>
          <a:xfrm>
            <a:off x="658368" y="2066543"/>
            <a:ext cx="10881360" cy="22860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9424"/>
            <a:ext cx="10332720" cy="1920240"/>
          </a:xfrm>
          <a:prstGeom prst="rect">
            <a:avLst/>
          </a:prstGeom>
          <a:noFill/>
        </p:spPr>
        <p:txBody>
          <a:bodyPr wrap="square" lIns="0" rIns="0" tIns="0" bIns="0">
            <a:spAutoFit/>
          </a:bodyPr>
          <a:lstStyle/>
          <a:p>
            <a:pPr algn="l">
              <a:lnSpc>
                <a:spcPct val="150000"/>
              </a:lnSpc>
              <a:spcAft>
                <a:spcPts val="200"/>
              </a:spcAft>
            </a:pPr>
            <a:r>
              <a:rPr sz="1250" b="0">
                <a:solidFill>
                  <a:srgbClr val="E8DCC4"/>
                </a:solidFill>
                <a:latin typeface="Consolas"/>
              </a:rPr>
              <a:t>›  A sensor tripped on the door between B and C. You are in B.</a:t>
            </a:r>
          </a:p>
          <a:p>
            <a:pPr algn="l">
              <a:lnSpc>
                <a:spcPct val="150000"/>
              </a:lnSpc>
              <a:spcAft>
                <a:spcPts val="200"/>
              </a:spcAft>
            </a:pPr>
            <a:r>
              <a:rPr sz="1250" b="0">
                <a:solidFill>
                  <a:srgbClr val="E8DCC4"/>
                </a:solidFill>
                <a:latin typeface="Consolas"/>
              </a:rPr>
              <a:t>›  From there I expect you to stay put (51%). Moving to intercept.</a:t>
            </a:r>
          </a:p>
          <a:p>
            <a:pPr algn="l">
              <a:lnSpc>
                <a:spcPct val="150000"/>
              </a:lnSpc>
              <a:spcAft>
                <a:spcPts val="200"/>
              </a:spcAft>
            </a:pPr>
            <a:r>
              <a:rPr sz="1250" b="0">
                <a:solidFill>
                  <a:srgbClr val="E8DCC4"/>
                </a:solidFill>
                <a:latin typeface="Consolas"/>
              </a:rPr>
              <a:t>›  Nothing tripped, but I do not think you stayed. You must have used an unwired</a:t>
            </a:r>
          </a:p>
          <a:p>
            <a:pPr algn="l">
              <a:lnSpc>
                <a:spcPct val="150000"/>
              </a:lnSpc>
              <a:spcAft>
                <a:spcPts val="200"/>
              </a:spcAft>
            </a:pPr>
            <a:r>
              <a:rPr sz="1250" b="0">
                <a:solidFill>
                  <a:srgbClr val="E8DCC4"/>
                </a:solidFill>
                <a:latin typeface="Consolas"/>
              </a:rPr>
              <a:t>    door. Down to 25% sure.</a:t>
            </a:r>
          </a:p>
          <a:p>
            <a:pPr algn="l">
              <a:lnSpc>
                <a:spcPct val="150000"/>
              </a:lnSpc>
              <a:spcAft>
                <a:spcPts val="200"/>
              </a:spcAft>
            </a:pPr>
            <a:r>
              <a:rPr sz="1250" b="0">
                <a:solidFill>
                  <a:srgbClr val="E8DCC4"/>
                </a:solidFill>
                <a:latin typeface="Consolas"/>
              </a:rPr>
              <a:t>›  Only 25% sure — not enough to commit. Sweeping A, which I have not checked in a while.</a:t>
            </a:r>
          </a:p>
          <a:p>
            <a:pPr algn="l">
              <a:lnSpc>
                <a:spcPct val="150000"/>
              </a:lnSpc>
              <a:spcAft>
                <a:spcPts val="200"/>
              </a:spcAft>
            </a:pPr>
            <a:r>
              <a:rPr sz="1250" b="0">
                <a:solidFill>
                  <a:srgbClr val="E8DCC4"/>
                </a:solidFill>
                <a:latin typeface="Consolas"/>
              </a:rPr>
              <a:t>›  You cannot see the register right now, so I turned over cell 4. I will not be telling you.</a:t>
            </a:r>
          </a:p>
        </p:txBody>
      </p:sp>
      <p:graphicFrame>
        <p:nvGraphicFramePr>
          <p:cNvPr id="8" name="Table 7"/>
          <p:cNvGraphicFramePr>
            <a:graphicFrameLocks noGrp="1"/>
          </p:cNvGraphicFramePr>
          <p:nvPr/>
        </p:nvGraphicFramePr>
        <p:xfrm>
          <a:off x="658368" y="457200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00" b="1">
                          <a:solidFill>
                            <a:srgbClr val="6B7178"/>
                          </a:solidFill>
                          <a:latin typeface="Arial"/>
                        </a:rPr>
                        <a:t>On screen</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exposes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Belief heat on every room</a:t>
                      </a:r>
                    </a:p>
                  </a:txBody>
                  <a:tcPr marL="73152" marR="73152" marT="36576" marB="36576">
                    <a:solidFill>
                      <a:srgbClr val="FCFCFB"/>
                    </a:solidFill>
                  </a:tcPr>
                </a:tc>
                <a:tc>
                  <a:txBody>
                    <a:bodyPr/>
                    <a:lstStyle/>
                    <a:p>
                      <a:pPr>
                        <a:lnSpc>
                          <a:spcPct val="115000"/>
                        </a:lnSpc>
                      </a:pPr>
                      <a:r>
                        <a:rPr sz="1200" b="0">
                          <a:solidFill>
                            <a:srgbClr val="16181A"/>
                          </a:solidFill>
                          <a:latin typeface="Arial"/>
                        </a:rPr>
                        <a:t>Where it thinks you are, and how wrong that is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Dashed vs solid doors</a:t>
                      </a:r>
                    </a:p>
                  </a:txBody>
                  <a:tcPr marL="73152" marR="73152" marT="36576" marB="36576">
                    <a:solidFill>
                      <a:srgbClr val="FCFCFB"/>
                    </a:solidFill>
                  </a:tcPr>
                </a:tc>
                <a:tc>
                  <a:txBody>
                    <a:bodyPr/>
                    <a:lstStyle/>
                    <a:p>
                      <a:pPr>
                        <a:lnSpc>
                          <a:spcPct val="115000"/>
                        </a:lnSpc>
                      </a:pPr>
                      <a:r>
                        <a:rPr sz="1200" b="0">
                          <a:solidFill>
                            <a:srgbClr val="16181A"/>
                          </a:solidFill>
                          <a:latin typeface="Arial"/>
                        </a:rPr>
                        <a:t>Which doors can hear you</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'Strongest rule learned'</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habit it has picked up, in counts: 'after A→A you go to A, 10 of 10'</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Confidence percentage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Why it commits to an intercept, or sweeps instead</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much of the game is built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2103120"/>
                <a:gridCol w="4023360"/>
                <a:gridCol w="1463040"/>
                <a:gridCol w="3291840"/>
              </a:tblGrid>
              <a:tr h="320040">
                <a:tc>
                  <a:txBody>
                    <a:bodyPr/>
                    <a:lstStyle/>
                    <a:p>
                      <a:pPr>
                        <a:lnSpc>
                          <a:spcPct val="115000"/>
                        </a:lnSpc>
                      </a:pPr>
                      <a:r>
                        <a:rPr sz="850" b="1">
                          <a:solidFill>
                            <a:srgbClr val="6B7178"/>
                          </a:solidFill>
                          <a:latin typeface="Arial"/>
                        </a:rPr>
                        <a:t>System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Where it runs</a:t>
                      </a:r>
                    </a:p>
                  </a:txBody>
                  <a:tcPr marL="73152" marR="73152" marT="36576" marB="36576">
                    <a:solidFill>
                      <a:srgbClr val="F4F6F8"/>
                    </a:solidFill>
                  </a:tcPr>
                </a:tc>
              </a:tr>
              <a:tr h="320040">
                <a:tc>
                  <a:txBody>
                    <a:bodyPr/>
                    <a:lstStyle/>
                    <a:p>
                      <a:pPr>
                        <a:lnSpc>
                          <a:spcPct val="115000"/>
                        </a:lnSpc>
                      </a:pPr>
                      <a:r>
                        <a:rPr sz="10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0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facility.py · 4 tests</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predictors.py · E1-E3</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E4-E7</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0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E5-E6</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0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E10</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0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0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sensors.py · E11-E12</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00" b="0">
                          <a:solidFill>
                            <a:srgbClr val="16181A"/>
                          </a:solidFill>
                          <a:latin typeface="Arial"/>
                        </a:rPr>
                        <a:t>Freehand editor, strokes, undo, pages</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00" b="0">
                          <a:solidFill>
                            <a:srgbClr val="16181A"/>
                          </a:solidFill>
                          <a:latin typeface="Arial"/>
                        </a:rPr>
                        <a:t>Codebooks, register, transmit validation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Door clock</a:t>
                      </a:r>
                    </a:p>
                  </a:txBody>
                  <a:tcPr marL="73152" marR="73152" marT="36576" marB="36576">
                    <a:solidFill>
                      <a:srgbClr val="FCFCFB"/>
                    </a:solidFill>
                  </a:tcPr>
                </a:tc>
                <a:tc>
                  <a:txBody>
                    <a:bodyPr/>
                    <a:lstStyle/>
                    <a:p>
                      <a:pPr>
                        <a:lnSpc>
                          <a:spcPct val="115000"/>
                        </a:lnSpc>
                      </a:pPr>
                      <a:r>
                        <a:rPr sz="1000" b="0">
                          <a:solidFill>
                            <a:srgbClr val="16181A"/>
                          </a:solidFill>
                          <a:latin typeface="Arial"/>
                        </a:rPr>
                        <a:t>Lockdown / window cycle, the whole rhythm</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First-person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Walkable facility, clock, entity, AI narration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Playable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Godot port</a:t>
                      </a:r>
                    </a:p>
                  </a:txBody>
                  <a:tcPr marL="73152" marR="73152" marT="36576" marB="36576">
                    <a:solidFill>
                      <a:srgbClr val="FCFCFB"/>
                    </a:solidFill>
                  </a:tcPr>
                </a:tc>
                <a:tc>
                  <a:txBody>
                    <a:bodyPr/>
                    <a:lstStyle/>
                    <a:p>
                      <a:pPr>
                        <a:lnSpc>
                          <a:spcPct val="115000"/>
                        </a:lnSpc>
                      </a:pPr>
                      <a:r>
                        <a:rPr sz="1000" b="0">
                          <a:solidFill>
                            <a:srgbClr val="16181A"/>
                          </a:solidFill>
                          <a:latin typeface="Arial"/>
                        </a:rPr>
                        <a:t>Engine build, lighting, animation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Audio, content, progression</a:t>
                      </a:r>
                    </a:p>
                  </a:txBody>
                  <a:tcPr marL="73152" marR="73152" marT="36576" marB="36576">
                    <a:solidFill>
                      <a:srgbClr val="FCFCFB"/>
                    </a:solidFill>
                  </a:tcPr>
                </a:tc>
                <a:tc>
                  <a:txBody>
                    <a:bodyPr/>
                    <a:lstStyle/>
                    <a:p>
                      <a:pPr>
                        <a:lnSpc>
                          <a:spcPct val="115000"/>
                        </a:lnSpc>
                      </a:pPr>
                      <a:r>
                        <a:rPr sz="1000" b="0">
                          <a:solidFill>
                            <a:srgbClr val="16181A"/>
                          </a:solidFill>
                          <a:latin typeface="Arial"/>
                        </a:rPr>
                        <a:t>Atmosphere, multiple floors, persistence</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6327648"/>
            <a:ext cx="10881360" cy="457200"/>
          </a:xfrm>
          <a:prstGeom prst="rect">
            <a:avLst/>
          </a:prstGeom>
          <a:noFill/>
        </p:spPr>
        <p:txBody>
          <a:bodyPr wrap="square" lIns="0" rIns="0" tIns="0" bIns="0">
            <a:spAutoFit/>
          </a:bodyPr>
          <a:lstStyle/>
          <a:p>
            <a:pPr algn="l">
              <a:lnSpc>
                <a:spcPct val="125000"/>
              </a:lnSpc>
              <a:spcAft>
                <a:spcPts val="600"/>
              </a:spcAft>
            </a:pPr>
            <a:r>
              <a:rPr sz="1150" b="0">
                <a:solidFill>
                  <a:srgbClr val="6B7178"/>
                </a:solidFill>
                <a:latin typeface="Arial"/>
              </a:rPr>
              <a:t>The whole core loop is playable: move on the clock, read codebooks, write pages, stage and send a byte, evade an AI that models you. What remains is presentation and content, not mechanism — roughly half the game.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1,850 lines of Python, 10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prototypes</a:t>
                      </a:r>
                    </a:p>
                  </a:txBody>
                  <a:tcPr marL="73152" marR="73152" marT="36576" marB="36576">
                    <a:solidFill>
                      <a:srgbClr val="FCFCFB"/>
                    </a:solidFill>
                  </a:tcPr>
                </a:tc>
                <a:tc>
                  <a:txBody>
                    <a:bodyPr/>
                    <a:lstStyle/>
                    <a:p>
                      <a:pPr>
                        <a:lnSpc>
                          <a:spcPct val="115000"/>
                        </a:lnSpc>
                      </a:pPr>
                      <a:r>
                        <a:rPr sz="1200" b="0">
                          <a:solidFill>
                            <a:srgbClr val="16181A"/>
                          </a:solidFill>
                          <a:latin typeface="Arial"/>
                        </a:rPr>
                        <a:t>1,818 lines of JavaScript, 4 apps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12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learned where you stop to write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Dwell is behaviour, not a parameter. Predicting 'will they decline this window?' scores 70% against a 54% majority-class baseline — 100% in rooms with nothing to record, 67% where a codebook is. The uncertainty sits exactly where the real variation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1.15× to 1.57×.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54% (20.9 to 32.3 moves per lap). Every mutation passed a reachability check, so no run was ever soft-locked.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Measured per objective completed, not per window. Waiting at random is WORSE than not waiting at every coverage level. Routing around sensors helps a little. Spending three dangerous tasks to silence sensors on the route you already use cuts capture risk by 39% at 60% coverage.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twelve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60.5% vs 46.5% vs 30.5%</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319 vs 111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1.15× → 1.57×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+54%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Is dwell learnable?</a:t>
                      </a:r>
                    </a:p>
                  </a:txBody>
                  <a:tcPr marL="73152" marR="73152" marT="36576" marB="36576">
                    <a:solidFill>
                      <a:srgbClr val="FCFCFB"/>
                    </a:solidFill>
                  </a:tcPr>
                </a:tc>
                <a:tc>
                  <a:txBody>
                    <a:bodyPr/>
                    <a:lstStyle/>
                    <a:p>
                      <a:pPr>
                        <a:lnSpc>
                          <a:spcPct val="115000"/>
                        </a:lnSpc>
                      </a:pPr>
                      <a:r>
                        <a:rPr sz="1050" b="0">
                          <a:solidFill>
                            <a:srgbClr val="16181A"/>
                          </a:solidFill>
                          <a:latin typeface="Arial"/>
                        </a:rPr>
                        <a:t>70% vs 54%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39%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a:t>
            </a:r>
            <a:r>
              <a:rPr sz="1350">
                <a:solidFill>
                  <a:srgbClr val="6B7178"/>
                </a:solidFill>
                <a:latin typeface="Arial"/>
              </a:rPr>
              <a:t>Measured per window, avoiding sensors looked excellent. Measured per objective completed, it was worse than doing nothing — the player was simply achieving less. Two strategies that looked like wins disappeared under the corrected metric.</a:t>
            </a:r>
          </a:p>
          <a:p>
            <a:pPr>
              <a:lnSpc>
                <a:spcPct val="130000"/>
              </a:lnSpc>
              <a:spcAft>
                <a:spcPts val="1300"/>
              </a:spcAft>
            </a:pPr>
            <a:r>
              <a:rPr sz="1350" b="1">
                <a:solidFill>
                  <a:srgbClr val="16181A"/>
                </a:solidFill>
                <a:latin typeface="Arial"/>
              </a:rPr>
              <a:t>3 · The mechanic the fiction already had is the one that works.  </a:t>
            </a:r>
            <a:r>
              <a:rPr sz="1350">
                <a:solidFill>
                  <a:srgbClr val="6B7178"/>
                </a:solidFill>
                <a:latin typeface="Arial"/>
              </a:rPr>
              <a:t>Detouring around live sensors costs more exposure than it saves. Spending a dangerous task to silence a sensor on your existing route is the strategy that cuts risk. The design was right before the measurement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Dwell rate is an assumption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Calibrated to ~24% of windows, not measured</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Lookahead can hurt</a:t>
                      </a:r>
                    </a:p>
                  </a:txBody>
                  <a:tcPr marL="73152" marR="73152" marT="36576" marB="36576">
                    <a:solidFill>
                      <a:srgbClr val="FCFCFB"/>
                    </a:solidFill>
                  </a:tcPr>
                </a:tc>
                <a:tc>
                  <a:txBody>
                    <a:bodyPr/>
                    <a:lstStyle/>
                    <a:p>
                      <a:pPr>
                        <a:lnSpc>
                          <a:spcPct val="115000"/>
                        </a:lnSpc>
                      </a:pPr>
                      <a:r>
                        <a:rPr sz="1150" b="0">
                          <a:solidFill>
                            <a:srgbClr val="16181A"/>
                          </a:solidFill>
                          <a:latin typeface="Arial"/>
                        </a:rPr>
                        <a:t>At 61% single-step accuracy, rollout error compounds</a:t>
                      </a:r>
                    </a:p>
                  </a:txBody>
                  <a:tcPr marL="73152" marR="73152" marT="36576" marB="36576">
                    <a:solidFill>
                      <a:srgbClr val="FCFCFB"/>
                    </a:solidFill>
                  </a:tcPr>
                </a:tc>
                <a:tc>
                  <a:txBody>
                    <a:bodyPr/>
                    <a:lstStyle/>
                    <a:p>
                      <a:pPr>
                        <a:lnSpc>
                          <a:spcPct val="115000"/>
                        </a:lnSpc>
                      </a:pPr>
                      <a:r>
                        <a:rPr sz="1150" b="0">
                          <a:solidFill>
                            <a:srgbClr val="16181A"/>
                          </a:solidFill>
                          <a:latin typeface="Arial"/>
                        </a:rPr>
                        <a:t>Expected; documented, not hidden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 3D integration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Godot build not started; art study only</a:t>
                      </a:r>
                    </a:p>
                  </a:txBody>
                  <a:tcPr marL="73152" marR="73152" marT="36576" marB="36576">
                    <a:solidFill>
                      <a:srgbClr val="FCFCFB"/>
                    </a:solidFill>
                  </a:tcPr>
                </a:tc>
                <a:tc>
                  <a:txBody>
                    <a:bodyPr/>
                    <a:lstStyle/>
                    <a:p>
                      <a:pPr>
                        <a:lnSpc>
                          <a:spcPct val="115000"/>
                        </a:lnSpc>
                      </a:pPr>
                      <a:r>
                        <a:rPr sz="1150" b="0">
                          <a:solidFill>
                            <a:srgbClr val="16181A"/>
                          </a:solidFill>
                          <a:latin typeface="Arial"/>
                        </a:rPr>
                        <a:t>M3, next cycle</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1</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GAME — parity-3d.html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Walk it in first person. Three codebooks, then the uplink, with the thing hunting you and narrating itself top-right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2</a:t>
                      </a:r>
                    </a:p>
                  </a:txBody>
                  <a:tcPr marL="73152" marR="73152" marT="36576" marB="36576">
                    <a:solidFill>
                      <a:srgbClr val="FCFCFB"/>
                    </a:solidFill>
                  </a:tcPr>
                </a:tc>
                <a:tc>
                  <a:txBody>
                    <a:bodyPr/>
                    <a:lstStyle/>
                    <a:p>
                      <a:pPr>
                        <a:lnSpc>
                          <a:spcPct val="115000"/>
                        </a:lnSpc>
                      </a:pPr>
                      <a:r>
                        <a:rPr sz="1150" b="0">
                          <a:solidFill>
                            <a:srgbClr val="16181A"/>
                          </a:solidFill>
                          <a:latin typeface="Arial"/>
                        </a:rPr>
                        <a:t>Systems view — parity-game.html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same AI with its belief drawn on the map, and a sensor you can cut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3</a:t>
                      </a:r>
                    </a:p>
                  </a:txBody>
                  <a:tcPr marL="73152" marR="73152" marT="36576" marB="36576">
                    <a:solidFill>
                      <a:srgbClr val="FCFCFB"/>
                    </a:solidFill>
                  </a:tcPr>
                </a:tc>
                <a:tc>
                  <a:txBody>
                    <a:bodyPr/>
                    <a:lstStyle/>
                    <a:p>
                      <a:pPr>
                        <a:lnSpc>
                          <a:spcPct val="115000"/>
                        </a:lnSpc>
                      </a:pPr>
                      <a:r>
                        <a:rPr sz="115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150" b="0">
                          <a:solidFill>
                            <a:srgbClr val="16181A"/>
                          </a:solidFill>
                          <a:latin typeface="Arial"/>
                        </a:rPr>
                        <a:t>9 invariants over 25 generated facilities, in seconds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4</a:t>
                      </a:r>
                    </a:p>
                  </a:txBody>
                  <a:tcPr marL="73152" marR="73152" marT="36576" marB="36576">
                    <a:solidFill>
                      <a:srgbClr val="FCFCFB"/>
                    </a:solidFill>
                  </a:tcPr>
                </a:tc>
                <a:tc>
                  <a:txBody>
                    <a:bodyPr/>
                    <a:lstStyle/>
                    <a:p>
                      <a:pPr>
                        <a:lnSpc>
                          <a:spcPct val="115000"/>
                        </a:lnSpc>
                      </a:pPr>
                      <a:r>
                        <a:rPr sz="1150" b="0">
                          <a:solidFill>
                            <a:srgbClr val="16181A"/>
                          </a:solidFill>
                          <a:latin typeface="Arial"/>
                        </a:rPr>
                        <a:t>Cut a sensor</a:t>
                      </a:r>
                    </a:p>
                  </a:txBody>
                  <a:tcPr marL="73152" marR="73152" marT="36576" marB="36576">
                    <a:solidFill>
                      <a:srgbClr val="FCFCFB"/>
                    </a:solidFill>
                  </a:tcPr>
                </a:tc>
                <a:tc>
                  <a:txBody>
                    <a:bodyPr/>
                    <a:lstStyle/>
                    <a:p>
                      <a:pPr>
                        <a:lnSpc>
                          <a:spcPct val="115000"/>
                        </a:lnSpc>
                      </a:pPr>
                      <a:r>
                        <a:rPr sz="1150" b="0">
                          <a:solidFill>
                            <a:srgbClr val="16181A"/>
                          </a:solidFill>
                          <a:latin typeface="Arial"/>
                        </a:rPr>
                        <a:t>Three windows stood still to kill a door, then watch it lose your trail</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Everything runs offline in a browser or from the command line — nothing to install, no network. Turn AI view OFF to see what the player experiences, then ON to see what the antagonist was actually doing. That contrast is the demonstration.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