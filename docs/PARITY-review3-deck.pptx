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BCSE497J Review III. Keep this short and move to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of context, then say the sentence that matters: everything in this deck is executable and the panel can run it. Name the new work: partial observation, built because the last review's negative result pointed at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build and leave it running while you talk. Point at the ring on the map and say it out loud: it is confidently wrong, because the player has been using doors it cannot hear. That single image answers 'show us the AI functioning'.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two of these lines aloud verbatim. This is the answer to 'explain the AI in plain view' — it is not a diagram of the AI, it is the AI talking. Then say the last line is what the player NEVER sees: the tampering is silent in normal play, and the AI view is how you inspect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slide. Walk the Status column, not the whole table. Eight of ten modules complete and measured, two running as prototypes, and be straight that the 3D integration has not started. Say 'roughly 80% of the approved module list' — do not overclaim a finished game.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Offer to run something. 'python3 model/test_invariants.py takes about five seconds' is a strong line. Attribution is the git history: 12 commits, single author.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decisions to defend: Sabotage is the only mutator so every change is logged and replayable; the Notebook sits outside the loop, which is what makes it the player's counter-move.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progress slide. Lead with the negative result from last time, then what you built because of it. Panels reward work that follows from evidence rather than from a plan.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order-1 failure concretely: a route means the same room has different successors depending on how you entered it. Then say staying is a legal action, which is why accuracy is 61% and not 90% — an earlier version forbade waiting and that number was inflated.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method. Predict, then rule out whatever the evidence contradicts. The detail that impresses: if every door is wired, SILENCE is evidence — it proves they stayed — so full coverage is still perfect tracking. Partial observation only exists because coverage is incomplete.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rigour slide. The control is the strongest thing in the project. Also mention that two findings this cycle came from catching a bad metric.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control column, not the 61%.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100% bar — it never linger where there is nothing to record. The 67% bar is the honest one: it knows you may be writing, not when you will finish.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'hub-camping is nearly as good'. Only on a small map.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entity is removed here, isolating world editing from hunting.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new result. The counter-intuitive bit is that full coverage gives perfect tracking, because silence is informative. That is why the fiction needs unwired doors and disabled sensors.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Three things: waiting is worse than useless, avoidance barely helps, and disabling sensors on your own route is the real counter-play. Point out this is your design mechanic validated by measurement, not chosen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It is here so the panel can see the shape of the work and pick something to ask about. Note the two rows marked NEGATIVE — volunteer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only defend one slide, defend this one. It shows evidence driving decisions, a corrected metric overturning two apparent wins, and the design being validated rather than rationalised.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before they are asked. The 3D build not being started is the obvious one — own it and point at the roadmap and at why M6 came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item 1 and item 3 if there is time. Item 3 takes seconds and answers any rigour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783080"/>
            <a:ext cx="10515600" cy="914400"/>
          </a:xfrm>
          <a:prstGeom prst="rect">
            <a:avLst/>
          </a:prstGeom>
          <a:noFill/>
        </p:spPr>
        <p:txBody>
          <a:bodyPr wrap="square" lIns="0" rIns="0" tIns="0" bIns="0">
            <a:spAutoFit/>
          </a:bodyPr>
          <a:lstStyle/>
          <a:p>
            <a:pPr algn="l">
              <a:lnSpc>
                <a:spcPct val="125000"/>
              </a:lnSpc>
              <a:spcAft>
                <a:spcPts val="600"/>
              </a:spcAft>
            </a:pPr>
            <a:r>
              <a:rPr sz="5600" b="1">
                <a:solidFill>
                  <a:srgbClr val="16181A"/>
                </a:solidFill>
                <a:latin typeface="Arial"/>
              </a:rPr>
              <a:t>PARITY</a:t>
            </a:r>
          </a:p>
        </p:txBody>
      </p:sp>
      <p:sp>
        <p:nvSpPr>
          <p:cNvPr id="4" name="TextBox 3"/>
          <p:cNvSpPr txBox="1"/>
          <p:nvPr/>
        </p:nvSpPr>
        <p:spPr>
          <a:xfrm>
            <a:off x="868680" y="2761488"/>
            <a:ext cx="10058400" cy="822960"/>
          </a:xfrm>
          <a:prstGeom prst="rect">
            <a:avLst/>
          </a:prstGeom>
          <a:noFill/>
        </p:spPr>
        <p:txBody>
          <a:bodyPr wrap="square" lIns="0" rIns="0" tIns="0" bIns="0">
            <a:spAutoFit/>
          </a:bodyPr>
          <a:lstStyle/>
          <a:p>
            <a:pPr algn="l">
              <a:lnSpc>
                <a:spcPct val="135000"/>
              </a:lnSpc>
              <a:spcAft>
                <a:spcPts val="600"/>
              </a:spcAft>
            </a:pPr>
            <a:r>
              <a:rPr sz="2000" b="0">
                <a:solidFill>
                  <a:srgbClr val="6B7178"/>
                </a:solidFill>
                <a:latin typeface="Arial"/>
              </a:rPr>
              <a:t>An Adaptive Horror Game Driven by</a:t>
            </a:r>
          </a:p>
          <a:p>
            <a:pPr algn="l">
              <a:lnSpc>
                <a:spcPct val="135000"/>
              </a:lnSpc>
              <a:spcAft>
                <a:spcPts val="600"/>
              </a:spcAft>
            </a:pPr>
            <a:r>
              <a:rPr sz="2000" b="0">
                <a:solidFill>
                  <a:srgbClr val="6B7178"/>
                </a:solidFill>
                <a:latin typeface="Arial"/>
              </a:rPr>
              <a:t>Online Player-Trajectory Prediction</a:t>
            </a:r>
          </a:p>
        </p:txBody>
      </p:sp>
      <p:sp>
        <p:nvSpPr>
          <p:cNvPr id="5" name="Rectangle 4"/>
          <p:cNvSpPr/>
          <p:nvPr/>
        </p:nvSpPr>
        <p:spPr>
          <a:xfrm>
            <a:off x="896112" y="3840480"/>
            <a:ext cx="2194560" cy="274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133087"/>
            <a:ext cx="10058400" cy="1097280"/>
          </a:xfrm>
          <a:prstGeom prst="rect">
            <a:avLst/>
          </a:prstGeom>
          <a:noFill/>
        </p:spPr>
        <p:txBody>
          <a:bodyPr wrap="square" lIns="0" rIns="0" tIns="0" bIns="0">
            <a:spAutoFit/>
          </a:bodyPr>
          <a:lstStyle/>
          <a:p>
            <a:pPr algn="l">
              <a:lnSpc>
                <a:spcPct val="150000"/>
              </a:lnSpc>
              <a:spcAft>
                <a:spcPts val="600"/>
              </a:spcAft>
            </a:pPr>
            <a:r>
              <a:rPr sz="1300" b="0">
                <a:solidFill>
                  <a:srgbClr val="6B7178"/>
                </a:solidFill>
                <a:latin typeface="Arial"/>
              </a:rPr>
              <a:t>BCSE497J  ·  Project Review III  ·  Panel Review</a:t>
            </a:r>
          </a:p>
          <a:p>
            <a:pPr algn="l">
              <a:lnSpc>
                <a:spcPct val="150000"/>
              </a:lnSpc>
              <a:spcAft>
                <a:spcPts val="600"/>
              </a:spcAft>
            </a:pPr>
            <a:r>
              <a:rPr sz="1300" b="0">
                <a:solidFill>
                  <a:srgbClr val="6B7178"/>
                </a:solidFill>
                <a:latin typeface="Arial"/>
              </a:rPr>
              <a:t>Shivam Kumar  ·  Vellore Institute of Technology  ·  16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WHERE THIS STANDS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One minute of context, then evidence</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55648"/>
            <a:ext cx="10881360" cy="310896"/>
          </a:xfrm>
          <a:prstGeom prst="rect">
            <a:avLst/>
          </a:prstGeom>
          <a:noFill/>
        </p:spPr>
        <p:txBody>
          <a:bodyPr wrap="square" lIns="0" rIns="0" tIns="0" bIns="0">
            <a:spAutoFit/>
          </a:bodyPr>
          <a:lstStyle/>
          <a:p>
            <a:pPr algn="l">
              <a:lnSpc>
                <a:spcPct val="125000"/>
              </a:lnSpc>
              <a:spcAft>
                <a:spcPts val="600"/>
              </a:spcAft>
            </a:pPr>
            <a:r>
              <a:rPr sz="1050" b="1">
                <a:solidFill>
                  <a:srgbClr val="EB6834"/>
                </a:solidFill>
                <a:latin typeface="Arial"/>
              </a:rPr>
              <a:t>WHAT THIS PANEL ASKED FOR LAST TIME</a:t>
            </a:r>
          </a:p>
        </p:txBody>
      </p:sp>
      <p:graphicFrame>
        <p:nvGraphicFramePr>
          <p:cNvPr id="6" name="Table 5"/>
          <p:cNvGraphicFramePr>
            <a:graphicFrameLocks noGrp="1"/>
          </p:cNvGraphicFramePr>
          <p:nvPr/>
        </p:nvGraphicFramePr>
        <p:xfrm>
          <a:off x="658368" y="2084831"/>
          <a:ext cx="10881360" cy="1920240"/>
        </p:xfrm>
        <a:graphic>
          <a:graphicData uri="http://schemas.openxmlformats.org/drawingml/2006/table">
            <a:tbl>
              <a:tblPr firstRow="1" bandRow="1">
                <a:tableStyleId>{5C22544A-7EE6-4342-B048-85BDC9FD1C3A}</a:tableStyleId>
              </a:tblPr>
              <a:tblGrid>
                <a:gridCol w="4206240"/>
                <a:gridCol w="6675120"/>
              </a:tblGrid>
              <a:tr h="384048">
                <a:tc>
                  <a:txBody>
                    <a:bodyPr/>
                    <a:lstStyle/>
                    <a:p>
                      <a:pPr>
                        <a:lnSpc>
                          <a:spcPct val="115000"/>
                        </a:lnSpc>
                      </a:pPr>
                      <a:r>
                        <a:rPr sz="900" b="1">
                          <a:solidFill>
                            <a:srgbClr val="6B7178"/>
                          </a:solidFill>
                          <a:latin typeface="Arial"/>
                        </a:rPr>
                        <a:t>You said</a:t>
                      </a:r>
                    </a:p>
                  </a:txBody>
                  <a:tcPr marL="73152" marR="73152" marT="36576" marB="36576">
                    <a:solidFill>
                      <a:srgbClr val="F4F6F8"/>
                    </a:solidFill>
                  </a:tcPr>
                </a:tc>
                <a:tc>
                  <a:txBody>
                    <a:bodyPr/>
                    <a:lstStyle/>
                    <a:p>
                      <a:pPr>
                        <a:lnSpc>
                          <a:spcPct val="115000"/>
                        </a:lnSpc>
                      </a:pPr>
                      <a:r>
                        <a:rPr sz="900" b="1">
                          <a:solidFill>
                            <a:srgbClr val="6B7178"/>
                          </a:solidFill>
                          <a:latin typeface="Arial"/>
                        </a:rPr>
                        <a:t>What changed</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Show the AI functioning, not just described</a:t>
                      </a:r>
                    </a:p>
                  </a:txBody>
                  <a:tcPr marL="73152" marR="73152" marT="36576" marB="36576">
                    <a:solidFill>
                      <a:srgbClr val="FCFCFB"/>
                    </a:solidFill>
                  </a:tcPr>
                </a:tc>
                <a:tc>
                  <a:txBody>
                    <a:bodyPr/>
                    <a:lstStyle/>
                    <a:p>
                      <a:pPr>
                        <a:lnSpc>
                          <a:spcPct val="115000"/>
                        </a:lnSpc>
                      </a:pPr>
                      <a:r>
                        <a:rPr sz="1250" b="0">
                          <a:solidFill>
                            <a:srgbClr val="16181A"/>
                          </a:solidFill>
                          <a:latin typeface="Arial"/>
                        </a:rPr>
                        <a:t>The game now narrates its own reasoning on screen, in English, every turn</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The game should BE the implementation</a:t>
                      </a:r>
                    </a:p>
                  </a:txBody>
                  <a:tcPr marL="73152" marR="73152" marT="36576" marB="36576">
                    <a:solidFill>
                      <a:srgbClr val="FCFCFB"/>
                    </a:solidFill>
                  </a:tcPr>
                </a:tc>
                <a:tc>
                  <a:txBody>
                    <a:bodyPr/>
                    <a:lstStyle/>
                    <a:p>
                      <a:pPr>
                        <a:lnSpc>
                          <a:spcPct val="115000"/>
                        </a:lnSpc>
                      </a:pPr>
                      <a:r>
                        <a:rPr sz="1250" b="0">
                          <a:solidFill>
                            <a:srgbClr val="16181A"/>
                          </a:solidFill>
                          <a:latin typeface="Arial"/>
                        </a:rPr>
                        <a:t>The four separate prototypes are merged into one playable build</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Get to about half the game</a:t>
                      </a:r>
                    </a:p>
                  </a:txBody>
                  <a:tcPr marL="73152" marR="73152" marT="36576" marB="36576">
                    <a:solidFill>
                      <a:srgbClr val="FCFCFB"/>
                    </a:solidFill>
                  </a:tcPr>
                </a:tc>
                <a:tc>
                  <a:txBody>
                    <a:bodyPr/>
                    <a:lstStyle/>
                    <a:p>
                      <a:pPr>
                        <a:lnSpc>
                          <a:spcPct val="115000"/>
                        </a:lnSpc>
                      </a:pPr>
                      <a:r>
                        <a:rPr sz="1250" b="0">
                          <a:solidFill>
                            <a:srgbClr val="16181A"/>
                          </a:solidFill>
                          <a:latin typeface="Arial"/>
                        </a:rPr>
                        <a:t>The complete core loop runs; the 3D presentation layer is what remains</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Explain the AI in plain view</a:t>
                      </a:r>
                    </a:p>
                  </a:txBody>
                  <a:tcPr marL="73152" marR="73152" marT="36576" marB="36576">
                    <a:solidFill>
                      <a:srgbClr val="FCFCFB"/>
                    </a:solidFill>
                  </a:tcPr>
                </a:tc>
                <a:tc>
                  <a:txBody>
                    <a:bodyPr/>
                    <a:lstStyle/>
                    <a:p>
                      <a:pPr>
                        <a:lnSpc>
                          <a:spcPct val="115000"/>
                        </a:lnSpc>
                      </a:pPr>
                      <a:r>
                        <a:rPr sz="1250" b="0">
                          <a:solidFill>
                            <a:srgbClr val="16181A"/>
                          </a:solidFill>
                          <a:latin typeface="Arial"/>
                        </a:rPr>
                        <a:t>An AI view shows its belief on the map and why it moves where it moves</a:t>
                      </a:r>
                    </a:p>
                  </a:txBody>
                  <a:tcPr marL="73152" marR="73152" marT="36576" marB="36576">
                    <a:solidFill>
                      <a:srgbClr val="FCFCFB"/>
                    </a:solidFill>
                  </a:tcPr>
                </a:tc>
              </a:tr>
            </a:tbl>
          </a:graphicData>
        </a:graphic>
      </p:graphicFrame>
      <p:sp>
        <p:nvSpPr>
          <p:cNvPr id="7" name="TextBox 6"/>
          <p:cNvSpPr txBox="1"/>
          <p:nvPr/>
        </p:nvSpPr>
        <p:spPr>
          <a:xfrm>
            <a:off x="658368" y="4114800"/>
            <a:ext cx="10881360" cy="822960"/>
          </a:xfrm>
          <a:prstGeom prst="rect">
            <a:avLst/>
          </a:prstGeom>
          <a:noFill/>
        </p:spPr>
        <p:txBody>
          <a:bodyPr wrap="square" lIns="0" rIns="0" tIns="0" bIns="0">
            <a:spAutoFit/>
          </a:bodyPr>
          <a:lstStyle/>
          <a:p>
            <a:pPr algn="l">
              <a:lnSpc>
                <a:spcPct val="130000"/>
              </a:lnSpc>
              <a:spcAft>
                <a:spcPts val="600"/>
              </a:spcAft>
            </a:pPr>
            <a:r>
              <a:rPr sz="1350" b="0">
                <a:solidFill>
                  <a:srgbClr val="6B7178"/>
                </a:solidFill>
                <a:latin typeface="Arial"/>
              </a:rPr>
              <a:t>The problem it solves — horror antagonists are static (learnable, stop being frightening) or random (unlearnable, feel unfair). Neither adapts to the individual. PARITY builds an online behavioural model of this player and acts on it.</a:t>
            </a:r>
          </a:p>
        </p:txBody>
      </p:sp>
      <p:sp>
        <p:nvSpPr>
          <p:cNvPr id="8" name="Rectangle 7"/>
          <p:cNvSpPr/>
          <p:nvPr/>
        </p:nvSpPr>
        <p:spPr>
          <a:xfrm>
            <a:off x="658368" y="5029200"/>
            <a:ext cx="10881360" cy="1280160"/>
          </a:xfrm>
          <a:prstGeom prst="rect">
            <a:avLst/>
          </a:prstGeom>
          <a:solidFill>
            <a:srgbClr val="F1F6FC"/>
          </a:solidFill>
          <a:ln w="12700">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248656"/>
            <a:ext cx="10332720" cy="960120"/>
          </a:xfrm>
          <a:prstGeom prst="rect">
            <a:avLst/>
          </a:prstGeom>
          <a:noFill/>
        </p:spPr>
        <p:txBody>
          <a:bodyPr wrap="square" lIns="0" rIns="0" tIns="0" bIns="0">
            <a:spAutoFit/>
          </a:bodyPr>
          <a:lstStyle/>
          <a:p>
            <a:pPr algn="l">
              <a:lnSpc>
                <a:spcPct val="135000"/>
              </a:lnSpc>
              <a:spcAft>
                <a:spcPts val="400"/>
              </a:spcAft>
            </a:pPr>
            <a:r>
              <a:rPr sz="1400" b="0">
                <a:solidFill>
                  <a:srgbClr val="16181A"/>
                </a:solidFill>
                <a:latin typeface="Arial"/>
              </a:rPr>
              <a:t>Everything in this deck is executable.</a:t>
            </a:r>
          </a:p>
          <a:p>
            <a:pPr algn="l">
              <a:lnSpc>
                <a:spcPct val="135000"/>
              </a:lnSpc>
              <a:spcAft>
                <a:spcPts val="400"/>
              </a:spcAft>
            </a:pPr>
            <a:r>
              <a:rPr sz="1400" b="0">
                <a:solidFill>
                  <a:srgbClr val="16181A"/>
                </a:solidFill>
                <a:latin typeface="Arial"/>
              </a:rPr>
              <a:t>12 experiments and 9 invariant tests run from the command line in minutes; four prototypes run in a browser with no install. Figures and tables are generated from one metrics file, so nothing here is typed by hand.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THE GAME IS THE IMPLEMENTATION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One build. The AI is inside it, and it explains itself.</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game.png"/>
          <p:cNvPicPr>
            <a:picLocks noChangeAspect="1"/>
          </p:cNvPicPr>
          <p:nvPr/>
        </p:nvPicPr>
        <p:blipFill>
          <a:blip r:embed="rId2"/>
          <a:stretch>
            <a:fillRect/>
          </a:stretch>
        </p:blipFill>
        <p:spPr>
          <a:xfrm>
            <a:off x="1874519" y="1664208"/>
            <a:ext cx="8412480" cy="4520139"/>
          </a:xfrm>
          <a:prstGeom prst="rect">
            <a:avLst/>
          </a:prstGeom>
        </p:spPr>
      </p:pic>
      <p:sp>
        <p:nvSpPr>
          <p:cNvPr id="6" name="TextBox 5"/>
          <p:cNvSpPr txBox="1"/>
          <p:nvPr/>
        </p:nvSpPr>
        <p:spPr>
          <a:xfrm>
            <a:off x="658368" y="6291072"/>
            <a:ext cx="10881360" cy="457200"/>
          </a:xfrm>
          <a:prstGeom prst="rect">
            <a:avLst/>
          </a:prstGeom>
          <a:noFill/>
        </p:spPr>
        <p:txBody>
          <a:bodyPr wrap="square" lIns="0" rIns="0" tIns="0" bIns="0">
            <a:spAutoFit/>
          </a:bodyPr>
          <a:lstStyle/>
          <a:p>
            <a:pPr algn="l">
              <a:lnSpc>
                <a:spcPct val="128000"/>
              </a:lnSpc>
              <a:spcAft>
                <a:spcPts val="600"/>
              </a:spcAft>
            </a:pPr>
            <a:r>
              <a:rPr sz="1200" b="0">
                <a:solidFill>
                  <a:srgbClr val="6B7178"/>
                </a:solidFill>
                <a:latin typeface="Arial"/>
              </a:rPr>
              <a:t>Live capture after 22 windows. The AI has ringed room A — 'IT THINKS YOU ARE HERE' — while the player stands in H. It is confidently wrong, because the player has been using doors with no sensor on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THE AI IN PLAIN VIEW</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It narrates every decision, in English</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37360"/>
            <a:ext cx="10881360" cy="292608"/>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VERBATIM FROM THE RUNNING BUILD</a:t>
            </a:r>
          </a:p>
        </p:txBody>
      </p:sp>
      <p:sp>
        <p:nvSpPr>
          <p:cNvPr id="6" name="Rectangle 5"/>
          <p:cNvSpPr/>
          <p:nvPr/>
        </p:nvSpPr>
        <p:spPr>
          <a:xfrm>
            <a:off x="658368" y="2066543"/>
            <a:ext cx="10881360" cy="2286000"/>
          </a:xfrm>
          <a:prstGeom prst="rect">
            <a:avLst/>
          </a:prstGeom>
          <a:solidFill>
            <a:srgbClr val="16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49424"/>
            <a:ext cx="10332720" cy="1920240"/>
          </a:xfrm>
          <a:prstGeom prst="rect">
            <a:avLst/>
          </a:prstGeom>
          <a:noFill/>
        </p:spPr>
        <p:txBody>
          <a:bodyPr wrap="square" lIns="0" rIns="0" tIns="0" bIns="0">
            <a:spAutoFit/>
          </a:bodyPr>
          <a:lstStyle/>
          <a:p>
            <a:pPr algn="l">
              <a:lnSpc>
                <a:spcPct val="150000"/>
              </a:lnSpc>
              <a:spcAft>
                <a:spcPts val="200"/>
              </a:spcAft>
            </a:pPr>
            <a:r>
              <a:rPr sz="1250" b="0">
                <a:solidFill>
                  <a:srgbClr val="E8DCC4"/>
                </a:solidFill>
                <a:latin typeface="Consolas"/>
              </a:rPr>
              <a:t>›  A sensor tripped on the door between B and C. You are in B.</a:t>
            </a:r>
          </a:p>
          <a:p>
            <a:pPr algn="l">
              <a:lnSpc>
                <a:spcPct val="150000"/>
              </a:lnSpc>
              <a:spcAft>
                <a:spcPts val="200"/>
              </a:spcAft>
            </a:pPr>
            <a:r>
              <a:rPr sz="1250" b="0">
                <a:solidFill>
                  <a:srgbClr val="E8DCC4"/>
                </a:solidFill>
                <a:latin typeface="Consolas"/>
              </a:rPr>
              <a:t>›  From there I expect you to stay put (51%). Moving to intercept.</a:t>
            </a:r>
          </a:p>
          <a:p>
            <a:pPr algn="l">
              <a:lnSpc>
                <a:spcPct val="150000"/>
              </a:lnSpc>
              <a:spcAft>
                <a:spcPts val="200"/>
              </a:spcAft>
            </a:pPr>
            <a:r>
              <a:rPr sz="1250" b="0">
                <a:solidFill>
                  <a:srgbClr val="E8DCC4"/>
                </a:solidFill>
                <a:latin typeface="Consolas"/>
              </a:rPr>
              <a:t>›  Nothing tripped, but I do not think you stayed. You must have used an unwired</a:t>
            </a:r>
          </a:p>
          <a:p>
            <a:pPr algn="l">
              <a:lnSpc>
                <a:spcPct val="150000"/>
              </a:lnSpc>
              <a:spcAft>
                <a:spcPts val="200"/>
              </a:spcAft>
            </a:pPr>
            <a:r>
              <a:rPr sz="1250" b="0">
                <a:solidFill>
                  <a:srgbClr val="E8DCC4"/>
                </a:solidFill>
                <a:latin typeface="Consolas"/>
              </a:rPr>
              <a:t>    door. Down to 25% sure.</a:t>
            </a:r>
          </a:p>
          <a:p>
            <a:pPr algn="l">
              <a:lnSpc>
                <a:spcPct val="150000"/>
              </a:lnSpc>
              <a:spcAft>
                <a:spcPts val="200"/>
              </a:spcAft>
            </a:pPr>
            <a:r>
              <a:rPr sz="1250" b="0">
                <a:solidFill>
                  <a:srgbClr val="E8DCC4"/>
                </a:solidFill>
                <a:latin typeface="Consolas"/>
              </a:rPr>
              <a:t>›  Only 25% sure — not enough to commit. Sweeping A, which I have not checked in a while.</a:t>
            </a:r>
          </a:p>
          <a:p>
            <a:pPr algn="l">
              <a:lnSpc>
                <a:spcPct val="150000"/>
              </a:lnSpc>
              <a:spcAft>
                <a:spcPts val="200"/>
              </a:spcAft>
            </a:pPr>
            <a:r>
              <a:rPr sz="1250" b="0">
                <a:solidFill>
                  <a:srgbClr val="E8DCC4"/>
                </a:solidFill>
                <a:latin typeface="Consolas"/>
              </a:rPr>
              <a:t>›  You cannot see the register right now, so I turned over cell 4. I will not be telling you.</a:t>
            </a:r>
          </a:p>
        </p:txBody>
      </p:sp>
      <p:graphicFrame>
        <p:nvGraphicFramePr>
          <p:cNvPr id="8" name="Table 7"/>
          <p:cNvGraphicFramePr>
            <a:graphicFrameLocks noGrp="1"/>
          </p:cNvGraphicFramePr>
          <p:nvPr/>
        </p:nvGraphicFramePr>
        <p:xfrm>
          <a:off x="658368" y="4572000"/>
          <a:ext cx="10881360" cy="1920240"/>
        </p:xfrm>
        <a:graphic>
          <a:graphicData uri="http://schemas.openxmlformats.org/drawingml/2006/table">
            <a:tbl>
              <a:tblPr firstRow="1" bandRow="1">
                <a:tableStyleId>{5C22544A-7EE6-4342-B048-85BDC9FD1C3A}</a:tableStyleId>
              </a:tblPr>
              <a:tblGrid>
                <a:gridCol w="3200400"/>
                <a:gridCol w="7680960"/>
              </a:tblGrid>
              <a:tr h="384048">
                <a:tc>
                  <a:txBody>
                    <a:bodyPr/>
                    <a:lstStyle/>
                    <a:p>
                      <a:pPr>
                        <a:lnSpc>
                          <a:spcPct val="115000"/>
                        </a:lnSpc>
                      </a:pPr>
                      <a:r>
                        <a:rPr sz="900" b="1">
                          <a:solidFill>
                            <a:srgbClr val="6B7178"/>
                          </a:solidFill>
                          <a:latin typeface="Arial"/>
                        </a:rPr>
                        <a:t>On screen</a:t>
                      </a:r>
                    </a:p>
                  </a:txBody>
                  <a:tcPr marL="73152" marR="73152" marT="36576" marB="36576">
                    <a:solidFill>
                      <a:srgbClr val="F4F6F8"/>
                    </a:solidFill>
                  </a:tcPr>
                </a:tc>
                <a:tc>
                  <a:txBody>
                    <a:bodyPr/>
                    <a:lstStyle/>
                    <a:p>
                      <a:pPr>
                        <a:lnSpc>
                          <a:spcPct val="115000"/>
                        </a:lnSpc>
                      </a:pPr>
                      <a:r>
                        <a:rPr sz="900" b="1">
                          <a:solidFill>
                            <a:srgbClr val="6B7178"/>
                          </a:solidFill>
                          <a:latin typeface="Arial"/>
                        </a:rPr>
                        <a:t>What it exposes</a:t>
                      </a:r>
                    </a:p>
                  </a:txBody>
                  <a:tcPr marL="73152" marR="73152" marT="36576" marB="36576">
                    <a:solidFill>
                      <a:srgbClr val="F4F6F8"/>
                    </a:solidFill>
                  </a:tcPr>
                </a:tc>
              </a:tr>
              <a:tr h="384048">
                <a:tc>
                  <a:txBody>
                    <a:bodyPr/>
                    <a:lstStyle/>
                    <a:p>
                      <a:pPr>
                        <a:lnSpc>
                          <a:spcPct val="115000"/>
                        </a:lnSpc>
                      </a:pPr>
                      <a:r>
                        <a:rPr sz="1200" b="0">
                          <a:solidFill>
                            <a:srgbClr val="16181A"/>
                          </a:solidFill>
                          <a:latin typeface="Arial"/>
                        </a:rPr>
                        <a:t>Belief heat on every room</a:t>
                      </a:r>
                    </a:p>
                  </a:txBody>
                  <a:tcPr marL="73152" marR="73152" marT="36576" marB="36576">
                    <a:solidFill>
                      <a:srgbClr val="FCFCFB"/>
                    </a:solidFill>
                  </a:tcPr>
                </a:tc>
                <a:tc>
                  <a:txBody>
                    <a:bodyPr/>
                    <a:lstStyle/>
                    <a:p>
                      <a:pPr>
                        <a:lnSpc>
                          <a:spcPct val="115000"/>
                        </a:lnSpc>
                      </a:pPr>
                      <a:r>
                        <a:rPr sz="1200" b="0">
                          <a:solidFill>
                            <a:srgbClr val="16181A"/>
                          </a:solidFill>
                          <a:latin typeface="Arial"/>
                        </a:rPr>
                        <a:t>Where it thinks you are, and how wrong that is</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Dashed vs solid doors</a:t>
                      </a:r>
                    </a:p>
                  </a:txBody>
                  <a:tcPr marL="73152" marR="73152" marT="36576" marB="36576">
                    <a:solidFill>
                      <a:srgbClr val="FCFCFB"/>
                    </a:solidFill>
                  </a:tcPr>
                </a:tc>
                <a:tc>
                  <a:txBody>
                    <a:bodyPr/>
                    <a:lstStyle/>
                    <a:p>
                      <a:pPr>
                        <a:lnSpc>
                          <a:spcPct val="115000"/>
                        </a:lnSpc>
                      </a:pPr>
                      <a:r>
                        <a:rPr sz="1200" b="0">
                          <a:solidFill>
                            <a:srgbClr val="16181A"/>
                          </a:solidFill>
                          <a:latin typeface="Arial"/>
                        </a:rPr>
                        <a:t>Which doors can hear you</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'Strongest rule learned'</a:t>
                      </a:r>
                    </a:p>
                  </a:txBody>
                  <a:tcPr marL="73152" marR="73152" marT="36576" marB="36576">
                    <a:solidFill>
                      <a:srgbClr val="FCFCFB"/>
                    </a:solidFill>
                  </a:tcPr>
                </a:tc>
                <a:tc>
                  <a:txBody>
                    <a:bodyPr/>
                    <a:lstStyle/>
                    <a:p>
                      <a:pPr>
                        <a:lnSpc>
                          <a:spcPct val="115000"/>
                        </a:lnSpc>
                      </a:pPr>
                      <a:r>
                        <a:rPr sz="1200" b="0">
                          <a:solidFill>
                            <a:srgbClr val="16181A"/>
                          </a:solidFill>
                          <a:latin typeface="Arial"/>
                        </a:rPr>
                        <a:t>The habit it has picked up, in counts: 'after A→A you go to A, 10 of 10'</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Confidence percentage</a:t>
                      </a:r>
                    </a:p>
                  </a:txBody>
                  <a:tcPr marL="73152" marR="73152" marT="36576" marB="36576">
                    <a:solidFill>
                      <a:srgbClr val="FCFCFB"/>
                    </a:solidFill>
                  </a:tcPr>
                </a:tc>
                <a:tc>
                  <a:txBody>
                    <a:bodyPr/>
                    <a:lstStyle/>
                    <a:p>
                      <a:pPr>
                        <a:lnSpc>
                          <a:spcPct val="115000"/>
                        </a:lnSpc>
                      </a:pPr>
                      <a:r>
                        <a:rPr sz="1200" b="0">
                          <a:solidFill>
                            <a:srgbClr val="16181A"/>
                          </a:solidFill>
                          <a:latin typeface="Arial"/>
                        </a:rPr>
                        <a:t>Why it commits to an intercept, or sweeps instead</a:t>
                      </a:r>
                    </a:p>
                  </a:txBody>
                  <a:tcPr marL="73152" marR="73152" marT="36576" marB="36576">
                    <a:solidFill>
                      <a:srgbClr val="FCFC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IMPLEMENTATION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How much of the game is built</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4480560"/>
        </p:xfrm>
        <a:graphic>
          <a:graphicData uri="http://schemas.openxmlformats.org/drawingml/2006/table">
            <a:tbl>
              <a:tblPr firstRow="1" bandRow="1">
                <a:tableStyleId>{5C22544A-7EE6-4342-B048-85BDC9FD1C3A}</a:tableStyleId>
              </a:tblPr>
              <a:tblGrid>
                <a:gridCol w="2103120"/>
                <a:gridCol w="4023360"/>
                <a:gridCol w="1463040"/>
                <a:gridCol w="3291840"/>
              </a:tblGrid>
              <a:tr h="344658">
                <a:tc>
                  <a:txBody>
                    <a:bodyPr/>
                    <a:lstStyle/>
                    <a:p>
                      <a:pPr>
                        <a:lnSpc>
                          <a:spcPct val="115000"/>
                        </a:lnSpc>
                      </a:pPr>
                      <a:r>
                        <a:rPr sz="850" b="1">
                          <a:solidFill>
                            <a:srgbClr val="6B7178"/>
                          </a:solidFill>
                          <a:latin typeface="Arial"/>
                        </a:rPr>
                        <a:t>System (approved design)</a:t>
                      </a:r>
                    </a:p>
                  </a:txBody>
                  <a:tcPr marL="73152" marR="73152" marT="36576" marB="36576">
                    <a:solidFill>
                      <a:srgbClr val="F4F6F8"/>
                    </a:solidFill>
                  </a:tcPr>
                </a:tc>
                <a:tc>
                  <a:txBody>
                    <a:bodyPr/>
                    <a:lstStyle/>
                    <a:p>
                      <a:pPr>
                        <a:lnSpc>
                          <a:spcPct val="115000"/>
                        </a:lnSpc>
                      </a:pPr>
                      <a:r>
                        <a:rPr sz="850" b="1">
                          <a:solidFill>
                            <a:srgbClr val="6B7178"/>
                          </a:solidFill>
                          <a:latin typeface="Arial"/>
                        </a:rPr>
                        <a:t>Responsibility</a:t>
                      </a:r>
                    </a:p>
                  </a:txBody>
                  <a:tcPr marL="73152" marR="73152" marT="36576" marB="36576">
                    <a:solidFill>
                      <a:srgbClr val="F4F6F8"/>
                    </a:solidFill>
                  </a:tcPr>
                </a:tc>
                <a:tc>
                  <a:txBody>
                    <a:bodyPr/>
                    <a:lstStyle/>
                    <a:p>
                      <a:pPr>
                        <a:lnSpc>
                          <a:spcPct val="115000"/>
                        </a:lnSpc>
                      </a:pPr>
                      <a:r>
                        <a:rPr sz="850" b="1">
                          <a:solidFill>
                            <a:srgbClr val="6B7178"/>
                          </a:solidFill>
                          <a:latin typeface="Arial"/>
                        </a:rPr>
                        <a:t>Status</a:t>
                      </a:r>
                    </a:p>
                  </a:txBody>
                  <a:tcPr marL="73152" marR="73152" marT="36576" marB="36576">
                    <a:solidFill>
                      <a:srgbClr val="F4F6F8"/>
                    </a:solidFill>
                  </a:tcPr>
                </a:tc>
                <a:tc>
                  <a:txBody>
                    <a:bodyPr/>
                    <a:lstStyle/>
                    <a:p>
                      <a:pPr>
                        <a:lnSpc>
                          <a:spcPct val="115000"/>
                        </a:lnSpc>
                      </a:pPr>
                      <a:r>
                        <a:rPr sz="850" b="1">
                          <a:solidFill>
                            <a:srgbClr val="6B7178"/>
                          </a:solidFill>
                          <a:latin typeface="Arial"/>
                        </a:rPr>
                        <a:t>Where it runs</a:t>
                      </a:r>
                    </a:p>
                  </a:txBody>
                  <a:tcPr marL="73152" marR="73152" marT="36576" marB="36576">
                    <a:solidFill>
                      <a:srgbClr val="F4F6F8"/>
                    </a:solidFill>
                  </a:tcPr>
                </a:tc>
              </a:tr>
              <a:tr h="344658">
                <a:tc>
                  <a:txBody>
                    <a:bodyPr/>
                    <a:lstStyle/>
                    <a:p>
                      <a:pPr>
                        <a:lnSpc>
                          <a:spcPct val="115000"/>
                        </a:lnSpc>
                      </a:pPr>
                      <a:r>
                        <a:rPr sz="1000" b="0">
                          <a:solidFill>
                            <a:srgbClr val="16181A"/>
                          </a:solidFill>
                          <a:latin typeface="Arial"/>
                        </a:rPr>
                        <a:t>Facility</a:t>
                      </a:r>
                    </a:p>
                  </a:txBody>
                  <a:tcPr marL="73152" marR="73152" marT="36576" marB="36576">
                    <a:solidFill>
                      <a:srgbClr val="FCFCFB"/>
                    </a:solidFill>
                  </a:tcPr>
                </a:tc>
                <a:tc>
                  <a:txBody>
                    <a:bodyPr/>
                    <a:lstStyle/>
                    <a:p>
                      <a:pPr>
                        <a:lnSpc>
                          <a:spcPct val="115000"/>
                        </a:lnSpc>
                      </a:pPr>
                      <a:r>
                        <a:rPr sz="1000" b="0">
                          <a:solidFill>
                            <a:srgbClr val="16181A"/>
                          </a:solidFill>
                          <a:latin typeface="Arial"/>
                        </a:rPr>
                        <a:t>Room graph, mutation, connectivity invariants</a:t>
                      </a:r>
                    </a:p>
                  </a:txBody>
                  <a:tcPr marL="73152" marR="73152" marT="36576" marB="36576">
                    <a:solidFill>
                      <a:srgbClr val="FCFCFB"/>
                    </a:solidFill>
                  </a:tcPr>
                </a:tc>
                <a:tc>
                  <a:txBody>
                    <a:bodyPr/>
                    <a:lstStyle/>
                    <a:p>
                      <a:pPr>
                        <a:lnSpc>
                          <a:spcPct val="115000"/>
                        </a:lnSpc>
                      </a:pPr>
                      <a:r>
                        <a:rPr sz="1000" b="0">
                          <a:solidFill>
                            <a:srgbClr val="16181A"/>
                          </a:solidFill>
                          <a:latin typeface="Arial"/>
                        </a:rPr>
                        <a:t>Complete</a:t>
                      </a:r>
                    </a:p>
                  </a:txBody>
                  <a:tcPr marL="73152" marR="73152" marT="36576" marB="36576">
                    <a:solidFill>
                      <a:srgbClr val="FCFCFB"/>
                    </a:solidFill>
                  </a:tcPr>
                </a:tc>
                <a:tc>
                  <a:txBody>
                    <a:bodyPr/>
                    <a:lstStyle/>
                    <a:p>
                      <a:pPr>
                        <a:lnSpc>
                          <a:spcPct val="115000"/>
                        </a:lnSpc>
                      </a:pPr>
                      <a:r>
                        <a:rPr sz="1000" b="0">
                          <a:solidFill>
                            <a:srgbClr val="16181A"/>
                          </a:solidFill>
                          <a:latin typeface="Arial"/>
                        </a:rPr>
                        <a:t>facility.py · 4 tests</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Predictor</a:t>
                      </a:r>
                    </a:p>
                  </a:txBody>
                  <a:tcPr marL="73152" marR="73152" marT="36576" marB="36576">
                    <a:solidFill>
                      <a:srgbClr val="FCFCFB"/>
                    </a:solidFill>
                  </a:tcPr>
                </a:tc>
                <a:tc>
                  <a:txBody>
                    <a:bodyPr/>
                    <a:lstStyle/>
                    <a:p>
                      <a:pPr>
                        <a:lnSpc>
                          <a:spcPct val="115000"/>
                        </a:lnSpc>
                      </a:pPr>
                      <a:r>
                        <a:rPr sz="1000" b="0">
                          <a:solidFill>
                            <a:srgbClr val="16181A"/>
                          </a:solidFill>
                          <a:latin typeface="Arial"/>
                        </a:rPr>
                        <a:t>Variable-order Markov model, online, persists</a:t>
                      </a:r>
                    </a:p>
                  </a:txBody>
                  <a:tcPr marL="73152" marR="73152" marT="36576" marB="36576">
                    <a:solidFill>
                      <a:srgbClr val="FCFCFB"/>
                    </a:solidFill>
                  </a:tcPr>
                </a:tc>
                <a:tc>
                  <a:txBody>
                    <a:bodyPr/>
                    <a:lstStyle/>
                    <a:p>
                      <a:pPr>
                        <a:lnSpc>
                          <a:spcPct val="115000"/>
                        </a:lnSpc>
                      </a:pPr>
                      <a:r>
                        <a:rPr sz="1000" b="0">
                          <a:solidFill>
                            <a:srgbClr val="16181A"/>
                          </a:solidFill>
                          <a:latin typeface="Arial"/>
                        </a:rPr>
                        <a:t>Complete</a:t>
                      </a:r>
                    </a:p>
                  </a:txBody>
                  <a:tcPr marL="73152" marR="73152" marT="36576" marB="36576">
                    <a:solidFill>
                      <a:srgbClr val="FCFCFB"/>
                    </a:solidFill>
                  </a:tcPr>
                </a:tc>
                <a:tc>
                  <a:txBody>
                    <a:bodyPr/>
                    <a:lstStyle/>
                    <a:p>
                      <a:pPr>
                        <a:lnSpc>
                          <a:spcPct val="115000"/>
                        </a:lnSpc>
                      </a:pPr>
                      <a:r>
                        <a:rPr sz="1000" b="0">
                          <a:solidFill>
                            <a:srgbClr val="16181A"/>
                          </a:solidFill>
                          <a:latin typeface="Arial"/>
                        </a:rPr>
                        <a:t>predictors.py · E1-E3</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Director</a:t>
                      </a:r>
                    </a:p>
                  </a:txBody>
                  <a:tcPr marL="73152" marR="73152" marT="36576" marB="36576">
                    <a:solidFill>
                      <a:srgbClr val="FCFCFB"/>
                    </a:solidFill>
                  </a:tcPr>
                </a:tc>
                <a:tc>
                  <a:txBody>
                    <a:bodyPr/>
                    <a:lstStyle/>
                    <a:p>
                      <a:pPr>
                        <a:lnSpc>
                          <a:spcPct val="115000"/>
                        </a:lnSpc>
                      </a:pPr>
                      <a:r>
                        <a:rPr sz="1000" b="0">
                          <a:solidFill>
                            <a:srgbClr val="16181A"/>
                          </a:solidFill>
                          <a:latin typeface="Arial"/>
                        </a:rPr>
                        <a:t>Scores and selects counter-moves, gated</a:t>
                      </a:r>
                    </a:p>
                  </a:txBody>
                  <a:tcPr marL="73152" marR="73152" marT="36576" marB="36576">
                    <a:solidFill>
                      <a:srgbClr val="FCFCFB"/>
                    </a:solidFill>
                  </a:tcPr>
                </a:tc>
                <a:tc>
                  <a:txBody>
                    <a:bodyPr/>
                    <a:lstStyle/>
                    <a:p>
                      <a:pPr>
                        <a:lnSpc>
                          <a:spcPct val="115000"/>
                        </a:lnSpc>
                      </a:pPr>
                      <a:r>
                        <a:rPr sz="1000" b="0">
                          <a:solidFill>
                            <a:srgbClr val="16181A"/>
                          </a:solidFill>
                          <a:latin typeface="Arial"/>
                        </a:rPr>
                        <a:t>Complete</a:t>
                      </a:r>
                    </a:p>
                  </a:txBody>
                  <a:tcPr marL="73152" marR="73152" marT="36576" marB="36576">
                    <a:solidFill>
                      <a:srgbClr val="FCFCFB"/>
                    </a:solidFill>
                  </a:tcPr>
                </a:tc>
                <a:tc>
                  <a:txBody>
                    <a:bodyPr/>
                    <a:lstStyle/>
                    <a:p>
                      <a:pPr>
                        <a:lnSpc>
                          <a:spcPct val="115000"/>
                        </a:lnSpc>
                      </a:pPr>
                      <a:r>
                        <a:rPr sz="1000" b="0">
                          <a:solidFill>
                            <a:srgbClr val="16181A"/>
                          </a:solidFill>
                          <a:latin typeface="Arial"/>
                        </a:rPr>
                        <a:t>director.py · E4-E7</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Sabotage</a:t>
                      </a:r>
                    </a:p>
                  </a:txBody>
                  <a:tcPr marL="73152" marR="73152" marT="36576" marB="36576">
                    <a:solidFill>
                      <a:srgbClr val="FCFCFB"/>
                    </a:solidFill>
                  </a:tcPr>
                </a:tc>
                <a:tc>
                  <a:txBody>
                    <a:bodyPr/>
                    <a:lstStyle/>
                    <a:p>
                      <a:pPr>
                        <a:lnSpc>
                          <a:spcPct val="115000"/>
                        </a:lnSpc>
                      </a:pPr>
                      <a:r>
                        <a:rPr sz="1000" b="0">
                          <a:solidFill>
                            <a:srgbClr val="16181A"/>
                          </a:solidFill>
                          <a:latin typeface="Arial"/>
                        </a:rPr>
                        <a:t>Sole mutator of world state, logged</a:t>
                      </a:r>
                    </a:p>
                  </a:txBody>
                  <a:tcPr marL="73152" marR="73152" marT="36576" marB="36576">
                    <a:solidFill>
                      <a:srgbClr val="FCFCFB"/>
                    </a:solidFill>
                  </a:tcPr>
                </a:tc>
                <a:tc>
                  <a:txBody>
                    <a:bodyPr/>
                    <a:lstStyle/>
                    <a:p>
                      <a:pPr>
                        <a:lnSpc>
                          <a:spcPct val="115000"/>
                        </a:lnSpc>
                      </a:pPr>
                      <a:r>
                        <a:rPr sz="1000" b="0">
                          <a:solidFill>
                            <a:srgbClr val="16181A"/>
                          </a:solidFill>
                          <a:latin typeface="Arial"/>
                        </a:rPr>
                        <a:t>Complete</a:t>
                      </a:r>
                    </a:p>
                  </a:txBody>
                  <a:tcPr marL="73152" marR="73152" marT="36576" marB="36576">
                    <a:solidFill>
                      <a:srgbClr val="FCFCFB"/>
                    </a:solidFill>
                  </a:tcPr>
                </a:tc>
                <a:tc>
                  <a:txBody>
                    <a:bodyPr/>
                    <a:lstStyle/>
                    <a:p>
                      <a:pPr>
                        <a:lnSpc>
                          <a:spcPct val="115000"/>
                        </a:lnSpc>
                      </a:pPr>
                      <a:r>
                        <a:rPr sz="1000" b="0">
                          <a:solidFill>
                            <a:srgbClr val="16181A"/>
                          </a:solidFill>
                          <a:latin typeface="Arial"/>
                        </a:rPr>
                        <a:t>director.py · E5-E6</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Telemetry</a:t>
                      </a:r>
                    </a:p>
                  </a:txBody>
                  <a:tcPr marL="73152" marR="73152" marT="36576" marB="36576">
                    <a:solidFill>
                      <a:srgbClr val="FCFCFB"/>
                    </a:solidFill>
                  </a:tcPr>
                </a:tc>
                <a:tc>
                  <a:txBody>
                    <a:bodyPr/>
                    <a:lstStyle/>
                    <a:p>
                      <a:pPr>
                        <a:lnSpc>
                          <a:spcPct val="115000"/>
                        </a:lnSpc>
                      </a:pPr>
                      <a:r>
                        <a:rPr sz="1000" b="0">
                          <a:solidFill>
                            <a:srgbClr val="16181A"/>
                          </a:solidFill>
                          <a:latin typeface="Arial"/>
                        </a:rPr>
                        <a:t>Routes, dwell, edge traversals</a:t>
                      </a:r>
                    </a:p>
                  </a:txBody>
                  <a:tcPr marL="73152" marR="73152" marT="36576" marB="36576">
                    <a:solidFill>
                      <a:srgbClr val="FCFCFB"/>
                    </a:solidFill>
                  </a:tcPr>
                </a:tc>
                <a:tc>
                  <a:txBody>
                    <a:bodyPr/>
                    <a:lstStyle/>
                    <a:p>
                      <a:pPr>
                        <a:lnSpc>
                          <a:spcPct val="115000"/>
                        </a:lnSpc>
                      </a:pPr>
                      <a:r>
                        <a:rPr sz="1000" b="0">
                          <a:solidFill>
                            <a:srgbClr val="16181A"/>
                          </a:solidFill>
                          <a:latin typeface="Arial"/>
                        </a:rPr>
                        <a:t>Complete</a:t>
                      </a:r>
                    </a:p>
                  </a:txBody>
                  <a:tcPr marL="73152" marR="73152" marT="36576" marB="36576">
                    <a:solidFill>
                      <a:srgbClr val="FCFCFB"/>
                    </a:solidFill>
                  </a:tcPr>
                </a:tc>
                <a:tc>
                  <a:txBody>
                    <a:bodyPr/>
                    <a:lstStyle/>
                    <a:p>
                      <a:pPr>
                        <a:lnSpc>
                          <a:spcPct val="115000"/>
                        </a:lnSpc>
                      </a:pPr>
                      <a:r>
                        <a:rPr sz="1000" b="0">
                          <a:solidFill>
                            <a:srgbClr val="16181A"/>
                          </a:solidFill>
                          <a:latin typeface="Arial"/>
                        </a:rPr>
                        <a:t>director.py · E10</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Entity</a:t>
                      </a:r>
                    </a:p>
                  </a:txBody>
                  <a:tcPr marL="73152" marR="73152" marT="36576" marB="36576">
                    <a:solidFill>
                      <a:srgbClr val="FCFCFB"/>
                    </a:solidFill>
                  </a:tcPr>
                </a:tc>
                <a:tc>
                  <a:txBody>
                    <a:bodyPr/>
                    <a:lstStyle/>
                    <a:p>
                      <a:pPr>
                        <a:lnSpc>
                          <a:spcPct val="115000"/>
                        </a:lnSpc>
                      </a:pPr>
                      <a:r>
                        <a:rPr sz="1000" b="0">
                          <a:solidFill>
                            <a:srgbClr val="16181A"/>
                          </a:solidFill>
                          <a:latin typeface="Arial"/>
                        </a:rPr>
                        <a:t>Perception, pursuit, interception</a:t>
                      </a:r>
                    </a:p>
                  </a:txBody>
                  <a:tcPr marL="73152" marR="73152" marT="36576" marB="36576">
                    <a:solidFill>
                      <a:srgbClr val="FCFCFB"/>
                    </a:solidFill>
                  </a:tcPr>
                </a:tc>
                <a:tc>
                  <a:txBody>
                    <a:bodyPr/>
                    <a:lstStyle/>
                    <a:p>
                      <a:pPr>
                        <a:lnSpc>
                          <a:spcPct val="115000"/>
                        </a:lnSpc>
                      </a:pPr>
                      <a:r>
                        <a:rPr sz="1000" b="0">
                          <a:solidFill>
                            <a:srgbClr val="16181A"/>
                          </a:solidFill>
                          <a:latin typeface="Arial"/>
                        </a:rPr>
                        <a:t>Complete</a:t>
                      </a:r>
                    </a:p>
                  </a:txBody>
                  <a:tcPr marL="73152" marR="73152" marT="36576" marB="36576">
                    <a:solidFill>
                      <a:srgbClr val="FCFCFB"/>
                    </a:solidFill>
                  </a:tcPr>
                </a:tc>
                <a:tc>
                  <a:txBody>
                    <a:bodyPr/>
                    <a:lstStyle/>
                    <a:p>
                      <a:pPr>
                        <a:lnSpc>
                          <a:spcPct val="115000"/>
                        </a:lnSpc>
                      </a:pPr>
                      <a:r>
                        <a:rPr sz="1000" b="0">
                          <a:solidFill>
                            <a:srgbClr val="16181A"/>
                          </a:solidFill>
                          <a:latin typeface="Arial"/>
                        </a:rPr>
                        <a:t>director.py · E4</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Sensors + belief</a:t>
                      </a:r>
                    </a:p>
                  </a:txBody>
                  <a:tcPr marL="73152" marR="73152" marT="36576" marB="36576">
                    <a:solidFill>
                      <a:srgbClr val="FCFCFB"/>
                    </a:solidFill>
                  </a:tcPr>
                </a:tc>
                <a:tc>
                  <a:txBody>
                    <a:bodyPr/>
                    <a:lstStyle/>
                    <a:p>
                      <a:pPr>
                        <a:lnSpc>
                          <a:spcPct val="115000"/>
                        </a:lnSpc>
                      </a:pPr>
                      <a:r>
                        <a:rPr sz="1000" b="0">
                          <a:solidFill>
                            <a:srgbClr val="16181A"/>
                          </a:solidFill>
                          <a:latin typeface="Arial"/>
                        </a:rPr>
                        <a:t>Partial observation (NEW this cycle)</a:t>
                      </a:r>
                    </a:p>
                  </a:txBody>
                  <a:tcPr marL="73152" marR="73152" marT="36576" marB="36576">
                    <a:solidFill>
                      <a:srgbClr val="FCFCFB"/>
                    </a:solidFill>
                  </a:tcPr>
                </a:tc>
                <a:tc>
                  <a:txBody>
                    <a:bodyPr/>
                    <a:lstStyle/>
                    <a:p>
                      <a:pPr>
                        <a:lnSpc>
                          <a:spcPct val="115000"/>
                        </a:lnSpc>
                      </a:pPr>
                      <a:r>
                        <a:rPr sz="1000" b="0">
                          <a:solidFill>
                            <a:srgbClr val="16181A"/>
                          </a:solidFill>
                          <a:latin typeface="Arial"/>
                        </a:rPr>
                        <a:t>Complete</a:t>
                      </a:r>
                    </a:p>
                  </a:txBody>
                  <a:tcPr marL="73152" marR="73152" marT="36576" marB="36576">
                    <a:solidFill>
                      <a:srgbClr val="FCFCFB"/>
                    </a:solidFill>
                  </a:tcPr>
                </a:tc>
                <a:tc>
                  <a:txBody>
                    <a:bodyPr/>
                    <a:lstStyle/>
                    <a:p>
                      <a:pPr>
                        <a:lnSpc>
                          <a:spcPct val="115000"/>
                        </a:lnSpc>
                      </a:pPr>
                      <a:r>
                        <a:rPr sz="1000" b="0">
                          <a:solidFill>
                            <a:srgbClr val="16181A"/>
                          </a:solidFill>
                          <a:latin typeface="Arial"/>
                        </a:rPr>
                        <a:t>sensors.py · E11-E12</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Notebook</a:t>
                      </a:r>
                    </a:p>
                  </a:txBody>
                  <a:tcPr marL="73152" marR="73152" marT="36576" marB="36576">
                    <a:solidFill>
                      <a:srgbClr val="FCFCFB"/>
                    </a:solidFill>
                  </a:tcPr>
                </a:tc>
                <a:tc>
                  <a:txBody>
                    <a:bodyPr/>
                    <a:lstStyle/>
                    <a:p>
                      <a:pPr>
                        <a:lnSpc>
                          <a:spcPct val="115000"/>
                        </a:lnSpc>
                      </a:pPr>
                      <a:r>
                        <a:rPr sz="1000" b="0">
                          <a:solidFill>
                            <a:srgbClr val="16181A"/>
                          </a:solidFill>
                          <a:latin typeface="Arial"/>
                        </a:rPr>
                        <a:t>Freehand editor, strokes, undo, pages</a:t>
                      </a:r>
                    </a:p>
                  </a:txBody>
                  <a:tcPr marL="73152" marR="73152" marT="36576" marB="36576">
                    <a:solidFill>
                      <a:srgbClr val="FCFCFB"/>
                    </a:solidFill>
                  </a:tcPr>
                </a:tc>
                <a:tc>
                  <a:txBody>
                    <a:bodyPr/>
                    <a:lstStyle/>
                    <a:p>
                      <a:pPr>
                        <a:lnSpc>
                          <a:spcPct val="115000"/>
                        </a:lnSpc>
                      </a:pPr>
                      <a:r>
                        <a:rPr sz="1000" b="0">
                          <a:solidFill>
                            <a:srgbClr val="16181A"/>
                          </a:solidFill>
                          <a:latin typeface="Arial"/>
                        </a:rPr>
                        <a:t>In game</a:t>
                      </a:r>
                    </a:p>
                  </a:txBody>
                  <a:tcPr marL="73152" marR="73152" marT="36576" marB="36576">
                    <a:solidFill>
                      <a:srgbClr val="FCFCFB"/>
                    </a:solidFill>
                  </a:tcPr>
                </a:tc>
                <a:tc>
                  <a:txBody>
                    <a:bodyPr/>
                    <a:lstStyle/>
                    <a:p>
                      <a:pPr>
                        <a:lnSpc>
                          <a:spcPct val="115000"/>
                        </a:lnSpc>
                      </a:pPr>
                      <a:r>
                        <a:rPr sz="1000" b="0">
                          <a:solidFill>
                            <a:srgbClr val="16181A"/>
                          </a:solidFill>
                          <a:latin typeface="Arial"/>
                        </a:rPr>
                        <a:t>parity-game.html</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Cipher</a:t>
                      </a:r>
                    </a:p>
                  </a:txBody>
                  <a:tcPr marL="73152" marR="73152" marT="36576" marB="36576">
                    <a:solidFill>
                      <a:srgbClr val="FCFCFB"/>
                    </a:solidFill>
                  </a:tcPr>
                </a:tc>
                <a:tc>
                  <a:txBody>
                    <a:bodyPr/>
                    <a:lstStyle/>
                    <a:p>
                      <a:pPr>
                        <a:lnSpc>
                          <a:spcPct val="115000"/>
                        </a:lnSpc>
                      </a:pPr>
                      <a:r>
                        <a:rPr sz="1000" b="0">
                          <a:solidFill>
                            <a:srgbClr val="16181A"/>
                          </a:solidFill>
                          <a:latin typeface="Arial"/>
                        </a:rPr>
                        <a:t>Codebooks, register, transmit validation</a:t>
                      </a:r>
                    </a:p>
                  </a:txBody>
                  <a:tcPr marL="73152" marR="73152" marT="36576" marB="36576">
                    <a:solidFill>
                      <a:srgbClr val="FCFCFB"/>
                    </a:solidFill>
                  </a:tcPr>
                </a:tc>
                <a:tc>
                  <a:txBody>
                    <a:bodyPr/>
                    <a:lstStyle/>
                    <a:p>
                      <a:pPr>
                        <a:lnSpc>
                          <a:spcPct val="115000"/>
                        </a:lnSpc>
                      </a:pPr>
                      <a:r>
                        <a:rPr sz="1000" b="0">
                          <a:solidFill>
                            <a:srgbClr val="16181A"/>
                          </a:solidFill>
                          <a:latin typeface="Arial"/>
                        </a:rPr>
                        <a:t>In game</a:t>
                      </a:r>
                    </a:p>
                  </a:txBody>
                  <a:tcPr marL="73152" marR="73152" marT="36576" marB="36576">
                    <a:solidFill>
                      <a:srgbClr val="FCFCFB"/>
                    </a:solidFill>
                  </a:tcPr>
                </a:tc>
                <a:tc>
                  <a:txBody>
                    <a:bodyPr/>
                    <a:lstStyle/>
                    <a:p>
                      <a:pPr>
                        <a:lnSpc>
                          <a:spcPct val="115000"/>
                        </a:lnSpc>
                      </a:pPr>
                      <a:r>
                        <a:rPr sz="1000" b="0">
                          <a:solidFill>
                            <a:srgbClr val="16181A"/>
                          </a:solidFill>
                          <a:latin typeface="Arial"/>
                        </a:rPr>
                        <a:t>parity-game.html</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Door clock</a:t>
                      </a:r>
                    </a:p>
                  </a:txBody>
                  <a:tcPr marL="73152" marR="73152" marT="36576" marB="36576">
                    <a:solidFill>
                      <a:srgbClr val="FCFCFB"/>
                    </a:solidFill>
                  </a:tcPr>
                </a:tc>
                <a:tc>
                  <a:txBody>
                    <a:bodyPr/>
                    <a:lstStyle/>
                    <a:p>
                      <a:pPr>
                        <a:lnSpc>
                          <a:spcPct val="115000"/>
                        </a:lnSpc>
                      </a:pPr>
                      <a:r>
                        <a:rPr sz="1000" b="0">
                          <a:solidFill>
                            <a:srgbClr val="16181A"/>
                          </a:solidFill>
                          <a:latin typeface="Arial"/>
                        </a:rPr>
                        <a:t>Lockdown / window cycle, the whole rhythm</a:t>
                      </a:r>
                    </a:p>
                  </a:txBody>
                  <a:tcPr marL="73152" marR="73152" marT="36576" marB="36576">
                    <a:solidFill>
                      <a:srgbClr val="FCFCFB"/>
                    </a:solidFill>
                  </a:tcPr>
                </a:tc>
                <a:tc>
                  <a:txBody>
                    <a:bodyPr/>
                    <a:lstStyle/>
                    <a:p>
                      <a:pPr>
                        <a:lnSpc>
                          <a:spcPct val="115000"/>
                        </a:lnSpc>
                      </a:pPr>
                      <a:r>
                        <a:rPr sz="1000" b="0">
                          <a:solidFill>
                            <a:srgbClr val="16181A"/>
                          </a:solidFill>
                          <a:latin typeface="Arial"/>
                        </a:rPr>
                        <a:t>In game</a:t>
                      </a:r>
                    </a:p>
                  </a:txBody>
                  <a:tcPr marL="73152" marR="73152" marT="36576" marB="36576">
                    <a:solidFill>
                      <a:srgbClr val="FCFCFB"/>
                    </a:solidFill>
                  </a:tcPr>
                </a:tc>
                <a:tc>
                  <a:txBody>
                    <a:bodyPr/>
                    <a:lstStyle/>
                    <a:p>
                      <a:pPr>
                        <a:lnSpc>
                          <a:spcPct val="115000"/>
                        </a:lnSpc>
                      </a:pPr>
                      <a:r>
                        <a:rPr sz="1000" b="0">
                          <a:solidFill>
                            <a:srgbClr val="16181A"/>
                          </a:solidFill>
                          <a:latin typeface="Arial"/>
                        </a:rPr>
                        <a:t>parity-game.html</a:t>
                      </a:r>
                    </a:p>
                  </a:txBody>
                  <a:tcPr marL="73152" marR="73152" marT="36576" marB="36576">
                    <a:solidFill>
                      <a:srgbClr val="FCFCFB"/>
                    </a:solidFill>
                  </a:tcPr>
                </a:tc>
              </a:tr>
              <a:tr h="344658">
                <a:tc>
                  <a:txBody>
                    <a:bodyPr/>
                    <a:lstStyle/>
                    <a:p>
                      <a:pPr>
                        <a:lnSpc>
                          <a:spcPct val="115000"/>
                        </a:lnSpc>
                      </a:pPr>
                      <a:r>
                        <a:rPr sz="1000" b="0">
                          <a:solidFill>
                            <a:srgbClr val="16181A"/>
                          </a:solidFill>
                          <a:latin typeface="Arial"/>
                        </a:rPr>
                        <a:t>3D presentation</a:t>
                      </a:r>
                    </a:p>
                  </a:txBody>
                  <a:tcPr marL="73152" marR="73152" marT="36576" marB="36576">
                    <a:solidFill>
                      <a:srgbClr val="FCFCFB"/>
                    </a:solidFill>
                  </a:tcPr>
                </a:tc>
                <a:tc>
                  <a:txBody>
                    <a:bodyPr/>
                    <a:lstStyle/>
                    <a:p>
                      <a:pPr>
                        <a:lnSpc>
                          <a:spcPct val="115000"/>
                        </a:lnSpc>
                      </a:pPr>
                      <a:r>
                        <a:rPr sz="1000" b="0">
                          <a:solidFill>
                            <a:srgbClr val="16181A"/>
                          </a:solidFill>
                          <a:latin typeface="Arial"/>
                        </a:rPr>
                        <a:t>Godot first-person build</a:t>
                      </a:r>
                    </a:p>
                  </a:txBody>
                  <a:tcPr marL="73152" marR="73152" marT="36576" marB="36576">
                    <a:solidFill>
                      <a:srgbClr val="FCFCFB"/>
                    </a:solidFill>
                  </a:tcPr>
                </a:tc>
                <a:tc>
                  <a:txBody>
                    <a:bodyPr/>
                    <a:lstStyle/>
                    <a:p>
                      <a:pPr>
                        <a:lnSpc>
                          <a:spcPct val="115000"/>
                        </a:lnSpc>
                      </a:pPr>
                      <a:r>
                        <a:rPr sz="1000" b="0">
                          <a:solidFill>
                            <a:srgbClr val="16181A"/>
                          </a:solidFill>
                          <a:latin typeface="Arial"/>
                        </a:rPr>
                        <a:t>Not started</a:t>
                      </a:r>
                    </a:p>
                  </a:txBody>
                  <a:tcPr marL="73152" marR="73152" marT="36576" marB="36576">
                    <a:solidFill>
                      <a:srgbClr val="FCFCFB"/>
                    </a:solidFill>
                  </a:tcPr>
                </a:tc>
                <a:tc>
                  <a:txBody>
                    <a:bodyPr/>
                    <a:lstStyle/>
                    <a:p>
                      <a:pPr>
                        <a:lnSpc>
                          <a:spcPct val="115000"/>
                        </a:lnSpc>
                      </a:pPr>
                      <a:r>
                        <a:rPr sz="1000" b="0">
                          <a:solidFill>
                            <a:srgbClr val="16181A"/>
                          </a:solidFill>
                          <a:latin typeface="Arial"/>
                        </a:rPr>
                        <a:t>art study only</a:t>
                      </a:r>
                    </a:p>
                  </a:txBody>
                  <a:tcPr marL="73152" marR="73152" marT="36576" marB="36576">
                    <a:solidFill>
                      <a:srgbClr val="FCFCFB"/>
                    </a:solidFill>
                  </a:tcPr>
                </a:tc>
              </a:tr>
              <a:tr h="344664">
                <a:tc>
                  <a:txBody>
                    <a:bodyPr/>
                    <a:lstStyle/>
                    <a:p>
                      <a:pPr>
                        <a:lnSpc>
                          <a:spcPct val="115000"/>
                        </a:lnSpc>
                      </a:pPr>
                      <a:r>
                        <a:rPr sz="1000" b="0">
                          <a:solidFill>
                            <a:srgbClr val="16181A"/>
                          </a:solidFill>
                          <a:latin typeface="Arial"/>
                        </a:rPr>
                        <a:t>Audio, content, progression</a:t>
                      </a:r>
                    </a:p>
                  </a:txBody>
                  <a:tcPr marL="73152" marR="73152" marT="36576" marB="36576">
                    <a:solidFill>
                      <a:srgbClr val="FCFCFB"/>
                    </a:solidFill>
                  </a:tcPr>
                </a:tc>
                <a:tc>
                  <a:txBody>
                    <a:bodyPr/>
                    <a:lstStyle/>
                    <a:p>
                      <a:pPr>
                        <a:lnSpc>
                          <a:spcPct val="115000"/>
                        </a:lnSpc>
                      </a:pPr>
                      <a:r>
                        <a:rPr sz="1000" b="0">
                          <a:solidFill>
                            <a:srgbClr val="16181A"/>
                          </a:solidFill>
                          <a:latin typeface="Arial"/>
                        </a:rPr>
                        <a:t>Atmosphere, multiple floors, persistence</a:t>
                      </a:r>
                    </a:p>
                  </a:txBody>
                  <a:tcPr marL="73152" marR="73152" marT="36576" marB="36576">
                    <a:solidFill>
                      <a:srgbClr val="FCFCFB"/>
                    </a:solidFill>
                  </a:tcPr>
                </a:tc>
                <a:tc>
                  <a:txBody>
                    <a:bodyPr/>
                    <a:lstStyle/>
                    <a:p>
                      <a:pPr>
                        <a:lnSpc>
                          <a:spcPct val="115000"/>
                        </a:lnSpc>
                      </a:pPr>
                      <a:r>
                        <a:rPr sz="1000" b="0">
                          <a:solidFill>
                            <a:srgbClr val="16181A"/>
                          </a:solidFill>
                          <a:latin typeface="Arial"/>
                        </a:rPr>
                        <a:t>Not started</a:t>
                      </a:r>
                    </a:p>
                  </a:txBody>
                  <a:tcPr marL="73152" marR="73152" marT="36576" marB="36576">
                    <a:solidFill>
                      <a:srgbClr val="FCFCFB"/>
                    </a:solidFill>
                  </a:tcPr>
                </a:tc>
                <a:tc>
                  <a:txBody>
                    <a:bodyPr/>
                    <a:lstStyle/>
                    <a:p>
                      <a:pPr>
                        <a:lnSpc>
                          <a:spcPct val="115000"/>
                        </a:lnSpc>
                      </a:pPr>
                      <a:r>
                        <a:rPr sz="1000" b="0">
                          <a:solidFill>
                            <a:srgbClr val="16181A"/>
                          </a:solidFill>
                          <a:latin typeface="Arial"/>
                        </a:rPr>
                        <a:t>—</a:t>
                      </a:r>
                    </a:p>
                  </a:txBody>
                  <a:tcPr marL="73152" marR="73152" marT="36576" marB="36576">
                    <a:solidFill>
                      <a:srgbClr val="FCFCFB"/>
                    </a:solidFill>
                  </a:tcPr>
                </a:tc>
              </a:tr>
            </a:tbl>
          </a:graphicData>
        </a:graphic>
      </p:graphicFrame>
      <p:sp>
        <p:nvSpPr>
          <p:cNvPr id="6" name="TextBox 5"/>
          <p:cNvSpPr txBox="1"/>
          <p:nvPr/>
        </p:nvSpPr>
        <p:spPr>
          <a:xfrm>
            <a:off x="658368" y="6327648"/>
            <a:ext cx="10881360" cy="457200"/>
          </a:xfrm>
          <a:prstGeom prst="rect">
            <a:avLst/>
          </a:prstGeom>
          <a:noFill/>
        </p:spPr>
        <p:txBody>
          <a:bodyPr wrap="square" lIns="0" rIns="0" tIns="0" bIns="0">
            <a:spAutoFit/>
          </a:bodyPr>
          <a:lstStyle/>
          <a:p>
            <a:pPr algn="l">
              <a:lnSpc>
                <a:spcPct val="125000"/>
              </a:lnSpc>
              <a:spcAft>
                <a:spcPts val="600"/>
              </a:spcAft>
            </a:pPr>
            <a:r>
              <a:rPr sz="1150" b="0">
                <a:solidFill>
                  <a:srgbClr val="6B7178"/>
                </a:solidFill>
                <a:latin typeface="Arial"/>
              </a:rPr>
              <a:t>The whole core loop is playable: move on the clock, read codebooks, write pages, stage and send a byte, evade an AI that models you. What remains is presentation and content, not mechanism — roughly half the game.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IMPLEMENTATION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Executable, and attributable</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2304288"/>
        </p:xfrm>
        <a:graphic>
          <a:graphicData uri="http://schemas.openxmlformats.org/drawingml/2006/table">
            <a:tbl>
              <a:tblPr firstRow="1" bandRow="1">
                <a:tableStyleId>{5C22544A-7EE6-4342-B048-85BDC9FD1C3A}</a:tableStyleId>
              </a:tblPr>
              <a:tblGrid>
                <a:gridCol w="2926080"/>
                <a:gridCol w="3931920"/>
                <a:gridCol w="4023360"/>
              </a:tblGrid>
              <a:tr h="384048">
                <a:tc>
                  <a:txBody>
                    <a:bodyPr/>
                    <a:lstStyle/>
                    <a:p>
                      <a:pPr>
                        <a:lnSpc>
                          <a:spcPct val="115000"/>
                        </a:lnSpc>
                      </a:pPr>
                      <a:r>
                        <a:rPr sz="900" b="1">
                          <a:solidFill>
                            <a:srgbClr val="6B7178"/>
                          </a:solidFill>
                          <a:latin typeface="Arial"/>
                        </a:rPr>
                        <a:t>Artefact</a:t>
                      </a:r>
                    </a:p>
                  </a:txBody>
                  <a:tcPr marL="73152" marR="73152" marT="36576" marB="36576">
                    <a:solidFill>
                      <a:srgbClr val="F4F6F8"/>
                    </a:solidFill>
                  </a:tcPr>
                </a:tc>
                <a:tc>
                  <a:txBody>
                    <a:bodyPr/>
                    <a:lstStyle/>
                    <a:p>
                      <a:pPr>
                        <a:lnSpc>
                          <a:spcPct val="115000"/>
                        </a:lnSpc>
                      </a:pPr>
                      <a:r>
                        <a:rPr sz="900" b="1">
                          <a:solidFill>
                            <a:srgbClr val="6B7178"/>
                          </a:solidFill>
                          <a:latin typeface="Arial"/>
                        </a:rPr>
                        <a:t>Scale</a:t>
                      </a:r>
                    </a:p>
                  </a:txBody>
                  <a:tcPr marL="73152" marR="73152" marT="36576" marB="36576">
                    <a:solidFill>
                      <a:srgbClr val="F4F6F8"/>
                    </a:solidFill>
                  </a:tcPr>
                </a:tc>
                <a:tc>
                  <a:txBody>
                    <a:bodyPr/>
                    <a:lstStyle/>
                    <a:p>
                      <a:pPr>
                        <a:lnSpc>
                          <a:spcPct val="115000"/>
                        </a:lnSpc>
                      </a:pPr>
                      <a:r>
                        <a:rPr sz="900" b="1">
                          <a:solidFill>
                            <a:srgbClr val="6B7178"/>
                          </a:solidFill>
                          <a:latin typeface="Arial"/>
                        </a:rPr>
                        <a:t>How the panel can verify it</a:t>
                      </a:r>
                    </a:p>
                  </a:txBody>
                  <a:tcPr marL="73152" marR="73152" marT="36576" marB="36576">
                    <a:solidFill>
                      <a:srgbClr val="F4F6F8"/>
                    </a:solidFill>
                  </a:tcPr>
                </a:tc>
              </a:tr>
              <a:tr h="384048">
                <a:tc>
                  <a:txBody>
                    <a:bodyPr/>
                    <a:lstStyle/>
                    <a:p>
                      <a:pPr>
                        <a:lnSpc>
                          <a:spcPct val="115000"/>
                        </a:lnSpc>
                      </a:pPr>
                      <a:r>
                        <a:rPr sz="1200" b="0">
                          <a:solidFill>
                            <a:srgbClr val="16181A"/>
                          </a:solidFill>
                          <a:latin typeface="Arial"/>
                        </a:rPr>
                        <a:t>Simulation core and model</a:t>
                      </a:r>
                    </a:p>
                  </a:txBody>
                  <a:tcPr marL="73152" marR="73152" marT="36576" marB="36576">
                    <a:solidFill>
                      <a:srgbClr val="FCFCFB"/>
                    </a:solidFill>
                  </a:tcPr>
                </a:tc>
                <a:tc>
                  <a:txBody>
                    <a:bodyPr/>
                    <a:lstStyle/>
                    <a:p>
                      <a:pPr>
                        <a:lnSpc>
                          <a:spcPct val="115000"/>
                        </a:lnSpc>
                      </a:pPr>
                      <a:r>
                        <a:rPr sz="1200" b="0">
                          <a:solidFill>
                            <a:srgbClr val="16181A"/>
                          </a:solidFill>
                          <a:latin typeface="Arial"/>
                        </a:rPr>
                        <a:t>1,850 lines of Python, 10 modules</a:t>
                      </a:r>
                    </a:p>
                  </a:txBody>
                  <a:tcPr marL="73152" marR="73152" marT="36576" marB="36576">
                    <a:solidFill>
                      <a:srgbClr val="FCFCFB"/>
                    </a:solidFill>
                  </a:tcPr>
                </a:tc>
                <a:tc>
                  <a:txBody>
                    <a:bodyPr/>
                    <a:lstStyle/>
                    <a:p>
                      <a:pPr>
                        <a:lnSpc>
                          <a:spcPct val="115000"/>
                        </a:lnSpc>
                      </a:pPr>
                      <a:r>
                        <a:rPr sz="1200" b="0">
                          <a:solidFill>
                            <a:srgbClr val="16181A"/>
                          </a:solidFill>
                          <a:latin typeface="Arial"/>
                        </a:rPr>
                        <a:t>python3 model/evaluate.py</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Invariant test suite</a:t>
                      </a:r>
                    </a:p>
                  </a:txBody>
                  <a:tcPr marL="73152" marR="73152" marT="36576" marB="36576">
                    <a:solidFill>
                      <a:srgbClr val="FCFCFB"/>
                    </a:solidFill>
                  </a:tcPr>
                </a:tc>
                <a:tc>
                  <a:txBody>
                    <a:bodyPr/>
                    <a:lstStyle/>
                    <a:p>
                      <a:pPr>
                        <a:lnSpc>
                          <a:spcPct val="115000"/>
                        </a:lnSpc>
                      </a:pPr>
                      <a:r>
                        <a:rPr sz="1200" b="0">
                          <a:solidFill>
                            <a:srgbClr val="16181A"/>
                          </a:solidFill>
                          <a:latin typeface="Arial"/>
                        </a:rPr>
                        <a:t>9 properties over 25 generated facilities</a:t>
                      </a:r>
                    </a:p>
                  </a:txBody>
                  <a:tcPr marL="73152" marR="73152" marT="36576" marB="36576">
                    <a:solidFill>
                      <a:srgbClr val="FCFCFB"/>
                    </a:solidFill>
                  </a:tcPr>
                </a:tc>
                <a:tc>
                  <a:txBody>
                    <a:bodyPr/>
                    <a:lstStyle/>
                    <a:p>
                      <a:pPr>
                        <a:lnSpc>
                          <a:spcPct val="115000"/>
                        </a:lnSpc>
                      </a:pPr>
                      <a:r>
                        <a:rPr sz="1200" b="0">
                          <a:solidFill>
                            <a:srgbClr val="16181A"/>
                          </a:solidFill>
                          <a:latin typeface="Arial"/>
                        </a:rPr>
                        <a:t>python3 model/test_invariants.py</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Experiment suite</a:t>
                      </a:r>
                    </a:p>
                  </a:txBody>
                  <a:tcPr marL="73152" marR="73152" marT="36576" marB="36576">
                    <a:solidFill>
                      <a:srgbClr val="FCFCFB"/>
                    </a:solidFill>
                  </a:tcPr>
                </a:tc>
                <a:tc>
                  <a:txBody>
                    <a:bodyPr/>
                    <a:lstStyle/>
                    <a:p>
                      <a:pPr>
                        <a:lnSpc>
                          <a:spcPct val="115000"/>
                        </a:lnSpc>
                      </a:pPr>
                      <a:r>
                        <a:rPr sz="1200" b="0">
                          <a:solidFill>
                            <a:srgbClr val="16181A"/>
                          </a:solidFill>
                          <a:latin typeface="Arial"/>
                        </a:rPr>
                        <a:t>12 experiments, all seeded and reproducible</a:t>
                      </a:r>
                    </a:p>
                  </a:txBody>
                  <a:tcPr marL="73152" marR="73152" marT="36576" marB="36576">
                    <a:solidFill>
                      <a:srgbClr val="FCFCFB"/>
                    </a:solidFill>
                  </a:tcPr>
                </a:tc>
                <a:tc>
                  <a:txBody>
                    <a:bodyPr/>
                    <a:lstStyle/>
                    <a:p>
                      <a:pPr>
                        <a:lnSpc>
                          <a:spcPct val="115000"/>
                        </a:lnSpc>
                      </a:pPr>
                      <a:r>
                        <a:rPr sz="1200" b="0">
                          <a:solidFill>
                            <a:srgbClr val="16181A"/>
                          </a:solidFill>
                          <a:latin typeface="Arial"/>
                        </a:rPr>
                        <a:t>writes out/metrics.json</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Browser prototypes</a:t>
                      </a:r>
                    </a:p>
                  </a:txBody>
                  <a:tcPr marL="73152" marR="73152" marT="36576" marB="36576">
                    <a:solidFill>
                      <a:srgbClr val="FCFCFB"/>
                    </a:solidFill>
                  </a:tcPr>
                </a:tc>
                <a:tc>
                  <a:txBody>
                    <a:bodyPr/>
                    <a:lstStyle/>
                    <a:p>
                      <a:pPr>
                        <a:lnSpc>
                          <a:spcPct val="115000"/>
                        </a:lnSpc>
                      </a:pPr>
                      <a:r>
                        <a:rPr sz="1200" b="0">
                          <a:solidFill>
                            <a:srgbClr val="16181A"/>
                          </a:solidFill>
                          <a:latin typeface="Arial"/>
                        </a:rPr>
                        <a:t>1,818 lines of JavaScript, 4 apps</a:t>
                      </a:r>
                    </a:p>
                  </a:txBody>
                  <a:tcPr marL="73152" marR="73152" marT="36576" marB="36576">
                    <a:solidFill>
                      <a:srgbClr val="FCFCFB"/>
                    </a:solidFill>
                  </a:tcPr>
                </a:tc>
                <a:tc>
                  <a:txBody>
                    <a:bodyPr/>
                    <a:lstStyle/>
                    <a:p>
                      <a:pPr>
                        <a:lnSpc>
                          <a:spcPct val="115000"/>
                        </a:lnSpc>
                      </a:pPr>
                      <a:r>
                        <a:rPr sz="1200" b="0">
                          <a:solidFill>
                            <a:srgbClr val="16181A"/>
                          </a:solidFill>
                          <a:latin typeface="Arial"/>
                        </a:rPr>
                        <a:t>open the .html — no install</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Version history</a:t>
                      </a:r>
                    </a:p>
                  </a:txBody>
                  <a:tcPr marL="73152" marR="73152" marT="36576" marB="36576">
                    <a:solidFill>
                      <a:srgbClr val="FCFCFB"/>
                    </a:solidFill>
                  </a:tcPr>
                </a:tc>
                <a:tc>
                  <a:txBody>
                    <a:bodyPr/>
                    <a:lstStyle/>
                    <a:p>
                      <a:pPr>
                        <a:lnSpc>
                          <a:spcPct val="115000"/>
                        </a:lnSpc>
                      </a:pPr>
                      <a:r>
                        <a:rPr sz="1200" b="0">
                          <a:solidFill>
                            <a:srgbClr val="16181A"/>
                          </a:solidFill>
                          <a:latin typeface="Arial"/>
                        </a:rPr>
                        <a:t>12 commits, single author</a:t>
                      </a:r>
                    </a:p>
                  </a:txBody>
                  <a:tcPr marL="73152" marR="73152" marT="36576" marB="36576">
                    <a:solidFill>
                      <a:srgbClr val="FCFCFB"/>
                    </a:solidFill>
                  </a:tcPr>
                </a:tc>
                <a:tc>
                  <a:txBody>
                    <a:bodyPr/>
                    <a:lstStyle/>
                    <a:p>
                      <a:pPr>
                        <a:lnSpc>
                          <a:spcPct val="115000"/>
                        </a:lnSpc>
                      </a:pPr>
                      <a:r>
                        <a:rPr sz="1200" b="0">
                          <a:solidFill>
                            <a:srgbClr val="16181A"/>
                          </a:solidFill>
                          <a:latin typeface="Arial"/>
                        </a:rPr>
                        <a:t>git log</a:t>
                      </a:r>
                    </a:p>
                  </a:txBody>
                  <a:tcPr marL="73152" marR="73152" marT="36576" marB="36576">
                    <a:solidFill>
                      <a:srgbClr val="FCFCFB"/>
                    </a:solidFill>
                  </a:tcPr>
                </a:tc>
              </a:tr>
            </a:tbl>
          </a:graphicData>
        </a:graphic>
      </p:graphicFrame>
      <p:sp>
        <p:nvSpPr>
          <p:cNvPr id="6" name="TextBox 5"/>
          <p:cNvSpPr txBox="1"/>
          <p:nvPr/>
        </p:nvSpPr>
        <p:spPr>
          <a:xfrm>
            <a:off x="658368" y="4114800"/>
            <a:ext cx="10881360" cy="32004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THE FOUR PROTOTYPES</a:t>
            </a:r>
          </a:p>
        </p:txBody>
      </p:sp>
      <p:sp>
        <p:nvSpPr>
          <p:cNvPr id="7" name="TextBox 6"/>
          <p:cNvSpPr txBox="1"/>
          <p:nvPr/>
        </p:nvSpPr>
        <p:spPr>
          <a:xfrm>
            <a:off x="658368" y="4480560"/>
            <a:ext cx="10881360" cy="4480560"/>
          </a:xfrm>
          <a:prstGeom prst="rect">
            <a:avLst/>
          </a:prstGeom>
          <a:noFill/>
        </p:spPr>
        <p:txBody>
          <a:bodyPr wrap="square" lIns="0" rIns="0" tIns="0" bIns="0">
            <a:spAutoFit/>
          </a:bodyPr>
          <a:lstStyle/>
          <a:p>
            <a:pPr>
              <a:lnSpc>
                <a:spcPct val="130000"/>
              </a:lnSpc>
              <a:spcAft>
                <a:spcPts val="500"/>
              </a:spcAft>
            </a:pPr>
            <a:r>
              <a:rPr sz="1300" b="1">
                <a:solidFill>
                  <a:srgbClr val="16181A"/>
                </a:solidFill>
                <a:latin typeface="Arial"/>
              </a:rPr>
              <a:t>Model monitor —  </a:t>
            </a:r>
            <a:r>
              <a:rPr sz="1300">
                <a:solidFill>
                  <a:srgbClr val="6B7178"/>
                </a:solidFill>
                <a:latin typeface="Arial"/>
              </a:rPr>
              <a:t>the predictor running live, with its belief and accuracy on screen.</a:t>
            </a:r>
          </a:p>
          <a:p>
            <a:pPr>
              <a:lnSpc>
                <a:spcPct val="130000"/>
              </a:lnSpc>
              <a:spcAft>
                <a:spcPts val="500"/>
              </a:spcAft>
            </a:pPr>
            <a:r>
              <a:rPr sz="1300" b="1">
                <a:solidFill>
                  <a:srgbClr val="16181A"/>
                </a:solidFill>
                <a:latin typeface="Arial"/>
              </a:rPr>
              <a:t>Vertical slice —  </a:t>
            </a:r>
            <a:r>
              <a:rPr sz="1300">
                <a:solidFill>
                  <a:srgbClr val="6B7178"/>
                </a:solidFill>
                <a:latin typeface="Arial"/>
              </a:rPr>
              <a:t>the game loop: door clock, notebook, register, and the AI tampering with a staged byte.</a:t>
            </a:r>
          </a:p>
          <a:p>
            <a:pPr>
              <a:lnSpc>
                <a:spcPct val="130000"/>
              </a:lnSpc>
              <a:spcAft>
                <a:spcPts val="500"/>
              </a:spcAft>
            </a:pPr>
            <a:r>
              <a:rPr sz="1300" b="1">
                <a:solidFill>
                  <a:srgbClr val="16181A"/>
                </a:solidFill>
                <a:latin typeface="Arial"/>
              </a:rPr>
              <a:t>Notebook —  </a:t>
            </a:r>
            <a:r>
              <a:rPr sz="1300">
                <a:solidFill>
                  <a:srgbClr val="6B7178"/>
                </a:solidFill>
                <a:latin typeface="Arial"/>
              </a:rPr>
              <a:t>freehand editor with stroke-level erase and pages.</a:t>
            </a:r>
          </a:p>
          <a:p>
            <a:pPr>
              <a:lnSpc>
                <a:spcPct val="130000"/>
              </a:lnSpc>
              <a:spcAft>
                <a:spcPts val="500"/>
              </a:spcAft>
            </a:pPr>
            <a:r>
              <a:rPr sz="1300" b="1">
                <a:solidFill>
                  <a:srgbClr val="16181A"/>
                </a:solidFill>
                <a:latin typeface="Arial"/>
              </a:rPr>
              <a:t>Room study —  </a:t>
            </a:r>
            <a:r>
              <a:rPr sz="1300">
                <a:solidFill>
                  <a:srgbClr val="6B7178"/>
                </a:solidFill>
                <a:latin typeface="Arial"/>
              </a:rPr>
              <a:t>walkable first-person art direction, hand-written WebGL.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IMPLEMENTATION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Eight modules across three layers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rch.png"/>
          <p:cNvPicPr>
            <a:picLocks noChangeAspect="1"/>
          </p:cNvPicPr>
          <p:nvPr/>
        </p:nvPicPr>
        <p:blipFill>
          <a:blip r:embed="rId2"/>
          <a:stretch>
            <a:fillRect/>
          </a:stretch>
        </p:blipFill>
        <p:spPr>
          <a:xfrm>
            <a:off x="1344168" y="1737360"/>
            <a:ext cx="9509760" cy="48413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NEW THIS CYCLE</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Partial observation — and why it was the right next thing</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83080"/>
            <a:ext cx="10881360" cy="1325880"/>
          </a:xfrm>
          <a:prstGeom prst="rect">
            <a:avLst/>
          </a:prstGeom>
          <a:solidFill>
            <a:srgbClr val="FFF6F0"/>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93392"/>
            <a:ext cx="10332720" cy="1005840"/>
          </a:xfrm>
          <a:prstGeom prst="rect">
            <a:avLst/>
          </a:prstGeom>
          <a:noFill/>
        </p:spPr>
        <p:txBody>
          <a:bodyPr wrap="square" lIns="0" rIns="0" tIns="0" bIns="0">
            <a:spAutoFit/>
          </a:bodyPr>
          <a:lstStyle/>
          <a:p>
            <a:pPr algn="l">
              <a:lnSpc>
                <a:spcPct val="132000"/>
              </a:lnSpc>
              <a:spcAft>
                <a:spcPts val="400"/>
              </a:spcAft>
            </a:pPr>
            <a:r>
              <a:rPr sz="1350" b="0">
                <a:solidFill>
                  <a:srgbClr val="16181A"/>
                </a:solidFill>
                <a:latin typeface="Arial"/>
              </a:rPr>
              <a:t>The last review ended on a negative result.</a:t>
            </a:r>
          </a:p>
          <a:p>
            <a:pPr algn="l">
              <a:lnSpc>
                <a:spcPct val="132000"/>
              </a:lnSpc>
              <a:spcAft>
                <a:spcPts val="400"/>
              </a:spcAft>
            </a:pPr>
            <a:r>
              <a:rPr sz="1350" b="0">
                <a:solidFill>
                  <a:srgbClr val="16181A"/>
                </a:solidFill>
                <a:latin typeface="Arial"/>
              </a:rPr>
              <a:t>An evasive player who declined a third of all windows cut their capture risk by only 1.7%. Waiting was not a defence — and the diagnosis was the observation model, not the algorithm: an antagonist that already knows your room is not denied anything when you stand still.</a:t>
            </a:r>
          </a:p>
        </p:txBody>
      </p:sp>
      <p:sp>
        <p:nvSpPr>
          <p:cNvPr id="7" name="TextBox 6"/>
          <p:cNvSpPr txBox="1"/>
          <p:nvPr/>
        </p:nvSpPr>
        <p:spPr>
          <a:xfrm>
            <a:off x="658368" y="3337560"/>
            <a:ext cx="10881360" cy="4480560"/>
          </a:xfrm>
          <a:prstGeom prst="rect">
            <a:avLst/>
          </a:prstGeom>
          <a:noFill/>
        </p:spPr>
        <p:txBody>
          <a:bodyPr wrap="square" lIns="0" rIns="0" tIns="0" bIns="0">
            <a:spAutoFit/>
          </a:bodyPr>
          <a:lstStyle/>
          <a:p>
            <a:pPr>
              <a:lnSpc>
                <a:spcPct val="130000"/>
              </a:lnSpc>
              <a:spcAft>
                <a:spcPts val="1300"/>
              </a:spcAft>
            </a:pPr>
            <a:r>
              <a:rPr sz="1400" b="1">
                <a:solidFill>
                  <a:srgbClr val="16181A"/>
                </a:solidFill>
                <a:latin typeface="Arial"/>
              </a:rPr>
              <a:t>What was built —  </a:t>
            </a:r>
            <a:r>
              <a:rPr sz="1400">
                <a:solidFill>
                  <a:srgbClr val="6B7178"/>
                </a:solidFill>
                <a:latin typeface="Arial"/>
              </a:rPr>
              <a:t>door motion-detectors, and a Bayes forward filter so the antagonist tracks a BELIEF over rooms instead of the truth. Coverage is tunable: some doors are unwired, and the player can spend a dangerous task to silence one.</a:t>
            </a:r>
          </a:p>
          <a:p>
            <a:pPr>
              <a:lnSpc>
                <a:spcPct val="130000"/>
              </a:lnSpc>
              <a:spcAft>
                <a:spcPts val="1300"/>
              </a:spcAft>
            </a:pPr>
            <a:r>
              <a:rPr sz="1400" b="1">
                <a:solidFill>
                  <a:srgbClr val="16181A"/>
                </a:solidFill>
                <a:latin typeface="Arial"/>
              </a:rPr>
              <a:t>Why it matters —  </a:t>
            </a:r>
            <a:r>
              <a:rPr sz="1400">
                <a:solidFill>
                  <a:srgbClr val="6B7178"/>
                </a:solidFill>
                <a:latin typeface="Arial"/>
              </a:rPr>
              <a:t>silence becomes ambiguous between 'they stayed' and 'they used an unwired door'. That ambiguity is what gives the player something to exploit.</a:t>
            </a:r>
          </a:p>
          <a:p>
            <a:pPr>
              <a:lnSpc>
                <a:spcPct val="130000"/>
              </a:lnSpc>
              <a:spcAft>
                <a:spcPts val="1300"/>
              </a:spcAft>
            </a:pPr>
            <a:r>
              <a:rPr sz="1400" b="1">
                <a:solidFill>
                  <a:srgbClr val="16181A"/>
                </a:solidFill>
                <a:latin typeface="Arial"/>
              </a:rPr>
              <a:t>What it produced —  </a:t>
            </a:r>
            <a:r>
              <a:rPr sz="1400">
                <a:solidFill>
                  <a:srgbClr val="6B7178"/>
                </a:solidFill>
                <a:latin typeface="Arial"/>
              </a:rPr>
              <a:t>two new experiments, one confirming the old negative result and one identifying the counter-play that actually works.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TECHNICAL ACCURACY</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The predictor: variable-order Markov with back-off</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83080"/>
            <a:ext cx="10881360" cy="1234440"/>
          </a:xfrm>
          <a:prstGeom prst="rect">
            <a:avLst/>
          </a:prstGeom>
          <a:solidFill>
            <a:srgbClr val="16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93392"/>
            <a:ext cx="10241280" cy="914400"/>
          </a:xfrm>
          <a:prstGeom prst="rect">
            <a:avLst/>
          </a:prstGeom>
          <a:noFill/>
        </p:spPr>
        <p:txBody>
          <a:bodyPr wrap="square" lIns="0" rIns="0" tIns="0" bIns="0">
            <a:spAutoFit/>
          </a:bodyPr>
          <a:lstStyle/>
          <a:p>
            <a:pPr algn="l">
              <a:lnSpc>
                <a:spcPct val="160000"/>
              </a:lnSpc>
              <a:spcAft>
                <a:spcPts val="400"/>
              </a:spcAft>
            </a:pPr>
            <a:r>
              <a:rPr sz="1500" b="0">
                <a:solidFill>
                  <a:srgbClr val="FFFFFF"/>
                </a:solidFill>
                <a:latin typeface="Consolas"/>
              </a:rPr>
              <a:t>P_o(x | ctx)  =  w · f_o(x | ctx)  +  (1 − w) · P_(o−1)(x | ctx[1:])</a:t>
            </a:r>
          </a:p>
          <a:p>
            <a:pPr algn="l">
              <a:lnSpc>
                <a:spcPct val="160000"/>
              </a:lnSpc>
              <a:spcAft>
                <a:spcPts val="400"/>
              </a:spcAft>
            </a:pPr>
            <a:r>
              <a:rPr sz="1500" b="0">
                <a:solidFill>
                  <a:srgbClr val="FFFFFF"/>
                </a:solidFill>
                <a:latin typeface="Consolas"/>
              </a:rPr>
              <a:t>w  =  C(ctx) / (C(ctx) + α)                    α = 1.6,  k = 4</a:t>
            </a:r>
          </a:p>
        </p:txBody>
      </p:sp>
      <p:sp>
        <p:nvSpPr>
          <p:cNvPr id="7" name="TextBox 6"/>
          <p:cNvSpPr txBox="1"/>
          <p:nvPr/>
        </p:nvSpPr>
        <p:spPr>
          <a:xfrm>
            <a:off x="658368" y="3246120"/>
            <a:ext cx="10881360" cy="4480560"/>
          </a:xfrm>
          <a:prstGeom prst="rect">
            <a:avLst/>
          </a:prstGeom>
          <a:noFill/>
        </p:spPr>
        <p:txBody>
          <a:bodyPr wrap="square" lIns="0" rIns="0" tIns="0" bIns="0">
            <a:spAutoFit/>
          </a:bodyPr>
          <a:lstStyle/>
          <a:p>
            <a:pPr>
              <a:lnSpc>
                <a:spcPct val="130000"/>
              </a:lnSpc>
              <a:spcAft>
                <a:spcPts val="900"/>
              </a:spcAft>
            </a:pPr>
            <a:r>
              <a:rPr sz="1350" b="1">
                <a:solidFill>
                  <a:srgbClr val="16181A"/>
                </a:solidFill>
                <a:latin typeface="Arial"/>
              </a:rPr>
              <a:t>Why not order-1 —  </a:t>
            </a:r>
            <a:r>
              <a:rPr sz="1350">
                <a:solidFill>
                  <a:srgbClr val="6B7178"/>
                </a:solidFill>
                <a:latin typeface="Arial"/>
              </a:rPr>
              <a:t>a route means the same room has different successors depending on how it was entered. Order-1 conditions only on the current room and cannot represent that.</a:t>
            </a:r>
          </a:p>
          <a:p>
            <a:pPr>
              <a:lnSpc>
                <a:spcPct val="130000"/>
              </a:lnSpc>
              <a:spcAft>
                <a:spcPts val="900"/>
              </a:spcAft>
            </a:pPr>
            <a:r>
              <a:rPr sz="1350" b="1">
                <a:solidFill>
                  <a:srgbClr val="16181A"/>
                </a:solidFill>
                <a:latin typeface="Arial"/>
              </a:rPr>
              <a:t>Why not fixed high order —  </a:t>
            </a:r>
            <a:r>
              <a:rPr sz="1350">
                <a:solidFill>
                  <a:srgbClr val="6B7178"/>
                </a:solidFill>
                <a:latin typeface="Arial"/>
              </a:rPr>
              <a:t>10 rooms and order 4 is 10,000 contexts; almost all are never seen.</a:t>
            </a:r>
          </a:p>
          <a:p>
            <a:pPr>
              <a:lnSpc>
                <a:spcPct val="130000"/>
              </a:lnSpc>
              <a:spcAft>
                <a:spcPts val="900"/>
              </a:spcAft>
            </a:pPr>
            <a:r>
              <a:rPr sz="1350" b="1">
                <a:solidFill>
                  <a:srgbClr val="16181A"/>
                </a:solidFill>
                <a:latin typeface="Arial"/>
              </a:rPr>
              <a:t>Variable order resolves both —  </a:t>
            </a:r>
            <a:r>
              <a:rPr sz="1350">
                <a:solidFill>
                  <a:srgbClr val="6B7178"/>
                </a:solidFill>
                <a:latin typeface="Arial"/>
              </a:rPr>
              <a:t>use the longest context with enough support, back off when there is not. Witten-Bell interpolation, following Begleiter et al., JAIR 22 (2004).</a:t>
            </a:r>
          </a:p>
          <a:p>
            <a:pPr>
              <a:lnSpc>
                <a:spcPct val="130000"/>
              </a:lnSpc>
              <a:spcAft>
                <a:spcPts val="900"/>
              </a:spcAft>
            </a:pPr>
            <a:r>
              <a:rPr sz="1350" b="1">
                <a:solidFill>
                  <a:srgbClr val="16181A"/>
                </a:solidFill>
                <a:latin typeface="Arial"/>
              </a:rPr>
              <a:t>Action space —  </a:t>
            </a:r>
            <a:r>
              <a:rPr sz="1350">
                <a:solidFill>
                  <a:srgbClr val="6B7178"/>
                </a:solidFill>
                <a:latin typeface="Arial"/>
              </a:rPr>
              <a:t>at each window the player takes a door OR declines to move, so the candidate set is N(v) ∪ {v}. Dwell is predicted, not assumed.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TECHNICAL ACCURACY</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The belief filter over door events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783080"/>
            <a:ext cx="10881360" cy="1234440"/>
          </a:xfrm>
          <a:prstGeom prst="rect">
            <a:avLst/>
          </a:prstGeom>
          <a:solidFill>
            <a:srgbClr val="16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75104"/>
            <a:ext cx="10241280" cy="914400"/>
          </a:xfrm>
          <a:prstGeom prst="rect">
            <a:avLst/>
          </a:prstGeom>
          <a:noFill/>
        </p:spPr>
        <p:txBody>
          <a:bodyPr wrap="square" lIns="0" rIns="0" tIns="0" bIns="0">
            <a:spAutoFit/>
          </a:bodyPr>
          <a:lstStyle/>
          <a:p>
            <a:pPr algn="l">
              <a:lnSpc>
                <a:spcPct val="160000"/>
              </a:lnSpc>
              <a:spcAft>
                <a:spcPts val="400"/>
              </a:spcAft>
            </a:pPr>
            <a:r>
              <a:rPr sz="1500" b="0">
                <a:solidFill>
                  <a:srgbClr val="FFFFFF"/>
                </a:solidFill>
                <a:latin typeface="Consolas"/>
              </a:rPr>
              <a:t>predict    b'(c)  =  Σ_r  b(r) · T(r → c)</a:t>
            </a:r>
          </a:p>
          <a:p>
            <a:pPr algn="l">
              <a:lnSpc>
                <a:spcPct val="160000"/>
              </a:lnSpc>
              <a:spcAft>
                <a:spcPts val="400"/>
              </a:spcAft>
            </a:pPr>
            <a:r>
              <a:rPr sz="1500" b="0">
                <a:solidFill>
                  <a:srgbClr val="FFFFFF"/>
                </a:solidFill>
                <a:latin typeface="Consolas"/>
              </a:rPr>
              <a:t>update     zero any state inconsistent with the evidence, renormalise</a:t>
            </a:r>
          </a:p>
        </p:txBody>
      </p:sp>
      <p:graphicFrame>
        <p:nvGraphicFramePr>
          <p:cNvPr id="7" name="Table 6"/>
          <p:cNvGraphicFramePr>
            <a:graphicFrameLocks noGrp="1"/>
          </p:cNvGraphicFramePr>
          <p:nvPr/>
        </p:nvGraphicFramePr>
        <p:xfrm>
          <a:off x="658368" y="3200400"/>
          <a:ext cx="10881360" cy="1536192"/>
        </p:xfrm>
        <a:graphic>
          <a:graphicData uri="http://schemas.openxmlformats.org/drawingml/2006/table">
            <a:tbl>
              <a:tblPr firstRow="1" bandRow="1">
                <a:tableStyleId>{5C22544A-7EE6-4342-B048-85BDC9FD1C3A}</a:tableStyleId>
              </a:tblPr>
              <a:tblGrid>
                <a:gridCol w="2651760"/>
                <a:gridCol w="4572000"/>
                <a:gridCol w="3657600"/>
              </a:tblGrid>
              <a:tr h="384048">
                <a:tc>
                  <a:txBody>
                    <a:bodyPr/>
                    <a:lstStyle/>
                    <a:p>
                      <a:pPr>
                        <a:lnSpc>
                          <a:spcPct val="115000"/>
                        </a:lnSpc>
                      </a:pPr>
                      <a:r>
                        <a:rPr sz="950" b="1">
                          <a:solidFill>
                            <a:srgbClr val="6B7178"/>
                          </a:solidFill>
                          <a:latin typeface="Arial"/>
                        </a:rPr>
                        <a:t>Evidence</a:t>
                      </a:r>
                    </a:p>
                  </a:txBody>
                  <a:tcPr marL="73152" marR="73152" marT="36576" marB="36576">
                    <a:solidFill>
                      <a:srgbClr val="F4F6F8"/>
                    </a:solidFill>
                  </a:tcPr>
                </a:tc>
                <a:tc>
                  <a:txBody>
                    <a:bodyPr/>
                    <a:lstStyle/>
                    <a:p>
                      <a:pPr>
                        <a:lnSpc>
                          <a:spcPct val="115000"/>
                        </a:lnSpc>
                      </a:pPr>
                      <a:r>
                        <a:rPr sz="950" b="1">
                          <a:solidFill>
                            <a:srgbClr val="6B7178"/>
                          </a:solidFill>
                          <a:latin typeface="Arial"/>
                        </a:rPr>
                        <a:t>What it rules out</a:t>
                      </a:r>
                    </a:p>
                  </a:txBody>
                  <a:tcPr marL="73152" marR="73152" marT="36576" marB="36576">
                    <a:solidFill>
                      <a:srgbClr val="F4F6F8"/>
                    </a:solidFill>
                  </a:tcPr>
                </a:tc>
                <a:tc>
                  <a:txBody>
                    <a:bodyPr/>
                    <a:lstStyle/>
                    <a:p>
                      <a:pPr>
                        <a:lnSpc>
                          <a:spcPct val="115000"/>
                        </a:lnSpc>
                      </a:pPr>
                      <a:r>
                        <a:rPr sz="950" b="1">
                          <a:solidFill>
                            <a:srgbClr val="6B7178"/>
                          </a:solidFill>
                          <a:latin typeface="Arial"/>
                        </a:rPr>
                        <a:t>Effect on the belief</a:t>
                      </a:r>
                    </a:p>
                  </a:txBody>
                  <a:tcPr marL="73152" marR="73152" marT="36576" marB="36576">
                    <a:solidFill>
                      <a:srgbClr val="F4F6F8"/>
                    </a:solidFill>
                  </a:tcPr>
                </a:tc>
              </a:tr>
              <a:tr h="384048">
                <a:tc>
                  <a:txBody>
                    <a:bodyPr/>
                    <a:lstStyle/>
                    <a:p>
                      <a:pPr>
                        <a:lnSpc>
                          <a:spcPct val="115000"/>
                        </a:lnSpc>
                      </a:pPr>
                      <a:r>
                        <a:rPr sz="1250" b="0">
                          <a:solidFill>
                            <a:srgbClr val="16181A"/>
                          </a:solidFill>
                          <a:latin typeface="Arial"/>
                        </a:rPr>
                        <a:t>Door (a,b) tripped</a:t>
                      </a:r>
                    </a:p>
                  </a:txBody>
                  <a:tcPr marL="73152" marR="73152" marT="36576" marB="36576">
                    <a:solidFill>
                      <a:srgbClr val="FCFCFB"/>
                    </a:solidFill>
                  </a:tcPr>
                </a:tc>
                <a:tc>
                  <a:txBody>
                    <a:bodyPr/>
                    <a:lstStyle/>
                    <a:p>
                      <a:pPr>
                        <a:lnSpc>
                          <a:spcPct val="115000"/>
                        </a:lnSpc>
                      </a:pPr>
                      <a:r>
                        <a:rPr sz="1250" b="0">
                          <a:solidFill>
                            <a:srgbClr val="16181A"/>
                          </a:solidFill>
                          <a:latin typeface="Arial"/>
                        </a:rPr>
                        <a:t>Everything except a crossing of that door</a:t>
                      </a:r>
                    </a:p>
                  </a:txBody>
                  <a:tcPr marL="73152" marR="73152" marT="36576" marB="36576">
                    <a:solidFill>
                      <a:srgbClr val="FCFCFB"/>
                    </a:solidFill>
                  </a:tcPr>
                </a:tc>
                <a:tc>
                  <a:txBody>
                    <a:bodyPr/>
                    <a:lstStyle/>
                    <a:p>
                      <a:pPr>
                        <a:lnSpc>
                          <a:spcPct val="115000"/>
                        </a:lnSpc>
                      </a:pPr>
                      <a:r>
                        <a:rPr sz="1250" b="0">
                          <a:solidFill>
                            <a:srgbClr val="16181A"/>
                          </a:solidFill>
                          <a:latin typeface="Arial"/>
                        </a:rPr>
                        <a:t>Collapses to near-certainty</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Silence</a:t>
                      </a:r>
                    </a:p>
                  </a:txBody>
                  <a:tcPr marL="73152" marR="73152" marT="36576" marB="36576">
                    <a:solidFill>
                      <a:srgbClr val="FCFCFB"/>
                    </a:solidFill>
                  </a:tcPr>
                </a:tc>
                <a:tc>
                  <a:txBody>
                    <a:bodyPr/>
                    <a:lstStyle/>
                    <a:p>
                      <a:pPr>
                        <a:lnSpc>
                          <a:spcPct val="115000"/>
                        </a:lnSpc>
                      </a:pPr>
                      <a:r>
                        <a:rPr sz="1250" b="0">
                          <a:solidFill>
                            <a:srgbClr val="16181A"/>
                          </a:solidFill>
                          <a:latin typeface="Arial"/>
                        </a:rPr>
                        <a:t>Any crossing of a WIRED door</a:t>
                      </a:r>
                    </a:p>
                  </a:txBody>
                  <a:tcPr marL="73152" marR="73152" marT="36576" marB="36576">
                    <a:solidFill>
                      <a:srgbClr val="FCFCFB"/>
                    </a:solidFill>
                  </a:tcPr>
                </a:tc>
                <a:tc>
                  <a:txBody>
                    <a:bodyPr/>
                    <a:lstStyle/>
                    <a:p>
                      <a:pPr>
                        <a:lnSpc>
                          <a:spcPct val="115000"/>
                        </a:lnSpc>
                      </a:pPr>
                      <a:r>
                        <a:rPr sz="1250" b="0">
                          <a:solidFill>
                            <a:srgbClr val="16181A"/>
                          </a:solidFill>
                          <a:latin typeface="Arial"/>
                        </a:rPr>
                        <a:t>Keeps staying put and unwired crossings</a:t>
                      </a:r>
                    </a:p>
                  </a:txBody>
                  <a:tcPr marL="73152" marR="73152" marT="36576" marB="36576">
                    <a:solidFill>
                      <a:srgbClr val="FCFCFB"/>
                    </a:solidFill>
                  </a:tcPr>
                </a:tc>
              </a:tr>
              <a:tr h="384048">
                <a:tc>
                  <a:txBody>
                    <a:bodyPr/>
                    <a:lstStyle/>
                    <a:p>
                      <a:pPr>
                        <a:lnSpc>
                          <a:spcPct val="115000"/>
                        </a:lnSpc>
                      </a:pPr>
                      <a:r>
                        <a:rPr sz="1250" b="0">
                          <a:solidFill>
                            <a:srgbClr val="16181A"/>
                          </a:solidFill>
                          <a:latin typeface="Arial"/>
                        </a:rPr>
                        <a:t>Co-location</a:t>
                      </a:r>
                    </a:p>
                  </a:txBody>
                  <a:tcPr marL="73152" marR="73152" marT="36576" marB="36576">
                    <a:solidFill>
                      <a:srgbClr val="FCFCFB"/>
                    </a:solidFill>
                  </a:tcPr>
                </a:tc>
                <a:tc>
                  <a:txBody>
                    <a:bodyPr/>
                    <a:lstStyle/>
                    <a:p>
                      <a:pPr>
                        <a:lnSpc>
                          <a:spcPct val="115000"/>
                        </a:lnSpc>
                      </a:pPr>
                      <a:r>
                        <a:rPr sz="1250" b="0">
                          <a:solidFill>
                            <a:srgbClr val="16181A"/>
                          </a:solidFill>
                          <a:latin typeface="Arial"/>
                        </a:rPr>
                        <a:t>Everything else</a:t>
                      </a:r>
                    </a:p>
                  </a:txBody>
                  <a:tcPr marL="73152" marR="73152" marT="36576" marB="36576">
                    <a:solidFill>
                      <a:srgbClr val="FCFCFB"/>
                    </a:solidFill>
                  </a:tcPr>
                </a:tc>
                <a:tc>
                  <a:txBody>
                    <a:bodyPr/>
                    <a:lstStyle/>
                    <a:p>
                      <a:pPr>
                        <a:lnSpc>
                          <a:spcPct val="115000"/>
                        </a:lnSpc>
                      </a:pPr>
                      <a:r>
                        <a:rPr sz="1250" b="0">
                          <a:solidFill>
                            <a:srgbClr val="16181A"/>
                          </a:solidFill>
                          <a:latin typeface="Arial"/>
                        </a:rPr>
                        <a:t>Collapses to certainty</a:t>
                      </a:r>
                    </a:p>
                  </a:txBody>
                  <a:tcPr marL="73152" marR="73152" marT="36576" marB="36576">
                    <a:solidFill>
                      <a:srgbClr val="FCFCFB"/>
                    </a:solidFill>
                  </a:tcPr>
                </a:tc>
              </a:tr>
            </a:tbl>
          </a:graphicData>
        </a:graphic>
      </p:graphicFrame>
      <p:sp>
        <p:nvSpPr>
          <p:cNvPr id="8" name="TextBox 7"/>
          <p:cNvSpPr txBox="1"/>
          <p:nvPr/>
        </p:nvSpPr>
        <p:spPr>
          <a:xfrm>
            <a:off x="658368" y="4754880"/>
            <a:ext cx="10881360" cy="1188720"/>
          </a:xfrm>
          <a:prstGeom prst="rect">
            <a:avLst/>
          </a:prstGeom>
          <a:noFill/>
        </p:spPr>
        <p:txBody>
          <a:bodyPr wrap="square" lIns="0" rIns="0" tIns="0" bIns="0">
            <a:spAutoFit/>
          </a:bodyPr>
          <a:lstStyle/>
          <a:p>
            <a:pPr algn="l">
              <a:lnSpc>
                <a:spcPct val="132000"/>
              </a:lnSpc>
              <a:spcAft>
                <a:spcPts val="600"/>
              </a:spcAft>
            </a:pPr>
            <a:r>
              <a:rPr sz="1300" b="0">
                <a:solidFill>
                  <a:srgbClr val="6B7178"/>
                </a:solidFill>
                <a:latin typeface="Arial"/>
              </a:rPr>
              <a:t>Two transition priors are compared: a uniform prior that assumes nothing about habits, and one that learns an order-1 model from the antagonist's own track. A detail worth stating plainly — if EVERY door is wired, silence proves the player stayed, so full coverage is still perfect tracking. Partial observation only exists because coverage is incomplete.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TECHNICAL ACCURACY</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Evaluation protocol and controls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2688336"/>
        </p:xfrm>
        <a:graphic>
          <a:graphicData uri="http://schemas.openxmlformats.org/drawingml/2006/table">
            <a:tbl>
              <a:tblPr firstRow="1" bandRow="1">
                <a:tableStyleId>{5C22544A-7EE6-4342-B048-85BDC9FD1C3A}</a:tableStyleId>
              </a:tblPr>
              <a:tblGrid>
                <a:gridCol w="2651760"/>
                <a:gridCol w="5120640"/>
                <a:gridCol w="3108960"/>
              </a:tblGrid>
              <a:tr h="384048">
                <a:tc>
                  <a:txBody>
                    <a:bodyPr/>
                    <a:lstStyle/>
                    <a:p>
                      <a:pPr>
                        <a:lnSpc>
                          <a:spcPct val="115000"/>
                        </a:lnSpc>
                      </a:pPr>
                      <a:r>
                        <a:rPr sz="900" b="1">
                          <a:solidFill>
                            <a:srgbClr val="6B7178"/>
                          </a:solidFill>
                          <a:latin typeface="Arial"/>
                        </a:rPr>
                        <a:t>Guard</a:t>
                      </a:r>
                    </a:p>
                  </a:txBody>
                  <a:tcPr marL="73152" marR="73152" marT="36576" marB="36576">
                    <a:solidFill>
                      <a:srgbClr val="F4F6F8"/>
                    </a:solidFill>
                  </a:tcPr>
                </a:tc>
                <a:tc>
                  <a:txBody>
                    <a:bodyPr/>
                    <a:lstStyle/>
                    <a:p>
                      <a:pPr>
                        <a:lnSpc>
                          <a:spcPct val="115000"/>
                        </a:lnSpc>
                      </a:pPr>
                      <a:r>
                        <a:rPr sz="900" b="1">
                          <a:solidFill>
                            <a:srgbClr val="6B7178"/>
                          </a:solidFill>
                          <a:latin typeface="Arial"/>
                        </a:rPr>
                        <a:t>What it prevents</a:t>
                      </a:r>
                    </a:p>
                  </a:txBody>
                  <a:tcPr marL="73152" marR="73152" marT="36576" marB="36576">
                    <a:solidFill>
                      <a:srgbClr val="F4F6F8"/>
                    </a:solidFill>
                  </a:tcPr>
                </a:tc>
                <a:tc>
                  <a:txBody>
                    <a:bodyPr/>
                    <a:lstStyle/>
                    <a:p>
                      <a:pPr>
                        <a:lnSpc>
                          <a:spcPct val="115000"/>
                        </a:lnSpc>
                      </a:pPr>
                      <a:r>
                        <a:rPr sz="900" b="1">
                          <a:solidFill>
                            <a:srgbClr val="6B7178"/>
                          </a:solidFill>
                          <a:latin typeface="Arial"/>
                        </a:rPr>
                        <a:t>Result</a:t>
                      </a:r>
                    </a:p>
                  </a:txBody>
                  <a:tcPr marL="73152" marR="73152" marT="36576" marB="36576">
                    <a:solidFill>
                      <a:srgbClr val="F4F6F8"/>
                    </a:solidFill>
                  </a:tcPr>
                </a:tc>
              </a:tr>
              <a:tr h="384048">
                <a:tc>
                  <a:txBody>
                    <a:bodyPr/>
                    <a:lstStyle/>
                    <a:p>
                      <a:pPr>
                        <a:lnSpc>
                          <a:spcPct val="115000"/>
                        </a:lnSpc>
                      </a:pPr>
                      <a:r>
                        <a:rPr sz="1150" b="0">
                          <a:solidFill>
                            <a:srgbClr val="16181A"/>
                          </a:solidFill>
                          <a:latin typeface="Arial"/>
                        </a:rPr>
                        <a:t>Prequential evaluation</a:t>
                      </a:r>
                    </a:p>
                  </a:txBody>
                  <a:tcPr marL="73152" marR="73152" marT="36576" marB="36576">
                    <a:solidFill>
                      <a:srgbClr val="FCFCFB"/>
                    </a:solidFill>
                  </a:tcPr>
                </a:tc>
                <a:tc>
                  <a:txBody>
                    <a:bodyPr/>
                    <a:lstStyle/>
                    <a:p>
                      <a:pPr>
                        <a:lnSpc>
                          <a:spcPct val="115000"/>
                        </a:lnSpc>
                      </a:pPr>
                      <a:r>
                        <a:rPr sz="1150" b="0">
                          <a:solidFill>
                            <a:srgbClr val="16181A"/>
                          </a:solidFill>
                          <a:latin typeface="Arial"/>
                        </a:rPr>
                        <a:t>Train/test leakage — every prediction precedes its outcome</a:t>
                      </a:r>
                    </a:p>
                  </a:txBody>
                  <a:tcPr marL="73152" marR="73152" marT="36576" marB="36576">
                    <a:solidFill>
                      <a:srgbClr val="FCFCFB"/>
                    </a:solidFill>
                  </a:tcPr>
                </a:tc>
                <a:tc>
                  <a:txBody>
                    <a:bodyPr/>
                    <a:lstStyle/>
                    <a:p>
                      <a:pPr>
                        <a:lnSpc>
                          <a:spcPct val="115000"/>
                        </a:lnSpc>
                      </a:pPr>
                      <a:r>
                        <a:rPr sz="1150" b="0">
                          <a:solidFill>
                            <a:srgbClr val="16181A"/>
                          </a:solidFill>
                          <a:latin typeface="Arial"/>
                        </a:rPr>
                        <a:t>By construction</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Random-player control</a:t>
                      </a:r>
                    </a:p>
                  </a:txBody>
                  <a:tcPr marL="73152" marR="73152" marT="36576" marB="36576">
                    <a:solidFill>
                      <a:srgbClr val="FCFCFB"/>
                    </a:solidFill>
                  </a:tcPr>
                </a:tc>
                <a:tc>
                  <a:txBody>
                    <a:bodyPr/>
                    <a:lstStyle/>
                    <a:p>
                      <a:pPr>
                        <a:lnSpc>
                          <a:spcPct val="115000"/>
                        </a:lnSpc>
                      </a:pPr>
                      <a:r>
                        <a:rPr sz="1150" b="0">
                          <a:solidFill>
                            <a:srgbClr val="16181A"/>
                          </a:solidFill>
                          <a:latin typeface="Arial"/>
                        </a:rPr>
                        <a:t>A model that appears to predict noise</a:t>
                      </a:r>
                    </a:p>
                  </a:txBody>
                  <a:tcPr marL="73152" marR="73152" marT="36576" marB="36576">
                    <a:solidFill>
                      <a:srgbClr val="FCFCFB"/>
                    </a:solidFill>
                  </a:tcPr>
                </a:tc>
                <a:tc>
                  <a:txBody>
                    <a:bodyPr/>
                    <a:lstStyle/>
                    <a:p>
                      <a:pPr>
                        <a:lnSpc>
                          <a:spcPct val="115000"/>
                        </a:lnSpc>
                      </a:pPr>
                      <a:r>
                        <a:rPr sz="1150" b="0">
                          <a:solidFill>
                            <a:srgbClr val="16181A"/>
                          </a:solidFill>
                          <a:latin typeface="Arial"/>
                        </a:rPr>
                        <a:t>26.7% vs 26.9% baseline</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Non-learning baselines</a:t>
                      </a:r>
                    </a:p>
                  </a:txBody>
                  <a:tcPr marL="73152" marR="73152" marT="36576" marB="36576">
                    <a:solidFill>
                      <a:srgbClr val="FCFCFB"/>
                    </a:solidFill>
                  </a:tcPr>
                </a:tc>
                <a:tc>
                  <a:txBody>
                    <a:bodyPr/>
                    <a:lstStyle/>
                    <a:p>
                      <a:pPr>
                        <a:lnSpc>
                          <a:spcPct val="115000"/>
                        </a:lnSpc>
                      </a:pPr>
                      <a:r>
                        <a:rPr sz="1150" b="0">
                          <a:solidFill>
                            <a:srgbClr val="16181A"/>
                          </a:solidFill>
                          <a:latin typeface="Arial"/>
                        </a:rPr>
                        <a:t>Complexity that has not earned itself</a:t>
                      </a:r>
                    </a:p>
                  </a:txBody>
                  <a:tcPr marL="73152" marR="73152" marT="36576" marB="36576">
                    <a:solidFill>
                      <a:srgbClr val="FCFCFB"/>
                    </a:solidFill>
                  </a:tcPr>
                </a:tc>
                <a:tc>
                  <a:txBody>
                    <a:bodyPr/>
                    <a:lstStyle/>
                    <a:p>
                      <a:pPr>
                        <a:lnSpc>
                          <a:spcPct val="115000"/>
                        </a:lnSpc>
                      </a:pPr>
                      <a:r>
                        <a:rPr sz="1150" b="0">
                          <a:solidFill>
                            <a:srgbClr val="16181A"/>
                          </a:solidFill>
                          <a:latin typeface="Arial"/>
                        </a:rPr>
                        <a:t>Hub-camping, order-1 Markov</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Per-objective metric</a:t>
                      </a:r>
                    </a:p>
                  </a:txBody>
                  <a:tcPr marL="73152" marR="73152" marT="36576" marB="36576">
                    <a:solidFill>
                      <a:srgbClr val="FCFCFB"/>
                    </a:solidFill>
                  </a:tcPr>
                </a:tc>
                <a:tc>
                  <a:txBody>
                    <a:bodyPr/>
                    <a:lstStyle/>
                    <a:p>
                      <a:pPr>
                        <a:lnSpc>
                          <a:spcPct val="115000"/>
                        </a:lnSpc>
                      </a:pPr>
                      <a:r>
                        <a:rPr sz="1150" b="0">
                          <a:solidFill>
                            <a:srgbClr val="16181A"/>
                          </a:solidFill>
                          <a:latin typeface="Arial"/>
                        </a:rPr>
                        <a:t>Strategies that look safe by achieving less</a:t>
                      </a:r>
                    </a:p>
                  </a:txBody>
                  <a:tcPr marL="73152" marR="73152" marT="36576" marB="36576">
                    <a:solidFill>
                      <a:srgbClr val="FCFCFB"/>
                    </a:solidFill>
                  </a:tcPr>
                </a:tc>
                <a:tc>
                  <a:txBody>
                    <a:bodyPr/>
                    <a:lstStyle/>
                    <a:p>
                      <a:pPr>
                        <a:lnSpc>
                          <a:spcPct val="115000"/>
                        </a:lnSpc>
                      </a:pPr>
                      <a:r>
                        <a:rPr sz="1150" b="0">
                          <a:solidFill>
                            <a:srgbClr val="16181A"/>
                          </a:solidFill>
                          <a:latin typeface="Arial"/>
                        </a:rPr>
                        <a:t>Captures per completed lap</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Matched player cost</a:t>
                      </a:r>
                    </a:p>
                  </a:txBody>
                  <a:tcPr marL="73152" marR="73152" marT="36576" marB="36576">
                    <a:solidFill>
                      <a:srgbClr val="FCFCFB"/>
                    </a:solidFill>
                  </a:tcPr>
                </a:tc>
                <a:tc>
                  <a:txBody>
                    <a:bodyPr/>
                    <a:lstStyle/>
                    <a:p>
                      <a:pPr>
                        <a:lnSpc>
                          <a:spcPct val="115000"/>
                        </a:lnSpc>
                      </a:pPr>
                      <a:r>
                        <a:rPr sz="1150" b="0">
                          <a:solidFill>
                            <a:srgbClr val="16181A"/>
                          </a:solidFill>
                          <a:latin typeface="Arial"/>
                        </a:rPr>
                        <a:t>Comparing players who pay different prices</a:t>
                      </a:r>
                    </a:p>
                  </a:txBody>
                  <a:tcPr marL="73152" marR="73152" marT="36576" marB="36576">
                    <a:solidFill>
                      <a:srgbClr val="FCFCFB"/>
                    </a:solidFill>
                  </a:tcPr>
                </a:tc>
                <a:tc>
                  <a:txBody>
                    <a:bodyPr/>
                    <a:lstStyle/>
                    <a:p>
                      <a:pPr>
                        <a:lnSpc>
                          <a:spcPct val="115000"/>
                        </a:lnSpc>
                      </a:pPr>
                      <a:r>
                        <a:rPr sz="1150" b="0">
                          <a:solidFill>
                            <a:srgbClr val="16181A"/>
                          </a:solidFill>
                          <a:latin typeface="Arial"/>
                        </a:rPr>
                        <a:t>All strategies write pages</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9 invariant tests</a:t>
                      </a:r>
                    </a:p>
                  </a:txBody>
                  <a:tcPr marL="73152" marR="73152" marT="36576" marB="36576">
                    <a:solidFill>
                      <a:srgbClr val="FCFCFB"/>
                    </a:solidFill>
                  </a:tcPr>
                </a:tc>
                <a:tc>
                  <a:txBody>
                    <a:bodyPr/>
                    <a:lstStyle/>
                    <a:p>
                      <a:pPr>
                        <a:lnSpc>
                          <a:spcPct val="115000"/>
                        </a:lnSpc>
                      </a:pPr>
                      <a:r>
                        <a:rPr sz="1150" b="0">
                          <a:solidFill>
                            <a:srgbClr val="16181A"/>
                          </a:solidFill>
                          <a:latin typeface="Arial"/>
                        </a:rPr>
                        <a:t>Soft-locks, leakage, unfair mutation</a:t>
                      </a:r>
                    </a:p>
                  </a:txBody>
                  <a:tcPr marL="73152" marR="73152" marT="36576" marB="36576">
                    <a:solidFill>
                      <a:srgbClr val="FCFCFB"/>
                    </a:solidFill>
                  </a:tcPr>
                </a:tc>
                <a:tc>
                  <a:txBody>
                    <a:bodyPr/>
                    <a:lstStyle/>
                    <a:p>
                      <a:pPr>
                        <a:lnSpc>
                          <a:spcPct val="115000"/>
                        </a:lnSpc>
                      </a:pPr>
                      <a:r>
                        <a:rPr sz="1150" b="0">
                          <a:solidFill>
                            <a:srgbClr val="16181A"/>
                          </a:solidFill>
                          <a:latin typeface="Arial"/>
                        </a:rPr>
                        <a:t>9/9 passing</a:t>
                      </a:r>
                    </a:p>
                  </a:txBody>
                  <a:tcPr marL="73152" marR="73152" marT="36576" marB="36576">
                    <a:solidFill>
                      <a:srgbClr val="FCFCFB"/>
                    </a:solidFill>
                  </a:tcPr>
                </a:tc>
              </a:tr>
            </a:tbl>
          </a:graphicData>
        </a:graphic>
      </p:graphicFrame>
      <p:sp>
        <p:nvSpPr>
          <p:cNvPr id="6" name="TextBox 5"/>
          <p:cNvSpPr txBox="1"/>
          <p:nvPr/>
        </p:nvSpPr>
        <p:spPr>
          <a:xfrm>
            <a:off x="658368" y="5029200"/>
            <a:ext cx="10881360" cy="914400"/>
          </a:xfrm>
          <a:prstGeom prst="rect">
            <a:avLst/>
          </a:prstGeom>
          <a:noFill/>
        </p:spPr>
        <p:txBody>
          <a:bodyPr wrap="square" lIns="0" rIns="0" tIns="0" bIns="0">
            <a:spAutoFit/>
          </a:bodyPr>
          <a:lstStyle/>
          <a:p>
            <a:pPr algn="l">
              <a:lnSpc>
                <a:spcPct val="130000"/>
              </a:lnSpc>
              <a:spcAft>
                <a:spcPts val="600"/>
              </a:spcAft>
            </a:pPr>
            <a:r>
              <a:rPr sz="1300" b="0">
                <a:solidFill>
                  <a:srgbClr val="6B7178"/>
                </a:solidFill>
                <a:latin typeface="Arial"/>
              </a:rPr>
              <a:t>The control is the load-bearing one. Against a random player the model must NOT beat baseline — and it does not. Two of this cycle's findings came from noticing that a strategy looked good only because it was measured per window rather than per objective.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RESULTS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Next-move prediction</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ccuracy.png"/>
          <p:cNvPicPr>
            <a:picLocks noChangeAspect="1"/>
          </p:cNvPicPr>
          <p:nvPr/>
        </p:nvPicPr>
        <p:blipFill>
          <a:blip r:embed="rId2"/>
          <a:stretch>
            <a:fillRect/>
          </a:stretch>
        </p:blipFill>
        <p:spPr>
          <a:xfrm>
            <a:off x="2075688" y="1691640"/>
            <a:ext cx="8046720" cy="4121491"/>
          </a:xfrm>
          <a:prstGeom prst="rect">
            <a:avLst/>
          </a:prstGeom>
        </p:spPr>
      </p:pic>
      <p:sp>
        <p:nvSpPr>
          <p:cNvPr id="6" name="TextBox 5"/>
          <p:cNvSpPr txBox="1"/>
          <p:nvPr/>
        </p:nvSpPr>
        <p:spPr>
          <a:xfrm>
            <a:off x="658368" y="6035040"/>
            <a:ext cx="10881360" cy="548640"/>
          </a:xfrm>
          <a:prstGeom prst="rect">
            <a:avLst/>
          </a:prstGeom>
          <a:noFill/>
        </p:spPr>
        <p:txBody>
          <a:bodyPr wrap="square" lIns="0" rIns="0" tIns="0" bIns="0">
            <a:spAutoFit/>
          </a:bodyPr>
          <a:lstStyle/>
          <a:p>
            <a:pPr algn="l">
              <a:lnSpc>
                <a:spcPct val="130000"/>
              </a:lnSpc>
              <a:spcAft>
                <a:spcPts val="600"/>
              </a:spcAft>
            </a:pPr>
            <a:r>
              <a:rPr sz="1300" b="0">
                <a:solidFill>
                  <a:srgbClr val="6B7178"/>
                </a:solidFill>
                <a:latin typeface="Arial"/>
              </a:rPr>
              <a:t>Read the control first: on a random player VOMM scores 26.7% against a 26.9% baseline — identical. The gains on structured players are learned habit, not leakage.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RESULTS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It learned where you stop to write</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dwell.png"/>
          <p:cNvPicPr>
            <a:picLocks noChangeAspect="1"/>
          </p:cNvPicPr>
          <p:nvPr/>
        </p:nvPicPr>
        <p:blipFill>
          <a:blip r:embed="rId2"/>
          <a:stretch>
            <a:fillRect/>
          </a:stretch>
        </p:blipFill>
        <p:spPr>
          <a:xfrm>
            <a:off x="2286000" y="1664208"/>
            <a:ext cx="7680960" cy="3746810"/>
          </a:xfrm>
          <a:prstGeom prst="rect">
            <a:avLst/>
          </a:prstGeom>
        </p:spPr>
      </p:pic>
      <p:sp>
        <p:nvSpPr>
          <p:cNvPr id="6" name="TextBox 5"/>
          <p:cNvSpPr txBox="1"/>
          <p:nvPr/>
        </p:nvSpPr>
        <p:spPr>
          <a:xfrm>
            <a:off x="658368" y="5806440"/>
            <a:ext cx="10881360" cy="822960"/>
          </a:xfrm>
          <a:prstGeom prst="rect">
            <a:avLst/>
          </a:prstGeom>
          <a:noFill/>
        </p:spPr>
        <p:txBody>
          <a:bodyPr wrap="square" lIns="0" rIns="0" tIns="0" bIns="0">
            <a:spAutoFit/>
          </a:bodyPr>
          <a:lstStyle/>
          <a:p>
            <a:pPr algn="l">
              <a:lnSpc>
                <a:spcPct val="130000"/>
              </a:lnSpc>
              <a:spcAft>
                <a:spcPts val="600"/>
              </a:spcAft>
            </a:pPr>
            <a:r>
              <a:rPr sz="1250" b="0">
                <a:solidFill>
                  <a:srgbClr val="6B7178"/>
                </a:solidFill>
                <a:latin typeface="Arial"/>
              </a:rPr>
              <a:t>Dwell is behaviour, not a parameter. Predicting 'will they decline this window?' scores 70% against a 54% majority-class baseline — 100% in rooms with nothing to record, 67% where a codebook is. The uncertainty sits exactly where the real variation 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RESULTS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The advantage grows with the facility</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scaling.png"/>
          <p:cNvPicPr>
            <a:picLocks noChangeAspect="1"/>
          </p:cNvPicPr>
          <p:nvPr/>
        </p:nvPicPr>
        <p:blipFill>
          <a:blip r:embed="rId2"/>
          <a:stretch>
            <a:fillRect/>
          </a:stretch>
        </p:blipFill>
        <p:spPr>
          <a:xfrm>
            <a:off x="2286000" y="1691640"/>
            <a:ext cx="7680960" cy="4027820"/>
          </a:xfrm>
          <a:prstGeom prst="rect">
            <a:avLst/>
          </a:prstGeom>
        </p:spPr>
      </p:pic>
      <p:sp>
        <p:nvSpPr>
          <p:cNvPr id="6" name="TextBox 5"/>
          <p:cNvSpPr txBox="1"/>
          <p:nvPr/>
        </p:nvSpPr>
        <p:spPr>
          <a:xfrm>
            <a:off x="658368" y="5623560"/>
            <a:ext cx="10881360" cy="914400"/>
          </a:xfrm>
          <a:prstGeom prst="rect">
            <a:avLst/>
          </a:prstGeom>
          <a:noFill/>
        </p:spPr>
        <p:txBody>
          <a:bodyPr wrap="square" lIns="0" rIns="0" tIns="0" bIns="0">
            <a:spAutoFit/>
          </a:bodyPr>
          <a:lstStyle/>
          <a:p>
            <a:pPr algn="l">
              <a:lnSpc>
                <a:spcPct val="130000"/>
              </a:lnSpc>
              <a:spcAft>
                <a:spcPts val="600"/>
              </a:spcAft>
            </a:pPr>
            <a:r>
              <a:rPr sz="1250" b="0">
                <a:solidFill>
                  <a:srgbClr val="6B7178"/>
                </a:solidFill>
                <a:latin typeface="Arial"/>
              </a:rPr>
              <a:t>On 10 rooms with one dominant junction, 'camp the busiest room' is competitive for reasons unrelated to intelligence. As the facility grows it decays fastest and the interceptor's advantage widens from 1.15× to 1.57×.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RESULTS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World editing imposes a real cost</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disruption.png"/>
          <p:cNvPicPr>
            <a:picLocks noChangeAspect="1"/>
          </p:cNvPicPr>
          <p:nvPr/>
        </p:nvPicPr>
        <p:blipFill>
          <a:blip r:embed="rId2"/>
          <a:stretch>
            <a:fillRect/>
          </a:stretch>
        </p:blipFill>
        <p:spPr>
          <a:xfrm>
            <a:off x="2286000" y="1737360"/>
            <a:ext cx="7680960" cy="3653140"/>
          </a:xfrm>
          <a:prstGeom prst="rect">
            <a:avLst/>
          </a:prstGeom>
        </p:spPr>
      </p:pic>
      <p:sp>
        <p:nvSpPr>
          <p:cNvPr id="6" name="TextBox 5"/>
          <p:cNvSpPr txBox="1"/>
          <p:nvPr/>
        </p:nvSpPr>
        <p:spPr>
          <a:xfrm>
            <a:off x="658368" y="5623560"/>
            <a:ext cx="10881360" cy="914400"/>
          </a:xfrm>
          <a:prstGeom prst="rect">
            <a:avLst/>
          </a:prstGeom>
          <a:noFill/>
        </p:spPr>
        <p:txBody>
          <a:bodyPr wrap="square" lIns="0" rIns="0" tIns="0" bIns="0">
            <a:spAutoFit/>
          </a:bodyPr>
          <a:lstStyle/>
          <a:p>
            <a:pPr algn="l">
              <a:lnSpc>
                <a:spcPct val="130000"/>
              </a:lnSpc>
              <a:spcAft>
                <a:spcPts val="600"/>
              </a:spcAft>
            </a:pPr>
            <a:r>
              <a:rPr sz="1250" b="0">
                <a:solidFill>
                  <a:srgbClr val="6B7178"/>
                </a:solidFill>
                <a:latin typeface="Arial"/>
              </a:rPr>
              <a:t>The entity is removed here, isolating topology mutation from hunting. Sealing and rewiring ahead of the player raises the cost of an objective by 54% (20.9 to 32.3 moves per lap). Every mutation passed a reachability check, so no run was ever soft-locked.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RESULTS — NEW</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What the sensors actually buy the antagonist</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localisation.png"/>
          <p:cNvPicPr>
            <a:picLocks noChangeAspect="1"/>
          </p:cNvPicPr>
          <p:nvPr/>
        </p:nvPicPr>
        <p:blipFill>
          <a:blip r:embed="rId2"/>
          <a:stretch>
            <a:fillRect/>
          </a:stretch>
        </p:blipFill>
        <p:spPr>
          <a:xfrm>
            <a:off x="2286000" y="1691640"/>
            <a:ext cx="7680960" cy="3840480"/>
          </a:xfrm>
          <a:prstGeom prst="rect">
            <a:avLst/>
          </a:prstGeom>
        </p:spPr>
      </p:pic>
      <p:sp>
        <p:nvSpPr>
          <p:cNvPr id="6" name="TextBox 5"/>
          <p:cNvSpPr txBox="1"/>
          <p:nvPr/>
        </p:nvSpPr>
        <p:spPr>
          <a:xfrm>
            <a:off x="658368" y="5623560"/>
            <a:ext cx="10881360" cy="914400"/>
          </a:xfrm>
          <a:prstGeom prst="rect">
            <a:avLst/>
          </a:prstGeom>
          <a:noFill/>
        </p:spPr>
        <p:txBody>
          <a:bodyPr wrap="square" lIns="0" rIns="0" tIns="0" bIns="0">
            <a:spAutoFit/>
          </a:bodyPr>
          <a:lstStyle/>
          <a:p>
            <a:pPr algn="l">
              <a:lnSpc>
                <a:spcPct val="130000"/>
              </a:lnSpc>
              <a:spcAft>
                <a:spcPts val="600"/>
              </a:spcAft>
            </a:pPr>
            <a:r>
              <a:rPr sz="1250" b="0">
                <a:solidFill>
                  <a:srgbClr val="6B7178"/>
                </a:solidFill>
                <a:latin typeface="Arial"/>
              </a:rPr>
              <a:t>A fully wired facility leaks everything: with a sensor on every door, silence proves the player stayed, so tracking is essentially perfect. Localisation falls roughly linearly as coverage drops. The learned transition prior helps only where there is still evidence to sharpen.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RESULTS — NEW</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What the player can actually do about it</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counterplay.png"/>
          <p:cNvPicPr>
            <a:picLocks noChangeAspect="1"/>
          </p:cNvPicPr>
          <p:nvPr/>
        </p:nvPicPr>
        <p:blipFill>
          <a:blip r:embed="rId2"/>
          <a:stretch>
            <a:fillRect/>
          </a:stretch>
        </p:blipFill>
        <p:spPr>
          <a:xfrm>
            <a:off x="2194560" y="1664208"/>
            <a:ext cx="7863840" cy="4025537"/>
          </a:xfrm>
          <a:prstGeom prst="rect">
            <a:avLst/>
          </a:prstGeom>
        </p:spPr>
      </p:pic>
      <p:sp>
        <p:nvSpPr>
          <p:cNvPr id="6" name="TextBox 5"/>
          <p:cNvSpPr txBox="1"/>
          <p:nvPr/>
        </p:nvSpPr>
        <p:spPr>
          <a:xfrm>
            <a:off x="658368" y="5760720"/>
            <a:ext cx="10881360" cy="914400"/>
          </a:xfrm>
          <a:prstGeom prst="rect">
            <a:avLst/>
          </a:prstGeom>
          <a:noFill/>
        </p:spPr>
        <p:txBody>
          <a:bodyPr wrap="square" lIns="0" rIns="0" tIns="0" bIns="0">
            <a:spAutoFit/>
          </a:bodyPr>
          <a:lstStyle/>
          <a:p>
            <a:pPr algn="l">
              <a:lnSpc>
                <a:spcPct val="130000"/>
              </a:lnSpc>
              <a:spcAft>
                <a:spcPts val="600"/>
              </a:spcAft>
            </a:pPr>
            <a:r>
              <a:rPr sz="1250" b="0">
                <a:solidFill>
                  <a:srgbClr val="6B7178"/>
                </a:solidFill>
                <a:latin typeface="Arial"/>
              </a:rPr>
              <a:t>Measured per objective completed, not per window. Waiting at random is WORSE than not waiting at every coverage level. Routing around sensors helps a little. Spending three dangerous tasks to silence sensors on the route you already use cuts capture risk by 39% at 60% coverage.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RESULTS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All twelve experiments at a glance</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4480560"/>
        </p:xfrm>
        <a:graphic>
          <a:graphicData uri="http://schemas.openxmlformats.org/drawingml/2006/table">
            <a:tbl>
              <a:tblPr firstRow="1" bandRow="1">
                <a:tableStyleId>{5C22544A-7EE6-4342-B048-85BDC9FD1C3A}</a:tableStyleId>
              </a:tblPr>
              <a:tblGrid>
                <a:gridCol w="548640"/>
                <a:gridCol w="3840480"/>
                <a:gridCol w="4114800"/>
                <a:gridCol w="2377440"/>
              </a:tblGrid>
              <a:tr h="344658">
                <a:tc>
                  <a:txBody>
                    <a:bodyPr/>
                    <a:lstStyle/>
                    <a:p>
                      <a:pPr>
                        <a:lnSpc>
                          <a:spcPct val="115000"/>
                        </a:lnSpc>
                      </a:pPr>
                      <a:r>
                        <a:rPr sz="850" b="1">
                          <a:solidFill>
                            <a:srgbClr val="6B7178"/>
                          </a:solidFill>
                          <a:latin typeface="Arial"/>
                        </a:rPr>
                        <a:t>#</a:t>
                      </a:r>
                    </a:p>
                  </a:txBody>
                  <a:tcPr marL="73152" marR="73152" marT="36576" marB="36576">
                    <a:solidFill>
                      <a:srgbClr val="F4F6F8"/>
                    </a:solidFill>
                  </a:tcPr>
                </a:tc>
                <a:tc>
                  <a:txBody>
                    <a:bodyPr/>
                    <a:lstStyle/>
                    <a:p>
                      <a:pPr>
                        <a:lnSpc>
                          <a:spcPct val="115000"/>
                        </a:lnSpc>
                      </a:pPr>
                      <a:r>
                        <a:rPr sz="850" b="1">
                          <a:solidFill>
                            <a:srgbClr val="6B7178"/>
                          </a:solidFill>
                          <a:latin typeface="Arial"/>
                        </a:rPr>
                        <a:t>Question</a:t>
                      </a:r>
                    </a:p>
                  </a:txBody>
                  <a:tcPr marL="73152" marR="73152" marT="36576" marB="36576">
                    <a:solidFill>
                      <a:srgbClr val="F4F6F8"/>
                    </a:solidFill>
                  </a:tcPr>
                </a:tc>
                <a:tc>
                  <a:txBody>
                    <a:bodyPr/>
                    <a:lstStyle/>
                    <a:p>
                      <a:pPr>
                        <a:lnSpc>
                          <a:spcPct val="115000"/>
                        </a:lnSpc>
                      </a:pPr>
                      <a:r>
                        <a:rPr sz="850" b="1">
                          <a:solidFill>
                            <a:srgbClr val="6B7178"/>
                          </a:solidFill>
                          <a:latin typeface="Arial"/>
                        </a:rPr>
                        <a:t>Headline</a:t>
                      </a:r>
                    </a:p>
                  </a:txBody>
                  <a:tcPr marL="73152" marR="73152" marT="36576" marB="36576">
                    <a:solidFill>
                      <a:srgbClr val="F4F6F8"/>
                    </a:solidFill>
                  </a:tcPr>
                </a:tc>
                <a:tc>
                  <a:txBody>
                    <a:bodyPr/>
                    <a:lstStyle/>
                    <a:p>
                      <a:pPr>
                        <a:lnSpc>
                          <a:spcPct val="115000"/>
                        </a:lnSpc>
                      </a:pPr>
                      <a:r>
                        <a:rPr sz="850" b="1">
                          <a:solidFill>
                            <a:srgbClr val="6B7178"/>
                          </a:solidFill>
                          <a:latin typeface="Arial"/>
                        </a:rPr>
                        <a:t>Reading</a:t>
                      </a:r>
                    </a:p>
                  </a:txBody>
                  <a:tcPr marL="73152" marR="73152" marT="36576" marB="36576">
                    <a:solidFill>
                      <a:srgbClr val="F4F6F8"/>
                    </a:solidFill>
                  </a:tcPr>
                </a:tc>
              </a:tr>
              <a:tr h="344658">
                <a:tc>
                  <a:txBody>
                    <a:bodyPr/>
                    <a:lstStyle/>
                    <a:p>
                      <a:pPr>
                        <a:lnSpc>
                          <a:spcPct val="115000"/>
                        </a:lnSpc>
                      </a:pPr>
                      <a:r>
                        <a:rPr sz="1050" b="0">
                          <a:solidFill>
                            <a:srgbClr val="16181A"/>
                          </a:solidFill>
                          <a:latin typeface="Arial"/>
                        </a:rPr>
                        <a:t>E1</a:t>
                      </a:r>
                    </a:p>
                  </a:txBody>
                  <a:tcPr marL="73152" marR="73152" marT="36576" marB="36576">
                    <a:solidFill>
                      <a:srgbClr val="FCFCFB"/>
                    </a:solidFill>
                  </a:tcPr>
                </a:tc>
                <a:tc>
                  <a:txBody>
                    <a:bodyPr/>
                    <a:lstStyle/>
                    <a:p>
                      <a:pPr>
                        <a:lnSpc>
                          <a:spcPct val="115000"/>
                        </a:lnSpc>
                      </a:pPr>
                      <a:r>
                        <a:rPr sz="1050" b="0">
                          <a:solidFill>
                            <a:srgbClr val="16181A"/>
                          </a:solidFill>
                          <a:latin typeface="Arial"/>
                        </a:rPr>
                        <a:t>Can it predict the next move?</a:t>
                      </a:r>
                    </a:p>
                  </a:txBody>
                  <a:tcPr marL="73152" marR="73152" marT="36576" marB="36576">
                    <a:solidFill>
                      <a:srgbClr val="FCFCFB"/>
                    </a:solidFill>
                  </a:tcPr>
                </a:tc>
                <a:tc>
                  <a:txBody>
                    <a:bodyPr/>
                    <a:lstStyle/>
                    <a:p>
                      <a:pPr>
                        <a:lnSpc>
                          <a:spcPct val="115000"/>
                        </a:lnSpc>
                      </a:pPr>
                      <a:r>
                        <a:rPr sz="1050" b="0">
                          <a:solidFill>
                            <a:srgbClr val="16181A"/>
                          </a:solidFill>
                          <a:latin typeface="Arial"/>
                        </a:rPr>
                        <a:t>60.5% vs 46.5% vs 30.5%</a:t>
                      </a:r>
                    </a:p>
                  </a:txBody>
                  <a:tcPr marL="73152" marR="73152" marT="36576" marB="36576">
                    <a:solidFill>
                      <a:srgbClr val="FCFCFB"/>
                    </a:solidFill>
                  </a:tcPr>
                </a:tc>
                <a:tc>
                  <a:txBody>
                    <a:bodyPr/>
                    <a:lstStyle/>
                    <a:p>
                      <a:pPr>
                        <a:lnSpc>
                          <a:spcPct val="115000"/>
                        </a:lnSpc>
                      </a:pPr>
                      <a:r>
                        <a:rPr sz="1050" b="0">
                          <a:solidFill>
                            <a:srgbClr val="16181A"/>
                          </a:solidFill>
                          <a:latin typeface="Arial"/>
                        </a:rPr>
                        <a:t>Learns routes</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E1c</a:t>
                      </a:r>
                    </a:p>
                  </a:txBody>
                  <a:tcPr marL="73152" marR="73152" marT="36576" marB="36576">
                    <a:solidFill>
                      <a:srgbClr val="FCFCFB"/>
                    </a:solidFill>
                  </a:tcPr>
                </a:tc>
                <a:tc>
                  <a:txBody>
                    <a:bodyPr/>
                    <a:lstStyle/>
                    <a:p>
                      <a:pPr>
                        <a:lnSpc>
                          <a:spcPct val="115000"/>
                        </a:lnSpc>
                      </a:pPr>
                      <a:r>
                        <a:rPr sz="1050" b="0">
                          <a:solidFill>
                            <a:srgbClr val="16181A"/>
                          </a:solidFill>
                          <a:latin typeface="Arial"/>
                        </a:rPr>
                        <a:t>Does it learn from a random player?</a:t>
                      </a:r>
                    </a:p>
                  </a:txBody>
                  <a:tcPr marL="73152" marR="73152" marT="36576" marB="36576">
                    <a:solidFill>
                      <a:srgbClr val="FCFCFB"/>
                    </a:solidFill>
                  </a:tcPr>
                </a:tc>
                <a:tc>
                  <a:txBody>
                    <a:bodyPr/>
                    <a:lstStyle/>
                    <a:p>
                      <a:pPr>
                        <a:lnSpc>
                          <a:spcPct val="115000"/>
                        </a:lnSpc>
                      </a:pPr>
                      <a:r>
                        <a:rPr sz="1050" b="0">
                          <a:solidFill>
                            <a:srgbClr val="16181A"/>
                          </a:solidFill>
                          <a:latin typeface="Arial"/>
                        </a:rPr>
                        <a:t>26.7% vs 26.9%</a:t>
                      </a:r>
                    </a:p>
                  </a:txBody>
                  <a:tcPr marL="73152" marR="73152" marT="36576" marB="36576">
                    <a:solidFill>
                      <a:srgbClr val="FCFCFB"/>
                    </a:solidFill>
                  </a:tcPr>
                </a:tc>
                <a:tc>
                  <a:txBody>
                    <a:bodyPr/>
                    <a:lstStyle/>
                    <a:p>
                      <a:pPr>
                        <a:lnSpc>
                          <a:spcPct val="115000"/>
                        </a:lnSpc>
                      </a:pPr>
                      <a:r>
                        <a:rPr sz="1050" b="0">
                          <a:solidFill>
                            <a:srgbClr val="16181A"/>
                          </a:solidFill>
                          <a:latin typeface="Arial"/>
                        </a:rPr>
                        <a:t>No leakage</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E2</a:t>
                      </a:r>
                    </a:p>
                  </a:txBody>
                  <a:tcPr marL="73152" marR="73152" marT="36576" marB="36576">
                    <a:solidFill>
                      <a:srgbClr val="FCFCFB"/>
                    </a:solidFill>
                  </a:tcPr>
                </a:tc>
                <a:tc>
                  <a:txBody>
                    <a:bodyPr/>
                    <a:lstStyle/>
                    <a:p>
                      <a:pPr>
                        <a:lnSpc>
                          <a:spcPct val="115000"/>
                        </a:lnSpc>
                      </a:pPr>
                      <a:r>
                        <a:rPr sz="1050" b="0">
                          <a:solidFill>
                            <a:srgbClr val="16181A"/>
                          </a:solidFill>
                          <a:latin typeface="Arial"/>
                        </a:rPr>
                        <a:t>How fast does it learn?</a:t>
                      </a:r>
                    </a:p>
                  </a:txBody>
                  <a:tcPr marL="73152" marR="73152" marT="36576" marB="36576">
                    <a:solidFill>
                      <a:srgbClr val="FCFCFB"/>
                    </a:solidFill>
                  </a:tcPr>
                </a:tc>
                <a:tc>
                  <a:txBody>
                    <a:bodyPr/>
                    <a:lstStyle/>
                    <a:p>
                      <a:pPr>
                        <a:lnSpc>
                          <a:spcPct val="115000"/>
                        </a:lnSpc>
                      </a:pPr>
                      <a:r>
                        <a:rPr sz="1050" b="0">
                          <a:solidFill>
                            <a:srgbClr val="16181A"/>
                          </a:solidFill>
                          <a:latin typeface="Arial"/>
                        </a:rPr>
                        <a:t>Useful inside ~60 moves</a:t>
                      </a:r>
                    </a:p>
                  </a:txBody>
                  <a:tcPr marL="73152" marR="73152" marT="36576" marB="36576">
                    <a:solidFill>
                      <a:srgbClr val="FCFCFB"/>
                    </a:solidFill>
                  </a:tcPr>
                </a:tc>
                <a:tc>
                  <a:txBody>
                    <a:bodyPr/>
                    <a:lstStyle/>
                    <a:p>
                      <a:pPr>
                        <a:lnSpc>
                          <a:spcPct val="115000"/>
                        </a:lnSpc>
                      </a:pPr>
                      <a:r>
                        <a:rPr sz="1050" b="0">
                          <a:solidFill>
                            <a:srgbClr val="16181A"/>
                          </a:solidFill>
                          <a:latin typeface="Arial"/>
                        </a:rPr>
                        <a:t>Cold start solved</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E4</a:t>
                      </a:r>
                    </a:p>
                  </a:txBody>
                  <a:tcPr marL="73152" marR="73152" marT="36576" marB="36576">
                    <a:solidFill>
                      <a:srgbClr val="FCFCFB"/>
                    </a:solidFill>
                  </a:tcPr>
                </a:tc>
                <a:tc>
                  <a:txBody>
                    <a:bodyPr/>
                    <a:lstStyle/>
                    <a:p>
                      <a:pPr>
                        <a:lnSpc>
                          <a:spcPct val="115000"/>
                        </a:lnSpc>
                      </a:pPr>
                      <a:r>
                        <a:rPr sz="1050" b="0">
                          <a:solidFill>
                            <a:srgbClr val="16181A"/>
                          </a:solidFill>
                          <a:latin typeface="Arial"/>
                        </a:rPr>
                        <a:t>Does prediction make it deadlier?</a:t>
                      </a:r>
                    </a:p>
                  </a:txBody>
                  <a:tcPr marL="73152" marR="73152" marT="36576" marB="36576">
                    <a:solidFill>
                      <a:srgbClr val="FCFCFB"/>
                    </a:solidFill>
                  </a:tcPr>
                </a:tc>
                <a:tc>
                  <a:txBody>
                    <a:bodyPr/>
                    <a:lstStyle/>
                    <a:p>
                      <a:pPr>
                        <a:lnSpc>
                          <a:spcPct val="115000"/>
                        </a:lnSpc>
                      </a:pPr>
                      <a:r>
                        <a:rPr sz="1050" b="0">
                          <a:solidFill>
                            <a:srgbClr val="16181A"/>
                          </a:solidFill>
                          <a:latin typeface="Arial"/>
                        </a:rPr>
                        <a:t>319 vs 111 per 1000</a:t>
                      </a:r>
                    </a:p>
                  </a:txBody>
                  <a:tcPr marL="73152" marR="73152" marT="36576" marB="36576">
                    <a:solidFill>
                      <a:srgbClr val="FCFCFB"/>
                    </a:solidFill>
                  </a:tcPr>
                </a:tc>
                <a:tc>
                  <a:txBody>
                    <a:bodyPr/>
                    <a:lstStyle/>
                    <a:p>
                      <a:pPr>
                        <a:lnSpc>
                          <a:spcPct val="115000"/>
                        </a:lnSpc>
                      </a:pPr>
                      <a:r>
                        <a:rPr sz="1050" b="0">
                          <a:solidFill>
                            <a:srgbClr val="16181A"/>
                          </a:solidFill>
                          <a:latin typeface="Arial"/>
                        </a:rPr>
                        <a:t>Yes, vs no model</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E7</a:t>
                      </a:r>
                    </a:p>
                  </a:txBody>
                  <a:tcPr marL="73152" marR="73152" marT="36576" marB="36576">
                    <a:solidFill>
                      <a:srgbClr val="FCFCFB"/>
                    </a:solidFill>
                  </a:tcPr>
                </a:tc>
                <a:tc>
                  <a:txBody>
                    <a:bodyPr/>
                    <a:lstStyle/>
                    <a:p>
                      <a:pPr>
                        <a:lnSpc>
                          <a:spcPct val="115000"/>
                        </a:lnSpc>
                      </a:pPr>
                      <a:r>
                        <a:rPr sz="1050" b="0">
                          <a:solidFill>
                            <a:srgbClr val="16181A"/>
                          </a:solidFill>
                          <a:latin typeface="Arial"/>
                        </a:rPr>
                        <a:t>Does that hold at scale?</a:t>
                      </a:r>
                    </a:p>
                  </a:txBody>
                  <a:tcPr marL="73152" marR="73152" marT="36576" marB="36576">
                    <a:solidFill>
                      <a:srgbClr val="FCFCFB"/>
                    </a:solidFill>
                  </a:tcPr>
                </a:tc>
                <a:tc>
                  <a:txBody>
                    <a:bodyPr/>
                    <a:lstStyle/>
                    <a:p>
                      <a:pPr>
                        <a:lnSpc>
                          <a:spcPct val="115000"/>
                        </a:lnSpc>
                      </a:pPr>
                      <a:r>
                        <a:rPr sz="1050" b="0">
                          <a:solidFill>
                            <a:srgbClr val="16181A"/>
                          </a:solidFill>
                          <a:latin typeface="Arial"/>
                        </a:rPr>
                        <a:t>1.15× → 1.57× over hub-camping</a:t>
                      </a:r>
                    </a:p>
                  </a:txBody>
                  <a:tcPr marL="73152" marR="73152" marT="36576" marB="36576">
                    <a:solidFill>
                      <a:srgbClr val="FCFCFB"/>
                    </a:solidFill>
                  </a:tcPr>
                </a:tc>
                <a:tc>
                  <a:txBody>
                    <a:bodyPr/>
                    <a:lstStyle/>
                    <a:p>
                      <a:pPr>
                        <a:lnSpc>
                          <a:spcPct val="115000"/>
                        </a:lnSpc>
                      </a:pPr>
                      <a:r>
                        <a:rPr sz="1050" b="0">
                          <a:solidFill>
                            <a:srgbClr val="16181A"/>
                          </a:solidFill>
                          <a:latin typeface="Arial"/>
                        </a:rPr>
                        <a:t>Grows with size</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E5</a:t>
                      </a:r>
                    </a:p>
                  </a:txBody>
                  <a:tcPr marL="73152" marR="73152" marT="36576" marB="36576">
                    <a:solidFill>
                      <a:srgbClr val="FCFCFB"/>
                    </a:solidFill>
                  </a:tcPr>
                </a:tc>
                <a:tc>
                  <a:txBody>
                    <a:bodyPr/>
                    <a:lstStyle/>
                    <a:p>
                      <a:pPr>
                        <a:lnSpc>
                          <a:spcPct val="115000"/>
                        </a:lnSpc>
                      </a:pPr>
                      <a:r>
                        <a:rPr sz="1050" b="0">
                          <a:solidFill>
                            <a:srgbClr val="16181A"/>
                          </a:solidFill>
                          <a:latin typeface="Arial"/>
                        </a:rPr>
                        <a:t>Do world edits cost the player?</a:t>
                      </a:r>
                    </a:p>
                  </a:txBody>
                  <a:tcPr marL="73152" marR="73152" marT="36576" marB="36576">
                    <a:solidFill>
                      <a:srgbClr val="FCFCFB"/>
                    </a:solidFill>
                  </a:tcPr>
                </a:tc>
                <a:tc>
                  <a:txBody>
                    <a:bodyPr/>
                    <a:lstStyle/>
                    <a:p>
                      <a:pPr>
                        <a:lnSpc>
                          <a:spcPct val="115000"/>
                        </a:lnSpc>
                      </a:pPr>
                      <a:r>
                        <a:rPr sz="1050" b="0">
                          <a:solidFill>
                            <a:srgbClr val="16181A"/>
                          </a:solidFill>
                          <a:latin typeface="Arial"/>
                        </a:rPr>
                        <a:t>+54% per objective</a:t>
                      </a:r>
                    </a:p>
                  </a:txBody>
                  <a:tcPr marL="73152" marR="73152" marT="36576" marB="36576">
                    <a:solidFill>
                      <a:srgbClr val="FCFCFB"/>
                    </a:solidFill>
                  </a:tcPr>
                </a:tc>
                <a:tc>
                  <a:txBody>
                    <a:bodyPr/>
                    <a:lstStyle/>
                    <a:p>
                      <a:pPr>
                        <a:lnSpc>
                          <a:spcPct val="115000"/>
                        </a:lnSpc>
                      </a:pPr>
                      <a:r>
                        <a:rPr sz="1050" b="0">
                          <a:solidFill>
                            <a:srgbClr val="16181A"/>
                          </a:solidFill>
                          <a:latin typeface="Arial"/>
                        </a:rPr>
                        <a:t>Yes</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E6</a:t>
                      </a:r>
                    </a:p>
                  </a:txBody>
                  <a:tcPr marL="73152" marR="73152" marT="36576" marB="36576">
                    <a:solidFill>
                      <a:srgbClr val="FCFCFB"/>
                    </a:solidFill>
                  </a:tcPr>
                </a:tc>
                <a:tc>
                  <a:txBody>
                    <a:bodyPr/>
                    <a:lstStyle/>
                    <a:p>
                      <a:pPr>
                        <a:lnSpc>
                          <a:spcPct val="115000"/>
                        </a:lnSpc>
                      </a:pPr>
                      <a:r>
                        <a:rPr sz="1050" b="0">
                          <a:solidFill>
                            <a:srgbClr val="16181A"/>
                          </a:solidFill>
                          <a:latin typeface="Arial"/>
                        </a:rPr>
                        <a:t>Is sabotage aimed?</a:t>
                      </a:r>
                    </a:p>
                  </a:txBody>
                  <a:tcPr marL="73152" marR="73152" marT="36576" marB="36576">
                    <a:solidFill>
                      <a:srgbClr val="FCFCFB"/>
                    </a:solidFill>
                  </a:tcPr>
                </a:tc>
                <a:tc>
                  <a:txBody>
                    <a:bodyPr/>
                    <a:lstStyle/>
                    <a:p>
                      <a:pPr>
                        <a:lnSpc>
                          <a:spcPct val="115000"/>
                        </a:lnSpc>
                      </a:pPr>
                      <a:r>
                        <a:rPr sz="1050" b="0">
                          <a:solidFill>
                            <a:srgbClr val="16181A"/>
                          </a:solidFill>
                          <a:latin typeface="Arial"/>
                        </a:rPr>
                        <a:t>No gain on uniform reliance; 13% on uneven</a:t>
                      </a:r>
                    </a:p>
                  </a:txBody>
                  <a:tcPr marL="73152" marR="73152" marT="36576" marB="36576">
                    <a:solidFill>
                      <a:srgbClr val="FCFCFB"/>
                    </a:solidFill>
                  </a:tcPr>
                </a:tc>
                <a:tc>
                  <a:txBody>
                    <a:bodyPr/>
                    <a:lstStyle/>
                    <a:p>
                      <a:pPr>
                        <a:lnSpc>
                          <a:spcPct val="115000"/>
                        </a:lnSpc>
                      </a:pPr>
                      <a:r>
                        <a:rPr sz="1050" b="0">
                          <a:solidFill>
                            <a:srgbClr val="16181A"/>
                          </a:solidFill>
                          <a:latin typeface="Arial"/>
                        </a:rPr>
                        <a:t>Conditional</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E8</a:t>
                      </a:r>
                    </a:p>
                  </a:txBody>
                  <a:tcPr marL="73152" marR="73152" marT="36576" marB="36576">
                    <a:solidFill>
                      <a:srgbClr val="FCFCFB"/>
                    </a:solidFill>
                  </a:tcPr>
                </a:tc>
                <a:tc>
                  <a:txBody>
                    <a:bodyPr/>
                    <a:lstStyle/>
                    <a:p>
                      <a:pPr>
                        <a:lnSpc>
                          <a:spcPct val="115000"/>
                        </a:lnSpc>
                      </a:pPr>
                      <a:r>
                        <a:rPr sz="1050" b="0">
                          <a:solidFill>
                            <a:srgbClr val="16181A"/>
                          </a:solidFill>
                          <a:latin typeface="Arial"/>
                        </a:rPr>
                        <a:t>Does waiting defend? (full obs.)</a:t>
                      </a:r>
                    </a:p>
                  </a:txBody>
                  <a:tcPr marL="73152" marR="73152" marT="36576" marB="36576">
                    <a:solidFill>
                      <a:srgbClr val="FCFCFB"/>
                    </a:solidFill>
                  </a:tcPr>
                </a:tc>
                <a:tc>
                  <a:txBody>
                    <a:bodyPr/>
                    <a:lstStyle/>
                    <a:p>
                      <a:pPr>
                        <a:lnSpc>
                          <a:spcPct val="115000"/>
                        </a:lnSpc>
                      </a:pPr>
                      <a:r>
                        <a:rPr sz="1050" b="0">
                          <a:solidFill>
                            <a:srgbClr val="16181A"/>
                          </a:solidFill>
                          <a:latin typeface="Arial"/>
                        </a:rPr>
                        <a:t>1.7% risk cut</a:t>
                      </a:r>
                    </a:p>
                  </a:txBody>
                  <a:tcPr marL="73152" marR="73152" marT="36576" marB="36576">
                    <a:solidFill>
                      <a:srgbClr val="FCFCFB"/>
                    </a:solidFill>
                  </a:tcPr>
                </a:tc>
                <a:tc>
                  <a:txBody>
                    <a:bodyPr/>
                    <a:lstStyle/>
                    <a:p>
                      <a:pPr>
                        <a:lnSpc>
                          <a:spcPct val="115000"/>
                        </a:lnSpc>
                      </a:pPr>
                      <a:r>
                        <a:rPr sz="1050" b="0">
                          <a:solidFill>
                            <a:srgbClr val="16181A"/>
                          </a:solidFill>
                          <a:latin typeface="Arial"/>
                        </a:rPr>
                        <a:t>NEGATIVE</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E9</a:t>
                      </a:r>
                    </a:p>
                  </a:txBody>
                  <a:tcPr marL="73152" marR="73152" marT="36576" marB="36576">
                    <a:solidFill>
                      <a:srgbClr val="FCFCFB"/>
                    </a:solidFill>
                  </a:tcPr>
                </a:tc>
                <a:tc>
                  <a:txBody>
                    <a:bodyPr/>
                    <a:lstStyle/>
                    <a:p>
                      <a:pPr>
                        <a:lnSpc>
                          <a:spcPct val="115000"/>
                        </a:lnSpc>
                      </a:pPr>
                      <a:r>
                        <a:rPr sz="1050" b="0">
                          <a:solidFill>
                            <a:srgbClr val="16181A"/>
                          </a:solidFill>
                          <a:latin typeface="Arial"/>
                        </a:rPr>
                        <a:t>Does explicit dwell modelling help?</a:t>
                      </a:r>
                    </a:p>
                  </a:txBody>
                  <a:tcPr marL="73152" marR="73152" marT="36576" marB="36576">
                    <a:solidFill>
                      <a:srgbClr val="FCFCFB"/>
                    </a:solidFill>
                  </a:tcPr>
                </a:tc>
                <a:tc>
                  <a:txBody>
                    <a:bodyPr/>
                    <a:lstStyle/>
                    <a:p>
                      <a:pPr>
                        <a:lnSpc>
                          <a:spcPct val="115000"/>
                        </a:lnSpc>
                      </a:pPr>
                      <a:r>
                        <a:rPr sz="1050" b="0">
                          <a:solidFill>
                            <a:srgbClr val="16181A"/>
                          </a:solidFill>
                          <a:latin typeface="Arial"/>
                        </a:rPr>
                        <a:t>2.0% worse than position-only</a:t>
                      </a:r>
                    </a:p>
                  </a:txBody>
                  <a:tcPr marL="73152" marR="73152" marT="36576" marB="36576">
                    <a:solidFill>
                      <a:srgbClr val="FCFCFB"/>
                    </a:solidFill>
                  </a:tcPr>
                </a:tc>
                <a:tc>
                  <a:txBody>
                    <a:bodyPr/>
                    <a:lstStyle/>
                    <a:p>
                      <a:pPr>
                        <a:lnSpc>
                          <a:spcPct val="115000"/>
                        </a:lnSpc>
                      </a:pPr>
                      <a:r>
                        <a:rPr sz="1050" b="0">
                          <a:solidFill>
                            <a:srgbClr val="16181A"/>
                          </a:solidFill>
                          <a:latin typeface="Arial"/>
                        </a:rPr>
                        <a:t>NEGATIVE</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E10</a:t>
                      </a:r>
                    </a:p>
                  </a:txBody>
                  <a:tcPr marL="73152" marR="73152" marT="36576" marB="36576">
                    <a:solidFill>
                      <a:srgbClr val="FCFCFB"/>
                    </a:solidFill>
                  </a:tcPr>
                </a:tc>
                <a:tc>
                  <a:txBody>
                    <a:bodyPr/>
                    <a:lstStyle/>
                    <a:p>
                      <a:pPr>
                        <a:lnSpc>
                          <a:spcPct val="115000"/>
                        </a:lnSpc>
                      </a:pPr>
                      <a:r>
                        <a:rPr sz="1050" b="0">
                          <a:solidFill>
                            <a:srgbClr val="16181A"/>
                          </a:solidFill>
                          <a:latin typeface="Arial"/>
                        </a:rPr>
                        <a:t>Is dwell learnable?</a:t>
                      </a:r>
                    </a:p>
                  </a:txBody>
                  <a:tcPr marL="73152" marR="73152" marT="36576" marB="36576">
                    <a:solidFill>
                      <a:srgbClr val="FCFCFB"/>
                    </a:solidFill>
                  </a:tcPr>
                </a:tc>
                <a:tc>
                  <a:txBody>
                    <a:bodyPr/>
                    <a:lstStyle/>
                    <a:p>
                      <a:pPr>
                        <a:lnSpc>
                          <a:spcPct val="115000"/>
                        </a:lnSpc>
                      </a:pPr>
                      <a:r>
                        <a:rPr sz="1050" b="0">
                          <a:solidFill>
                            <a:srgbClr val="16181A"/>
                          </a:solidFill>
                          <a:latin typeface="Arial"/>
                        </a:rPr>
                        <a:t>70% vs 54% baseline</a:t>
                      </a:r>
                    </a:p>
                  </a:txBody>
                  <a:tcPr marL="73152" marR="73152" marT="36576" marB="36576">
                    <a:solidFill>
                      <a:srgbClr val="FCFCFB"/>
                    </a:solidFill>
                  </a:tcPr>
                </a:tc>
                <a:tc>
                  <a:txBody>
                    <a:bodyPr/>
                    <a:lstStyle/>
                    <a:p>
                      <a:pPr>
                        <a:lnSpc>
                          <a:spcPct val="115000"/>
                        </a:lnSpc>
                      </a:pPr>
                      <a:r>
                        <a:rPr sz="1050" b="0">
                          <a:solidFill>
                            <a:srgbClr val="16181A"/>
                          </a:solidFill>
                          <a:latin typeface="Arial"/>
                        </a:rPr>
                        <a:t>Yes</a:t>
                      </a:r>
                    </a:p>
                  </a:txBody>
                  <a:tcPr marL="73152" marR="73152" marT="36576" marB="36576">
                    <a:solidFill>
                      <a:srgbClr val="FCFCFB"/>
                    </a:solidFill>
                  </a:tcPr>
                </a:tc>
              </a:tr>
              <a:tr h="344658">
                <a:tc>
                  <a:txBody>
                    <a:bodyPr/>
                    <a:lstStyle/>
                    <a:p>
                      <a:pPr>
                        <a:lnSpc>
                          <a:spcPct val="115000"/>
                        </a:lnSpc>
                      </a:pPr>
                      <a:r>
                        <a:rPr sz="1050" b="0">
                          <a:solidFill>
                            <a:srgbClr val="16181A"/>
                          </a:solidFill>
                          <a:latin typeface="Arial"/>
                        </a:rPr>
                        <a:t>E11</a:t>
                      </a:r>
                    </a:p>
                  </a:txBody>
                  <a:tcPr marL="73152" marR="73152" marT="36576" marB="36576">
                    <a:solidFill>
                      <a:srgbClr val="FCFCFB"/>
                    </a:solidFill>
                  </a:tcPr>
                </a:tc>
                <a:tc>
                  <a:txBody>
                    <a:bodyPr/>
                    <a:lstStyle/>
                    <a:p>
                      <a:pPr>
                        <a:lnSpc>
                          <a:spcPct val="115000"/>
                        </a:lnSpc>
                      </a:pPr>
                      <a:r>
                        <a:rPr sz="1050" b="0">
                          <a:solidFill>
                            <a:srgbClr val="16181A"/>
                          </a:solidFill>
                          <a:latin typeface="Arial"/>
                        </a:rPr>
                        <a:t>What do sensors buy? (NEW)</a:t>
                      </a:r>
                    </a:p>
                  </a:txBody>
                  <a:tcPr marL="73152" marR="73152" marT="36576" marB="36576">
                    <a:solidFill>
                      <a:srgbClr val="FCFCFB"/>
                    </a:solidFill>
                  </a:tcPr>
                </a:tc>
                <a:tc>
                  <a:txBody>
                    <a:bodyPr/>
                    <a:lstStyle/>
                    <a:p>
                      <a:pPr>
                        <a:lnSpc>
                          <a:spcPct val="115000"/>
                        </a:lnSpc>
                      </a:pPr>
                      <a:r>
                        <a:rPr sz="1050" b="0">
                          <a:solidFill>
                            <a:srgbClr val="16181A"/>
                          </a:solidFill>
                          <a:latin typeface="Arial"/>
                        </a:rPr>
                        <a:t>Full coverage = perfect tracking</a:t>
                      </a:r>
                    </a:p>
                  </a:txBody>
                  <a:tcPr marL="73152" marR="73152" marT="36576" marB="36576">
                    <a:solidFill>
                      <a:srgbClr val="FCFCFB"/>
                    </a:solidFill>
                  </a:tcPr>
                </a:tc>
                <a:tc>
                  <a:txBody>
                    <a:bodyPr/>
                    <a:lstStyle/>
                    <a:p>
                      <a:pPr>
                        <a:lnSpc>
                          <a:spcPct val="115000"/>
                        </a:lnSpc>
                      </a:pPr>
                      <a:r>
                        <a:rPr sz="1050" b="0">
                          <a:solidFill>
                            <a:srgbClr val="16181A"/>
                          </a:solidFill>
                          <a:latin typeface="Arial"/>
                        </a:rPr>
                        <a:t>Mechanism</a:t>
                      </a:r>
                    </a:p>
                  </a:txBody>
                  <a:tcPr marL="73152" marR="73152" marT="36576" marB="36576">
                    <a:solidFill>
                      <a:srgbClr val="FCFCFB"/>
                    </a:solidFill>
                  </a:tcPr>
                </a:tc>
              </a:tr>
              <a:tr h="344664">
                <a:tc>
                  <a:txBody>
                    <a:bodyPr/>
                    <a:lstStyle/>
                    <a:p>
                      <a:pPr>
                        <a:lnSpc>
                          <a:spcPct val="115000"/>
                        </a:lnSpc>
                      </a:pPr>
                      <a:r>
                        <a:rPr sz="1050" b="0">
                          <a:solidFill>
                            <a:srgbClr val="16181A"/>
                          </a:solidFill>
                          <a:latin typeface="Arial"/>
                        </a:rPr>
                        <a:t>E12</a:t>
                      </a:r>
                    </a:p>
                  </a:txBody>
                  <a:tcPr marL="73152" marR="73152" marT="36576" marB="36576">
                    <a:solidFill>
                      <a:srgbClr val="FCFCFB"/>
                    </a:solidFill>
                  </a:tcPr>
                </a:tc>
                <a:tc>
                  <a:txBody>
                    <a:bodyPr/>
                    <a:lstStyle/>
                    <a:p>
                      <a:pPr>
                        <a:lnSpc>
                          <a:spcPct val="115000"/>
                        </a:lnSpc>
                      </a:pPr>
                      <a:r>
                        <a:rPr sz="1050" b="0">
                          <a:solidFill>
                            <a:srgbClr val="16181A"/>
                          </a:solidFill>
                          <a:latin typeface="Arial"/>
                        </a:rPr>
                        <a:t>What is the counter-play? (NEW)</a:t>
                      </a:r>
                    </a:p>
                  </a:txBody>
                  <a:tcPr marL="73152" marR="73152" marT="36576" marB="36576">
                    <a:solidFill>
                      <a:srgbClr val="FCFCFB"/>
                    </a:solidFill>
                  </a:tcPr>
                </a:tc>
                <a:tc>
                  <a:txBody>
                    <a:bodyPr/>
                    <a:lstStyle/>
                    <a:p>
                      <a:pPr>
                        <a:lnSpc>
                          <a:spcPct val="115000"/>
                        </a:lnSpc>
                      </a:pPr>
                      <a:r>
                        <a:rPr sz="1050" b="0">
                          <a:solidFill>
                            <a:srgbClr val="16181A"/>
                          </a:solidFill>
                          <a:latin typeface="Arial"/>
                        </a:rPr>
                        <a:t>Disabling sensors: 39% risk cut</a:t>
                      </a:r>
                    </a:p>
                  </a:txBody>
                  <a:tcPr marL="73152" marR="73152" marT="36576" marB="36576">
                    <a:solidFill>
                      <a:srgbClr val="FCFCFB"/>
                    </a:solidFill>
                  </a:tcPr>
                </a:tc>
                <a:tc>
                  <a:txBody>
                    <a:bodyPr/>
                    <a:lstStyle/>
                    <a:p>
                      <a:pPr>
                        <a:lnSpc>
                          <a:spcPct val="115000"/>
                        </a:lnSpc>
                      </a:pPr>
                      <a:r>
                        <a:rPr sz="1050" b="0">
                          <a:solidFill>
                            <a:srgbClr val="16181A"/>
                          </a:solidFill>
                          <a:latin typeface="Arial"/>
                        </a:rPr>
                        <a:t>Design answer</a:t>
                      </a:r>
                    </a:p>
                  </a:txBody>
                  <a:tcPr marL="73152" marR="73152" marT="36576" marB="36576">
                    <a:solidFill>
                      <a:srgbClr val="FCFCFB"/>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INTERPRETATION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Three findings changed the design</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83080"/>
            <a:ext cx="10881360" cy="4480560"/>
          </a:xfrm>
          <a:prstGeom prst="rect">
            <a:avLst/>
          </a:prstGeom>
          <a:noFill/>
        </p:spPr>
        <p:txBody>
          <a:bodyPr wrap="square" lIns="0" rIns="0" tIns="0" bIns="0">
            <a:spAutoFit/>
          </a:bodyPr>
          <a:lstStyle/>
          <a:p>
            <a:pPr>
              <a:lnSpc>
                <a:spcPct val="130000"/>
              </a:lnSpc>
              <a:spcAft>
                <a:spcPts val="1300"/>
              </a:spcAft>
            </a:pPr>
            <a:r>
              <a:rPr sz="1350" b="1">
                <a:solidFill>
                  <a:srgbClr val="16181A"/>
                </a:solidFill>
                <a:latin typeface="Arial"/>
              </a:rPr>
              <a:t>1 · A negative result set this cycle's work.  </a:t>
            </a:r>
            <a:r>
              <a:rPr sz="1350">
                <a:solidFill>
                  <a:srgbClr val="6B7178"/>
                </a:solidFill>
                <a:latin typeface="Arial"/>
              </a:rPr>
              <a:t>Waiting did not defend, and the cause was perfect observation. That diagnosis — not a guess — is why door sensors were the next milestone. The fix was verified: at 100% coverage the new filter reproduces the old fully-observed behaviour, which is how we know the re-implementation is sound.</a:t>
            </a:r>
          </a:p>
          <a:p>
            <a:pPr>
              <a:lnSpc>
                <a:spcPct val="130000"/>
              </a:lnSpc>
              <a:spcAft>
                <a:spcPts val="1300"/>
              </a:spcAft>
            </a:pPr>
            <a:r>
              <a:rPr sz="1350" b="1">
                <a:solidFill>
                  <a:srgbClr val="16181A"/>
                </a:solidFill>
                <a:latin typeface="Arial"/>
              </a:rPr>
              <a:t>2 · The metric was hiding the answer.  </a:t>
            </a:r>
            <a:r>
              <a:rPr sz="1350">
                <a:solidFill>
                  <a:srgbClr val="6B7178"/>
                </a:solidFill>
                <a:latin typeface="Arial"/>
              </a:rPr>
              <a:t>Measured per window, avoiding sensors looked excellent. Measured per objective completed, it was worse than doing nothing — the player was simply achieving less. Two strategies that looked like wins disappeared under the corrected metric.</a:t>
            </a:r>
          </a:p>
          <a:p>
            <a:pPr>
              <a:lnSpc>
                <a:spcPct val="130000"/>
              </a:lnSpc>
              <a:spcAft>
                <a:spcPts val="1300"/>
              </a:spcAft>
            </a:pPr>
            <a:r>
              <a:rPr sz="1350" b="1">
                <a:solidFill>
                  <a:srgbClr val="16181A"/>
                </a:solidFill>
                <a:latin typeface="Arial"/>
              </a:rPr>
              <a:t>3 · The mechanic the fiction already had is the one that works.  </a:t>
            </a:r>
            <a:r>
              <a:rPr sz="1350">
                <a:solidFill>
                  <a:srgbClr val="6B7178"/>
                </a:solidFill>
                <a:latin typeface="Arial"/>
              </a:rPr>
              <a:t>Detouring around live sensors costs more exposure than it saves. Spending a dangerous task to silence a sensor on your existing route is the strategy that cuts risk. The design was right before the measurement was.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LIMITATIONS</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Stated before the panel finds them</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2304288"/>
        </p:xfrm>
        <a:graphic>
          <a:graphicData uri="http://schemas.openxmlformats.org/drawingml/2006/table">
            <a:tbl>
              <a:tblPr firstRow="1" bandRow="1">
                <a:tableStyleId>{5C22544A-7EE6-4342-B048-85BDC9FD1C3A}</a:tableStyleId>
              </a:tblPr>
              <a:tblGrid>
                <a:gridCol w="2834640"/>
                <a:gridCol w="4480560"/>
                <a:gridCol w="3566160"/>
              </a:tblGrid>
              <a:tr h="384048">
                <a:tc>
                  <a:txBody>
                    <a:bodyPr/>
                    <a:lstStyle/>
                    <a:p>
                      <a:pPr>
                        <a:lnSpc>
                          <a:spcPct val="115000"/>
                        </a:lnSpc>
                      </a:pPr>
                      <a:r>
                        <a:rPr sz="900" b="1">
                          <a:solidFill>
                            <a:srgbClr val="6B7178"/>
                          </a:solidFill>
                          <a:latin typeface="Arial"/>
                        </a:rPr>
                        <a:t>Limitation</a:t>
                      </a:r>
                    </a:p>
                  </a:txBody>
                  <a:tcPr marL="73152" marR="73152" marT="36576" marB="36576">
                    <a:solidFill>
                      <a:srgbClr val="F4F6F8"/>
                    </a:solidFill>
                  </a:tcPr>
                </a:tc>
                <a:tc>
                  <a:txBody>
                    <a:bodyPr/>
                    <a:lstStyle/>
                    <a:p>
                      <a:pPr>
                        <a:lnSpc>
                          <a:spcPct val="115000"/>
                        </a:lnSpc>
                      </a:pPr>
                      <a:r>
                        <a:rPr sz="900" b="1">
                          <a:solidFill>
                            <a:srgbClr val="6B7178"/>
                          </a:solidFill>
                          <a:latin typeface="Arial"/>
                        </a:rPr>
                        <a:t>Why it stands</a:t>
                      </a:r>
                    </a:p>
                  </a:txBody>
                  <a:tcPr marL="73152" marR="73152" marT="36576" marB="36576">
                    <a:solidFill>
                      <a:srgbClr val="F4F6F8"/>
                    </a:solidFill>
                  </a:tcPr>
                </a:tc>
                <a:tc>
                  <a:txBody>
                    <a:bodyPr/>
                    <a:lstStyle/>
                    <a:p>
                      <a:pPr>
                        <a:lnSpc>
                          <a:spcPct val="115000"/>
                        </a:lnSpc>
                      </a:pPr>
                      <a:r>
                        <a:rPr sz="900" b="1">
                          <a:solidFill>
                            <a:srgbClr val="6B7178"/>
                          </a:solidFill>
                          <a:latin typeface="Arial"/>
                        </a:rPr>
                        <a:t>What resolves it</a:t>
                      </a:r>
                    </a:p>
                  </a:txBody>
                  <a:tcPr marL="73152" marR="73152" marT="36576" marB="36576">
                    <a:solidFill>
                      <a:srgbClr val="F4F6F8"/>
                    </a:solidFill>
                  </a:tcPr>
                </a:tc>
              </a:tr>
              <a:tr h="384048">
                <a:tc>
                  <a:txBody>
                    <a:bodyPr/>
                    <a:lstStyle/>
                    <a:p>
                      <a:pPr>
                        <a:lnSpc>
                          <a:spcPct val="115000"/>
                        </a:lnSpc>
                      </a:pPr>
                      <a:r>
                        <a:rPr sz="1150" b="0">
                          <a:solidFill>
                            <a:srgbClr val="16181A"/>
                          </a:solidFill>
                          <a:latin typeface="Arial"/>
                        </a:rPr>
                        <a:t>No human playtest data</a:t>
                      </a:r>
                    </a:p>
                  </a:txBody>
                  <a:tcPr marL="73152" marR="73152" marT="36576" marB="36576">
                    <a:solidFill>
                      <a:srgbClr val="FCFCFB"/>
                    </a:solidFill>
                  </a:tcPr>
                </a:tc>
                <a:tc>
                  <a:txBody>
                    <a:bodyPr/>
                    <a:lstStyle/>
                    <a:p>
                      <a:pPr>
                        <a:lnSpc>
                          <a:spcPct val="115000"/>
                        </a:lnSpc>
                      </a:pPr>
                      <a:r>
                        <a:rPr sz="1150" b="0">
                          <a:solidFill>
                            <a:srgbClr val="16181A"/>
                          </a:solidFill>
                          <a:latin typeface="Arial"/>
                        </a:rPr>
                        <a:t>All evaluation is against scripted players</a:t>
                      </a:r>
                    </a:p>
                  </a:txBody>
                  <a:tcPr marL="73152" marR="73152" marT="36576" marB="36576">
                    <a:solidFill>
                      <a:srgbClr val="FCFCFB"/>
                    </a:solidFill>
                  </a:tcPr>
                </a:tc>
                <a:tc>
                  <a:txBody>
                    <a:bodyPr/>
                    <a:lstStyle/>
                    <a:p>
                      <a:pPr>
                        <a:lnSpc>
                          <a:spcPct val="115000"/>
                        </a:lnSpc>
                      </a:pPr>
                      <a:r>
                        <a:rPr sz="1150" b="0">
                          <a:solidFill>
                            <a:srgbClr val="16181A"/>
                          </a:solidFill>
                          <a:latin typeface="Arial"/>
                        </a:rPr>
                        <a:t>M5 playtest; telemetry format exists</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Dwell rate is an assumption</a:t>
                      </a:r>
                    </a:p>
                  </a:txBody>
                  <a:tcPr marL="73152" marR="73152" marT="36576" marB="36576">
                    <a:solidFill>
                      <a:srgbClr val="FCFCFB"/>
                    </a:solidFill>
                  </a:tcPr>
                </a:tc>
                <a:tc>
                  <a:txBody>
                    <a:bodyPr/>
                    <a:lstStyle/>
                    <a:p>
                      <a:pPr>
                        <a:lnSpc>
                          <a:spcPct val="115000"/>
                        </a:lnSpc>
                      </a:pPr>
                      <a:r>
                        <a:rPr sz="1150" b="0">
                          <a:solidFill>
                            <a:srgbClr val="16181A"/>
                          </a:solidFill>
                          <a:latin typeface="Arial"/>
                        </a:rPr>
                        <a:t>Calibrated to ~24% of windows, not measured</a:t>
                      </a:r>
                    </a:p>
                  </a:txBody>
                  <a:tcPr marL="73152" marR="73152" marT="36576" marB="36576">
                    <a:solidFill>
                      <a:srgbClr val="FCFCFB"/>
                    </a:solidFill>
                  </a:tcPr>
                </a:tc>
                <a:tc>
                  <a:txBody>
                    <a:bodyPr/>
                    <a:lstStyle/>
                    <a:p>
                      <a:pPr>
                        <a:lnSpc>
                          <a:spcPct val="115000"/>
                        </a:lnSpc>
                      </a:pPr>
                      <a:r>
                        <a:rPr sz="1150" b="0">
                          <a:solidFill>
                            <a:srgbClr val="16181A"/>
                          </a:solidFill>
                          <a:latin typeface="Arial"/>
                        </a:rPr>
                        <a:t>Same playtest</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Models close at interception</a:t>
                      </a:r>
                    </a:p>
                  </a:txBody>
                  <a:tcPr marL="73152" marR="73152" marT="36576" marB="36576">
                    <a:solidFill>
                      <a:srgbClr val="FCFCFB"/>
                    </a:solidFill>
                  </a:tcPr>
                </a:tc>
                <a:tc>
                  <a:txBody>
                    <a:bodyPr/>
                    <a:lstStyle/>
                    <a:p>
                      <a:pPr>
                        <a:lnSpc>
                          <a:spcPct val="115000"/>
                        </a:lnSpc>
                      </a:pPr>
                      <a:r>
                        <a:rPr sz="1150" b="0">
                          <a:solidFill>
                            <a:srgbClr val="16181A"/>
                          </a:solidFill>
                          <a:latin typeface="Arial"/>
                        </a:rPr>
                        <a:t>VOMM and order-1 within noise on capture rate</a:t>
                      </a:r>
                    </a:p>
                  </a:txBody>
                  <a:tcPr marL="73152" marR="73152" marT="36576" marB="36576">
                    <a:solidFill>
                      <a:srgbClr val="FCFCFB"/>
                    </a:solidFill>
                  </a:tcPr>
                </a:tc>
                <a:tc>
                  <a:txBody>
                    <a:bodyPr/>
                    <a:lstStyle/>
                    <a:p>
                      <a:pPr>
                        <a:lnSpc>
                          <a:spcPct val="115000"/>
                        </a:lnSpc>
                      </a:pPr>
                      <a:r>
                        <a:rPr sz="1150" b="0">
                          <a:solidFill>
                            <a:srgbClr val="16181A"/>
                          </a:solidFill>
                          <a:latin typeface="Arial"/>
                        </a:rPr>
                        <a:t>Clear gap is at prediction, not pursuit</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Lookahead can hurt</a:t>
                      </a:r>
                    </a:p>
                  </a:txBody>
                  <a:tcPr marL="73152" marR="73152" marT="36576" marB="36576">
                    <a:solidFill>
                      <a:srgbClr val="FCFCFB"/>
                    </a:solidFill>
                  </a:tcPr>
                </a:tc>
                <a:tc>
                  <a:txBody>
                    <a:bodyPr/>
                    <a:lstStyle/>
                    <a:p>
                      <a:pPr>
                        <a:lnSpc>
                          <a:spcPct val="115000"/>
                        </a:lnSpc>
                      </a:pPr>
                      <a:r>
                        <a:rPr sz="1150" b="0">
                          <a:solidFill>
                            <a:srgbClr val="16181A"/>
                          </a:solidFill>
                          <a:latin typeface="Arial"/>
                        </a:rPr>
                        <a:t>At 61% single-step accuracy, rollout error compounds</a:t>
                      </a:r>
                    </a:p>
                  </a:txBody>
                  <a:tcPr marL="73152" marR="73152" marT="36576" marB="36576">
                    <a:solidFill>
                      <a:srgbClr val="FCFCFB"/>
                    </a:solidFill>
                  </a:tcPr>
                </a:tc>
                <a:tc>
                  <a:txBody>
                    <a:bodyPr/>
                    <a:lstStyle/>
                    <a:p>
                      <a:pPr>
                        <a:lnSpc>
                          <a:spcPct val="115000"/>
                        </a:lnSpc>
                      </a:pPr>
                      <a:r>
                        <a:rPr sz="1150" b="0">
                          <a:solidFill>
                            <a:srgbClr val="16181A"/>
                          </a:solidFill>
                          <a:latin typeface="Arial"/>
                        </a:rPr>
                        <a:t>Expected; documented, not hidden</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No 3D integration</a:t>
                      </a:r>
                    </a:p>
                  </a:txBody>
                  <a:tcPr marL="73152" marR="73152" marT="36576" marB="36576">
                    <a:solidFill>
                      <a:srgbClr val="FCFCFB"/>
                    </a:solidFill>
                  </a:tcPr>
                </a:tc>
                <a:tc>
                  <a:txBody>
                    <a:bodyPr/>
                    <a:lstStyle/>
                    <a:p>
                      <a:pPr>
                        <a:lnSpc>
                          <a:spcPct val="115000"/>
                        </a:lnSpc>
                      </a:pPr>
                      <a:r>
                        <a:rPr sz="1150" b="0">
                          <a:solidFill>
                            <a:srgbClr val="16181A"/>
                          </a:solidFill>
                          <a:latin typeface="Arial"/>
                        </a:rPr>
                        <a:t>Godot build not started; art study only</a:t>
                      </a:r>
                    </a:p>
                  </a:txBody>
                  <a:tcPr marL="73152" marR="73152" marT="36576" marB="36576">
                    <a:solidFill>
                      <a:srgbClr val="FCFCFB"/>
                    </a:solidFill>
                  </a:tcPr>
                </a:tc>
                <a:tc>
                  <a:txBody>
                    <a:bodyPr/>
                    <a:lstStyle/>
                    <a:p>
                      <a:pPr>
                        <a:lnSpc>
                          <a:spcPct val="115000"/>
                        </a:lnSpc>
                      </a:pPr>
                      <a:r>
                        <a:rPr sz="1150" b="0">
                          <a:solidFill>
                            <a:srgbClr val="16181A"/>
                          </a:solidFill>
                          <a:latin typeface="Arial"/>
                        </a:rPr>
                        <a:t>M3, next cycle</a:t>
                      </a:r>
                    </a:p>
                  </a:txBody>
                  <a:tcPr marL="73152" marR="73152" marT="36576" marB="36576">
                    <a:solidFill>
                      <a:srgbClr val="FCFCFB"/>
                    </a:solidFill>
                  </a:tcPr>
                </a:tc>
              </a:tr>
            </a:tbl>
          </a:graphicData>
        </a:graphic>
      </p:graphicFrame>
      <p:sp>
        <p:nvSpPr>
          <p:cNvPr id="6" name="TextBox 5"/>
          <p:cNvSpPr txBox="1"/>
          <p:nvPr/>
        </p:nvSpPr>
        <p:spPr>
          <a:xfrm>
            <a:off x="658368" y="4846320"/>
            <a:ext cx="10881360" cy="1097280"/>
          </a:xfrm>
          <a:prstGeom prst="rect">
            <a:avLst/>
          </a:prstGeom>
          <a:noFill/>
        </p:spPr>
        <p:txBody>
          <a:bodyPr wrap="square" lIns="0" rIns="0" tIns="0" bIns="0">
            <a:spAutoFit/>
          </a:bodyPr>
          <a:lstStyle/>
          <a:p>
            <a:pPr algn="l">
              <a:lnSpc>
                <a:spcPct val="132000"/>
              </a:lnSpc>
              <a:spcAft>
                <a:spcPts val="600"/>
              </a:spcAft>
            </a:pPr>
            <a:r>
              <a:rPr sz="1300" b="0">
                <a:solidFill>
                  <a:srgbClr val="6B7178"/>
                </a:solidFill>
                <a:latin typeface="Arial"/>
              </a:rPr>
              <a:t>Roadmap — M3 the Godot greybox driven by the room graph; M7 polygonal room tiles where side count is the difficulty setting; M8 the outbound register with pre-send tampering, already prototyped in the browser slice. M6 landed this cycle, ahead of M3, because the evidence said it mattered more.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DEMONSTRATION</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Four things that run right now</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1920240"/>
        </p:xfrm>
        <a:graphic>
          <a:graphicData uri="http://schemas.openxmlformats.org/drawingml/2006/table">
            <a:tbl>
              <a:tblPr firstRow="1" bandRow="1">
                <a:tableStyleId>{5C22544A-7EE6-4342-B048-85BDC9FD1C3A}</a:tableStyleId>
              </a:tblPr>
              <a:tblGrid>
                <a:gridCol w="548640"/>
                <a:gridCol w="3291840"/>
                <a:gridCol w="7040880"/>
              </a:tblGrid>
              <a:tr h="384048">
                <a:tc>
                  <a:txBody>
                    <a:bodyPr/>
                    <a:lstStyle/>
                    <a:p>
                      <a:pPr>
                        <a:lnSpc>
                          <a:spcPct val="115000"/>
                        </a:lnSpc>
                      </a:pPr>
                      <a:r>
                        <a:rPr sz="900" b="1">
                          <a:solidFill>
                            <a:srgbClr val="6B7178"/>
                          </a:solidFill>
                          <a:latin typeface="Arial"/>
                        </a:rPr>
                        <a:t>#</a:t>
                      </a:r>
                    </a:p>
                  </a:txBody>
                  <a:tcPr marL="73152" marR="73152" marT="36576" marB="36576">
                    <a:solidFill>
                      <a:srgbClr val="F4F6F8"/>
                    </a:solidFill>
                  </a:tcPr>
                </a:tc>
                <a:tc>
                  <a:txBody>
                    <a:bodyPr/>
                    <a:lstStyle/>
                    <a:p>
                      <a:pPr>
                        <a:lnSpc>
                          <a:spcPct val="115000"/>
                        </a:lnSpc>
                      </a:pPr>
                      <a:r>
                        <a:rPr sz="900" b="1">
                          <a:solidFill>
                            <a:srgbClr val="6B7178"/>
                          </a:solidFill>
                          <a:latin typeface="Arial"/>
                        </a:rPr>
                        <a:t>What</a:t>
                      </a:r>
                    </a:p>
                  </a:txBody>
                  <a:tcPr marL="73152" marR="73152" marT="36576" marB="36576">
                    <a:solidFill>
                      <a:srgbClr val="F4F6F8"/>
                    </a:solidFill>
                  </a:tcPr>
                </a:tc>
                <a:tc>
                  <a:txBody>
                    <a:bodyPr/>
                    <a:lstStyle/>
                    <a:p>
                      <a:pPr>
                        <a:lnSpc>
                          <a:spcPct val="115000"/>
                        </a:lnSpc>
                      </a:pPr>
                      <a:r>
                        <a:rPr sz="900" b="1">
                          <a:solidFill>
                            <a:srgbClr val="6B7178"/>
                          </a:solidFill>
                          <a:latin typeface="Arial"/>
                        </a:rPr>
                        <a:t>What the panel sees</a:t>
                      </a:r>
                    </a:p>
                  </a:txBody>
                  <a:tcPr marL="73152" marR="73152" marT="36576" marB="36576">
                    <a:solidFill>
                      <a:srgbClr val="F4F6F8"/>
                    </a:solidFill>
                  </a:tcPr>
                </a:tc>
              </a:tr>
              <a:tr h="384048">
                <a:tc>
                  <a:txBody>
                    <a:bodyPr/>
                    <a:lstStyle/>
                    <a:p>
                      <a:pPr>
                        <a:lnSpc>
                          <a:spcPct val="115000"/>
                        </a:lnSpc>
                      </a:pPr>
                      <a:r>
                        <a:rPr sz="1150" b="0">
                          <a:solidFill>
                            <a:srgbClr val="16181A"/>
                          </a:solidFill>
                          <a:latin typeface="Arial"/>
                        </a:rPr>
                        <a:t>1</a:t>
                      </a:r>
                    </a:p>
                  </a:txBody>
                  <a:tcPr marL="73152" marR="73152" marT="36576" marB="36576">
                    <a:solidFill>
                      <a:srgbClr val="FCFCFB"/>
                    </a:solidFill>
                  </a:tcPr>
                </a:tc>
                <a:tc>
                  <a:txBody>
                    <a:bodyPr/>
                    <a:lstStyle/>
                    <a:p>
                      <a:pPr>
                        <a:lnSpc>
                          <a:spcPct val="115000"/>
                        </a:lnSpc>
                      </a:pPr>
                      <a:r>
                        <a:rPr sz="1150" b="0">
                          <a:solidFill>
                            <a:srgbClr val="16181A"/>
                          </a:solidFill>
                          <a:latin typeface="Arial"/>
                        </a:rPr>
                        <a:t>THE GAME — parity-game.html</a:t>
                      </a:r>
                    </a:p>
                  </a:txBody>
                  <a:tcPr marL="73152" marR="73152" marT="36576" marB="36576">
                    <a:solidFill>
                      <a:srgbClr val="FCFCFB"/>
                    </a:solidFill>
                  </a:tcPr>
                </a:tc>
                <a:tc>
                  <a:txBody>
                    <a:bodyPr/>
                    <a:lstStyle/>
                    <a:p>
                      <a:pPr>
                        <a:lnSpc>
                          <a:spcPct val="115000"/>
                        </a:lnSpc>
                      </a:pPr>
                      <a:r>
                        <a:rPr sz="1150" b="0">
                          <a:solidFill>
                            <a:srgbClr val="16181A"/>
                          </a:solidFill>
                          <a:latin typeface="Arial"/>
                        </a:rPr>
                        <a:t>Play it. AI view on: belief on the map, doors it can and cannot hear, and its reasoning in English every turn</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2</a:t>
                      </a:r>
                    </a:p>
                  </a:txBody>
                  <a:tcPr marL="73152" marR="73152" marT="36576" marB="36576">
                    <a:solidFill>
                      <a:srgbClr val="FCFCFB"/>
                    </a:solidFill>
                  </a:tcPr>
                </a:tc>
                <a:tc>
                  <a:txBody>
                    <a:bodyPr/>
                    <a:lstStyle/>
                    <a:p>
                      <a:pPr>
                        <a:lnSpc>
                          <a:spcPct val="115000"/>
                        </a:lnSpc>
                      </a:pPr>
                      <a:r>
                        <a:rPr sz="1150" b="0">
                          <a:solidFill>
                            <a:srgbClr val="16181A"/>
                          </a:solidFill>
                          <a:latin typeface="Arial"/>
                        </a:rPr>
                        <a:t>Cut a sensor</a:t>
                      </a:r>
                    </a:p>
                  </a:txBody>
                  <a:tcPr marL="73152" marR="73152" marT="36576" marB="36576">
                    <a:solidFill>
                      <a:srgbClr val="FCFCFB"/>
                    </a:solidFill>
                  </a:tcPr>
                </a:tc>
                <a:tc>
                  <a:txBody>
                    <a:bodyPr/>
                    <a:lstStyle/>
                    <a:p>
                      <a:pPr>
                        <a:lnSpc>
                          <a:spcPct val="115000"/>
                        </a:lnSpc>
                      </a:pPr>
                      <a:r>
                        <a:rPr sz="1150" b="0">
                          <a:solidFill>
                            <a:srgbClr val="16181A"/>
                          </a:solidFill>
                          <a:latin typeface="Arial"/>
                        </a:rPr>
                        <a:t>Three windows stood still to kill a door, then watch the AI lose track of you</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3</a:t>
                      </a:r>
                    </a:p>
                  </a:txBody>
                  <a:tcPr marL="73152" marR="73152" marT="36576" marB="36576">
                    <a:solidFill>
                      <a:srgbClr val="FCFCFB"/>
                    </a:solidFill>
                  </a:tcPr>
                </a:tc>
                <a:tc>
                  <a:txBody>
                    <a:bodyPr/>
                    <a:lstStyle/>
                    <a:p>
                      <a:pPr>
                        <a:lnSpc>
                          <a:spcPct val="115000"/>
                        </a:lnSpc>
                      </a:pPr>
                      <a:r>
                        <a:rPr sz="1150" b="0">
                          <a:solidFill>
                            <a:srgbClr val="16181A"/>
                          </a:solidFill>
                          <a:latin typeface="Arial"/>
                        </a:rPr>
                        <a:t>Test suite — test_invariants.py</a:t>
                      </a:r>
                    </a:p>
                  </a:txBody>
                  <a:tcPr marL="73152" marR="73152" marT="36576" marB="36576">
                    <a:solidFill>
                      <a:srgbClr val="FCFCFB"/>
                    </a:solidFill>
                  </a:tcPr>
                </a:tc>
                <a:tc>
                  <a:txBody>
                    <a:bodyPr/>
                    <a:lstStyle/>
                    <a:p>
                      <a:pPr>
                        <a:lnSpc>
                          <a:spcPct val="115000"/>
                        </a:lnSpc>
                      </a:pPr>
                      <a:r>
                        <a:rPr sz="1150" b="0">
                          <a:solidFill>
                            <a:srgbClr val="16181A"/>
                          </a:solidFill>
                          <a:latin typeface="Arial"/>
                        </a:rPr>
                        <a:t>9 invariants over 25 generated facilities, in seconds</a:t>
                      </a:r>
                    </a:p>
                  </a:txBody>
                  <a:tcPr marL="73152" marR="73152" marT="36576" marB="36576">
                    <a:solidFill>
                      <a:srgbClr val="FCFCFB"/>
                    </a:solidFill>
                  </a:tcPr>
                </a:tc>
              </a:tr>
              <a:tr h="384048">
                <a:tc>
                  <a:txBody>
                    <a:bodyPr/>
                    <a:lstStyle/>
                    <a:p>
                      <a:pPr>
                        <a:lnSpc>
                          <a:spcPct val="115000"/>
                        </a:lnSpc>
                      </a:pPr>
                      <a:r>
                        <a:rPr sz="1150" b="0">
                          <a:solidFill>
                            <a:srgbClr val="16181A"/>
                          </a:solidFill>
                          <a:latin typeface="Arial"/>
                        </a:rPr>
                        <a:t>4</a:t>
                      </a:r>
                    </a:p>
                  </a:txBody>
                  <a:tcPr marL="73152" marR="73152" marT="36576" marB="36576">
                    <a:solidFill>
                      <a:srgbClr val="FCFCFB"/>
                    </a:solidFill>
                  </a:tcPr>
                </a:tc>
                <a:tc>
                  <a:txBody>
                    <a:bodyPr/>
                    <a:lstStyle/>
                    <a:p>
                      <a:pPr>
                        <a:lnSpc>
                          <a:spcPct val="115000"/>
                        </a:lnSpc>
                      </a:pPr>
                      <a:r>
                        <a:rPr sz="1150" b="0">
                          <a:solidFill>
                            <a:srgbClr val="16181A"/>
                          </a:solidFill>
                          <a:latin typeface="Arial"/>
                        </a:rPr>
                        <a:t>Room study — parity-room.html</a:t>
                      </a:r>
                    </a:p>
                  </a:txBody>
                  <a:tcPr marL="73152" marR="73152" marT="36576" marB="36576">
                    <a:solidFill>
                      <a:srgbClr val="FCFCFB"/>
                    </a:solidFill>
                  </a:tcPr>
                </a:tc>
                <a:tc>
                  <a:txBody>
                    <a:bodyPr/>
                    <a:lstStyle/>
                    <a:p>
                      <a:pPr>
                        <a:lnSpc>
                          <a:spcPct val="115000"/>
                        </a:lnSpc>
                      </a:pPr>
                      <a:r>
                        <a:rPr sz="1150" b="0">
                          <a:solidFill>
                            <a:srgbClr val="16181A"/>
                          </a:solidFill>
                          <a:latin typeface="Arial"/>
                        </a:rPr>
                        <a:t>Walkable art direction for the 3D layer that is still to come</a:t>
                      </a:r>
                    </a:p>
                  </a:txBody>
                  <a:tcPr marL="73152" marR="73152" marT="36576" marB="36576">
                    <a:solidFill>
                      <a:srgbClr val="FCFCFB"/>
                    </a:solidFill>
                  </a:tcPr>
                </a:tc>
              </a:tr>
            </a:tbl>
          </a:graphicData>
        </a:graphic>
      </p:graphicFrame>
      <p:sp>
        <p:nvSpPr>
          <p:cNvPr id="6" name="TextBox 5"/>
          <p:cNvSpPr txBox="1"/>
          <p:nvPr/>
        </p:nvSpPr>
        <p:spPr>
          <a:xfrm>
            <a:off x="658368" y="4572000"/>
            <a:ext cx="10881360" cy="822960"/>
          </a:xfrm>
          <a:prstGeom prst="rect">
            <a:avLst/>
          </a:prstGeom>
          <a:noFill/>
        </p:spPr>
        <p:txBody>
          <a:bodyPr wrap="square" lIns="0" rIns="0" tIns="0" bIns="0">
            <a:spAutoFit/>
          </a:bodyPr>
          <a:lstStyle/>
          <a:p>
            <a:pPr algn="l">
              <a:lnSpc>
                <a:spcPct val="130000"/>
              </a:lnSpc>
              <a:spcAft>
                <a:spcPts val="600"/>
              </a:spcAft>
            </a:pPr>
            <a:r>
              <a:rPr sz="1300" b="0">
                <a:solidFill>
                  <a:srgbClr val="6B7178"/>
                </a:solidFill>
                <a:latin typeface="Arial"/>
              </a:rPr>
              <a:t>Everything runs offline in a browser or from the command line — nothing to install, no network. Turn AI view OFF to see what the player experiences, then ON to see what the antagonist was actually doing. That contrast is the demonstration.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BACKUP</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Learning speed</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learning.png"/>
          <p:cNvPicPr>
            <a:picLocks noChangeAspect="1"/>
          </p:cNvPicPr>
          <p:nvPr/>
        </p:nvPicPr>
        <p:blipFill>
          <a:blip r:embed="rId2"/>
          <a:stretch>
            <a:fillRect/>
          </a:stretch>
        </p:blipFill>
        <p:spPr>
          <a:xfrm>
            <a:off x="2075688" y="1737360"/>
            <a:ext cx="8046720" cy="4121491"/>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BACKUP</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Embodied pursuit</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capture.png"/>
          <p:cNvPicPr>
            <a:picLocks noChangeAspect="1"/>
          </p:cNvPicPr>
          <p:nvPr/>
        </p:nvPicPr>
        <p:blipFill>
          <a:blip r:embed="rId2"/>
          <a:stretch>
            <a:fillRect/>
          </a:stretch>
        </p:blipFill>
        <p:spPr>
          <a:xfrm>
            <a:off x="2167128" y="1719072"/>
            <a:ext cx="7863840" cy="38360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658368" y="420624"/>
            <a:ext cx="10881360" cy="274320"/>
          </a:xfrm>
          <a:prstGeom prst="rect">
            <a:avLst/>
          </a:prstGeom>
          <a:noFill/>
        </p:spPr>
        <p:txBody>
          <a:bodyPr wrap="square" lIns="0" rIns="0" tIns="0" bIns="0">
            <a:spAutoFit/>
          </a:bodyPr>
          <a:lstStyle/>
          <a:p>
            <a:pPr algn="l">
              <a:lnSpc>
                <a:spcPct val="125000"/>
              </a:lnSpc>
              <a:spcAft>
                <a:spcPts val="600"/>
              </a:spcAft>
            </a:pPr>
            <a:r>
              <a:rPr sz="1050" b="1">
                <a:solidFill>
                  <a:srgbClr val="2A78D6"/>
                </a:solidFill>
                <a:latin typeface="Arial"/>
              </a:rPr>
              <a:t>BACKUP</a:t>
            </a:r>
          </a:p>
        </p:txBody>
      </p:sp>
      <p:sp>
        <p:nvSpPr>
          <p:cNvPr id="3" name="TextBox 2"/>
          <p:cNvSpPr txBox="1"/>
          <p:nvPr/>
        </p:nvSpPr>
        <p:spPr>
          <a:xfrm>
            <a:off x="658368" y="749808"/>
            <a:ext cx="10881360" cy="822960"/>
          </a:xfrm>
          <a:prstGeom prst="rect">
            <a:avLst/>
          </a:prstGeom>
          <a:noFill/>
        </p:spPr>
        <p:txBody>
          <a:bodyPr wrap="square" lIns="0" rIns="0" tIns="0" bIns="0">
            <a:spAutoFit/>
          </a:bodyPr>
          <a:lstStyle/>
          <a:p>
            <a:pPr algn="l">
              <a:lnSpc>
                <a:spcPct val="125000"/>
              </a:lnSpc>
              <a:spcAft>
                <a:spcPts val="600"/>
              </a:spcAft>
            </a:pPr>
            <a:r>
              <a:rPr sz="2800" b="1">
                <a:solidFill>
                  <a:srgbClr val="16181A"/>
                </a:solidFill>
                <a:latin typeface="Arial"/>
              </a:rPr>
              <a:t>Key references</a:t>
            </a:r>
          </a:p>
        </p:txBody>
      </p:sp>
      <p:sp>
        <p:nvSpPr>
          <p:cNvPr id="4" name="Rectangle 3"/>
          <p:cNvSpPr/>
          <p:nvPr/>
        </p:nvSpPr>
        <p:spPr>
          <a:xfrm>
            <a:off x="658368" y="1481328"/>
            <a:ext cx="10881360" cy="18288"/>
          </a:xfrm>
          <a:prstGeom prst="rect">
            <a:avLst/>
          </a:prstGeom>
          <a:solidFill>
            <a:srgbClr val="D8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58368" y="1783080"/>
          <a:ext cx="10881360" cy="2688336"/>
        </p:xfrm>
        <a:graphic>
          <a:graphicData uri="http://schemas.openxmlformats.org/drawingml/2006/table">
            <a:tbl>
              <a:tblPr firstRow="1" bandRow="1">
                <a:tableStyleId>{5C22544A-7EE6-4342-B048-85BDC9FD1C3A}</a:tableStyleId>
              </a:tblPr>
              <a:tblGrid>
                <a:gridCol w="5120640"/>
                <a:gridCol w="5760720"/>
              </a:tblGrid>
              <a:tr h="384048">
                <a:tc>
                  <a:txBody>
                    <a:bodyPr/>
                    <a:lstStyle/>
                    <a:p>
                      <a:pPr>
                        <a:lnSpc>
                          <a:spcPct val="115000"/>
                        </a:lnSpc>
                      </a:pPr>
                      <a:r>
                        <a:rPr sz="900" b="1">
                          <a:solidFill>
                            <a:srgbClr val="6B7178"/>
                          </a:solidFill>
                          <a:latin typeface="Arial"/>
                        </a:rPr>
                        <a:t>Work</a:t>
                      </a:r>
                    </a:p>
                  </a:txBody>
                  <a:tcPr marL="73152" marR="73152" marT="36576" marB="36576">
                    <a:solidFill>
                      <a:srgbClr val="F4F6F8"/>
                    </a:solidFill>
                  </a:tcPr>
                </a:tc>
                <a:tc>
                  <a:txBody>
                    <a:bodyPr/>
                    <a:lstStyle/>
                    <a:p>
                      <a:pPr>
                        <a:lnSpc>
                          <a:spcPct val="115000"/>
                        </a:lnSpc>
                      </a:pPr>
                      <a:r>
                        <a:rPr sz="900" b="1">
                          <a:solidFill>
                            <a:srgbClr val="6B7178"/>
                          </a:solidFill>
                          <a:latin typeface="Arial"/>
                        </a:rPr>
                        <a:t>Used for</a:t>
                      </a:r>
                    </a:p>
                  </a:txBody>
                  <a:tcPr marL="73152" marR="73152" marT="36576" marB="36576">
                    <a:solidFill>
                      <a:srgbClr val="F4F6F8"/>
                    </a:solidFill>
                  </a:tcPr>
                </a:tc>
              </a:tr>
              <a:tr h="384048">
                <a:tc>
                  <a:txBody>
                    <a:bodyPr/>
                    <a:lstStyle/>
                    <a:p>
                      <a:pPr>
                        <a:lnSpc>
                          <a:spcPct val="115000"/>
                        </a:lnSpc>
                      </a:pPr>
                      <a:r>
                        <a:rPr sz="1200" b="0">
                          <a:solidFill>
                            <a:srgbClr val="16181A"/>
                          </a:solidFill>
                          <a:latin typeface="Arial"/>
                        </a:rPr>
                        <a:t>Begleiter, El-Yaniv &amp; Yona (2004), JAIR 22:385-421</a:t>
                      </a:r>
                    </a:p>
                  </a:txBody>
                  <a:tcPr marL="73152" marR="73152" marT="36576" marB="36576">
                    <a:solidFill>
                      <a:srgbClr val="FCFCFB"/>
                    </a:solidFill>
                  </a:tcPr>
                </a:tc>
                <a:tc>
                  <a:txBody>
                    <a:bodyPr/>
                    <a:lstStyle/>
                    <a:p>
                      <a:pPr>
                        <a:lnSpc>
                          <a:spcPct val="115000"/>
                        </a:lnSpc>
                      </a:pPr>
                      <a:r>
                        <a:rPr sz="1200" b="0">
                          <a:solidFill>
                            <a:srgbClr val="16181A"/>
                          </a:solidFill>
                          <a:latin typeface="Arial"/>
                        </a:rPr>
                        <a:t>Formal basis of the variable-order Markov predictor</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Romeo et al. (2025), arXiv:2506.19530</a:t>
                      </a:r>
                    </a:p>
                  </a:txBody>
                  <a:tcPr marL="73152" marR="73152" marT="36576" marB="36576">
                    <a:solidFill>
                      <a:srgbClr val="FCFCFB"/>
                    </a:solidFill>
                  </a:tcPr>
                </a:tc>
                <a:tc>
                  <a:txBody>
                    <a:bodyPr/>
                    <a:lstStyle/>
                    <a:p>
                      <a:pPr>
                        <a:lnSpc>
                          <a:spcPct val="115000"/>
                        </a:lnSpc>
                      </a:pPr>
                      <a:r>
                        <a:rPr sz="1200" b="0">
                          <a:solidFill>
                            <a:srgbClr val="16181A"/>
                          </a:solidFill>
                          <a:latin typeface="Arial"/>
                        </a:rPr>
                        <a:t>Closest analogue: RL for encounter generation in D&amp;D</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Lopes et al. (2025), arXiv:2505.01351</a:t>
                      </a:r>
                    </a:p>
                  </a:txBody>
                  <a:tcPr marL="73152" marR="73152" marT="36576" marB="36576">
                    <a:solidFill>
                      <a:srgbClr val="FCFCFB"/>
                    </a:solidFill>
                  </a:tcPr>
                </a:tc>
                <a:tc>
                  <a:txBody>
                    <a:bodyPr/>
                    <a:lstStyle/>
                    <a:p>
                      <a:pPr>
                        <a:lnSpc>
                          <a:spcPct val="115000"/>
                        </a:lnSpc>
                      </a:pPr>
                      <a:r>
                        <a:rPr sz="1200" b="0">
                          <a:solidFill>
                            <a:srgbClr val="16181A"/>
                          </a:solidFill>
                          <a:latin typeface="Arial"/>
                        </a:rPr>
                        <a:t>Review naming evaluation as the field's weak point</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Wu et al. (2025), arXiv:2509.11713</a:t>
                      </a:r>
                    </a:p>
                  </a:txBody>
                  <a:tcPr marL="73152" marR="73152" marT="36576" marB="36576">
                    <a:solidFill>
                      <a:srgbClr val="FCFCFB"/>
                    </a:solidFill>
                  </a:tcPr>
                </a:tc>
                <a:tc>
                  <a:txBody>
                    <a:bodyPr/>
                    <a:lstStyle/>
                    <a:p>
                      <a:pPr>
                        <a:lnSpc>
                          <a:spcPct val="115000"/>
                        </a:lnSpc>
                      </a:pPr>
                      <a:r>
                        <a:rPr sz="1200" b="0">
                          <a:solidFill>
                            <a:srgbClr val="16181A"/>
                          </a:solidFill>
                          <a:latin typeface="Arial"/>
                        </a:rPr>
                        <a:t>Next-location prediction over a discrete place graph</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Deng et al. (2025), arXiv:2508.16620</a:t>
                      </a:r>
                    </a:p>
                  </a:txBody>
                  <a:tcPr marL="73152" marR="73152" marT="36576" marB="36576">
                    <a:solidFill>
                      <a:srgbClr val="FCFCFB"/>
                    </a:solidFill>
                  </a:tcPr>
                </a:tc>
                <a:tc>
                  <a:txBody>
                    <a:bodyPr/>
                    <a:lstStyle/>
                    <a:p>
                      <a:pPr>
                        <a:lnSpc>
                          <a:spcPct val="115000"/>
                        </a:lnSpc>
                      </a:pPr>
                      <a:r>
                        <a:rPr sz="1200" b="0">
                          <a:solidFill>
                            <a:srgbClr val="16181A"/>
                          </a:solidFill>
                          <a:latin typeface="Arial"/>
                        </a:rPr>
                        <a:t>Upgrade path from VOMM for trajectory prediction</a:t>
                      </a:r>
                    </a:p>
                  </a:txBody>
                  <a:tcPr marL="73152" marR="73152" marT="36576" marB="36576">
                    <a:solidFill>
                      <a:srgbClr val="FCFCFB"/>
                    </a:solidFill>
                  </a:tcPr>
                </a:tc>
              </a:tr>
              <a:tr h="384048">
                <a:tc>
                  <a:txBody>
                    <a:bodyPr/>
                    <a:lstStyle/>
                    <a:p>
                      <a:pPr>
                        <a:lnSpc>
                          <a:spcPct val="115000"/>
                        </a:lnSpc>
                      </a:pPr>
                      <a:r>
                        <a:rPr sz="1200" b="0">
                          <a:solidFill>
                            <a:srgbClr val="16181A"/>
                          </a:solidFill>
                          <a:latin typeface="Arial"/>
                        </a:rPr>
                        <a:t>Zhang et al. (2023), arXiv:2312.15582</a:t>
                      </a:r>
                    </a:p>
                  </a:txBody>
                  <a:tcPr marL="73152" marR="73152" marT="36576" marB="36576">
                    <a:solidFill>
                      <a:srgbClr val="FCFCFB"/>
                    </a:solidFill>
                  </a:tcPr>
                </a:tc>
                <a:tc>
                  <a:txBody>
                    <a:bodyPr/>
                    <a:lstStyle/>
                    <a:p>
                      <a:pPr>
                        <a:lnSpc>
                          <a:spcPct val="115000"/>
                        </a:lnSpc>
                      </a:pPr>
                      <a:r>
                        <a:rPr sz="1200" b="0">
                          <a:solidFill>
                            <a:srgbClr val="16181A"/>
                          </a:solidFill>
                          <a:latin typeface="Arial"/>
                        </a:rPr>
                        <a:t>Fear in horror games; unfairness destroys it</a:t>
                      </a:r>
                    </a:p>
                  </a:txBody>
                  <a:tcPr marL="73152" marR="73152" marT="36576" marB="36576">
                    <a:solidFill>
                      <a:srgbClr val="FCFCFB"/>
                    </a:solidFill>
                  </a:tcPr>
                </a:tc>
              </a:tr>
            </a:tbl>
          </a:graphicData>
        </a:graphic>
      </p:graphicFrame>
      <p:sp>
        <p:nvSpPr>
          <p:cNvPr id="6" name="TextBox 5"/>
          <p:cNvSpPr txBox="1"/>
          <p:nvPr/>
        </p:nvSpPr>
        <p:spPr>
          <a:xfrm>
            <a:off x="658368" y="4572000"/>
            <a:ext cx="10881360" cy="457200"/>
          </a:xfrm>
          <a:prstGeom prst="rect">
            <a:avLst/>
          </a:prstGeom>
          <a:noFill/>
        </p:spPr>
        <p:txBody>
          <a:bodyPr wrap="square" lIns="0" rIns="0" tIns="0" bIns="0">
            <a:spAutoFit/>
          </a:bodyPr>
          <a:lstStyle/>
          <a:p>
            <a:pPr algn="l">
              <a:lnSpc>
                <a:spcPct val="125000"/>
              </a:lnSpc>
              <a:spcAft>
                <a:spcPts val="600"/>
              </a:spcAft>
            </a:pPr>
            <a:r>
              <a:rPr sz="1250" b="0">
                <a:solidFill>
                  <a:srgbClr val="6B7178"/>
                </a:solidFill>
                <a:latin typeface="Arial"/>
              </a:rPr>
              <a:t>Full 22-work review in the Review I deck and the project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